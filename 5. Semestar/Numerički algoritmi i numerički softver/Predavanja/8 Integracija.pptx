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78"/>
  </p:notesMasterIdLst>
  <p:sldIdLst>
    <p:sldId id="260" r:id="rId2"/>
    <p:sldId id="261" r:id="rId3"/>
    <p:sldId id="262" r:id="rId4"/>
    <p:sldId id="263" r:id="rId5"/>
    <p:sldId id="264" r:id="rId6"/>
    <p:sldId id="265" r:id="rId7"/>
    <p:sldId id="266" r:id="rId8"/>
    <p:sldId id="267" r:id="rId9"/>
    <p:sldId id="268" r:id="rId10"/>
    <p:sldId id="269" r:id="rId11"/>
    <p:sldId id="270" r:id="rId12"/>
    <p:sldId id="271" r:id="rId13"/>
    <p:sldId id="272" r:id="rId14"/>
    <p:sldId id="273" r:id="rId15"/>
    <p:sldId id="274" r:id="rId16"/>
    <p:sldId id="335" r:id="rId17"/>
    <p:sldId id="276" r:id="rId18"/>
    <p:sldId id="277" r:id="rId19"/>
    <p:sldId id="345" r:id="rId20"/>
    <p:sldId id="346" r:id="rId21"/>
    <p:sldId id="284" r:id="rId22"/>
    <p:sldId id="285" r:id="rId23"/>
    <p:sldId id="286" r:id="rId24"/>
    <p:sldId id="336" r:id="rId25"/>
    <p:sldId id="337" r:id="rId26"/>
    <p:sldId id="338" r:id="rId27"/>
    <p:sldId id="339" r:id="rId28"/>
    <p:sldId id="340" r:id="rId29"/>
    <p:sldId id="341" r:id="rId30"/>
    <p:sldId id="289" r:id="rId31"/>
    <p:sldId id="290" r:id="rId32"/>
    <p:sldId id="291" r:id="rId33"/>
    <p:sldId id="292" r:id="rId34"/>
    <p:sldId id="347" r:id="rId35"/>
    <p:sldId id="348" r:id="rId36"/>
    <p:sldId id="342" r:id="rId37"/>
    <p:sldId id="297" r:id="rId38"/>
    <p:sldId id="298" r:id="rId39"/>
    <p:sldId id="299" r:id="rId40"/>
    <p:sldId id="343" r:id="rId41"/>
    <p:sldId id="300" r:id="rId42"/>
    <p:sldId id="301" r:id="rId43"/>
    <p:sldId id="302" r:id="rId44"/>
    <p:sldId id="303" r:id="rId45"/>
    <p:sldId id="349"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44" r:id="rId59"/>
    <p:sldId id="350" r:id="rId60"/>
    <p:sldId id="317" r:id="rId61"/>
    <p:sldId id="319" r:id="rId62"/>
    <p:sldId id="321" r:id="rId63"/>
    <p:sldId id="320"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103" autoAdjust="0"/>
  </p:normalViewPr>
  <p:slideViewPr>
    <p:cSldViewPr>
      <p:cViewPr varScale="1">
        <p:scale>
          <a:sx n="69" d="100"/>
          <a:sy n="69" d="100"/>
        </p:scale>
        <p:origin x="2736"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9E0CB5-BB82-40FB-9441-DE7B8C409F68}" type="datetimeFigureOut">
              <a:rPr lang="en-US" smtClean="0"/>
              <a:t>12/25/2023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B516A6-0BDA-4157-97F6-555E31D93247}" type="slidenum">
              <a:rPr lang="en-US" smtClean="0"/>
              <a:t>‹#›</a:t>
            </a:fld>
            <a:endParaRPr lang="en-US"/>
          </a:p>
        </p:txBody>
      </p:sp>
    </p:spTree>
    <p:extLst>
      <p:ext uri="{BB962C8B-B14F-4D97-AF65-F5344CB8AC3E}">
        <p14:creationId xmlns:p14="http://schemas.microsoft.com/office/powerpoint/2010/main" val="702484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Svaka od metoda predstavljenih u ovoj sekciji imaće za cilj da na neki način (približno) izračuna površinu figure ispod funkcije </a:t>
                </a:r>
                <a14:m>
                  <m:oMath xmlns:m="http://schemas.openxmlformats.org/officeDocument/2006/math">
                    <m:r>
                      <a:rPr lang="sr-Latn-RS" sz="1200" i="1" kern="1200">
                        <a:solidFill>
                          <a:schemeClr val="tx1"/>
                        </a:solidFill>
                        <a:effectLst/>
                        <a:latin typeface="Cambria Math"/>
                        <a:ea typeface="+mn-ea"/>
                        <a:cs typeface="+mn-cs"/>
                      </a:rPr>
                      <m:t>𝑓</m:t>
                    </m:r>
                    <m:d>
                      <m:dPr>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𝑥</m:t>
                        </m:r>
                      </m:e>
                    </m:d>
                  </m:oMath>
                </a14:m>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Svaka od metoda predstavljenih u ovoj sekciji imaće za cilj da na neki način (približno) izračuna površinu figure ispod funkcije </a:t>
                </a:r>
                <a:r>
                  <a:rPr lang="sr-Latn-RS" sz="1200" i="0" kern="1200">
                    <a:solidFill>
                      <a:schemeClr val="tx1"/>
                    </a:solidFill>
                    <a:effectLst/>
                    <a:latin typeface="+mn-lt"/>
                    <a:ea typeface="+mn-ea"/>
                    <a:cs typeface="+mn-cs"/>
                  </a:rPr>
                  <a:t>𝑓</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3</a:t>
            </a:fld>
            <a:endParaRPr lang="en-US"/>
          </a:p>
        </p:txBody>
      </p:sp>
    </p:spTree>
    <p:extLst>
      <p:ext uri="{BB962C8B-B14F-4D97-AF65-F5344CB8AC3E}">
        <p14:creationId xmlns:p14="http://schemas.microsoft.com/office/powerpoint/2010/main" val="2509664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Zbog jednostavnosti objašnjavanja, pretpostavićemo da su podintervali jednaki, iako to nije nužno. Takođe, prepostavljamo da na svakom od podintervala znamo minimalnu i maksimalnu vrednost fukncije </a:t>
                </a:r>
                <a14:m>
                  <m:oMath xmlns:m="http://schemas.openxmlformats.org/officeDocument/2006/math">
                    <m:r>
                      <a:rPr lang="sr-Latn-RS" sz="1200" i="1" kern="1200">
                        <a:solidFill>
                          <a:schemeClr val="tx1"/>
                        </a:solidFill>
                        <a:effectLst/>
                        <a:latin typeface="Cambria Math"/>
                        <a:ea typeface="+mn-ea"/>
                        <a:cs typeface="+mn-cs"/>
                      </a:rPr>
                      <m:t>𝑓</m:t>
                    </m:r>
                    <m:d>
                      <m:dPr>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𝑥</m:t>
                        </m:r>
                      </m:e>
                    </m:d>
                  </m:oMath>
                </a14:m>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Zbog jednostavnosti objašnjavanja, pretpostavićemo da su podintervali jednaki, iako to nije nužno. Takođe, prepostavljamo da na svakom od podintervala znamo minimalnu i maksimalnu vrednost fukncije </a:t>
                </a:r>
                <a:r>
                  <a:rPr lang="sr-Latn-RS" sz="1200" i="0" kern="1200">
                    <a:solidFill>
                      <a:schemeClr val="tx1"/>
                    </a:solidFill>
                    <a:effectLst/>
                    <a:latin typeface="+mn-lt"/>
                    <a:ea typeface="+mn-ea"/>
                    <a:cs typeface="+mn-cs"/>
                  </a:rPr>
                  <a:t>𝑓</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4</a:t>
            </a:fld>
            <a:endParaRPr lang="en-US"/>
          </a:p>
        </p:txBody>
      </p:sp>
    </p:spTree>
    <p:extLst>
      <p:ext uri="{BB962C8B-B14F-4D97-AF65-F5344CB8AC3E}">
        <p14:creationId xmlns:p14="http://schemas.microsoft.com/office/powerpoint/2010/main" val="1382862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Ako pažljivo pogledamo sabrike u sumama </a:t>
                </a:r>
                <a14:m>
                  <m:oMath xmlns:m="http://schemas.openxmlformats.org/officeDocument/2006/math">
                    <m:r>
                      <a:rPr lang="sr-Latn-RS" sz="1200" i="1" kern="1200">
                        <a:solidFill>
                          <a:schemeClr val="tx1"/>
                        </a:solidFill>
                        <a:effectLst/>
                        <a:latin typeface="Cambria Math"/>
                        <a:ea typeface="+mn-ea"/>
                        <a:cs typeface="+mn-cs"/>
                      </a:rPr>
                      <m:t>𝐷</m:t>
                    </m:r>
                  </m:oMath>
                </a14:m>
                <a:r>
                  <a:rPr lang="sr-Latn-RS" sz="1200" kern="1200" dirty="0">
                    <a:solidFill>
                      <a:schemeClr val="tx1"/>
                    </a:solidFill>
                    <a:effectLst/>
                    <a:latin typeface="+mn-lt"/>
                    <a:ea typeface="+mn-ea"/>
                    <a:cs typeface="+mn-cs"/>
                  </a:rPr>
                  <a:t> i </a:t>
                </a:r>
                <a14:m>
                  <m:oMath xmlns:m="http://schemas.openxmlformats.org/officeDocument/2006/math">
                    <m:r>
                      <a:rPr lang="sr-Latn-RS" sz="1200" i="1" kern="1200">
                        <a:solidFill>
                          <a:schemeClr val="tx1"/>
                        </a:solidFill>
                        <a:effectLst/>
                        <a:latin typeface="Cambria Math"/>
                        <a:ea typeface="+mn-ea"/>
                        <a:cs typeface="+mn-cs"/>
                      </a:rPr>
                      <m:t>𝐺</m:t>
                    </m:r>
                  </m:oMath>
                </a14:m>
                <a:r>
                  <a:rPr lang="sr-Latn-RS" sz="1200" i="1" kern="1200" dirty="0">
                    <a:solidFill>
                      <a:schemeClr val="tx1"/>
                    </a:solidFill>
                    <a:effectLst/>
                    <a:latin typeface="+mn-lt"/>
                    <a:ea typeface="+mn-ea"/>
                    <a:cs typeface="+mn-cs"/>
                  </a:rPr>
                  <a:t>,</a:t>
                </a:r>
                <a:r>
                  <a:rPr lang="sr-Latn-RS" sz="1200" kern="1200" dirty="0">
                    <a:solidFill>
                      <a:schemeClr val="tx1"/>
                    </a:solidFill>
                    <a:effectLst/>
                    <a:latin typeface="+mn-lt"/>
                    <a:ea typeface="+mn-ea"/>
                    <a:cs typeface="+mn-cs"/>
                  </a:rPr>
                  <a:t> vidimo da svaki od njih predstavlja površinu pravougaonika sa stranicama koje odgovaraju tačkama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𝑚</m:t>
                        </m:r>
                      </m:e>
                      <m:sub>
                        <m:r>
                          <a:rPr lang="sr-Latn-RS" sz="1200" i="1" kern="1200">
                            <a:solidFill>
                              <a:schemeClr val="tx1"/>
                            </a:solidFill>
                            <a:effectLst/>
                            <a:latin typeface="Cambria Math"/>
                            <a:ea typeface="+mn-ea"/>
                            <a:cs typeface="+mn-cs"/>
                          </a:rPr>
                          <m:t>𝑖</m:t>
                        </m:r>
                      </m:sub>
                    </m:sSub>
                  </m:oMath>
                </a14:m>
                <a:r>
                  <a:rPr lang="sr-Latn-RS" sz="1200" kern="1200" dirty="0">
                    <a:solidFill>
                      <a:schemeClr val="tx1"/>
                    </a:solidFill>
                    <a:effectLst/>
                    <a:latin typeface="+mn-lt"/>
                    <a:ea typeface="+mn-ea"/>
                    <a:cs typeface="+mn-cs"/>
                  </a:rPr>
                  <a:t> (ili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𝑀</m:t>
                        </m:r>
                      </m:e>
                      <m:sub>
                        <m:r>
                          <a:rPr lang="sr-Latn-RS" sz="1200" i="1" kern="1200">
                            <a:solidFill>
                              <a:schemeClr val="tx1"/>
                            </a:solidFill>
                            <a:effectLst/>
                            <a:latin typeface="Cambria Math"/>
                            <a:ea typeface="+mn-ea"/>
                            <a:cs typeface="+mn-cs"/>
                          </a:rPr>
                          <m:t>𝑖</m:t>
                        </m:r>
                      </m:sub>
                    </m:sSub>
                  </m:oMath>
                </a14:m>
                <a:r>
                  <a:rPr lang="sr-Latn-RS" sz="1200" kern="1200" dirty="0">
                    <a:solidFill>
                      <a:schemeClr val="tx1"/>
                    </a:solidFill>
                    <a:effectLst/>
                    <a:latin typeface="+mn-lt"/>
                    <a:ea typeface="+mn-ea"/>
                    <a:cs typeface="+mn-cs"/>
                  </a:rPr>
                  <a:t>) i intervalu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𝑖</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𝑖</m:t>
                            </m:r>
                            <m:r>
                              <a:rPr lang="sr-Latn-RS" sz="1200" i="1" kern="1200">
                                <a:solidFill>
                                  <a:schemeClr val="tx1"/>
                                </a:solidFill>
                                <a:effectLst/>
                                <a:latin typeface="Cambria Math"/>
                                <a:ea typeface="+mn-ea"/>
                                <a:cs typeface="+mn-cs"/>
                              </a:rPr>
                              <m:t>+1</m:t>
                            </m:r>
                          </m:sub>
                        </m:sSub>
                      </m:e>
                    </m:d>
                  </m:oMath>
                </a14:m>
                <a:endParaRPr lang="en-US" dirty="0"/>
              </a:p>
              <a:p>
                <a:pPr marL="171450" indent="-171450">
                  <a:buFont typeface="Arial" pitchFamily="34" charset="0"/>
                  <a:buChar char="•"/>
                </a:pPr>
                <a:r>
                  <a:rPr lang="sr-Latn-RS" sz="1200" kern="1200" dirty="0">
                    <a:solidFill>
                      <a:schemeClr val="tx1"/>
                    </a:solidFill>
                    <a:effectLst/>
                    <a:latin typeface="+mn-lt"/>
                    <a:ea typeface="+mn-ea"/>
                    <a:cs typeface="+mn-cs"/>
                  </a:rPr>
                  <a:t>Na primer, na intervalu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3</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4</m:t>
                            </m:r>
                          </m:sub>
                        </m:sSub>
                      </m:e>
                    </m:d>
                  </m:oMath>
                </a14:m>
                <a:r>
                  <a:rPr lang="sr-Latn-RS" sz="1200" kern="1200" dirty="0">
                    <a:solidFill>
                      <a:schemeClr val="tx1"/>
                    </a:solidFill>
                    <a:effectLst/>
                    <a:latin typeface="+mn-lt"/>
                    <a:ea typeface="+mn-ea"/>
                    <a:cs typeface="+mn-cs"/>
                  </a:rPr>
                  <a:t>, fukcija ima minimum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𝑚</m:t>
                        </m:r>
                      </m:e>
                      <m:sub>
                        <m:r>
                          <a:rPr lang="sr-Latn-RS" sz="1200" i="1" kern="1200">
                            <a:solidFill>
                              <a:schemeClr val="tx1"/>
                            </a:solidFill>
                            <a:effectLst/>
                            <a:latin typeface="Cambria Math"/>
                            <a:ea typeface="+mn-ea"/>
                            <a:cs typeface="+mn-cs"/>
                          </a:rPr>
                          <m:t>3</m:t>
                        </m:r>
                      </m:sub>
                    </m:sSub>
                  </m:oMath>
                </a14:m>
                <a:r>
                  <a:rPr lang="sr-Latn-RS" sz="1200" kern="1200" dirty="0">
                    <a:solidFill>
                      <a:schemeClr val="tx1"/>
                    </a:solidFill>
                    <a:effectLst/>
                    <a:latin typeface="+mn-lt"/>
                    <a:ea typeface="+mn-ea"/>
                    <a:cs typeface="+mn-cs"/>
                  </a:rPr>
                  <a:t> i maksimum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𝑀</m:t>
                        </m:r>
                      </m:e>
                      <m:sub>
                        <m:r>
                          <a:rPr lang="sr-Latn-RS" sz="1200" i="1" kern="1200">
                            <a:solidFill>
                              <a:schemeClr val="tx1"/>
                            </a:solidFill>
                            <a:effectLst/>
                            <a:latin typeface="Cambria Math"/>
                            <a:ea typeface="+mn-ea"/>
                            <a:cs typeface="+mn-cs"/>
                          </a:rPr>
                          <m:t>3</m:t>
                        </m:r>
                      </m:sub>
                    </m:sSub>
                  </m:oMath>
                </a14:m>
                <a:r>
                  <a:rPr lang="sr-Latn-RS" sz="1200" kern="1200" dirty="0">
                    <a:solidFill>
                      <a:schemeClr val="tx1"/>
                    </a:solidFill>
                    <a:effectLst/>
                    <a:latin typeface="+mn-lt"/>
                    <a:ea typeface="+mn-ea"/>
                    <a:cs typeface="+mn-cs"/>
                  </a:rPr>
                  <a:t>. Pravougaonik čija je površina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𝑚</m:t>
                        </m:r>
                      </m:e>
                      <m:sub>
                        <m:r>
                          <a:rPr lang="sr-Latn-RS" sz="1200" i="1" kern="1200">
                            <a:solidFill>
                              <a:schemeClr val="tx1"/>
                            </a:solidFill>
                            <a:effectLst/>
                            <a:latin typeface="Cambria Math"/>
                            <a:ea typeface="+mn-ea"/>
                            <a:cs typeface="+mn-cs"/>
                          </a:rPr>
                          <m:t>3</m:t>
                        </m:r>
                      </m:sub>
                    </m:sSub>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4</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3</m:t>
                            </m:r>
                          </m:sub>
                        </m:sSub>
                      </m:e>
                    </m:d>
                  </m:oMath>
                </a14:m>
                <a:r>
                  <a:rPr lang="sr-Latn-RS" sz="1200" kern="1200" dirty="0">
                    <a:solidFill>
                      <a:schemeClr val="tx1"/>
                    </a:solidFill>
                    <a:effectLst/>
                    <a:latin typeface="+mn-lt"/>
                    <a:ea typeface="+mn-ea"/>
                    <a:cs typeface="+mn-cs"/>
                  </a:rPr>
                  <a:t> deo je donje sume, a pravougaonik čija je površina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𝑀</m:t>
                        </m:r>
                      </m:e>
                      <m:sub>
                        <m:r>
                          <a:rPr lang="sr-Latn-RS" sz="1200" i="1" kern="1200">
                            <a:solidFill>
                              <a:schemeClr val="tx1"/>
                            </a:solidFill>
                            <a:effectLst/>
                            <a:latin typeface="Cambria Math"/>
                            <a:ea typeface="+mn-ea"/>
                            <a:cs typeface="+mn-cs"/>
                          </a:rPr>
                          <m:t>3</m:t>
                        </m:r>
                      </m:sub>
                    </m:sSub>
                    <m:d>
                      <m:dPr>
                        <m:ctrlPr>
                          <a:rPr lang="en-US" sz="1200" i="1" kern="1200">
                            <a:solidFill>
                              <a:schemeClr val="tx1"/>
                            </a:solidFill>
                            <a:effectLst/>
                            <a:latin typeface="Cambria Math" panose="02040503050406030204" pitchFamily="18" charset="0"/>
                            <a:ea typeface="+mn-ea"/>
                            <a:cs typeface="+mn-cs"/>
                          </a:rPr>
                        </m:ctrlPr>
                      </m:dPr>
                      <m:e>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4</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3</m:t>
                            </m:r>
                          </m:sub>
                        </m:sSub>
                      </m:e>
                    </m:d>
                  </m:oMath>
                </a14:m>
                <a:r>
                  <a:rPr lang="sr-Latn-RS" sz="1200" kern="1200" dirty="0">
                    <a:solidFill>
                      <a:schemeClr val="tx1"/>
                    </a:solidFill>
                    <a:effectLst/>
                    <a:latin typeface="+mn-lt"/>
                    <a:ea typeface="+mn-ea"/>
                    <a:cs typeface="+mn-cs"/>
                  </a:rPr>
                  <a:t> je deo donje sume</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Ako pažljivo pogledamo sabrike u sumama </a:t>
                </a:r>
                <a:r>
                  <a:rPr lang="sr-Latn-RS" sz="1200" i="0" kern="1200">
                    <a:solidFill>
                      <a:schemeClr val="tx1"/>
                    </a:solidFill>
                    <a:effectLst/>
                    <a:latin typeface="+mn-lt"/>
                    <a:ea typeface="+mn-ea"/>
                    <a:cs typeface="+mn-cs"/>
                  </a:rPr>
                  <a:t>𝐷</a:t>
                </a:r>
                <a:r>
                  <a:rPr lang="sr-Latn-RS" sz="1200" kern="1200" dirty="0">
                    <a:solidFill>
                      <a:schemeClr val="tx1"/>
                    </a:solidFill>
                    <a:effectLst/>
                    <a:latin typeface="+mn-lt"/>
                    <a:ea typeface="+mn-ea"/>
                    <a:cs typeface="+mn-cs"/>
                  </a:rPr>
                  <a:t> i </a:t>
                </a:r>
                <a:r>
                  <a:rPr lang="sr-Latn-RS" sz="1200" i="0" kern="1200">
                    <a:solidFill>
                      <a:schemeClr val="tx1"/>
                    </a:solidFill>
                    <a:effectLst/>
                    <a:latin typeface="+mn-lt"/>
                    <a:ea typeface="+mn-ea"/>
                    <a:cs typeface="+mn-cs"/>
                  </a:rPr>
                  <a:t>𝐺</a:t>
                </a:r>
                <a:r>
                  <a:rPr lang="sr-Latn-RS" sz="1200" i="1" kern="1200" dirty="0">
                    <a:solidFill>
                      <a:schemeClr val="tx1"/>
                    </a:solidFill>
                    <a:effectLst/>
                    <a:latin typeface="+mn-lt"/>
                    <a:ea typeface="+mn-ea"/>
                    <a:cs typeface="+mn-cs"/>
                  </a:rPr>
                  <a:t>,</a:t>
                </a:r>
                <a:r>
                  <a:rPr lang="sr-Latn-RS" sz="1200" kern="1200" dirty="0">
                    <a:solidFill>
                      <a:schemeClr val="tx1"/>
                    </a:solidFill>
                    <a:effectLst/>
                    <a:latin typeface="+mn-lt"/>
                    <a:ea typeface="+mn-ea"/>
                    <a:cs typeface="+mn-cs"/>
                  </a:rPr>
                  <a:t> vidimo da svaki od njih predstavlja površinu pravougaonika sa stranicama koje odgovaraju tačkama </a:t>
                </a:r>
                <a:r>
                  <a:rPr lang="sr-Latn-RS" sz="1200" i="0" kern="1200">
                    <a:solidFill>
                      <a:schemeClr val="tx1"/>
                    </a:solidFill>
                    <a:effectLst/>
                    <a:latin typeface="+mn-lt"/>
                    <a:ea typeface="+mn-ea"/>
                    <a:cs typeface="+mn-cs"/>
                  </a:rPr>
                  <a:t>𝑚</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𝑖</a:t>
                </a:r>
                <a:r>
                  <a:rPr lang="sr-Latn-RS" sz="1200" kern="1200" dirty="0">
                    <a:solidFill>
                      <a:schemeClr val="tx1"/>
                    </a:solidFill>
                    <a:effectLst/>
                    <a:latin typeface="+mn-lt"/>
                    <a:ea typeface="+mn-ea"/>
                    <a:cs typeface="+mn-cs"/>
                  </a:rPr>
                  <a:t> (ili </a:t>
                </a:r>
                <a:r>
                  <a:rPr lang="sr-Latn-RS" sz="1200" i="0" kern="1200">
                    <a:solidFill>
                      <a:schemeClr val="tx1"/>
                    </a:solidFill>
                    <a:effectLst/>
                    <a:latin typeface="+mn-lt"/>
                    <a:ea typeface="+mn-ea"/>
                    <a:cs typeface="+mn-cs"/>
                  </a:rPr>
                  <a:t>𝑀</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𝑖</a:t>
                </a:r>
                <a:r>
                  <a:rPr lang="sr-Latn-RS" sz="1200" kern="1200" dirty="0">
                    <a:solidFill>
                      <a:schemeClr val="tx1"/>
                    </a:solidFill>
                    <a:effectLst/>
                    <a:latin typeface="+mn-lt"/>
                    <a:ea typeface="+mn-ea"/>
                    <a:cs typeface="+mn-cs"/>
                  </a:rPr>
                  <a:t>) i intervalu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𝑖,𝑥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𝑖+1</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 ]</a:t>
                </a:r>
                <a:endParaRPr lang="en-US" dirty="0" smtClean="0"/>
              </a:p>
              <a:p>
                <a:pPr marL="171450" indent="-171450">
                  <a:buFont typeface="Arial" pitchFamily="34" charset="0"/>
                  <a:buChar char="•"/>
                </a:pPr>
                <a:r>
                  <a:rPr lang="sr-Latn-RS" sz="1200" kern="1200" dirty="0" smtClean="0">
                    <a:solidFill>
                      <a:schemeClr val="tx1"/>
                    </a:solidFill>
                    <a:effectLst/>
                    <a:latin typeface="+mn-lt"/>
                    <a:ea typeface="+mn-ea"/>
                    <a:cs typeface="+mn-cs"/>
                  </a:rPr>
                  <a:t>Na primer, na intervalu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4 ]</a:t>
                </a:r>
                <a:r>
                  <a:rPr lang="sr-Latn-RS" sz="1200" kern="1200" dirty="0">
                    <a:solidFill>
                      <a:schemeClr val="tx1"/>
                    </a:solidFill>
                    <a:effectLst/>
                    <a:latin typeface="+mn-lt"/>
                    <a:ea typeface="+mn-ea"/>
                    <a:cs typeface="+mn-cs"/>
                  </a:rPr>
                  <a:t>, fukcija ima minimum </a:t>
                </a:r>
                <a:r>
                  <a:rPr lang="sr-Latn-RS" sz="1200" i="0" kern="1200">
                    <a:solidFill>
                      <a:schemeClr val="tx1"/>
                    </a:solidFill>
                    <a:effectLst/>
                    <a:latin typeface="+mn-lt"/>
                    <a:ea typeface="+mn-ea"/>
                    <a:cs typeface="+mn-cs"/>
                  </a:rPr>
                  <a:t>𝑚</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a:t>
                </a:r>
                <a:r>
                  <a:rPr lang="sr-Latn-RS" sz="1200" kern="1200" dirty="0">
                    <a:solidFill>
                      <a:schemeClr val="tx1"/>
                    </a:solidFill>
                    <a:effectLst/>
                    <a:latin typeface="+mn-lt"/>
                    <a:ea typeface="+mn-ea"/>
                    <a:cs typeface="+mn-cs"/>
                  </a:rPr>
                  <a:t> i maksimum </a:t>
                </a:r>
                <a:r>
                  <a:rPr lang="sr-Latn-RS" sz="1200" i="0" kern="1200">
                    <a:solidFill>
                      <a:schemeClr val="tx1"/>
                    </a:solidFill>
                    <a:effectLst/>
                    <a:latin typeface="+mn-lt"/>
                    <a:ea typeface="+mn-ea"/>
                    <a:cs typeface="+mn-cs"/>
                  </a:rPr>
                  <a:t>𝑀</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a:t>
                </a:r>
                <a:r>
                  <a:rPr lang="sr-Latn-RS" sz="1200" kern="1200" dirty="0">
                    <a:solidFill>
                      <a:schemeClr val="tx1"/>
                    </a:solidFill>
                    <a:effectLst/>
                    <a:latin typeface="+mn-lt"/>
                    <a:ea typeface="+mn-ea"/>
                    <a:cs typeface="+mn-cs"/>
                  </a:rPr>
                  <a:t>. Pravougaonik čija je površina </a:t>
                </a:r>
                <a:r>
                  <a:rPr lang="sr-Latn-RS" sz="1200" i="0" kern="1200">
                    <a:solidFill>
                      <a:schemeClr val="tx1"/>
                    </a:solidFill>
                    <a:effectLst/>
                    <a:latin typeface="+mn-lt"/>
                    <a:ea typeface="+mn-ea"/>
                    <a:cs typeface="+mn-cs"/>
                  </a:rPr>
                  <a:t>𝑚</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a:t>
                </a:r>
                <a:r>
                  <a:rPr lang="en-US" sz="1200" i="0" kern="1200">
                    <a:solidFill>
                      <a:schemeClr val="tx1"/>
                    </a:solidFill>
                    <a:effectLst/>
                    <a:latin typeface="+mn-lt"/>
                    <a:ea typeface="+mn-ea"/>
                    <a:cs typeface="+mn-cs"/>
                  </a:rPr>
                  <a:t> (</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4−𝑥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3 )</a:t>
                </a:r>
                <a:r>
                  <a:rPr lang="sr-Latn-RS" sz="1200" kern="1200" dirty="0">
                    <a:solidFill>
                      <a:schemeClr val="tx1"/>
                    </a:solidFill>
                    <a:effectLst/>
                    <a:latin typeface="+mn-lt"/>
                    <a:ea typeface="+mn-ea"/>
                    <a:cs typeface="+mn-cs"/>
                  </a:rPr>
                  <a:t> deo je donje sume, a pravougaonik čija je površina </a:t>
                </a:r>
                <a:r>
                  <a:rPr lang="sr-Latn-RS" sz="1200" i="0" kern="1200">
                    <a:solidFill>
                      <a:schemeClr val="tx1"/>
                    </a:solidFill>
                    <a:effectLst/>
                    <a:latin typeface="+mn-lt"/>
                    <a:ea typeface="+mn-ea"/>
                    <a:cs typeface="+mn-cs"/>
                  </a:rPr>
                  <a:t>𝑀</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a:t>
                </a:r>
                <a:r>
                  <a:rPr lang="en-US" sz="1200" i="0" kern="1200">
                    <a:solidFill>
                      <a:schemeClr val="tx1"/>
                    </a:solidFill>
                    <a:effectLst/>
                    <a:latin typeface="+mn-lt"/>
                    <a:ea typeface="+mn-ea"/>
                    <a:cs typeface="+mn-cs"/>
                  </a:rPr>
                  <a:t> (</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4−𝑥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3 )</a:t>
                </a:r>
                <a:r>
                  <a:rPr lang="sr-Latn-RS" sz="1200" kern="1200" dirty="0">
                    <a:solidFill>
                      <a:schemeClr val="tx1"/>
                    </a:solidFill>
                    <a:effectLst/>
                    <a:latin typeface="+mn-lt"/>
                    <a:ea typeface="+mn-ea"/>
                    <a:cs typeface="+mn-cs"/>
                  </a:rPr>
                  <a:t> je deo donje sume</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5</a:t>
            </a:fld>
            <a:endParaRPr lang="en-US"/>
          </a:p>
        </p:txBody>
      </p:sp>
    </p:spTree>
    <p:extLst>
      <p:ext uri="{BB962C8B-B14F-4D97-AF65-F5344CB8AC3E}">
        <p14:creationId xmlns:p14="http://schemas.microsoft.com/office/powerpoint/2010/main" val="51898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Interval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0,1</m:t>
                        </m:r>
                      </m:e>
                    </m:d>
                  </m:oMath>
                </a14:m>
                <a:r>
                  <a:rPr lang="sr-Latn-RS" sz="1200" kern="1200" dirty="0">
                    <a:solidFill>
                      <a:schemeClr val="tx1"/>
                    </a:solidFill>
                    <a:effectLst/>
                    <a:latin typeface="+mn-lt"/>
                    <a:ea typeface="+mn-ea"/>
                    <a:cs typeface="+mn-cs"/>
                  </a:rPr>
                  <a:t> delimo na 4 jednaka dela, i na svakom delu određujemo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𝑚</m:t>
                        </m:r>
                      </m:e>
                      <m:sub>
                        <m:r>
                          <a:rPr lang="sr-Latn-RS" sz="1200" i="1" kern="1200">
                            <a:solidFill>
                              <a:schemeClr val="tx1"/>
                            </a:solidFill>
                            <a:effectLst/>
                            <a:latin typeface="Cambria Math"/>
                            <a:ea typeface="+mn-ea"/>
                            <a:cs typeface="+mn-cs"/>
                          </a:rPr>
                          <m:t>𝑖</m:t>
                        </m:r>
                      </m:sub>
                    </m:sSub>
                  </m:oMath>
                </a14:m>
                <a:r>
                  <a:rPr lang="sr-Latn-RS" sz="1200" kern="1200" dirty="0">
                    <a:solidFill>
                      <a:schemeClr val="tx1"/>
                    </a:solidFill>
                    <a:effectLst/>
                    <a:latin typeface="+mn-lt"/>
                    <a:ea typeface="+mn-ea"/>
                    <a:cs typeface="+mn-cs"/>
                  </a:rPr>
                  <a:t> i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𝑀</m:t>
                        </m:r>
                      </m:e>
                      <m:sub>
                        <m:r>
                          <a:rPr lang="sr-Latn-RS" sz="1200" i="1" kern="1200">
                            <a:solidFill>
                              <a:schemeClr val="tx1"/>
                            </a:solidFill>
                            <a:effectLst/>
                            <a:latin typeface="Cambria Math"/>
                            <a:ea typeface="+mn-ea"/>
                            <a:cs typeface="+mn-cs"/>
                          </a:rPr>
                          <m:t>𝑖</m:t>
                        </m:r>
                      </m:sub>
                    </m:sSub>
                  </m:oMath>
                </a14:m>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Interval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0,1]</a:t>
                </a:r>
                <a:r>
                  <a:rPr lang="sr-Latn-RS" sz="1200" kern="1200" dirty="0">
                    <a:solidFill>
                      <a:schemeClr val="tx1"/>
                    </a:solidFill>
                    <a:effectLst/>
                    <a:latin typeface="+mn-lt"/>
                    <a:ea typeface="+mn-ea"/>
                    <a:cs typeface="+mn-cs"/>
                  </a:rPr>
                  <a:t> delimo na 4 jednaka dela, i na svakom delu određujemo </a:t>
                </a:r>
                <a:r>
                  <a:rPr lang="sr-Latn-RS" sz="1200" i="0" kern="1200">
                    <a:solidFill>
                      <a:schemeClr val="tx1"/>
                    </a:solidFill>
                    <a:effectLst/>
                    <a:latin typeface="+mn-lt"/>
                    <a:ea typeface="+mn-ea"/>
                    <a:cs typeface="+mn-cs"/>
                  </a:rPr>
                  <a:t>𝑚</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𝑖</a:t>
                </a:r>
                <a:r>
                  <a:rPr lang="sr-Latn-RS" sz="1200" kern="1200" dirty="0">
                    <a:solidFill>
                      <a:schemeClr val="tx1"/>
                    </a:solidFill>
                    <a:effectLst/>
                    <a:latin typeface="+mn-lt"/>
                    <a:ea typeface="+mn-ea"/>
                    <a:cs typeface="+mn-cs"/>
                  </a:rPr>
                  <a:t> i </a:t>
                </a:r>
                <a:r>
                  <a:rPr lang="sr-Latn-RS" sz="1200" i="0" kern="1200">
                    <a:solidFill>
                      <a:schemeClr val="tx1"/>
                    </a:solidFill>
                    <a:effectLst/>
                    <a:latin typeface="+mn-lt"/>
                    <a:ea typeface="+mn-ea"/>
                    <a:cs typeface="+mn-cs"/>
                  </a:rPr>
                  <a:t>𝑀</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𝑖</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6</a:t>
            </a:fld>
            <a:endParaRPr lang="en-US"/>
          </a:p>
        </p:txBody>
      </p:sp>
    </p:spTree>
    <p:extLst>
      <p:ext uri="{BB962C8B-B14F-4D97-AF65-F5344CB8AC3E}">
        <p14:creationId xmlns:p14="http://schemas.microsoft.com/office/powerpoint/2010/main" val="34707626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dirty="0"/>
              <a:t>Ta</a:t>
            </a:r>
            <a:r>
              <a:rPr lang="sr-Latn-RS" dirty="0"/>
              <a:t>čno</a:t>
            </a:r>
            <a:r>
              <a:rPr lang="sr-Latn-RS" baseline="0" dirty="0"/>
              <a:t> rešenje je 1</a:t>
            </a:r>
            <a:r>
              <a:rPr lang="en-US" baseline="0" dirty="0"/>
              <a:t>/3 (a </a:t>
            </a:r>
            <a:r>
              <a:rPr lang="en-US" baseline="0" dirty="0" err="1"/>
              <a:t>ovo</a:t>
            </a:r>
            <a:r>
              <a:rPr lang="en-US" baseline="0" dirty="0"/>
              <a:t> </a:t>
            </a:r>
            <a:r>
              <a:rPr lang="en-US" baseline="0" dirty="0" err="1"/>
              <a:t>ispadne</a:t>
            </a:r>
            <a:r>
              <a:rPr lang="en-US" baseline="0" dirty="0"/>
              <a:t> </a:t>
            </a:r>
            <a:r>
              <a:rPr lang="en-US" baseline="0" dirty="0" err="1"/>
              <a:t>oko</a:t>
            </a:r>
            <a:r>
              <a:rPr lang="en-US" baseline="0" dirty="0"/>
              <a:t> 0.34)</a:t>
            </a:r>
          </a:p>
          <a:p>
            <a:pPr marL="171450" indent="-171450">
              <a:buFont typeface="Arial" pitchFamily="34" charset="0"/>
              <a:buChar char="•"/>
            </a:pPr>
            <a:r>
              <a:rPr lang="sr-Latn-RS" sz="1200" kern="1200" dirty="0">
                <a:solidFill>
                  <a:schemeClr val="tx1"/>
                </a:solidFill>
                <a:effectLst/>
                <a:latin typeface="+mn-lt"/>
                <a:ea typeface="+mn-ea"/>
                <a:cs typeface="+mn-cs"/>
              </a:rPr>
              <a:t>S obzirom na to da smo koristili samo četiri podintervala, možemo zaključiti da je metod koji smo demonstrirali pokazao dobru tačnost</a:t>
            </a:r>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7</a:t>
            </a:fld>
            <a:endParaRPr lang="en-US"/>
          </a:p>
        </p:txBody>
      </p:sp>
    </p:spTree>
    <p:extLst>
      <p:ext uri="{BB962C8B-B14F-4D97-AF65-F5344CB8AC3E}">
        <p14:creationId xmlns:p14="http://schemas.microsoft.com/office/powerpoint/2010/main" val="19106996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sr-Latn-RS" altLang="sr-Latn-RS" sz="1200" dirty="0"/>
              <a:t>Izračunavanje integrala polinoma je jednostavnije</a:t>
            </a:r>
            <a:r>
              <a:rPr lang="en-US" altLang="sr-Latn-RS" sz="1200" dirty="0"/>
              <a:t>.</a:t>
            </a:r>
            <a:endParaRPr lang="sr-Latn-RS" altLang="sr-Latn-RS" sz="1200" dirty="0"/>
          </a:p>
          <a:p>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9</a:t>
            </a:fld>
            <a:endParaRPr lang="en-US"/>
          </a:p>
        </p:txBody>
      </p:sp>
    </p:spTree>
    <p:extLst>
      <p:ext uri="{BB962C8B-B14F-4D97-AF65-F5344CB8AC3E}">
        <p14:creationId xmlns:p14="http://schemas.microsoft.com/office/powerpoint/2010/main" val="1256476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Stepen polinoma kojim aproksimiramo funkciju diktira kompleksnost i ujedno tačnost formule</a:t>
            </a:r>
          </a:p>
          <a:p>
            <a:pPr marL="171450" indent="-171450">
              <a:buFont typeface="Arial" pitchFamily="34" charset="0"/>
              <a:buChar char="•"/>
            </a:pPr>
            <a:r>
              <a:rPr lang="sr-Latn-RS" sz="1200" kern="1200" dirty="0">
                <a:solidFill>
                  <a:schemeClr val="tx1"/>
                </a:solidFill>
                <a:effectLst/>
                <a:latin typeface="+mn-lt"/>
                <a:ea typeface="+mn-ea"/>
                <a:cs typeface="+mn-cs"/>
              </a:rPr>
              <a:t>Vidimo da se pomoću Njutn-Kotesovih metoda izračunavanje određenih integrala proizvoljno komplikovanih funkcija može svesti na vrlo jednostavne računske operacije, što generalno i jeste cilj numeričkih metoda</a:t>
            </a:r>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10</a:t>
            </a:fld>
            <a:endParaRPr lang="en-US"/>
          </a:p>
        </p:txBody>
      </p:sp>
    </p:spTree>
    <p:extLst>
      <p:ext uri="{BB962C8B-B14F-4D97-AF65-F5344CB8AC3E}">
        <p14:creationId xmlns:p14="http://schemas.microsoft.com/office/powerpoint/2010/main" val="2678840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623" tIns="43312" rIns="86623" bIns="43312" anchor="b"/>
          <a:lstStyle>
            <a:lvl1pPr defTabSz="866775" eaLnBrk="0" hangingPunct="0">
              <a:defRPr>
                <a:solidFill>
                  <a:schemeClr val="tx1"/>
                </a:solidFill>
                <a:latin typeface="Arial" charset="0"/>
              </a:defRPr>
            </a:lvl1pPr>
            <a:lvl2pPr marL="703263" indent="-271463" defTabSz="866775" eaLnBrk="0" hangingPunct="0">
              <a:defRPr>
                <a:solidFill>
                  <a:schemeClr val="tx1"/>
                </a:solidFill>
                <a:latin typeface="Arial" charset="0"/>
              </a:defRPr>
            </a:lvl2pPr>
            <a:lvl3pPr marL="1081088" indent="-215900" defTabSz="866775" eaLnBrk="0" hangingPunct="0">
              <a:defRPr>
                <a:solidFill>
                  <a:schemeClr val="tx1"/>
                </a:solidFill>
                <a:latin typeface="Arial" charset="0"/>
              </a:defRPr>
            </a:lvl3pPr>
            <a:lvl4pPr marL="1512888" indent="-215900" defTabSz="866775" eaLnBrk="0" hangingPunct="0">
              <a:defRPr>
                <a:solidFill>
                  <a:schemeClr val="tx1"/>
                </a:solidFill>
                <a:latin typeface="Arial" charset="0"/>
              </a:defRPr>
            </a:lvl4pPr>
            <a:lvl5pPr marL="1946275" indent="-215900" defTabSz="866775" eaLnBrk="0" hangingPunct="0">
              <a:defRPr>
                <a:solidFill>
                  <a:schemeClr val="tx1"/>
                </a:solidFill>
                <a:latin typeface="Arial" charset="0"/>
              </a:defRPr>
            </a:lvl5pPr>
            <a:lvl6pPr marL="2403475" indent="-215900" defTabSz="866775" eaLnBrk="0" fontAlgn="base" hangingPunct="0">
              <a:spcBef>
                <a:spcPct val="0"/>
              </a:spcBef>
              <a:spcAft>
                <a:spcPct val="0"/>
              </a:spcAft>
              <a:defRPr>
                <a:solidFill>
                  <a:schemeClr val="tx1"/>
                </a:solidFill>
                <a:latin typeface="Arial" charset="0"/>
              </a:defRPr>
            </a:lvl6pPr>
            <a:lvl7pPr marL="2860675" indent="-215900" defTabSz="866775" eaLnBrk="0" fontAlgn="base" hangingPunct="0">
              <a:spcBef>
                <a:spcPct val="0"/>
              </a:spcBef>
              <a:spcAft>
                <a:spcPct val="0"/>
              </a:spcAft>
              <a:defRPr>
                <a:solidFill>
                  <a:schemeClr val="tx1"/>
                </a:solidFill>
                <a:latin typeface="Arial" charset="0"/>
              </a:defRPr>
            </a:lvl7pPr>
            <a:lvl8pPr marL="3317875" indent="-215900" defTabSz="866775" eaLnBrk="0" fontAlgn="base" hangingPunct="0">
              <a:spcBef>
                <a:spcPct val="0"/>
              </a:spcBef>
              <a:spcAft>
                <a:spcPct val="0"/>
              </a:spcAft>
              <a:defRPr>
                <a:solidFill>
                  <a:schemeClr val="tx1"/>
                </a:solidFill>
                <a:latin typeface="Arial" charset="0"/>
              </a:defRPr>
            </a:lvl8pPr>
            <a:lvl9pPr marL="3775075" indent="-215900" defTabSz="866775" eaLnBrk="0" fontAlgn="base" hangingPunct="0">
              <a:spcBef>
                <a:spcPct val="0"/>
              </a:spcBef>
              <a:spcAft>
                <a:spcPct val="0"/>
              </a:spcAft>
              <a:defRPr>
                <a:solidFill>
                  <a:schemeClr val="tx1"/>
                </a:solidFill>
                <a:latin typeface="Arial" charset="0"/>
              </a:defRPr>
            </a:lvl9pPr>
          </a:lstStyle>
          <a:p>
            <a:pPr algn="r" eaLnBrk="1" hangingPunct="1"/>
            <a:fld id="{E022CEC5-42B0-482D-9E0F-51A7C63F2B28}" type="slidenum">
              <a:rPr lang="ar-SA" altLang="sr-Latn-RS" sz="1100"/>
              <a:pPr algn="r" eaLnBrk="1" hangingPunct="1"/>
              <a:t>11</a:t>
            </a:fld>
            <a:endParaRPr lang="en-US" altLang="sr-Latn-RS" sz="1100">
              <a:cs typeface="Arial" charset="0"/>
            </a:endParaRPr>
          </a:p>
        </p:txBody>
      </p:sp>
      <p:sp>
        <p:nvSpPr>
          <p:cNvPr id="79875" name="Rectangle 2"/>
          <p:cNvSpPr>
            <a:spLocks noGrp="1" noRot="1" noChangeAspect="1" noChangeArrowheads="1" noTextEdit="1"/>
          </p:cNvSpPr>
          <p:nvPr>
            <p:ph type="sldImg"/>
          </p:nvPr>
        </p:nvSpPr>
        <p:spPr>
          <a:xfrm>
            <a:off x="1144588" y="685800"/>
            <a:ext cx="4572000" cy="3429000"/>
          </a:xfrm>
          <a:ln/>
        </p:spPr>
      </p:sp>
      <p:sp>
        <p:nvSpPr>
          <p:cNvPr id="79876" name="Rectangle 3"/>
          <p:cNvSpPr>
            <a:spLocks noGrp="1" noChangeArrowheads="1"/>
          </p:cNvSpPr>
          <p:nvPr>
            <p:ph type="body" idx="1"/>
          </p:nvPr>
        </p:nvSpPr>
        <p:spPr>
          <a:noFill/>
        </p:spPr>
        <p:txBody>
          <a:bodyPr lIns="86623" tIns="43312" rIns="86623" bIns="43312"/>
          <a:lstStyle/>
          <a:p>
            <a:pPr marL="171450" indent="-171450" eaLnBrk="1" hangingPunct="1">
              <a:buFont typeface="Arial" pitchFamily="34" charset="0"/>
              <a:buChar char="•"/>
            </a:pPr>
            <a:r>
              <a:rPr lang="sr-Latn-RS" sz="1200" kern="1200" dirty="0">
                <a:solidFill>
                  <a:schemeClr val="tx1"/>
                </a:solidFill>
                <a:effectLst/>
                <a:latin typeface="+mn-lt"/>
                <a:ea typeface="+mn-ea"/>
                <a:cs typeface="+mn-cs"/>
              </a:rPr>
              <a:t>podintegralna funkcija aroksimira polinomom prvog stepena, to jest, pravom</a:t>
            </a:r>
            <a:endParaRPr lang="sr-Latn-RS" altLang="sr-Latn-R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623" tIns="43312" rIns="86623" bIns="43312" anchor="b"/>
          <a:lstStyle>
            <a:lvl1pPr defTabSz="866775" eaLnBrk="0" hangingPunct="0">
              <a:defRPr>
                <a:solidFill>
                  <a:schemeClr val="tx1"/>
                </a:solidFill>
                <a:latin typeface="Arial" charset="0"/>
              </a:defRPr>
            </a:lvl1pPr>
            <a:lvl2pPr marL="703263" indent="-271463" defTabSz="866775" eaLnBrk="0" hangingPunct="0">
              <a:defRPr>
                <a:solidFill>
                  <a:schemeClr val="tx1"/>
                </a:solidFill>
                <a:latin typeface="Arial" charset="0"/>
              </a:defRPr>
            </a:lvl2pPr>
            <a:lvl3pPr marL="1081088" indent="-215900" defTabSz="866775" eaLnBrk="0" hangingPunct="0">
              <a:defRPr>
                <a:solidFill>
                  <a:schemeClr val="tx1"/>
                </a:solidFill>
                <a:latin typeface="Arial" charset="0"/>
              </a:defRPr>
            </a:lvl3pPr>
            <a:lvl4pPr marL="1512888" indent="-215900" defTabSz="866775" eaLnBrk="0" hangingPunct="0">
              <a:defRPr>
                <a:solidFill>
                  <a:schemeClr val="tx1"/>
                </a:solidFill>
                <a:latin typeface="Arial" charset="0"/>
              </a:defRPr>
            </a:lvl4pPr>
            <a:lvl5pPr marL="1946275" indent="-215900" defTabSz="866775" eaLnBrk="0" hangingPunct="0">
              <a:defRPr>
                <a:solidFill>
                  <a:schemeClr val="tx1"/>
                </a:solidFill>
                <a:latin typeface="Arial" charset="0"/>
              </a:defRPr>
            </a:lvl5pPr>
            <a:lvl6pPr marL="2403475" indent="-215900" defTabSz="866775" eaLnBrk="0" fontAlgn="base" hangingPunct="0">
              <a:spcBef>
                <a:spcPct val="0"/>
              </a:spcBef>
              <a:spcAft>
                <a:spcPct val="0"/>
              </a:spcAft>
              <a:defRPr>
                <a:solidFill>
                  <a:schemeClr val="tx1"/>
                </a:solidFill>
                <a:latin typeface="Arial" charset="0"/>
              </a:defRPr>
            </a:lvl6pPr>
            <a:lvl7pPr marL="2860675" indent="-215900" defTabSz="866775" eaLnBrk="0" fontAlgn="base" hangingPunct="0">
              <a:spcBef>
                <a:spcPct val="0"/>
              </a:spcBef>
              <a:spcAft>
                <a:spcPct val="0"/>
              </a:spcAft>
              <a:defRPr>
                <a:solidFill>
                  <a:schemeClr val="tx1"/>
                </a:solidFill>
                <a:latin typeface="Arial" charset="0"/>
              </a:defRPr>
            </a:lvl7pPr>
            <a:lvl8pPr marL="3317875" indent="-215900" defTabSz="866775" eaLnBrk="0" fontAlgn="base" hangingPunct="0">
              <a:spcBef>
                <a:spcPct val="0"/>
              </a:spcBef>
              <a:spcAft>
                <a:spcPct val="0"/>
              </a:spcAft>
              <a:defRPr>
                <a:solidFill>
                  <a:schemeClr val="tx1"/>
                </a:solidFill>
                <a:latin typeface="Arial" charset="0"/>
              </a:defRPr>
            </a:lvl8pPr>
            <a:lvl9pPr marL="3775075" indent="-215900" defTabSz="866775" eaLnBrk="0" fontAlgn="base" hangingPunct="0">
              <a:spcBef>
                <a:spcPct val="0"/>
              </a:spcBef>
              <a:spcAft>
                <a:spcPct val="0"/>
              </a:spcAft>
              <a:defRPr>
                <a:solidFill>
                  <a:schemeClr val="tx1"/>
                </a:solidFill>
                <a:latin typeface="Arial" charset="0"/>
              </a:defRPr>
            </a:lvl9pPr>
          </a:lstStyle>
          <a:p>
            <a:pPr algn="r" eaLnBrk="1" hangingPunct="1"/>
            <a:fld id="{C0AD6D36-CD23-4BFC-9BCE-6A5D41DC68F7}" type="slidenum">
              <a:rPr lang="ar-SA" altLang="sr-Latn-RS" sz="1100"/>
              <a:pPr algn="r" eaLnBrk="1" hangingPunct="1"/>
              <a:t>12</a:t>
            </a:fld>
            <a:endParaRPr lang="en-US" altLang="sr-Latn-RS" sz="1100">
              <a:cs typeface="Arial" charset="0"/>
            </a:endParaRPr>
          </a:p>
        </p:txBody>
      </p:sp>
      <p:sp>
        <p:nvSpPr>
          <p:cNvPr id="80899" name="Rectangle 2"/>
          <p:cNvSpPr>
            <a:spLocks noGrp="1" noRot="1" noChangeAspect="1" noChangeArrowheads="1" noTextEdit="1"/>
          </p:cNvSpPr>
          <p:nvPr>
            <p:ph type="sldImg"/>
          </p:nvPr>
        </p:nvSpPr>
        <p:spPr>
          <a:xfrm>
            <a:off x="1144588" y="685800"/>
            <a:ext cx="4572000" cy="3429000"/>
          </a:xfrm>
          <a:ln/>
        </p:spPr>
      </p:sp>
      <p:sp>
        <p:nvSpPr>
          <p:cNvPr id="80900" name="Rectangle 3"/>
          <p:cNvSpPr>
            <a:spLocks noGrp="1" noChangeArrowheads="1"/>
          </p:cNvSpPr>
          <p:nvPr>
            <p:ph type="body" idx="1"/>
          </p:nvPr>
        </p:nvSpPr>
        <p:spPr>
          <a:noFill/>
        </p:spPr>
        <p:txBody>
          <a:bodyPr lIns="86623" tIns="43312" rIns="86623" bIns="43312"/>
          <a:lstStyle/>
          <a:p>
            <a:pPr eaLnBrk="1" hangingPunct="1"/>
            <a:endParaRPr lang="sr-Latn-RS" altLang="sr-Latn-R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6623" tIns="43312" rIns="86623" bIns="43312" anchor="b"/>
          <a:lstStyle>
            <a:lvl1pPr defTabSz="866775" eaLnBrk="0" hangingPunct="0">
              <a:defRPr>
                <a:solidFill>
                  <a:schemeClr val="tx1"/>
                </a:solidFill>
                <a:latin typeface="Arial" charset="0"/>
              </a:defRPr>
            </a:lvl1pPr>
            <a:lvl2pPr marL="703263" indent="-271463" defTabSz="866775" eaLnBrk="0" hangingPunct="0">
              <a:defRPr>
                <a:solidFill>
                  <a:schemeClr val="tx1"/>
                </a:solidFill>
                <a:latin typeface="Arial" charset="0"/>
              </a:defRPr>
            </a:lvl2pPr>
            <a:lvl3pPr marL="1081088" indent="-215900" defTabSz="866775" eaLnBrk="0" hangingPunct="0">
              <a:defRPr>
                <a:solidFill>
                  <a:schemeClr val="tx1"/>
                </a:solidFill>
                <a:latin typeface="Arial" charset="0"/>
              </a:defRPr>
            </a:lvl3pPr>
            <a:lvl4pPr marL="1512888" indent="-215900" defTabSz="866775" eaLnBrk="0" hangingPunct="0">
              <a:defRPr>
                <a:solidFill>
                  <a:schemeClr val="tx1"/>
                </a:solidFill>
                <a:latin typeface="Arial" charset="0"/>
              </a:defRPr>
            </a:lvl4pPr>
            <a:lvl5pPr marL="1946275" indent="-215900" defTabSz="866775" eaLnBrk="0" hangingPunct="0">
              <a:defRPr>
                <a:solidFill>
                  <a:schemeClr val="tx1"/>
                </a:solidFill>
                <a:latin typeface="Arial" charset="0"/>
              </a:defRPr>
            </a:lvl5pPr>
            <a:lvl6pPr marL="2403475" indent="-215900" defTabSz="866775" eaLnBrk="0" fontAlgn="base" hangingPunct="0">
              <a:spcBef>
                <a:spcPct val="0"/>
              </a:spcBef>
              <a:spcAft>
                <a:spcPct val="0"/>
              </a:spcAft>
              <a:defRPr>
                <a:solidFill>
                  <a:schemeClr val="tx1"/>
                </a:solidFill>
                <a:latin typeface="Arial" charset="0"/>
              </a:defRPr>
            </a:lvl6pPr>
            <a:lvl7pPr marL="2860675" indent="-215900" defTabSz="866775" eaLnBrk="0" fontAlgn="base" hangingPunct="0">
              <a:spcBef>
                <a:spcPct val="0"/>
              </a:spcBef>
              <a:spcAft>
                <a:spcPct val="0"/>
              </a:spcAft>
              <a:defRPr>
                <a:solidFill>
                  <a:schemeClr val="tx1"/>
                </a:solidFill>
                <a:latin typeface="Arial" charset="0"/>
              </a:defRPr>
            </a:lvl7pPr>
            <a:lvl8pPr marL="3317875" indent="-215900" defTabSz="866775" eaLnBrk="0" fontAlgn="base" hangingPunct="0">
              <a:spcBef>
                <a:spcPct val="0"/>
              </a:spcBef>
              <a:spcAft>
                <a:spcPct val="0"/>
              </a:spcAft>
              <a:defRPr>
                <a:solidFill>
                  <a:schemeClr val="tx1"/>
                </a:solidFill>
                <a:latin typeface="Arial" charset="0"/>
              </a:defRPr>
            </a:lvl8pPr>
            <a:lvl9pPr marL="3775075" indent="-215900" defTabSz="866775" eaLnBrk="0" fontAlgn="base" hangingPunct="0">
              <a:spcBef>
                <a:spcPct val="0"/>
              </a:spcBef>
              <a:spcAft>
                <a:spcPct val="0"/>
              </a:spcAft>
              <a:defRPr>
                <a:solidFill>
                  <a:schemeClr val="tx1"/>
                </a:solidFill>
                <a:latin typeface="Arial" charset="0"/>
              </a:defRPr>
            </a:lvl9pPr>
          </a:lstStyle>
          <a:p>
            <a:pPr algn="r" eaLnBrk="1" hangingPunct="1"/>
            <a:fld id="{5080B58E-34A3-493C-AC90-A1B34BA739FE}" type="slidenum">
              <a:rPr lang="ar-SA" altLang="sr-Latn-RS" sz="1100"/>
              <a:pPr algn="r" eaLnBrk="1" hangingPunct="1"/>
              <a:t>13</a:t>
            </a:fld>
            <a:endParaRPr lang="en-US" altLang="sr-Latn-RS" sz="1100">
              <a:cs typeface="Arial" charset="0"/>
            </a:endParaRPr>
          </a:p>
        </p:txBody>
      </p:sp>
      <p:sp>
        <p:nvSpPr>
          <p:cNvPr id="81923" name="Rectangle 2"/>
          <p:cNvSpPr>
            <a:spLocks noGrp="1" noRot="1" noChangeAspect="1" noChangeArrowheads="1" noTextEdit="1"/>
          </p:cNvSpPr>
          <p:nvPr>
            <p:ph type="sldImg"/>
          </p:nvPr>
        </p:nvSpPr>
        <p:spPr>
          <a:xfrm>
            <a:off x="1144588" y="685800"/>
            <a:ext cx="4572000" cy="3429000"/>
          </a:xfrm>
          <a:ln/>
        </p:spPr>
      </p:sp>
      <mc:AlternateContent xmlns:mc="http://schemas.openxmlformats.org/markup-compatibility/2006" xmlns:a14="http://schemas.microsoft.com/office/drawing/2010/main">
        <mc:Choice Requires="a14">
          <p:sp>
            <p:nvSpPr>
              <p:cNvPr id="81924" name="Rectangle 3"/>
              <p:cNvSpPr>
                <a:spLocks noGrp="1" noChangeArrowheads="1"/>
              </p:cNvSpPr>
              <p:nvPr>
                <p:ph type="body" idx="1"/>
              </p:nvPr>
            </p:nvSpPr>
            <p:spPr>
              <a:noFill/>
            </p:spPr>
            <p:txBody>
              <a:bodyPr lIns="86623" tIns="43312" rIns="86623" bIns="43312"/>
              <a:lstStyle/>
              <a:p>
                <a:pPr marL="171450" indent="-171450" eaLnBrk="1" hangingPunct="1">
                  <a:buFont typeface="Arial" pitchFamily="34" charset="0"/>
                  <a:buChar char="•"/>
                </a:pPr>
                <a:r>
                  <a:rPr lang="sr-Latn-RS" sz="1200" kern="1200" dirty="0">
                    <a:solidFill>
                      <a:schemeClr val="tx1"/>
                    </a:solidFill>
                    <a:effectLst/>
                    <a:latin typeface="+mn-lt"/>
                    <a:ea typeface="+mn-ea"/>
                    <a:cs typeface="+mn-cs"/>
                  </a:rPr>
                  <a:t>Drugi način za izvođenje formule za metodu trapeza je geometrijski. Posmatramo trapez formiran od tačka </a:t>
                </a:r>
                <a14:m>
                  <m:oMath xmlns:m="http://schemas.openxmlformats.org/officeDocument/2006/math">
                    <m:r>
                      <a:rPr lang="sr-Latn-RS" sz="1200" i="1" kern="1200">
                        <a:solidFill>
                          <a:schemeClr val="tx1"/>
                        </a:solidFill>
                        <a:effectLst/>
                        <a:latin typeface="Cambria Math"/>
                        <a:ea typeface="+mn-ea"/>
                        <a:cs typeface="+mn-cs"/>
                      </a:rPr>
                      <m:t>𝑎</m:t>
                    </m:r>
                    <m:r>
                      <a:rPr lang="sr-Latn-RS" sz="1200" i="1" kern="1200">
                        <a:solidFill>
                          <a:schemeClr val="tx1"/>
                        </a:solidFill>
                        <a:effectLst/>
                        <a:latin typeface="Cambria Math"/>
                        <a:ea typeface="+mn-ea"/>
                        <a:cs typeface="+mn-cs"/>
                      </a:rPr>
                      <m:t>, </m:t>
                    </m:r>
                    <m:r>
                      <a:rPr lang="sr-Latn-RS" sz="1200" i="1" kern="1200">
                        <a:solidFill>
                          <a:schemeClr val="tx1"/>
                        </a:solidFill>
                        <a:effectLst/>
                        <a:latin typeface="Cambria Math"/>
                        <a:ea typeface="+mn-ea"/>
                        <a:cs typeface="+mn-cs"/>
                      </a:rPr>
                      <m:t>𝑏</m:t>
                    </m:r>
                    <m:r>
                      <a:rPr lang="sr-Latn-RS" sz="1200" i="1" kern="1200">
                        <a:solidFill>
                          <a:schemeClr val="tx1"/>
                        </a:solidFill>
                        <a:effectLst/>
                        <a:latin typeface="Cambria Math"/>
                        <a:ea typeface="+mn-ea"/>
                        <a:cs typeface="+mn-cs"/>
                      </a:rPr>
                      <m:t>, </m:t>
                    </m:r>
                    <m:r>
                      <a:rPr lang="sr-Latn-RS" sz="1200" i="1" kern="1200">
                        <a:solidFill>
                          <a:schemeClr val="tx1"/>
                        </a:solidFill>
                        <a:effectLst/>
                        <a:latin typeface="Cambria Math"/>
                        <a:ea typeface="+mn-ea"/>
                        <a:cs typeface="+mn-cs"/>
                      </a:rPr>
                      <m:t>𝑓</m:t>
                    </m:r>
                    <m:d>
                      <m:dPr>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𝑎</m:t>
                        </m:r>
                      </m:e>
                    </m:d>
                  </m:oMath>
                </a14:m>
                <a:r>
                  <a:rPr lang="sr-Latn-RS" sz="1200" kern="1200" dirty="0">
                    <a:solidFill>
                      <a:schemeClr val="tx1"/>
                    </a:solidFill>
                    <a:effectLst/>
                    <a:latin typeface="+mn-lt"/>
                    <a:ea typeface="+mn-ea"/>
                    <a:cs typeface="+mn-cs"/>
                  </a:rPr>
                  <a:t> i </a:t>
                </a:r>
                <a14:m>
                  <m:oMath xmlns:m="http://schemas.openxmlformats.org/officeDocument/2006/math">
                    <m:r>
                      <a:rPr lang="sr-Latn-RS" sz="1200" i="1" kern="1200">
                        <a:solidFill>
                          <a:schemeClr val="tx1"/>
                        </a:solidFill>
                        <a:effectLst/>
                        <a:latin typeface="Cambria Math"/>
                        <a:ea typeface="+mn-ea"/>
                        <a:cs typeface="+mn-cs"/>
                      </a:rPr>
                      <m:t>𝑓</m:t>
                    </m:r>
                    <m:d>
                      <m:dPr>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𝑏</m:t>
                        </m:r>
                      </m:e>
                    </m:d>
                  </m:oMath>
                </a14:m>
                <a:r>
                  <a:rPr lang="sr-Latn-RS" sz="1200" kern="1200" dirty="0">
                    <a:solidFill>
                      <a:schemeClr val="tx1"/>
                    </a:solidFill>
                    <a:effectLst/>
                    <a:latin typeface="+mn-lt"/>
                    <a:ea typeface="+mn-ea"/>
                    <a:cs typeface="+mn-cs"/>
                  </a:rPr>
                  <a:t>. </a:t>
                </a:r>
              </a:p>
              <a:p>
                <a:pPr marL="171450" indent="-171450">
                  <a:buFont typeface="Arial" pitchFamily="34" charset="0"/>
                  <a:buChar char="•"/>
                </a:pPr>
                <a:r>
                  <a:rPr lang="sr-Latn-RS" sz="1200" kern="1200" dirty="0">
                    <a:solidFill>
                      <a:schemeClr val="tx1"/>
                    </a:solidFill>
                    <a:effectLst/>
                    <a:latin typeface="+mn-lt"/>
                    <a:ea typeface="+mn-ea"/>
                    <a:cs typeface="+mn-cs"/>
                  </a:rPr>
                  <a:t>Poznato je da se površina trapeza dobija kao proizvod srednje linije:</a:t>
                </a:r>
                <a:endParaRPr lang="en-US" sz="120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f>
                        <m:fPr>
                          <m:ctrlPr>
                            <a:rPr lang="en-US" sz="1200" i="1" kern="1200">
                              <a:solidFill>
                                <a:schemeClr val="tx1"/>
                              </a:solidFill>
                              <a:effectLst/>
                              <a:latin typeface="Cambria Math" panose="02040503050406030204" pitchFamily="18" charset="0"/>
                              <a:ea typeface="+mn-ea"/>
                              <a:cs typeface="+mn-cs"/>
                            </a:rPr>
                          </m:ctrlPr>
                        </m:fPr>
                        <m:num>
                          <m:r>
                            <a:rPr lang="sr-Latn-RS" sz="1200" i="1" kern="1200">
                              <a:solidFill>
                                <a:schemeClr val="tx1"/>
                              </a:solidFill>
                              <a:effectLst/>
                              <a:latin typeface="Cambria Math"/>
                              <a:ea typeface="+mn-ea"/>
                              <a:cs typeface="+mn-cs"/>
                            </a:rPr>
                            <m:t>𝑓</m:t>
                          </m:r>
                          <m:d>
                            <m:dPr>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𝑏</m:t>
                              </m:r>
                            </m:e>
                          </m:d>
                          <m:r>
                            <a:rPr lang="sr-Latn-RS" sz="1200" i="1" kern="1200">
                              <a:solidFill>
                                <a:schemeClr val="tx1"/>
                              </a:solidFill>
                              <a:effectLst/>
                              <a:latin typeface="Cambria Math"/>
                              <a:ea typeface="+mn-ea"/>
                              <a:cs typeface="+mn-cs"/>
                            </a:rPr>
                            <m:t>+</m:t>
                          </m:r>
                          <m:r>
                            <a:rPr lang="sr-Latn-RS" sz="1200" i="1" kern="1200">
                              <a:solidFill>
                                <a:schemeClr val="tx1"/>
                              </a:solidFill>
                              <a:effectLst/>
                              <a:latin typeface="Cambria Math"/>
                              <a:ea typeface="+mn-ea"/>
                              <a:cs typeface="+mn-cs"/>
                            </a:rPr>
                            <m:t>𝑓</m:t>
                          </m:r>
                          <m:r>
                            <a:rPr lang="sr-Latn-RS" sz="1200" i="1" kern="1200">
                              <a:solidFill>
                                <a:schemeClr val="tx1"/>
                              </a:solidFill>
                              <a:effectLst/>
                              <a:latin typeface="Cambria Math"/>
                              <a:ea typeface="+mn-ea"/>
                              <a:cs typeface="+mn-cs"/>
                            </a:rPr>
                            <m:t>(</m:t>
                          </m:r>
                          <m:r>
                            <a:rPr lang="sr-Latn-RS" sz="1200" i="1" kern="1200">
                              <a:solidFill>
                                <a:schemeClr val="tx1"/>
                              </a:solidFill>
                              <a:effectLst/>
                              <a:latin typeface="Cambria Math"/>
                              <a:ea typeface="+mn-ea"/>
                              <a:cs typeface="+mn-cs"/>
                            </a:rPr>
                            <m:t>𝑎</m:t>
                          </m:r>
                          <m:r>
                            <a:rPr lang="sr-Latn-RS" sz="1200" i="1" kern="1200">
                              <a:solidFill>
                                <a:schemeClr val="tx1"/>
                              </a:solidFill>
                              <a:effectLst/>
                              <a:latin typeface="Cambria Math"/>
                              <a:ea typeface="+mn-ea"/>
                              <a:cs typeface="+mn-cs"/>
                            </a:rPr>
                            <m:t>)</m:t>
                          </m:r>
                        </m:num>
                        <m:den>
                          <m:r>
                            <a:rPr lang="sr-Latn-RS" sz="1200" i="1" kern="1200">
                              <a:solidFill>
                                <a:schemeClr val="tx1"/>
                              </a:solidFill>
                              <a:effectLst/>
                              <a:latin typeface="Cambria Math"/>
                              <a:ea typeface="+mn-ea"/>
                              <a:cs typeface="+mn-cs"/>
                            </a:rPr>
                            <m:t>2</m:t>
                          </m:r>
                        </m:den>
                      </m:f>
                    </m:oMath>
                  </m:oMathPara>
                </a14:m>
                <a:endParaRPr lang="sr-Latn-RS" sz="1200" i="1" kern="1200" dirty="0">
                  <a:solidFill>
                    <a:schemeClr val="tx1"/>
                  </a:solidFill>
                  <a:effectLst/>
                  <a:latin typeface="+mn-lt"/>
                  <a:ea typeface="+mn-ea"/>
                  <a:cs typeface="+mn-cs"/>
                </a:endParaRPr>
              </a:p>
              <a:p>
                <a:r>
                  <a:rPr lang="sr-Latn-RS" sz="1200" i="0" kern="1200" dirty="0">
                    <a:solidFill>
                      <a:schemeClr val="tx1"/>
                    </a:solidFill>
                    <a:effectLst/>
                    <a:latin typeface="+mn-lt"/>
                    <a:ea typeface="+mn-ea"/>
                    <a:cs typeface="+mn-cs"/>
                  </a:rPr>
                  <a:t>I visine b-a, pa i na taj način</a:t>
                </a:r>
                <a:r>
                  <a:rPr lang="sr-Latn-RS" sz="1200" i="0" kern="1200" baseline="0" dirty="0">
                    <a:solidFill>
                      <a:schemeClr val="tx1"/>
                    </a:solidFill>
                    <a:effectLst/>
                    <a:latin typeface="+mn-lt"/>
                    <a:ea typeface="+mn-ea"/>
                    <a:cs typeface="+mn-cs"/>
                  </a:rPr>
                  <a:t> dobijamo identičnu formulu za metodu trapeza</a:t>
                </a:r>
                <a:endParaRPr lang="en-US" sz="1200" i="0" kern="1200" dirty="0">
                  <a:solidFill>
                    <a:schemeClr val="tx1"/>
                  </a:solidFill>
                  <a:effectLst/>
                  <a:latin typeface="+mn-lt"/>
                  <a:ea typeface="+mn-ea"/>
                  <a:cs typeface="+mn-cs"/>
                </a:endParaRPr>
              </a:p>
              <a:p>
                <a:pPr marL="171450" indent="-171450" eaLnBrk="1" hangingPunct="1">
                  <a:buFont typeface="Arial" pitchFamily="34" charset="0"/>
                  <a:buChar char="•"/>
                </a:pPr>
                <a:endParaRPr lang="sr-Latn-RS" altLang="sr-Latn-RS" dirty="0"/>
              </a:p>
            </p:txBody>
          </p:sp>
        </mc:Choice>
        <mc:Fallback xmlns="">
          <p:sp>
            <p:nvSpPr>
              <p:cNvPr id="81924" name="Rectangle 3"/>
              <p:cNvSpPr>
                <a:spLocks noGrp="1" noChangeArrowheads="1"/>
              </p:cNvSpPr>
              <p:nvPr>
                <p:ph type="body" idx="1"/>
              </p:nvPr>
            </p:nvSpPr>
            <p:spPr>
              <a:noFill/>
            </p:spPr>
            <p:txBody>
              <a:bodyPr lIns="86623" tIns="43312" rIns="86623" bIns="43312"/>
              <a:lstStyle/>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Drugi način za izvođenje formule za metodu trapeza je geometrijski. Posmatramo trapez formiran od tačka </a:t>
                </a:r>
                <a:r>
                  <a:rPr lang="sr-Latn-RS" sz="1200" i="0" kern="1200">
                    <a:solidFill>
                      <a:schemeClr val="tx1"/>
                    </a:solidFill>
                    <a:effectLst/>
                    <a:latin typeface="+mn-lt"/>
                    <a:ea typeface="+mn-ea"/>
                    <a:cs typeface="+mn-cs"/>
                  </a:rPr>
                  <a:t>𝑎, 𝑏, 𝑓</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a:t>
                </a:r>
                <a:r>
                  <a:rPr lang="sr-Latn-RS" sz="1200" kern="1200" dirty="0">
                    <a:solidFill>
                      <a:schemeClr val="tx1"/>
                    </a:solidFill>
                    <a:effectLst/>
                    <a:latin typeface="+mn-lt"/>
                    <a:ea typeface="+mn-ea"/>
                    <a:cs typeface="+mn-cs"/>
                  </a:rPr>
                  <a:t> i </a:t>
                </a:r>
                <a:r>
                  <a:rPr lang="sr-Latn-RS" sz="1200" i="0" kern="1200">
                    <a:solidFill>
                      <a:schemeClr val="tx1"/>
                    </a:solidFill>
                    <a:effectLst/>
                    <a:latin typeface="+mn-lt"/>
                    <a:ea typeface="+mn-ea"/>
                    <a:cs typeface="+mn-cs"/>
                  </a:rPr>
                  <a:t>𝑓</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𝑏)</a:t>
                </a:r>
                <a:r>
                  <a:rPr lang="sr-Latn-RS" sz="1200" kern="1200" dirty="0">
                    <a:solidFill>
                      <a:schemeClr val="tx1"/>
                    </a:solidFill>
                    <a:effectLst/>
                    <a:latin typeface="+mn-lt"/>
                    <a:ea typeface="+mn-ea"/>
                    <a:cs typeface="+mn-cs"/>
                  </a:rPr>
                  <a:t>. </a:t>
                </a:r>
                <a:endParaRPr lang="sr-Latn-RS" sz="1200" kern="120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Poznato je da se površina trapeza dobija kao proizvod srednje linije:</a:t>
                </a:r>
                <a:endParaRPr lang="en-US" sz="1200" kern="1200" dirty="0">
                  <a:solidFill>
                    <a:schemeClr val="tx1"/>
                  </a:solidFill>
                  <a:effectLst/>
                  <a:latin typeface="+mn-lt"/>
                  <a:ea typeface="+mn-ea"/>
                  <a:cs typeface="+mn-cs"/>
                </a:endParaRPr>
              </a:p>
              <a:p>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𝑓</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𝑏)+𝑓(𝑎)</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2</a:t>
                </a:r>
                <a:endParaRPr lang="sr-Latn-RS" sz="1200" i="1" kern="1200" dirty="0" smtClean="0">
                  <a:solidFill>
                    <a:schemeClr val="tx1"/>
                  </a:solidFill>
                  <a:effectLst/>
                  <a:latin typeface="+mn-lt"/>
                  <a:ea typeface="+mn-ea"/>
                  <a:cs typeface="+mn-cs"/>
                </a:endParaRPr>
              </a:p>
              <a:p>
                <a:r>
                  <a:rPr lang="sr-Latn-RS" sz="1200" i="0" kern="1200" dirty="0" smtClean="0">
                    <a:solidFill>
                      <a:schemeClr val="tx1"/>
                    </a:solidFill>
                    <a:effectLst/>
                    <a:latin typeface="+mn-lt"/>
                    <a:ea typeface="+mn-ea"/>
                    <a:cs typeface="+mn-cs"/>
                  </a:rPr>
                  <a:t>I visine b-a, pa i na taj način</a:t>
                </a:r>
                <a:r>
                  <a:rPr lang="sr-Latn-RS" sz="1200" i="0" kern="1200" baseline="0" dirty="0" smtClean="0">
                    <a:solidFill>
                      <a:schemeClr val="tx1"/>
                    </a:solidFill>
                    <a:effectLst/>
                    <a:latin typeface="+mn-lt"/>
                    <a:ea typeface="+mn-ea"/>
                    <a:cs typeface="+mn-cs"/>
                  </a:rPr>
                  <a:t> dobijamo identičnu formulu za metodu trapeza</a:t>
                </a:r>
                <a:endParaRPr lang="en-US" sz="1200" i="0" kern="1200" dirty="0">
                  <a:solidFill>
                    <a:schemeClr val="tx1"/>
                  </a:solidFill>
                  <a:effectLst/>
                  <a:latin typeface="+mn-lt"/>
                  <a:ea typeface="+mn-ea"/>
                  <a:cs typeface="+mn-cs"/>
                </a:endParaRPr>
              </a:p>
              <a:p>
                <a:pPr marL="171450" indent="-171450" eaLnBrk="1" hangingPunct="1">
                  <a:buFont typeface="Arial" pitchFamily="34" charset="0"/>
                  <a:buChar char="•"/>
                </a:pPr>
                <a:endParaRPr lang="sr-Latn-RS" altLang="sr-Latn-RS" dirty="0" smtClean="0"/>
              </a:p>
            </p:txBody>
          </p:sp>
        </mc:Fallback>
      </mc:AlternateContent>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dirty="0" err="1"/>
              <a:t>Gre</a:t>
            </a:r>
            <a:r>
              <a:rPr lang="sr-Latn-RS" dirty="0"/>
              <a:t>ška</a:t>
            </a:r>
            <a:r>
              <a:rPr lang="sr-Latn-RS" baseline="0" dirty="0"/>
              <a:t> je očekivano velika </a:t>
            </a:r>
            <a:r>
              <a:rPr lang="sr-Latn-CS" sz="1200" kern="1200" dirty="0">
                <a:solidFill>
                  <a:schemeClr val="tx1"/>
                </a:solidFill>
                <a:effectLst/>
                <a:latin typeface="+mn-lt"/>
                <a:ea typeface="+mn-ea"/>
                <a:cs typeface="+mn-cs"/>
              </a:rPr>
              <a:t>s obzirom na to da smo upotrebili samo krajnje tačke intervala, odnosno, sa grafika 5.1. jasno je da površina trapeza nije dobra aproksimacije površine ispod podintegralne funkcije</a:t>
            </a:r>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14</a:t>
            </a:fld>
            <a:endParaRPr lang="en-US"/>
          </a:p>
        </p:txBody>
      </p:sp>
    </p:spTree>
    <p:extLst>
      <p:ext uri="{BB962C8B-B14F-4D97-AF65-F5344CB8AC3E}">
        <p14:creationId xmlns:p14="http://schemas.microsoft.com/office/powerpoint/2010/main" val="519695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err="1">
                <a:solidFill>
                  <a:schemeClr val="tx1"/>
                </a:solidFill>
                <a:effectLst/>
                <a:latin typeface="+mn-lt"/>
                <a:ea typeface="+mn-ea"/>
                <a:cs typeface="+mn-cs"/>
              </a:rPr>
              <a:t>Podintervali</a:t>
            </a:r>
            <a:r>
              <a:rPr lang="sr-Latn-RS" sz="1200" kern="1200" dirty="0">
                <a:solidFill>
                  <a:schemeClr val="tx1"/>
                </a:solidFill>
                <a:effectLst/>
                <a:latin typeface="+mn-lt"/>
                <a:ea typeface="+mn-ea"/>
                <a:cs typeface="+mn-cs"/>
              </a:rPr>
              <a:t> ne moraju da budu jednake dužine, ali zbog jednostavnosti prikaza mi ćemo smatrati da su jednake dužine</a:t>
            </a:r>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16</a:t>
            </a:fld>
            <a:endParaRPr lang="en-US"/>
          </a:p>
        </p:txBody>
      </p:sp>
    </p:spTree>
    <p:extLst>
      <p:ext uri="{BB962C8B-B14F-4D97-AF65-F5344CB8AC3E}">
        <p14:creationId xmlns:p14="http://schemas.microsoft.com/office/powerpoint/2010/main" val="29836992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Geometrijska interpretacija kompozitne metode je takođe vrlo jednostavna, dovoljno je na grafikonu 5.2. uvideti da trapezi dele stranice, odnosno, da je desna stranica jednog trapeza, leva stranica trapeza nakon njega</a:t>
            </a:r>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18</a:t>
            </a:fld>
            <a:endParaRPr lang="en-US"/>
          </a:p>
        </p:txBody>
      </p:sp>
    </p:spTree>
    <p:extLst>
      <p:ext uri="{BB962C8B-B14F-4D97-AF65-F5344CB8AC3E}">
        <p14:creationId xmlns:p14="http://schemas.microsoft.com/office/powerpoint/2010/main" val="40749948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Ako</a:t>
            </a:r>
            <a:r>
              <a:rPr lang="sr-Latn-RS" sz="1200" kern="1200" baseline="0" dirty="0">
                <a:solidFill>
                  <a:schemeClr val="tx1"/>
                </a:solidFill>
                <a:effectLst/>
                <a:latin typeface="+mn-lt"/>
                <a:ea typeface="+mn-ea"/>
                <a:cs typeface="+mn-cs"/>
              </a:rPr>
              <a:t> uvedemo pretpostavke...</a:t>
            </a:r>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21</a:t>
            </a:fld>
            <a:endParaRPr lang="en-US"/>
          </a:p>
        </p:txBody>
      </p:sp>
    </p:spTree>
    <p:extLst>
      <p:ext uri="{BB962C8B-B14F-4D97-AF65-F5344CB8AC3E}">
        <p14:creationId xmlns:p14="http://schemas.microsoft.com/office/powerpoint/2010/main" val="12309356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err="1">
                    <a:solidFill>
                      <a:schemeClr val="tx1"/>
                    </a:solidFill>
                    <a:effectLst/>
                    <a:latin typeface="+mn-lt"/>
                    <a:ea typeface="+mn-ea"/>
                    <a:cs typeface="+mn-cs"/>
                  </a:rPr>
                  <a:t>Dakle</a:t>
                </a:r>
                <a:r>
                  <a:rPr lang="sr-Latn-RS" sz="1200" kern="1200" dirty="0">
                    <a:solidFill>
                      <a:schemeClr val="tx1"/>
                    </a:solidFill>
                    <a:effectLst/>
                    <a:latin typeface="+mn-lt"/>
                    <a:ea typeface="+mn-ea"/>
                    <a:cs typeface="+mn-cs"/>
                  </a:rPr>
                  <a:t>, uspeli smo da ograničimo grešku kompozitne trapezne metode. Vidimo da ona zavisi od dužine intervala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𝑎</m:t>
                        </m:r>
                        <m:r>
                          <a:rPr lang="sr-Latn-RS" sz="1200" i="1" kern="1200">
                            <a:solidFill>
                              <a:schemeClr val="tx1"/>
                            </a:solidFill>
                            <a:effectLst/>
                            <a:latin typeface="Cambria Math"/>
                            <a:ea typeface="+mn-ea"/>
                            <a:cs typeface="+mn-cs"/>
                          </a:rPr>
                          <m:t>,</m:t>
                        </m:r>
                        <m:r>
                          <a:rPr lang="sr-Latn-RS" sz="1200" i="1" kern="1200">
                            <a:solidFill>
                              <a:schemeClr val="tx1"/>
                            </a:solidFill>
                            <a:effectLst/>
                            <a:latin typeface="Cambria Math"/>
                            <a:ea typeface="+mn-ea"/>
                            <a:cs typeface="+mn-cs"/>
                          </a:rPr>
                          <m:t>𝑏</m:t>
                        </m:r>
                      </m:e>
                    </m:d>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veli</a:t>
                </a:r>
                <a:r>
                  <a:rPr lang="sr-Latn-RS" sz="1200" kern="1200" dirty="0">
                    <a:solidFill>
                      <a:schemeClr val="tx1"/>
                    </a:solidFill>
                    <a:effectLst/>
                    <a:latin typeface="+mn-lt"/>
                    <a:ea typeface="+mn-ea"/>
                    <a:cs typeface="+mn-cs"/>
                  </a:rPr>
                  <a:t>čine podintervala </a:t>
                </a:r>
                <a14:m>
                  <m:oMath xmlns:m="http://schemas.openxmlformats.org/officeDocument/2006/math">
                    <m:r>
                      <a:rPr lang="sr-Latn-RS" sz="1200" i="1" kern="1200">
                        <a:solidFill>
                          <a:schemeClr val="tx1"/>
                        </a:solidFill>
                        <a:effectLst/>
                        <a:latin typeface="Cambria Math"/>
                        <a:ea typeface="+mn-ea"/>
                        <a:cs typeface="+mn-cs"/>
                      </a:rPr>
                      <m:t>h</m:t>
                    </m:r>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odnosno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primenjujemo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velikom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intervalu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koji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delimo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mali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broj</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podintervala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će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velika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grafikon</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5.2</a:t>
                </a:r>
                <a:r>
                  <a:rPr lang="en-US" sz="1200" kern="1200" dirty="0">
                    <a:solidFill>
                      <a:schemeClr val="tx1"/>
                    </a:solidFill>
                    <a:effectLst/>
                    <a:latin typeface="+mn-lt"/>
                    <a:ea typeface="+mn-ea"/>
                    <a:cs typeface="+mn-cs"/>
                  </a:rPr>
                  <a:t>). S </a:t>
                </a:r>
                <a:r>
                  <a:rPr lang="en-US" sz="1200" kern="1200" dirty="0" err="1">
                    <a:solidFill>
                      <a:schemeClr val="tx1"/>
                    </a:solidFill>
                    <a:effectLst/>
                    <a:latin typeface="+mn-lt"/>
                    <a:ea typeface="+mn-ea"/>
                    <a:cs typeface="+mn-cs"/>
                  </a:rPr>
                  <a:t>obzirom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to da je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ograničena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a:t>
                </a:r>
                <a14:m>
                  <m:oMath xmlns:m="http://schemas.openxmlformats.org/officeDocument/2006/math">
                    <m:sSup>
                      <m:sSupPr>
                        <m:ctrlPr>
                          <a:rPr lang="en-US" sz="1200" i="1" kern="1200">
                            <a:solidFill>
                              <a:schemeClr val="tx1"/>
                            </a:solidFill>
                            <a:effectLst/>
                            <a:latin typeface="Cambria Math" panose="02040503050406030204" pitchFamily="18" charset="0"/>
                            <a:ea typeface="+mn-ea"/>
                            <a:cs typeface="+mn-cs"/>
                          </a:rPr>
                        </m:ctrlPr>
                      </m:sSupPr>
                      <m:e>
                        <m:r>
                          <a:rPr lang="en-US" sz="1200" i="1" kern="1200">
                            <a:solidFill>
                              <a:schemeClr val="tx1"/>
                            </a:solidFill>
                            <a:effectLst/>
                            <a:latin typeface="Cambria Math"/>
                            <a:ea typeface="+mn-ea"/>
                            <a:cs typeface="+mn-cs"/>
                          </a:rPr>
                          <m:t>h</m:t>
                        </m:r>
                      </m:e>
                      <m:sup>
                        <m:r>
                          <a:rPr lang="en-US" sz="1200" i="1" kern="1200">
                            <a:solidFill>
                              <a:schemeClr val="tx1"/>
                            </a:solidFill>
                            <a:effectLst/>
                            <a:latin typeface="Cambria Math"/>
                            <a:ea typeface="+mn-ea"/>
                            <a:cs typeface="+mn-cs"/>
                          </a:rPr>
                          <m:t>2</m:t>
                        </m:r>
                      </m:sup>
                    </m:sSup>
                  </m:oMath>
                </a14:m>
                <a:r>
                  <a:rPr lang="en-US" sz="1200" i="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zaključujemo</a:t>
                </a:r>
                <a:r>
                  <a:rPr lang="en-US" sz="1200" kern="1200" dirty="0">
                    <a:solidFill>
                      <a:schemeClr val="tx1"/>
                    </a:solidFill>
                    <a:effectLst/>
                    <a:latin typeface="+mn-lt"/>
                    <a:ea typeface="+mn-ea"/>
                    <a:cs typeface="+mn-cs"/>
                  </a:rPr>
                  <a:t> da je red </a:t>
                </a:r>
                <a:r>
                  <a:rPr lang="en-US" sz="1200" kern="1200" dirty="0" err="1">
                    <a:solidFill>
                      <a:schemeClr val="tx1"/>
                    </a:solidFill>
                    <a:effectLst/>
                    <a:latin typeface="+mn-lt"/>
                    <a:ea typeface="+mn-ea"/>
                    <a:cs typeface="+mn-cs"/>
                  </a:rPr>
                  <a:t>greške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kompozitnog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trapeza</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a:ea typeface="+mn-ea"/>
                        <a:cs typeface="+mn-cs"/>
                      </a:rPr>
                      <m:t>𝑂</m:t>
                    </m:r>
                    <m:d>
                      <m:dPr>
                        <m:ctrlPr>
                          <a:rPr lang="en-US" sz="1200" i="1" kern="1200">
                            <a:solidFill>
                              <a:schemeClr val="tx1"/>
                            </a:solidFill>
                            <a:effectLst/>
                            <a:latin typeface="Cambria Math" panose="02040503050406030204" pitchFamily="18" charset="0"/>
                            <a:ea typeface="+mn-ea"/>
                            <a:cs typeface="+mn-cs"/>
                          </a:rPr>
                        </m:ctrlPr>
                      </m:dPr>
                      <m:e>
                        <m:sSup>
                          <m:sSupPr>
                            <m:ctrlPr>
                              <a:rPr lang="en-US" sz="1200" i="1" kern="1200">
                                <a:solidFill>
                                  <a:schemeClr val="tx1"/>
                                </a:solidFill>
                                <a:effectLst/>
                                <a:latin typeface="Cambria Math" panose="02040503050406030204" pitchFamily="18" charset="0"/>
                                <a:ea typeface="+mn-ea"/>
                                <a:cs typeface="+mn-cs"/>
                              </a:rPr>
                            </m:ctrlPr>
                          </m:sSupPr>
                          <m:e>
                            <m:r>
                              <a:rPr lang="en-US" sz="1200" i="1" kern="1200">
                                <a:solidFill>
                                  <a:schemeClr val="tx1"/>
                                </a:solidFill>
                                <a:effectLst/>
                                <a:latin typeface="Cambria Math"/>
                                <a:ea typeface="+mn-ea"/>
                                <a:cs typeface="+mn-cs"/>
                              </a:rPr>
                              <m:t>h</m:t>
                            </m:r>
                          </m:e>
                          <m:sup>
                            <m:r>
                              <a:rPr lang="en-US" sz="1200" i="1" kern="1200">
                                <a:solidFill>
                                  <a:schemeClr val="tx1"/>
                                </a:solidFill>
                                <a:effectLst/>
                                <a:latin typeface="Cambria Math"/>
                                <a:ea typeface="+mn-ea"/>
                                <a:cs typeface="+mn-cs"/>
                              </a:rPr>
                              <m:t>2</m:t>
                            </m:r>
                          </m:sup>
                        </m:sSup>
                      </m:e>
                    </m:d>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Konkretnije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smanjujemo</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a:ea typeface="+mn-ea"/>
                        <a:cs typeface="+mn-cs"/>
                      </a:rPr>
                      <m:t>h</m:t>
                    </m:r>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opada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kvadratna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funkcija</a:t>
                </a:r>
                <a:r>
                  <a:rPr lang="en-US" sz="1200" kern="1200" dirty="0">
                    <a:solidFill>
                      <a:schemeClr val="tx1"/>
                    </a:solidFill>
                    <a:effectLst/>
                    <a:latin typeface="+mn-lt"/>
                    <a:ea typeface="+mn-ea"/>
                    <a:cs typeface="+mn-cs"/>
                  </a:rPr>
                  <a:t>. </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err="1" smtClean="0">
                    <a:solidFill>
                      <a:schemeClr val="tx1"/>
                    </a:solidFill>
                    <a:effectLst/>
                    <a:latin typeface="+mn-lt"/>
                    <a:ea typeface="+mn-ea"/>
                    <a:cs typeface="+mn-cs"/>
                  </a:rPr>
                  <a:t>Dakle</a:t>
                </a:r>
                <a:r>
                  <a:rPr lang="sr-Latn-RS" sz="1200" kern="1200" dirty="0">
                    <a:solidFill>
                      <a:schemeClr val="tx1"/>
                    </a:solidFill>
                    <a:effectLst/>
                    <a:latin typeface="+mn-lt"/>
                    <a:ea typeface="+mn-ea"/>
                    <a:cs typeface="+mn-cs"/>
                  </a:rPr>
                  <a:t>, uspeli smo da ograničimo grešku kompozitne trapezne metode. Vidimo da ona zavisi od dužine intervala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veli</a:t>
                </a:r>
                <a:r>
                  <a:rPr lang="sr-Latn-RS" sz="1200" kern="1200" dirty="0">
                    <a:solidFill>
                      <a:schemeClr val="tx1"/>
                    </a:solidFill>
                    <a:effectLst/>
                    <a:latin typeface="+mn-lt"/>
                    <a:ea typeface="+mn-ea"/>
                    <a:cs typeface="+mn-cs"/>
                  </a:rPr>
                  <a:t>čine podintervala </a:t>
                </a:r>
                <a:r>
                  <a:rPr lang="sr-Latn-RS" sz="1200" i="0" kern="1200">
                    <a:solidFill>
                      <a:schemeClr val="tx1"/>
                    </a:solidFill>
                    <a:effectLst/>
                    <a:latin typeface="+mn-lt"/>
                    <a:ea typeface="+mn-ea"/>
                    <a:cs typeface="+mn-cs"/>
                  </a:rPr>
                  <a:t>ℎ</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odnosno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primenjujemo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velikom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intervalu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koji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delimo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mali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broj</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podintervala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će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velika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grafikon</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5.2</a:t>
                </a:r>
                <a:r>
                  <a:rPr lang="en-US" sz="1200" kern="1200" dirty="0">
                    <a:solidFill>
                      <a:schemeClr val="tx1"/>
                    </a:solidFill>
                    <a:effectLst/>
                    <a:latin typeface="+mn-lt"/>
                    <a:ea typeface="+mn-ea"/>
                    <a:cs typeface="+mn-cs"/>
                  </a:rPr>
                  <a:t>). S </a:t>
                </a:r>
                <a:r>
                  <a:rPr lang="en-US" sz="1200" kern="1200" dirty="0" err="1">
                    <a:solidFill>
                      <a:schemeClr val="tx1"/>
                    </a:solidFill>
                    <a:effectLst/>
                    <a:latin typeface="+mn-lt"/>
                    <a:ea typeface="+mn-ea"/>
                    <a:cs typeface="+mn-cs"/>
                  </a:rPr>
                  <a:t>obzirom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to da je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ograničena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sa</a:t>
                </a:r>
                <a:r>
                  <a:rPr lang="en-US" sz="1200" kern="1200" dirty="0">
                    <a:solidFill>
                      <a:schemeClr val="tx1"/>
                    </a:solidFill>
                    <a:effectLst/>
                    <a:latin typeface="+mn-lt"/>
                    <a:ea typeface="+mn-ea"/>
                    <a:cs typeface="+mn-cs"/>
                  </a:rPr>
                  <a:t> </a:t>
                </a:r>
                <a:r>
                  <a:rPr lang="en-US" sz="1200" i="0" kern="1200">
                    <a:solidFill>
                      <a:schemeClr val="tx1"/>
                    </a:solidFill>
                    <a:effectLst/>
                    <a:latin typeface="+mn-lt"/>
                    <a:ea typeface="+mn-ea"/>
                    <a:cs typeface="+mn-cs"/>
                  </a:rPr>
                  <a:t>ℎ^2</a:t>
                </a:r>
                <a:r>
                  <a:rPr lang="en-US" sz="1200" i="1"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zaključujemo</a:t>
                </a:r>
                <a:r>
                  <a:rPr lang="en-US" sz="1200" kern="1200" dirty="0">
                    <a:solidFill>
                      <a:schemeClr val="tx1"/>
                    </a:solidFill>
                    <a:effectLst/>
                    <a:latin typeface="+mn-lt"/>
                    <a:ea typeface="+mn-ea"/>
                    <a:cs typeface="+mn-cs"/>
                  </a:rPr>
                  <a:t> da je red </a:t>
                </a:r>
                <a:r>
                  <a:rPr lang="en-US" sz="1200" kern="1200" dirty="0" err="1">
                    <a:solidFill>
                      <a:schemeClr val="tx1"/>
                    </a:solidFill>
                    <a:effectLst/>
                    <a:latin typeface="+mn-lt"/>
                    <a:ea typeface="+mn-ea"/>
                    <a:cs typeface="+mn-cs"/>
                  </a:rPr>
                  <a:t>greške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kompozitnog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trapeza</a:t>
                </a:r>
                <a:r>
                  <a:rPr lang="en-US" sz="1200" kern="1200" dirty="0">
                    <a:solidFill>
                      <a:schemeClr val="tx1"/>
                    </a:solidFill>
                    <a:effectLst/>
                    <a:latin typeface="+mn-lt"/>
                    <a:ea typeface="+mn-ea"/>
                    <a:cs typeface="+mn-cs"/>
                  </a:rPr>
                  <a:t> </a:t>
                </a:r>
                <a:r>
                  <a:rPr lang="en-US" sz="1200" i="0" kern="1200">
                    <a:solidFill>
                      <a:schemeClr val="tx1"/>
                    </a:solidFill>
                    <a:effectLst/>
                    <a:latin typeface="+mn-lt"/>
                    <a:ea typeface="+mn-ea"/>
                    <a:cs typeface="+mn-cs"/>
                  </a:rPr>
                  <a:t>𝑂(ℎ^2 )</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Konkretnije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smanjujemo</a:t>
                </a:r>
                <a:r>
                  <a:rPr lang="en-US" sz="1200" kern="1200" dirty="0">
                    <a:solidFill>
                      <a:schemeClr val="tx1"/>
                    </a:solidFill>
                    <a:effectLst/>
                    <a:latin typeface="+mn-lt"/>
                    <a:ea typeface="+mn-ea"/>
                    <a:cs typeface="+mn-cs"/>
                  </a:rPr>
                  <a:t> </a:t>
                </a:r>
                <a:r>
                  <a:rPr lang="en-US" sz="1200" i="0" kern="1200">
                    <a:solidFill>
                      <a:schemeClr val="tx1"/>
                    </a:solidFill>
                    <a:effectLst/>
                    <a:latin typeface="+mn-lt"/>
                    <a:ea typeface="+mn-ea"/>
                    <a:cs typeface="+mn-cs"/>
                  </a:rPr>
                  <a:t>ℎ</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opada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kvadratna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funkcija</a:t>
                </a:r>
                <a:r>
                  <a:rPr lang="en-US" sz="1200" kern="1200" dirty="0">
                    <a:solidFill>
                      <a:schemeClr val="tx1"/>
                    </a:solidFill>
                    <a:effectLst/>
                    <a:latin typeface="+mn-lt"/>
                    <a:ea typeface="+mn-ea"/>
                    <a:cs typeface="+mn-cs"/>
                  </a:rPr>
                  <a:t>. </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22</a:t>
            </a:fld>
            <a:endParaRPr lang="en-US"/>
          </a:p>
        </p:txBody>
      </p:sp>
    </p:spTree>
    <p:extLst>
      <p:ext uri="{BB962C8B-B14F-4D97-AF65-F5344CB8AC3E}">
        <p14:creationId xmlns:p14="http://schemas.microsoft.com/office/powerpoint/2010/main" val="13306654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err="1">
                    <a:solidFill>
                      <a:schemeClr val="tx1"/>
                    </a:solidFill>
                    <a:effectLst/>
                    <a:latin typeface="+mn-lt"/>
                    <a:ea typeface="+mn-ea"/>
                    <a:cs typeface="+mn-cs"/>
                  </a:rPr>
                  <a:t>znamo</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nam</a:t>
                </a:r>
                <a:r>
                  <a:rPr lang="en-US" sz="1200" kern="1200" dirty="0">
                    <a:solidFill>
                      <a:schemeClr val="tx1"/>
                    </a:solidFill>
                    <a:effectLst/>
                    <a:latin typeface="+mn-lt"/>
                    <a:ea typeface="+mn-ea"/>
                    <a:cs typeface="+mn-cs"/>
                  </a:rPr>
                  <a:t> je </a:t>
                </a:r>
                <a:r>
                  <a:rPr lang="en-US" sz="1200" kern="1200" dirty="0" err="1">
                    <a:solidFill>
                      <a:schemeClr val="tx1"/>
                    </a:solidFill>
                    <a:effectLst/>
                    <a:latin typeface="+mn-lt"/>
                    <a:ea typeface="+mn-ea"/>
                    <a:cs typeface="+mn-cs"/>
                  </a:rPr>
                  <a:t>za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formiranje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interpolacionog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polinoma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durogog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stepena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potrebno</a:t>
                </a:r>
                <a:r>
                  <a:rPr lang="en-US" sz="1200" kern="1200" dirty="0">
                    <a:solidFill>
                      <a:schemeClr val="tx1"/>
                    </a:solidFill>
                    <a:effectLst/>
                    <a:latin typeface="+mn-lt"/>
                    <a:ea typeface="+mn-ea"/>
                    <a:cs typeface="+mn-cs"/>
                  </a:rPr>
                  <a:t> tri </a:t>
                </a:r>
                <a:r>
                  <a:rPr lang="en-US" sz="1200" kern="1200" dirty="0" err="1">
                    <a:solidFill>
                      <a:schemeClr val="tx1"/>
                    </a:solidFill>
                    <a:effectLst/>
                    <a:latin typeface="+mn-lt"/>
                    <a:ea typeface="+mn-ea"/>
                    <a:cs typeface="+mn-cs"/>
                  </a:rPr>
                  <a:t>tačke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Zato</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kod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Simpsonove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metode</a:t>
                </a:r>
                <a:r>
                  <a:rPr lang="en-US" sz="1200" kern="1200" dirty="0">
                    <a:solidFill>
                      <a:schemeClr val="tx1"/>
                    </a:solidFill>
                    <a:effectLst/>
                    <a:latin typeface="+mn-lt"/>
                    <a:ea typeface="+mn-ea"/>
                    <a:cs typeface="+mn-cs"/>
                  </a:rPr>
                  <a:t> pored </a:t>
                </a:r>
                <a:r>
                  <a:rPr lang="en-US" sz="1200" kern="1200" dirty="0" err="1">
                    <a:solidFill>
                      <a:schemeClr val="tx1"/>
                    </a:solidFill>
                    <a:effectLst/>
                    <a:latin typeface="+mn-lt"/>
                    <a:ea typeface="+mn-ea"/>
                    <a:cs typeface="+mn-cs"/>
                  </a:rPr>
                  <a:t>krajnjih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tačaka</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a:ea typeface="+mn-ea"/>
                        <a:cs typeface="+mn-cs"/>
                      </a:rPr>
                      <m:t>𝑎</m:t>
                    </m:r>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a:ea typeface="+mn-ea"/>
                        <a:cs typeface="+mn-cs"/>
                      </a:rPr>
                      <m:t>𝑏</m:t>
                    </m:r>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koristi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tačka</a:t>
                </a:r>
                <a:r>
                  <a:rPr lang="en-US" sz="1200" kern="1200" dirty="0">
                    <a:solidFill>
                      <a:schemeClr val="tx1"/>
                    </a:solidFill>
                    <a:effectLst/>
                    <a:latin typeface="+mn-lt"/>
                    <a:ea typeface="+mn-ea"/>
                    <a:cs typeface="+mn-cs"/>
                  </a:rPr>
                  <a:t> u </a:t>
                </a:r>
                <a:r>
                  <a:rPr lang="en-US" sz="1200" kern="1200" dirty="0" err="1">
                    <a:solidFill>
                      <a:schemeClr val="tx1"/>
                    </a:solidFill>
                    <a:effectLst/>
                    <a:latin typeface="+mn-lt"/>
                    <a:ea typeface="+mn-ea"/>
                    <a:cs typeface="+mn-cs"/>
                  </a:rPr>
                  <a:t>sredini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itervala</a:t>
                </a:r>
                <a:r>
                  <a:rPr lang="en-US" sz="1200" kern="1200" dirty="0">
                    <a:solidFill>
                      <a:schemeClr val="tx1"/>
                    </a:solidFill>
                    <a:effectLst/>
                    <a:latin typeface="+mn-lt"/>
                    <a:ea typeface="+mn-ea"/>
                    <a:cs typeface="+mn-cs"/>
                  </a:rPr>
                  <a:t> </a:t>
                </a:r>
                <a14:m>
                  <m:oMath xmlns:m="http://schemas.openxmlformats.org/officeDocument/2006/math">
                    <m:f>
                      <m:fPr>
                        <m:type m:val="lin"/>
                        <m:ctrlPr>
                          <a:rPr lang="en-US" sz="1200" i="1" kern="1200">
                            <a:solidFill>
                              <a:schemeClr val="tx1"/>
                            </a:solidFill>
                            <a:effectLst/>
                            <a:latin typeface="Cambria Math" panose="02040503050406030204" pitchFamily="18" charset="0"/>
                            <a:ea typeface="+mn-ea"/>
                            <a:cs typeface="+mn-cs"/>
                          </a:rPr>
                        </m:ctrlPr>
                      </m:fPr>
                      <m:num>
                        <m:d>
                          <m:dPr>
                            <m:ctrlPr>
                              <a:rPr lang="en-US" sz="1200" i="1" kern="1200">
                                <a:solidFill>
                                  <a:schemeClr val="tx1"/>
                                </a:solidFill>
                                <a:effectLst/>
                                <a:latin typeface="Cambria Math" panose="02040503050406030204" pitchFamily="18" charset="0"/>
                                <a:ea typeface="+mn-ea"/>
                                <a:cs typeface="+mn-cs"/>
                              </a:rPr>
                            </m:ctrlPr>
                          </m:dPr>
                          <m:e>
                            <m:r>
                              <a:rPr lang="en-US" sz="1200" i="1" kern="1200">
                                <a:solidFill>
                                  <a:schemeClr val="tx1"/>
                                </a:solidFill>
                                <a:effectLst/>
                                <a:latin typeface="Cambria Math"/>
                                <a:ea typeface="+mn-ea"/>
                                <a:cs typeface="+mn-cs"/>
                              </a:rPr>
                              <m:t>𝑎</m:t>
                            </m:r>
                            <m:r>
                              <a:rPr lang="en-US" sz="1200" i="1" kern="1200">
                                <a:solidFill>
                                  <a:schemeClr val="tx1"/>
                                </a:solidFill>
                                <a:effectLst/>
                                <a:latin typeface="Cambria Math"/>
                                <a:ea typeface="+mn-ea"/>
                                <a:cs typeface="+mn-cs"/>
                              </a:rPr>
                              <m:t>+</m:t>
                            </m:r>
                            <m:r>
                              <a:rPr lang="en-US" sz="1200" i="1" kern="1200">
                                <a:solidFill>
                                  <a:schemeClr val="tx1"/>
                                </a:solidFill>
                                <a:effectLst/>
                                <a:latin typeface="Cambria Math"/>
                                <a:ea typeface="+mn-ea"/>
                                <a:cs typeface="+mn-cs"/>
                              </a:rPr>
                              <m:t>𝑏</m:t>
                            </m:r>
                          </m:e>
                        </m:d>
                      </m:num>
                      <m:den>
                        <m:r>
                          <a:rPr lang="en-US" sz="1200" i="1" kern="1200">
                            <a:solidFill>
                              <a:schemeClr val="tx1"/>
                            </a:solidFill>
                            <a:effectLst/>
                            <a:latin typeface="Cambria Math"/>
                            <a:ea typeface="+mn-ea"/>
                            <a:cs typeface="+mn-cs"/>
                          </a:rPr>
                          <m:t>2</m:t>
                        </m:r>
                      </m:den>
                    </m:f>
                  </m:oMath>
                </a14:m>
                <a:endParaRPr lang="sr-Latn-RS" dirty="0"/>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sr-Latn-RS" dirty="0"/>
                  <a:t>L – interpolacioni polinom</a:t>
                </a:r>
                <a:endParaRPr lang="en-US" dirty="0"/>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err="1"/>
                  <a:t>Izvo</a:t>
                </a:r>
                <a:r>
                  <a:rPr lang="sr-Latn-RS" dirty="0"/>
                  <a:t>đenje</a:t>
                </a:r>
                <a:r>
                  <a:rPr lang="sr-Latn-RS" baseline="0" dirty="0"/>
                  <a:t> formule ćemo pokazati u nastavku</a:t>
                </a:r>
                <a:endParaRPr lang="sr-Latn-RS" dirty="0"/>
              </a:p>
              <a:p>
                <a:pPr marL="0" marR="0" indent="0" algn="l" defTabSz="914400" rtl="0" eaLnBrk="1" fontAlgn="auto" latinLnBrk="0" hangingPunct="1">
                  <a:lnSpc>
                    <a:spcPct val="100000"/>
                  </a:lnSpc>
                  <a:spcBef>
                    <a:spcPts val="0"/>
                  </a:spcBef>
                  <a:spcAft>
                    <a:spcPts val="0"/>
                  </a:spcAft>
                  <a:buClrTx/>
                  <a:buSzTx/>
                  <a:buFontTx/>
                  <a:buNone/>
                  <a:tabLst/>
                  <a:defRPr/>
                </a:pPr>
                <a:endParaRPr lang="sr-Latn-RS" dirty="0"/>
              </a:p>
              <a:p>
                <a:endParaRPr lang="en-US" dirty="0"/>
              </a:p>
            </p:txBody>
          </p:sp>
        </mc:Choice>
        <mc:Fallback xmlns="">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dirty="0" err="1" smtClean="0">
                    <a:solidFill>
                      <a:schemeClr val="tx1"/>
                    </a:solidFill>
                    <a:effectLst/>
                    <a:latin typeface="+mn-lt"/>
                    <a:ea typeface="+mn-ea"/>
                    <a:cs typeface="+mn-cs"/>
                  </a:rPr>
                  <a:t>znamo</a:t>
                </a:r>
                <a:r>
                  <a:rPr lang="en-US" sz="1200" kern="1200" dirty="0" smtClean="0">
                    <a:solidFill>
                      <a:schemeClr val="tx1"/>
                    </a:solidFill>
                    <a:effectLst/>
                    <a:latin typeface="+mn-lt"/>
                    <a:ea typeface="+mn-ea"/>
                    <a:cs typeface="+mn-cs"/>
                  </a:rPr>
                  <a:t> da </a:t>
                </a:r>
                <a:r>
                  <a:rPr lang="en-US" sz="1200" kern="1200" dirty="0" err="1" smtClean="0">
                    <a:solidFill>
                      <a:schemeClr val="tx1"/>
                    </a:solidFill>
                    <a:effectLst/>
                    <a:latin typeface="+mn-lt"/>
                    <a:ea typeface="+mn-ea"/>
                    <a:cs typeface="+mn-cs"/>
                  </a:rPr>
                  <a:t>nam</a:t>
                </a:r>
                <a:r>
                  <a:rPr lang="en-US" sz="1200" kern="1200" dirty="0" smtClean="0">
                    <a:solidFill>
                      <a:schemeClr val="tx1"/>
                    </a:solidFill>
                    <a:effectLst/>
                    <a:latin typeface="+mn-lt"/>
                    <a:ea typeface="+mn-ea"/>
                    <a:cs typeface="+mn-cs"/>
                  </a:rPr>
                  <a:t> je </a:t>
                </a:r>
                <a:r>
                  <a:rPr lang="en-US" sz="1200" kern="1200" dirty="0" err="1" smtClean="0">
                    <a:solidFill>
                      <a:schemeClr val="tx1"/>
                    </a:solidFill>
                    <a:effectLst/>
                    <a:latin typeface="+mn-lt"/>
                    <a:ea typeface="+mn-ea"/>
                    <a:cs typeface="+mn-cs"/>
                  </a:rPr>
                  <a:t>za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formiranje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interpolacionog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polinoma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durogog</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stepena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potrebno</a:t>
                </a:r>
                <a:r>
                  <a:rPr lang="en-US" sz="1200" kern="1200" dirty="0" smtClean="0">
                    <a:solidFill>
                      <a:schemeClr val="tx1"/>
                    </a:solidFill>
                    <a:effectLst/>
                    <a:latin typeface="+mn-lt"/>
                    <a:ea typeface="+mn-ea"/>
                    <a:cs typeface="+mn-cs"/>
                  </a:rPr>
                  <a:t> tri </a:t>
                </a:r>
                <a:r>
                  <a:rPr lang="en-US" sz="1200" kern="1200" dirty="0" err="1" smtClean="0">
                    <a:solidFill>
                      <a:schemeClr val="tx1"/>
                    </a:solidFill>
                    <a:effectLst/>
                    <a:latin typeface="+mn-lt"/>
                    <a:ea typeface="+mn-ea"/>
                    <a:cs typeface="+mn-cs"/>
                  </a:rPr>
                  <a:t>tačke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Zato</a:t>
                </a:r>
                <a:r>
                  <a:rPr lang="en-US" sz="1200" kern="1200" dirty="0" smtClean="0">
                    <a:solidFill>
                      <a:schemeClr val="tx1"/>
                    </a:solidFill>
                    <a:effectLst/>
                    <a:latin typeface="+mn-lt"/>
                    <a:ea typeface="+mn-ea"/>
                    <a:cs typeface="+mn-cs"/>
                  </a:rPr>
                  <a:t> se </a:t>
                </a:r>
                <a:r>
                  <a:rPr lang="en-US" sz="1200" kern="1200" dirty="0" err="1" smtClean="0">
                    <a:solidFill>
                      <a:schemeClr val="tx1"/>
                    </a:solidFill>
                    <a:effectLst/>
                    <a:latin typeface="+mn-lt"/>
                    <a:ea typeface="+mn-ea"/>
                    <a:cs typeface="+mn-cs"/>
                  </a:rPr>
                  <a:t>kod</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Simpsonove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metode</a:t>
                </a:r>
                <a:r>
                  <a:rPr lang="en-US" sz="1200" kern="1200" dirty="0" smtClean="0">
                    <a:solidFill>
                      <a:schemeClr val="tx1"/>
                    </a:solidFill>
                    <a:effectLst/>
                    <a:latin typeface="+mn-lt"/>
                    <a:ea typeface="+mn-ea"/>
                    <a:cs typeface="+mn-cs"/>
                  </a:rPr>
                  <a:t> pored </a:t>
                </a:r>
                <a:r>
                  <a:rPr lang="en-US" sz="1200" kern="1200" dirty="0" err="1" smtClean="0">
                    <a:solidFill>
                      <a:schemeClr val="tx1"/>
                    </a:solidFill>
                    <a:effectLst/>
                    <a:latin typeface="+mn-lt"/>
                    <a:ea typeface="+mn-ea"/>
                    <a:cs typeface="+mn-cs"/>
                  </a:rPr>
                  <a:t>krajnjih</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tačaka</a:t>
                </a:r>
                <a:r>
                  <a:rPr lang="en-US" sz="1200" kern="1200" dirty="0" smtClean="0">
                    <a:solidFill>
                      <a:schemeClr val="tx1"/>
                    </a:solidFill>
                    <a:effectLst/>
                    <a:latin typeface="+mn-lt"/>
                    <a:ea typeface="+mn-ea"/>
                    <a:cs typeface="+mn-cs"/>
                  </a:rPr>
                  <a:t> </a:t>
                </a:r>
                <a:r>
                  <a:rPr lang="en-US" sz="1200" i="0" kern="1200">
                    <a:solidFill>
                      <a:schemeClr val="tx1"/>
                    </a:solidFill>
                    <a:effectLst/>
                    <a:latin typeface="+mn-lt"/>
                    <a:ea typeface="+mn-ea"/>
                    <a:cs typeface="+mn-cs"/>
                  </a:rPr>
                  <a:t>𝑎</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i="0" kern="1200">
                    <a:solidFill>
                      <a:schemeClr val="tx1"/>
                    </a:solidFill>
                    <a:effectLst/>
                    <a:latin typeface="+mn-lt"/>
                    <a:ea typeface="+mn-ea"/>
                    <a:cs typeface="+mn-cs"/>
                  </a:rPr>
                  <a:t>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koristi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tačka</a:t>
                </a:r>
                <a:r>
                  <a:rPr lang="en-US" sz="1200" kern="1200" dirty="0">
                    <a:solidFill>
                      <a:schemeClr val="tx1"/>
                    </a:solidFill>
                    <a:effectLst/>
                    <a:latin typeface="+mn-lt"/>
                    <a:ea typeface="+mn-ea"/>
                    <a:cs typeface="+mn-cs"/>
                  </a:rPr>
                  <a:t> u </a:t>
                </a:r>
                <a:r>
                  <a:rPr lang="en-US" sz="1200" kern="1200" dirty="0" err="1">
                    <a:solidFill>
                      <a:schemeClr val="tx1"/>
                    </a:solidFill>
                    <a:effectLst/>
                    <a:latin typeface="+mn-lt"/>
                    <a:ea typeface="+mn-ea"/>
                    <a:cs typeface="+mn-cs"/>
                  </a:rPr>
                  <a:t>sredini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itervala</a:t>
                </a:r>
                <a:r>
                  <a:rPr lang="en-US" sz="1200" kern="1200" dirty="0">
                    <a:solidFill>
                      <a:schemeClr val="tx1"/>
                    </a:solidFill>
                    <a:effectLst/>
                    <a:latin typeface="+mn-lt"/>
                    <a:ea typeface="+mn-ea"/>
                    <a:cs typeface="+mn-cs"/>
                  </a:rPr>
                  <a:t> </a:t>
                </a:r>
                <a:r>
                  <a:rPr lang="en-US" sz="1200" i="0" kern="1200">
                    <a:solidFill>
                      <a:schemeClr val="tx1"/>
                    </a:solidFill>
                    <a:effectLst/>
                    <a:latin typeface="+mn-lt"/>
                    <a:ea typeface="+mn-ea"/>
                    <a:cs typeface="+mn-cs"/>
                  </a:rPr>
                  <a:t>(𝑎+𝑏)∕2</a:t>
                </a:r>
                <a:endParaRPr lang="sr-Latn-RS" dirty="0" smtClean="0"/>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sr-Latn-RS" dirty="0" smtClean="0"/>
                  <a:t>L – interpolacioni polinom</a:t>
                </a:r>
                <a:endParaRPr lang="en-US" dirty="0" smtClean="0"/>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err="1" smtClean="0"/>
                  <a:t>Izvo</a:t>
                </a:r>
                <a:r>
                  <a:rPr lang="sr-Latn-RS" dirty="0" smtClean="0"/>
                  <a:t>đenje</a:t>
                </a:r>
                <a:r>
                  <a:rPr lang="sr-Latn-RS" baseline="0" dirty="0" smtClean="0"/>
                  <a:t> formule ćemo pokazati u nastavku</a:t>
                </a:r>
                <a:endParaRPr lang="sr-Latn-R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sr-Latn-RS" dirty="0" smtClean="0"/>
              </a:p>
              <a:p>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23</a:t>
            </a:fld>
            <a:endParaRPr lang="en-US"/>
          </a:p>
        </p:txBody>
      </p:sp>
    </p:spTree>
    <p:extLst>
      <p:ext uri="{BB962C8B-B14F-4D97-AF65-F5344CB8AC3E}">
        <p14:creationId xmlns:p14="http://schemas.microsoft.com/office/powerpoint/2010/main" val="2462096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a:solidFill>
                      <a:schemeClr val="tx1"/>
                    </a:solidFill>
                    <a:effectLst/>
                    <a:latin typeface="+mn-lt"/>
                    <a:ea typeface="+mn-ea"/>
                    <a:cs typeface="+mn-cs"/>
                  </a:rPr>
                  <a:t>Za </a:t>
                </a:r>
                <a:r>
                  <a:rPr lang="en-US" sz="1200" kern="1200" dirty="0" err="1">
                    <a:solidFill>
                      <a:schemeClr val="tx1"/>
                    </a:solidFill>
                    <a:effectLst/>
                    <a:latin typeface="+mn-lt"/>
                    <a:ea typeface="+mn-ea"/>
                    <a:cs typeface="+mn-cs"/>
                  </a:rPr>
                  <a:t>kompozitnu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metodu</a:t>
                </a:r>
                <a:r>
                  <a:rPr lang="en-US" sz="1200" kern="1200" dirty="0">
                    <a:solidFill>
                      <a:schemeClr val="tx1"/>
                    </a:solidFill>
                    <a:effectLst/>
                    <a:latin typeface="+mn-lt"/>
                    <a:ea typeface="+mn-ea"/>
                    <a:cs typeface="+mn-cs"/>
                  </a:rPr>
                  <a:t>, interval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r>
                          <a:rPr lang="en-US" sz="1200" i="1" kern="1200">
                            <a:solidFill>
                              <a:schemeClr val="tx1"/>
                            </a:solidFill>
                            <a:effectLst/>
                            <a:latin typeface="Cambria Math"/>
                            <a:ea typeface="+mn-ea"/>
                            <a:cs typeface="+mn-cs"/>
                          </a:rPr>
                          <m:t>𝑎</m:t>
                        </m:r>
                        <m:r>
                          <a:rPr lang="en-US" sz="1200" i="1" kern="1200">
                            <a:solidFill>
                              <a:schemeClr val="tx1"/>
                            </a:solidFill>
                            <a:effectLst/>
                            <a:latin typeface="Cambria Math"/>
                            <a:ea typeface="+mn-ea"/>
                            <a:cs typeface="+mn-cs"/>
                          </a:rPr>
                          <m:t>,</m:t>
                        </m:r>
                        <m:r>
                          <a:rPr lang="en-US" sz="1200" i="1" kern="1200">
                            <a:solidFill>
                              <a:schemeClr val="tx1"/>
                            </a:solidFill>
                            <a:effectLst/>
                            <a:latin typeface="Cambria Math"/>
                            <a:ea typeface="+mn-ea"/>
                            <a:cs typeface="+mn-cs"/>
                          </a:rPr>
                          <m:t>𝑏</m:t>
                        </m:r>
                      </m:e>
                    </m:d>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moramo</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podelimo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paran broj </a:t>
                </a:r>
                <a:r>
                  <a:rPr lang="sr-Latn-RS" sz="1200" kern="1200" dirty="0" err="1">
                    <a:solidFill>
                      <a:schemeClr val="tx1"/>
                    </a:solidFill>
                    <a:effectLst/>
                    <a:latin typeface="+mn-lt"/>
                    <a:ea typeface="+mn-ea"/>
                    <a:cs typeface="+mn-cs"/>
                  </a:rPr>
                  <a:t>podintervala</a:t>
                </a:r>
                <a:endParaRPr lang="en-US" sz="120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err="1" smtClean="0">
                    <a:solidFill>
                      <a:schemeClr val="tx1"/>
                    </a:solidFill>
                    <a:effectLst/>
                    <a:latin typeface="+mn-lt"/>
                    <a:ea typeface="+mn-ea"/>
                    <a:cs typeface="+mn-cs"/>
                  </a:rPr>
                  <a:t>Vidi</a:t>
                </a:r>
                <a:r>
                  <a:rPr lang="en-US" sz="1200" kern="1200" dirty="0" smtClean="0">
                    <a:solidFill>
                      <a:schemeClr val="tx1"/>
                    </a:solidFill>
                    <a:effectLst/>
                    <a:latin typeface="+mn-lt"/>
                    <a:ea typeface="+mn-ea"/>
                    <a:cs typeface="+mn-cs"/>
                  </a:rPr>
                  <a:t> se da je </a:t>
                </a:r>
                <a:r>
                  <a:rPr lang="en-US" sz="1200" kern="1200" dirty="0" err="1" smtClean="0">
                    <a:solidFill>
                      <a:schemeClr val="tx1"/>
                    </a:solidFill>
                    <a:effectLst/>
                    <a:latin typeface="+mn-lt"/>
                    <a:ea typeface="+mn-ea"/>
                    <a:cs typeface="+mn-cs"/>
                  </a:rPr>
                  <a:t>za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jednu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primenu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Simpsonove</a:t>
                </a:r>
                <a:r>
                  <a:rPr lang="en-US" sz="1200" kern="1200" dirty="0" smtClean="0">
                    <a:solidFill>
                      <a:schemeClr val="tx1"/>
                    </a:solidFill>
                    <a:effectLst/>
                    <a:latin typeface="+mn-lt"/>
                    <a:ea typeface="+mn-ea"/>
                    <a:cs typeface="+mn-cs"/>
                  </a:rPr>
                  <a:t> 1/3 </a:t>
                </a:r>
                <a:r>
                  <a:rPr lang="en-US" sz="1200" kern="1200" dirty="0" err="1" smtClean="0">
                    <a:solidFill>
                      <a:schemeClr val="tx1"/>
                    </a:solidFill>
                    <a:effectLst/>
                    <a:latin typeface="+mn-lt"/>
                    <a:ea typeface="+mn-ea"/>
                    <a:cs typeface="+mn-cs"/>
                  </a:rPr>
                  <a:t>metode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potrebno</a:t>
                </a:r>
                <a:r>
                  <a:rPr lang="en-US" sz="1200" kern="1200" dirty="0" smtClean="0">
                    <a:solidFill>
                      <a:schemeClr val="tx1"/>
                    </a:solidFill>
                    <a:effectLst/>
                    <a:latin typeface="+mn-lt"/>
                    <a:ea typeface="+mn-ea"/>
                    <a:cs typeface="+mn-cs"/>
                  </a:rPr>
                  <a:t> tri </a:t>
                </a:r>
                <a:r>
                  <a:rPr lang="en-US" sz="1200" kern="1200" dirty="0" err="1" smtClean="0">
                    <a:solidFill>
                      <a:schemeClr val="tx1"/>
                    </a:solidFill>
                    <a:effectLst/>
                    <a:latin typeface="+mn-lt"/>
                    <a:ea typeface="+mn-ea"/>
                    <a:cs typeface="+mn-cs"/>
                  </a:rPr>
                  <a:t>tačke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odnosno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dva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podintervala</a:t>
                </a:r>
                <a:endParaRPr lang="en-US" sz="1200" kern="1200" dirty="0" smtClean="0">
                  <a:solidFill>
                    <a:schemeClr val="tx1"/>
                  </a:solidFill>
                  <a:effectLst/>
                  <a:latin typeface="+mn-lt"/>
                  <a:ea typeface="+mn-ea"/>
                  <a:cs typeface="+mn-cs"/>
                </a:endParaRPr>
              </a:p>
              <a:p>
                <a:pPr marL="171450" indent="-171450">
                  <a:buFont typeface="Arial" pitchFamily="34" charset="0"/>
                  <a:buChar char="•"/>
                </a:pPr>
                <a:r>
                  <a:rPr lang="en-US" sz="1200" kern="1200" dirty="0" err="1" smtClean="0">
                    <a:solidFill>
                      <a:schemeClr val="tx1"/>
                    </a:solidFill>
                    <a:effectLst/>
                    <a:latin typeface="+mn-lt"/>
                    <a:ea typeface="+mn-ea"/>
                    <a:cs typeface="+mn-cs"/>
                  </a:rPr>
                  <a:t>Dakle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za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kompozitnu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metodu</a:t>
                </a:r>
                <a:r>
                  <a:rPr lang="en-US" sz="1200" kern="1200" dirty="0" smtClean="0">
                    <a:solidFill>
                      <a:schemeClr val="tx1"/>
                    </a:solidFill>
                    <a:effectLst/>
                    <a:latin typeface="+mn-lt"/>
                    <a:ea typeface="+mn-ea"/>
                    <a:cs typeface="+mn-cs"/>
                  </a:rPr>
                  <a:t>, interval </a:t>
                </a:r>
                <a:r>
                  <a:rPr lang="en-US" sz="1200" i="0" kern="1200">
                    <a:solidFill>
                      <a:schemeClr val="tx1"/>
                    </a:solidFill>
                    <a:effectLst/>
                    <a:latin typeface="+mn-lt"/>
                    <a:ea typeface="+mn-ea"/>
                    <a:cs typeface="+mn-cs"/>
                  </a:rPr>
                  <a:t>[𝑎,𝑏]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moramo</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podelimo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paran broj </a:t>
                </a:r>
                <a:r>
                  <a:rPr lang="sr-Latn-RS" sz="1200" kern="1200" dirty="0" smtClean="0">
                    <a:solidFill>
                      <a:schemeClr val="tx1"/>
                    </a:solidFill>
                    <a:effectLst/>
                    <a:latin typeface="+mn-lt"/>
                    <a:ea typeface="+mn-ea"/>
                    <a:cs typeface="+mn-cs"/>
                  </a:rPr>
                  <a:t>podintervala</a:t>
                </a:r>
                <a:endParaRPr lang="en-US" sz="1200" kern="1200" dirty="0" smtClean="0">
                  <a:solidFill>
                    <a:schemeClr val="tx1"/>
                  </a:solidFill>
                  <a:effectLst/>
                  <a:latin typeface="+mn-lt"/>
                  <a:ea typeface="+mn-ea"/>
                  <a:cs typeface="+mn-cs"/>
                </a:endParaRPr>
              </a:p>
              <a:p>
                <a:pPr marL="171450" indent="-171450">
                  <a:buFont typeface="Arial" pitchFamily="34" charset="0"/>
                  <a:buChar char="•"/>
                </a:pPr>
                <a:r>
                  <a:rPr lang="en-US" sz="1200" kern="1200" dirty="0" smtClean="0">
                    <a:solidFill>
                      <a:schemeClr val="tx1"/>
                    </a:solidFill>
                    <a:effectLst/>
                    <a:latin typeface="+mn-lt"/>
                    <a:ea typeface="+mn-ea"/>
                    <a:cs typeface="+mn-cs"/>
                  </a:rPr>
                  <a:t>Sa </a:t>
                </a:r>
                <a:r>
                  <a:rPr lang="en-US" sz="1200" kern="1200" dirty="0" err="1" smtClean="0">
                    <a:solidFill>
                      <a:schemeClr val="tx1"/>
                    </a:solidFill>
                    <a:effectLst/>
                    <a:latin typeface="+mn-lt"/>
                    <a:ea typeface="+mn-ea"/>
                    <a:cs typeface="+mn-cs"/>
                  </a:rPr>
                  <a:t>slike</a:t>
                </a:r>
                <a:r>
                  <a:rPr lang="en-US" sz="1200" kern="1200" dirty="0" smtClean="0">
                    <a:solidFill>
                      <a:schemeClr val="tx1"/>
                    </a:solidFill>
                    <a:effectLst/>
                    <a:latin typeface="+mn-lt"/>
                    <a:ea typeface="+mn-ea"/>
                    <a:cs typeface="+mn-cs"/>
                  </a:rPr>
                  <a:t> </a:t>
                </a:r>
                <a:r>
                  <a:rPr lang="sr-Latn-RS" sz="1200" kern="1200" dirty="0" smtClean="0">
                    <a:solidFill>
                      <a:schemeClr val="tx1"/>
                    </a:solidFill>
                    <a:effectLst/>
                    <a:latin typeface="+mn-lt"/>
                    <a:ea typeface="+mn-ea"/>
                    <a:cs typeface="+mn-cs"/>
                  </a:rPr>
                  <a:t>5.4. </a:t>
                </a:r>
                <a:r>
                  <a:rPr lang="en-US" sz="1200" kern="1200" dirty="0" smtClean="0">
                    <a:solidFill>
                      <a:schemeClr val="tx1"/>
                    </a:solidFill>
                    <a:effectLst/>
                    <a:latin typeface="+mn-lt"/>
                    <a:ea typeface="+mn-ea"/>
                    <a:cs typeface="+mn-cs"/>
                  </a:rPr>
                  <a:t>se </a:t>
                </a:r>
                <a:r>
                  <a:rPr lang="en-US" sz="1200" kern="1200" dirty="0" err="1" smtClean="0">
                    <a:solidFill>
                      <a:schemeClr val="tx1"/>
                    </a:solidFill>
                    <a:effectLst/>
                    <a:latin typeface="+mn-lt"/>
                    <a:ea typeface="+mn-ea"/>
                    <a:cs typeface="+mn-cs"/>
                  </a:rPr>
                  <a:t>može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videti</a:t>
                </a:r>
                <a:r>
                  <a:rPr lang="en-US" sz="1200" kern="1200" dirty="0" smtClean="0">
                    <a:solidFill>
                      <a:schemeClr val="tx1"/>
                    </a:solidFill>
                    <a:effectLst/>
                    <a:latin typeface="+mn-lt"/>
                    <a:ea typeface="+mn-ea"/>
                    <a:cs typeface="+mn-cs"/>
                  </a:rPr>
                  <a:t> da se </a:t>
                </a:r>
                <a:r>
                  <a:rPr lang="en-US" sz="1200" kern="1200" dirty="0" err="1" smtClean="0">
                    <a:solidFill>
                      <a:schemeClr val="tx1"/>
                    </a:solidFill>
                    <a:effectLst/>
                    <a:latin typeface="+mn-lt"/>
                    <a:ea typeface="+mn-ea"/>
                    <a:cs typeface="+mn-cs"/>
                  </a:rPr>
                  <a:t>prva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i</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poslednja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tačka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koriste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samo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jednom</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Takođe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vidi</a:t>
                </a:r>
                <a:r>
                  <a:rPr lang="en-US" sz="1200" kern="1200" dirty="0" smtClean="0">
                    <a:solidFill>
                      <a:schemeClr val="tx1"/>
                    </a:solidFill>
                    <a:effectLst/>
                    <a:latin typeface="+mn-lt"/>
                    <a:ea typeface="+mn-ea"/>
                    <a:cs typeface="+mn-cs"/>
                  </a:rPr>
                  <a:t> se da se </a:t>
                </a:r>
                <a:r>
                  <a:rPr lang="en-US" sz="1200" kern="1200" dirty="0" err="1" smtClean="0">
                    <a:solidFill>
                      <a:schemeClr val="tx1"/>
                    </a:solidFill>
                    <a:effectLst/>
                    <a:latin typeface="+mn-lt"/>
                    <a:ea typeface="+mn-ea"/>
                    <a:cs typeface="+mn-cs"/>
                  </a:rPr>
                  <a:t>tačke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koje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nepran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broj</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podintervala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udaljene</a:t>
                </a:r>
                <a:r>
                  <a:rPr lang="en-US" sz="1200" kern="1200" dirty="0" smtClean="0">
                    <a:solidFill>
                      <a:schemeClr val="tx1"/>
                    </a:solidFill>
                    <a:effectLst/>
                    <a:latin typeface="+mn-lt"/>
                    <a:ea typeface="+mn-ea"/>
                    <a:cs typeface="+mn-cs"/>
                  </a:rPr>
                  <a:t> od </a:t>
                </a:r>
                <a:r>
                  <a:rPr lang="en-US" sz="1200" kern="1200" dirty="0" err="1" smtClean="0">
                    <a:solidFill>
                      <a:schemeClr val="tx1"/>
                    </a:solidFill>
                    <a:effectLst/>
                    <a:latin typeface="+mn-lt"/>
                    <a:ea typeface="+mn-ea"/>
                    <a:cs typeface="+mn-cs"/>
                  </a:rPr>
                  <a:t>prve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tačke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množe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sa</a:t>
                </a:r>
                <a:r>
                  <a:rPr lang="en-US" sz="1200" kern="1200" dirty="0" smtClean="0">
                    <a:solidFill>
                      <a:schemeClr val="tx1"/>
                    </a:solidFill>
                    <a:effectLst/>
                    <a:latin typeface="+mn-lt"/>
                    <a:ea typeface="+mn-ea"/>
                    <a:cs typeface="+mn-cs"/>
                  </a:rPr>
                  <a:t> 4, </a:t>
                </a:r>
                <a:r>
                  <a:rPr lang="en-US" sz="1200" kern="1200" dirty="0" err="1" smtClean="0">
                    <a:solidFill>
                      <a:schemeClr val="tx1"/>
                    </a:solidFill>
                    <a:effectLst/>
                    <a:latin typeface="+mn-lt"/>
                    <a:ea typeface="+mn-ea"/>
                    <a:cs typeface="+mn-cs"/>
                  </a:rPr>
                  <a:t>dok</a:t>
                </a:r>
                <a:r>
                  <a:rPr lang="en-US" sz="1200" kern="1200" dirty="0" smtClean="0">
                    <a:solidFill>
                      <a:schemeClr val="tx1"/>
                    </a:solidFill>
                    <a:effectLst/>
                    <a:latin typeface="+mn-lt"/>
                    <a:ea typeface="+mn-ea"/>
                    <a:cs typeface="+mn-cs"/>
                  </a:rPr>
                  <a:t> se one </a:t>
                </a:r>
                <a:r>
                  <a:rPr lang="en-US" sz="1200" kern="1200" dirty="0" err="1" smtClean="0">
                    <a:solidFill>
                      <a:schemeClr val="tx1"/>
                    </a:solidFill>
                    <a:effectLst/>
                    <a:latin typeface="+mn-lt"/>
                    <a:ea typeface="+mn-ea"/>
                    <a:cs typeface="+mn-cs"/>
                  </a:rPr>
                  <a:t>koje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su</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udaljene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paran</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broj</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podintervala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može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sa</a:t>
                </a:r>
                <a:r>
                  <a:rPr lang="en-US" sz="1200" kern="1200" dirty="0" smtClean="0">
                    <a:solidFill>
                      <a:schemeClr val="tx1"/>
                    </a:solidFill>
                    <a:effectLst/>
                    <a:latin typeface="+mn-lt"/>
                    <a:ea typeface="+mn-ea"/>
                    <a:cs typeface="+mn-cs"/>
                  </a:rPr>
                  <a:t> 2</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31</a:t>
            </a:fld>
            <a:endParaRPr lang="en-US"/>
          </a:p>
        </p:txBody>
      </p:sp>
    </p:spTree>
    <p:extLst>
      <p:ext uri="{BB962C8B-B14F-4D97-AF65-F5344CB8AC3E}">
        <p14:creationId xmlns:p14="http://schemas.microsoft.com/office/powerpoint/2010/main" val="1921077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a:solidFill>
                  <a:schemeClr val="tx1"/>
                </a:solidFill>
                <a:effectLst/>
                <a:latin typeface="+mn-lt"/>
                <a:ea typeface="+mn-ea"/>
                <a:cs typeface="+mn-cs"/>
              </a:rPr>
              <a:t>Na </a:t>
            </a:r>
            <a:r>
              <a:rPr lang="en-US" sz="1200" kern="1200" dirty="0" err="1">
                <a:solidFill>
                  <a:schemeClr val="tx1"/>
                </a:solidFill>
                <a:effectLst/>
                <a:latin typeface="+mn-lt"/>
                <a:ea typeface="+mn-ea"/>
                <a:cs typeface="+mn-cs"/>
              </a:rPr>
              <a:t>osnovu</a:t>
            </a:r>
            <a:r>
              <a:rPr lang="en-US" sz="1200" kern="1200" dirty="0">
                <a:solidFill>
                  <a:schemeClr val="tx1"/>
                </a:solidFill>
                <a:effectLst/>
                <a:latin typeface="+mn-lt"/>
                <a:ea typeface="+mn-ea"/>
                <a:cs typeface="+mn-cs"/>
              </a:rPr>
              <a:t> toga, </a:t>
            </a:r>
            <a:r>
              <a:rPr lang="en-US" sz="1200" kern="1200" dirty="0" err="1">
                <a:solidFill>
                  <a:schemeClr val="tx1"/>
                </a:solidFill>
                <a:effectLst/>
                <a:latin typeface="+mn-lt"/>
                <a:ea typeface="+mn-ea"/>
                <a:cs typeface="+mn-cs"/>
              </a:rPr>
              <a:t>imamo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sledeću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formulu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za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komozitnu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Simpsonovu</a:t>
            </a:r>
            <a:r>
              <a:rPr lang="en-US" sz="1200" kern="1200" dirty="0">
                <a:solidFill>
                  <a:schemeClr val="tx1"/>
                </a:solidFill>
                <a:effectLst/>
                <a:latin typeface="+mn-lt"/>
                <a:ea typeface="+mn-ea"/>
                <a:cs typeface="+mn-cs"/>
              </a:rPr>
              <a:t> 1/3 </a:t>
            </a:r>
            <a:r>
              <a:rPr lang="en-US" sz="1200" kern="1200" dirty="0" err="1">
                <a:solidFill>
                  <a:schemeClr val="tx1"/>
                </a:solidFill>
                <a:effectLst/>
                <a:latin typeface="+mn-lt"/>
                <a:ea typeface="+mn-ea"/>
                <a:cs typeface="+mn-cs"/>
              </a:rPr>
              <a:t>metodu</a:t>
            </a:r>
            <a:endParaRPr lang="en-US" dirty="0"/>
          </a:p>
        </p:txBody>
      </p:sp>
      <p:sp>
        <p:nvSpPr>
          <p:cNvPr id="4" name="Slide Number Placeholder 3"/>
          <p:cNvSpPr>
            <a:spLocks noGrp="1"/>
          </p:cNvSpPr>
          <p:nvPr>
            <p:ph type="sldNum" sz="quarter" idx="10"/>
          </p:nvPr>
        </p:nvSpPr>
        <p:spPr/>
        <p:txBody>
          <a:bodyPr/>
          <a:lstStyle/>
          <a:p>
            <a:fld id="{56B516A6-0BDA-4157-97F6-555E31D93247}" type="slidenum">
              <a:rPr lang="en-US" smtClean="0"/>
              <a:t>32</a:t>
            </a:fld>
            <a:endParaRPr lang="en-US"/>
          </a:p>
        </p:txBody>
      </p:sp>
    </p:spTree>
    <p:extLst>
      <p:ext uri="{BB962C8B-B14F-4D97-AF65-F5344CB8AC3E}">
        <p14:creationId xmlns:p14="http://schemas.microsoft.com/office/powerpoint/2010/main" val="8003720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kod</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trapeza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a:t>
                </a:r>
                <a:r>
                  <a:rPr lang="sr-Latn-RS" sz="1200" kern="1200" dirty="0">
                    <a:solidFill>
                      <a:schemeClr val="tx1"/>
                    </a:solidFill>
                    <a:effectLst/>
                    <a:latin typeface="+mn-lt"/>
                    <a:ea typeface="+mn-ea"/>
                    <a:cs typeface="+mn-cs"/>
                  </a:rPr>
                  <a:t>žemo</a:t>
                </a:r>
                <a:r>
                  <a:rPr lang="sr-Latn-R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da </a:t>
                </a:r>
                <a:r>
                  <a:rPr lang="en-US" sz="1200" kern="1200" dirty="0" err="1">
                    <a:solidFill>
                      <a:schemeClr val="tx1"/>
                    </a:solidFill>
                    <a:effectLst/>
                    <a:latin typeface="+mn-lt"/>
                    <a:ea typeface="+mn-ea"/>
                    <a:cs typeface="+mn-cs"/>
                  </a:rPr>
                  <a:t>odaberemo</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a:ea typeface="+mn-ea"/>
                        <a:cs typeface="+mn-cs"/>
                      </a:rPr>
                      <m:t>𝑛</m:t>
                    </m:r>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tako</a:t>
                </a:r>
                <a:r>
                  <a:rPr lang="en-US" sz="1200" kern="1200" dirty="0">
                    <a:solidFill>
                      <a:schemeClr val="tx1"/>
                    </a:solidFill>
                    <a:effectLst/>
                    <a:latin typeface="+mn-lt"/>
                    <a:ea typeface="+mn-ea"/>
                    <a:cs typeface="+mn-cs"/>
                  </a:rPr>
                  <a:t> da je </a:t>
                </a:r>
                <a:r>
                  <a:rPr lang="en-US" sz="1200" kern="1200" dirty="0" err="1">
                    <a:solidFill>
                      <a:schemeClr val="tx1"/>
                    </a:solidFill>
                    <a:effectLst/>
                    <a:latin typeface="+mn-lt"/>
                    <a:ea typeface="+mn-ea"/>
                    <a:cs typeface="+mn-cs"/>
                  </a:rPr>
                  <a:t>apsolutna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manja</a:t>
                </a:r>
                <a:r>
                  <a:rPr lang="en-US" sz="1200" kern="1200" dirty="0">
                    <a:solidFill>
                      <a:schemeClr val="tx1"/>
                    </a:solidFill>
                    <a:effectLst/>
                    <a:latin typeface="+mn-lt"/>
                    <a:ea typeface="+mn-ea"/>
                    <a:cs typeface="+mn-cs"/>
                  </a:rPr>
                  <a:t> od </a:t>
                </a:r>
                <a14:m>
                  <m:oMath xmlns:m="http://schemas.openxmlformats.org/officeDocument/2006/math">
                    <m:sSup>
                      <m:sSupPr>
                        <m:ctrlPr>
                          <a:rPr lang="en-US" sz="1200" i="1" kern="1200">
                            <a:solidFill>
                              <a:schemeClr val="tx1"/>
                            </a:solidFill>
                            <a:effectLst/>
                            <a:latin typeface="Cambria Math" panose="02040503050406030204" pitchFamily="18" charset="0"/>
                            <a:ea typeface="+mn-ea"/>
                            <a:cs typeface="+mn-cs"/>
                          </a:rPr>
                        </m:ctrlPr>
                      </m:sSupPr>
                      <m:e>
                        <m:r>
                          <a:rPr lang="en-US" sz="1200" i="1" kern="1200">
                            <a:solidFill>
                              <a:schemeClr val="tx1"/>
                            </a:solidFill>
                            <a:effectLst/>
                            <a:latin typeface="Cambria Math"/>
                            <a:ea typeface="+mn-ea"/>
                            <a:cs typeface="+mn-cs"/>
                          </a:rPr>
                          <m:t>10</m:t>
                        </m:r>
                      </m:e>
                      <m:sup>
                        <m:r>
                          <a:rPr lang="en-US" sz="1200" i="1" kern="1200">
                            <a:solidFill>
                              <a:schemeClr val="tx1"/>
                            </a:solidFill>
                            <a:effectLst/>
                            <a:latin typeface="Cambria Math"/>
                            <a:ea typeface="+mn-ea"/>
                            <a:cs typeface="+mn-cs"/>
                          </a:rPr>
                          <m:t>−5</m:t>
                        </m:r>
                      </m:sup>
                    </m:sSup>
                  </m:oMath>
                </a14:m>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kao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kod</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metode</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trapeza</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mo</a:t>
                </a:r>
                <a:r>
                  <a:rPr lang="sr-Latn-RS" sz="1200" kern="1200" dirty="0" smtClean="0">
                    <a:solidFill>
                      <a:schemeClr val="tx1"/>
                    </a:solidFill>
                    <a:effectLst/>
                    <a:latin typeface="+mn-lt"/>
                    <a:ea typeface="+mn-ea"/>
                    <a:cs typeface="+mn-cs"/>
                  </a:rPr>
                  <a:t>žemo</a:t>
                </a:r>
                <a:r>
                  <a:rPr lang="sr-Latn-RS" sz="1200" kern="1200" baseline="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da </a:t>
                </a:r>
                <a:r>
                  <a:rPr lang="en-US" sz="1200" kern="1200" dirty="0" err="1" smtClean="0">
                    <a:solidFill>
                      <a:schemeClr val="tx1"/>
                    </a:solidFill>
                    <a:effectLst/>
                    <a:latin typeface="+mn-lt"/>
                    <a:ea typeface="+mn-ea"/>
                    <a:cs typeface="+mn-cs"/>
                  </a:rPr>
                  <a:t>odaberemo</a:t>
                </a:r>
                <a:r>
                  <a:rPr lang="en-US" sz="1200" kern="1200" dirty="0" smtClean="0">
                    <a:solidFill>
                      <a:schemeClr val="tx1"/>
                    </a:solidFill>
                    <a:effectLst/>
                    <a:latin typeface="+mn-lt"/>
                    <a:ea typeface="+mn-ea"/>
                    <a:cs typeface="+mn-cs"/>
                  </a:rPr>
                  <a:t> </a:t>
                </a:r>
                <a:r>
                  <a:rPr lang="en-US" sz="1200" i="0" kern="1200">
                    <a:solidFill>
                      <a:schemeClr val="tx1"/>
                    </a:solidFill>
                    <a:effectLst/>
                    <a:latin typeface="+mn-lt"/>
                    <a:ea typeface="+mn-ea"/>
                    <a:cs typeface="+mn-cs"/>
                  </a:rPr>
                  <a:t>𝑛</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tako</a:t>
                </a:r>
                <a:r>
                  <a:rPr lang="en-US" sz="1200" kern="1200" dirty="0">
                    <a:solidFill>
                      <a:schemeClr val="tx1"/>
                    </a:solidFill>
                    <a:effectLst/>
                    <a:latin typeface="+mn-lt"/>
                    <a:ea typeface="+mn-ea"/>
                    <a:cs typeface="+mn-cs"/>
                  </a:rPr>
                  <a:t> da je </a:t>
                </a:r>
                <a:r>
                  <a:rPr lang="en-US" sz="1200" kern="1200" dirty="0" err="1">
                    <a:solidFill>
                      <a:schemeClr val="tx1"/>
                    </a:solidFill>
                    <a:effectLst/>
                    <a:latin typeface="+mn-lt"/>
                    <a:ea typeface="+mn-ea"/>
                    <a:cs typeface="+mn-cs"/>
                  </a:rPr>
                  <a:t>apsolutna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greška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manja</a:t>
                </a:r>
                <a:r>
                  <a:rPr lang="en-US" sz="1200" kern="1200" dirty="0">
                    <a:solidFill>
                      <a:schemeClr val="tx1"/>
                    </a:solidFill>
                    <a:effectLst/>
                    <a:latin typeface="+mn-lt"/>
                    <a:ea typeface="+mn-ea"/>
                    <a:cs typeface="+mn-cs"/>
                  </a:rPr>
                  <a:t> od </a:t>
                </a:r>
                <a:r>
                  <a:rPr lang="en-US" sz="1200" i="0" kern="1200">
                    <a:solidFill>
                      <a:schemeClr val="tx1"/>
                    </a:solidFill>
                    <a:effectLst/>
                    <a:latin typeface="+mn-lt"/>
                    <a:ea typeface="+mn-ea"/>
                    <a:cs typeface="+mn-cs"/>
                  </a:rPr>
                  <a:t>〖10〗^(−5)</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36</a:t>
            </a:fld>
            <a:endParaRPr lang="en-US"/>
          </a:p>
        </p:txBody>
      </p:sp>
    </p:spTree>
    <p:extLst>
      <p:ext uri="{BB962C8B-B14F-4D97-AF65-F5344CB8AC3E}">
        <p14:creationId xmlns:p14="http://schemas.microsoft.com/office/powerpoint/2010/main" val="464783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Povećavanjem stepena interpolacionog polinoma sa drugog na treći, dobijamo Simpsonovu 3/8 metodu. </a:t>
                </a:r>
              </a:p>
              <a:p>
                <a:pPr marL="171450" indent="-171450">
                  <a:buFont typeface="Arial" pitchFamily="34" charset="0"/>
                  <a:buChar char="•"/>
                </a:pPr>
                <a:r>
                  <a:rPr lang="sr-Latn-RS" sz="1200" kern="1200" dirty="0">
                    <a:solidFill>
                      <a:schemeClr val="tx1"/>
                    </a:solidFill>
                    <a:effectLst/>
                    <a:latin typeface="+mn-lt"/>
                    <a:ea typeface="+mn-ea"/>
                    <a:cs typeface="+mn-cs"/>
                  </a:rPr>
                  <a:t>Ovu metodu ćemo prikazati samo u kratkim crtama jer je vrlo slična Simpsonovoj 1/3 metodi. </a:t>
                </a:r>
              </a:p>
              <a:p>
                <a:pPr marL="171450" indent="-171450">
                  <a:buFont typeface="Arial" pitchFamily="34" charset="0"/>
                  <a:buChar char="•"/>
                </a:pPr>
                <a:r>
                  <a:rPr lang="en-US" sz="1200" kern="1200" dirty="0">
                    <a:solidFill>
                      <a:schemeClr val="tx1"/>
                    </a:solidFill>
                    <a:effectLst/>
                    <a:latin typeface="+mn-lt"/>
                    <a:ea typeface="+mn-ea"/>
                    <a:cs typeface="+mn-cs"/>
                  </a:rPr>
                  <a:t>Interval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r>
                          <a:rPr lang="en-US" sz="1200" i="1" kern="1200">
                            <a:solidFill>
                              <a:schemeClr val="tx1"/>
                            </a:solidFill>
                            <a:effectLst/>
                            <a:latin typeface="Cambria Math"/>
                            <a:ea typeface="+mn-ea"/>
                            <a:cs typeface="+mn-cs"/>
                          </a:rPr>
                          <m:t>𝑎</m:t>
                        </m:r>
                        <m:r>
                          <a:rPr lang="en-US" sz="1200" i="1" kern="1200">
                            <a:solidFill>
                              <a:schemeClr val="tx1"/>
                            </a:solidFill>
                            <a:effectLst/>
                            <a:latin typeface="Cambria Math"/>
                            <a:ea typeface="+mn-ea"/>
                            <a:cs typeface="+mn-cs"/>
                          </a:rPr>
                          <m:t>, </m:t>
                        </m:r>
                        <m:r>
                          <a:rPr lang="en-US" sz="1200" i="1" kern="1200">
                            <a:solidFill>
                              <a:schemeClr val="tx1"/>
                            </a:solidFill>
                            <a:effectLst/>
                            <a:latin typeface="Cambria Math"/>
                            <a:ea typeface="+mn-ea"/>
                            <a:cs typeface="+mn-cs"/>
                          </a:rPr>
                          <m:t>𝑏</m:t>
                        </m:r>
                      </m:e>
                    </m:d>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delimo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3 </a:t>
                </a:r>
                <a:r>
                  <a:rPr lang="en-US" sz="1200" kern="1200" dirty="0" err="1">
                    <a:solidFill>
                      <a:schemeClr val="tx1"/>
                    </a:solidFill>
                    <a:effectLst/>
                    <a:latin typeface="+mn-lt"/>
                    <a:ea typeface="+mn-ea"/>
                    <a:cs typeface="+mn-cs"/>
                  </a:rPr>
                  <a:t>dela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bismo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mogli</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dobijemo</a:t>
                </a:r>
                <a:r>
                  <a:rPr lang="en-US" sz="1200" kern="1200" dirty="0">
                    <a:solidFill>
                      <a:schemeClr val="tx1"/>
                    </a:solidFill>
                    <a:effectLst/>
                    <a:latin typeface="+mn-lt"/>
                    <a:ea typeface="+mn-ea"/>
                    <a:cs typeface="+mn-cs"/>
                  </a:rPr>
                  <a:t> 4 </a:t>
                </a:r>
                <a:r>
                  <a:rPr lang="en-US" sz="1200" kern="1200" dirty="0" err="1">
                    <a:solidFill>
                      <a:schemeClr val="tx1"/>
                    </a:solidFill>
                    <a:effectLst/>
                    <a:latin typeface="+mn-lt"/>
                    <a:ea typeface="+mn-ea"/>
                    <a:cs typeface="+mn-cs"/>
                  </a:rPr>
                  <a:t>interpolacione</a:t>
                </a:r>
                <a:r>
                  <a:rPr lang="en-US" sz="1200" kern="1200" dirty="0">
                    <a:solidFill>
                      <a:schemeClr val="tx1"/>
                    </a:solidFill>
                    <a:effectLst/>
                    <a:latin typeface="+mn-lt"/>
                    <a:ea typeface="+mn-ea"/>
                    <a:cs typeface="+mn-cs"/>
                  </a:rPr>
                  <a:t> ta</a:t>
                </a:r>
                <a:r>
                  <a:rPr lang="sr-Latn-RS" sz="1200" kern="1200" dirty="0">
                    <a:solidFill>
                      <a:schemeClr val="tx1"/>
                    </a:solidFill>
                    <a:effectLst/>
                    <a:latin typeface="+mn-lt"/>
                    <a:ea typeface="+mn-ea"/>
                    <a:cs typeface="+mn-cs"/>
                  </a:rPr>
                  <a:t>čke </a:t>
                </a:r>
              </a:p>
              <a:p>
                <a:pPr marL="171450" indent="-171450">
                  <a:buFont typeface="Arial" pitchFamily="34" charset="0"/>
                  <a:buChar char="•"/>
                </a:pPr>
                <a:r>
                  <a:rPr lang="sr-Latn-RS" sz="1200" kern="1200" dirty="0">
                    <a:solidFill>
                      <a:schemeClr val="tx1"/>
                    </a:solidFill>
                    <a:effectLst/>
                    <a:latin typeface="+mn-lt"/>
                    <a:ea typeface="+mn-ea"/>
                    <a:cs typeface="+mn-cs"/>
                  </a:rPr>
                  <a:t>Simpsonova 3/8 metoda imati veću tačnost Simpsonove 1/3 metode</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Povećavanjem stepena interpolacionog polinoma sa drugog na treći, dobijamo Simpsonovu 3/8 metodu. </a:t>
                </a:r>
              </a:p>
              <a:p>
                <a:pPr marL="171450" indent="-171450">
                  <a:buFont typeface="Arial" pitchFamily="34" charset="0"/>
                  <a:buChar char="•"/>
                </a:pPr>
                <a:r>
                  <a:rPr lang="sr-Latn-RS" sz="1200" kern="1200" dirty="0" smtClean="0">
                    <a:solidFill>
                      <a:schemeClr val="tx1"/>
                    </a:solidFill>
                    <a:effectLst/>
                    <a:latin typeface="+mn-lt"/>
                    <a:ea typeface="+mn-ea"/>
                    <a:cs typeface="+mn-cs"/>
                  </a:rPr>
                  <a:t>Ovu metodu ćemo prikazati samo u kratkim crtama jer je vrlo slična Simpsonovoj 1/3 metodi. </a:t>
                </a:r>
              </a:p>
              <a:p>
                <a:pPr marL="171450" indent="-171450">
                  <a:buFont typeface="Arial" pitchFamily="34" charset="0"/>
                  <a:buChar char="•"/>
                </a:pPr>
                <a:r>
                  <a:rPr lang="en-US" sz="1200" kern="1200" dirty="0" smtClean="0">
                    <a:solidFill>
                      <a:schemeClr val="tx1"/>
                    </a:solidFill>
                    <a:effectLst/>
                    <a:latin typeface="+mn-lt"/>
                    <a:ea typeface="+mn-ea"/>
                    <a:cs typeface="+mn-cs"/>
                  </a:rPr>
                  <a:t>Interval </a:t>
                </a:r>
                <a:r>
                  <a:rPr lang="en-US" sz="1200" i="0" kern="1200">
                    <a:solidFill>
                      <a:schemeClr val="tx1"/>
                    </a:solidFill>
                    <a:effectLst/>
                    <a:latin typeface="+mn-lt"/>
                    <a:ea typeface="+mn-ea"/>
                    <a:cs typeface="+mn-cs"/>
                  </a:rPr>
                  <a:t>[𝑎, 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delimo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3 </a:t>
                </a:r>
                <a:r>
                  <a:rPr lang="en-US" sz="1200" kern="1200" dirty="0" err="1">
                    <a:solidFill>
                      <a:schemeClr val="tx1"/>
                    </a:solidFill>
                    <a:effectLst/>
                    <a:latin typeface="+mn-lt"/>
                    <a:ea typeface="+mn-ea"/>
                    <a:cs typeface="+mn-cs"/>
                  </a:rPr>
                  <a:t>dela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bismo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mogli</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dobijemo</a:t>
                </a:r>
                <a:r>
                  <a:rPr lang="en-US" sz="1200" kern="1200" dirty="0">
                    <a:solidFill>
                      <a:schemeClr val="tx1"/>
                    </a:solidFill>
                    <a:effectLst/>
                    <a:latin typeface="+mn-lt"/>
                    <a:ea typeface="+mn-ea"/>
                    <a:cs typeface="+mn-cs"/>
                  </a:rPr>
                  <a:t> 4 </a:t>
                </a:r>
                <a:r>
                  <a:rPr lang="en-US" sz="1200" kern="1200" dirty="0" err="1">
                    <a:solidFill>
                      <a:schemeClr val="tx1"/>
                    </a:solidFill>
                    <a:effectLst/>
                    <a:latin typeface="+mn-lt"/>
                    <a:ea typeface="+mn-ea"/>
                    <a:cs typeface="+mn-cs"/>
                  </a:rPr>
                  <a:t>interpolacione</a:t>
                </a:r>
                <a:r>
                  <a:rPr lang="en-US" sz="1200" kern="1200" dirty="0">
                    <a:solidFill>
                      <a:schemeClr val="tx1"/>
                    </a:solidFill>
                    <a:effectLst/>
                    <a:latin typeface="+mn-lt"/>
                    <a:ea typeface="+mn-ea"/>
                    <a:cs typeface="+mn-cs"/>
                  </a:rPr>
                  <a:t> ta</a:t>
                </a:r>
                <a:r>
                  <a:rPr lang="sr-Latn-RS" sz="1200" kern="1200" dirty="0">
                    <a:solidFill>
                      <a:schemeClr val="tx1"/>
                    </a:solidFill>
                    <a:effectLst/>
                    <a:latin typeface="+mn-lt"/>
                    <a:ea typeface="+mn-ea"/>
                    <a:cs typeface="+mn-cs"/>
                  </a:rPr>
                  <a:t>čke </a:t>
                </a:r>
                <a:endParaRPr lang="sr-Latn-RS" sz="1200" kern="120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Simpsonova 3/8 metoda imati veću tačnost Simpsonove 1/3 metode</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37</a:t>
            </a:fld>
            <a:endParaRPr lang="en-US"/>
          </a:p>
        </p:txBody>
      </p:sp>
    </p:spTree>
    <p:extLst>
      <p:ext uri="{BB962C8B-B14F-4D97-AF65-F5344CB8AC3E}">
        <p14:creationId xmlns:p14="http://schemas.microsoft.com/office/powerpoint/2010/main" val="3516125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r-Latn-RS" dirty="0"/>
          </a:p>
        </p:txBody>
      </p:sp>
      <p:sp>
        <p:nvSpPr>
          <p:cNvPr id="4" name="Slide Number Placeholder 3"/>
          <p:cNvSpPr>
            <a:spLocks noGrp="1"/>
          </p:cNvSpPr>
          <p:nvPr>
            <p:ph type="sldNum" sz="quarter" idx="10"/>
          </p:nvPr>
        </p:nvSpPr>
        <p:spPr/>
        <p:txBody>
          <a:bodyPr/>
          <a:lstStyle/>
          <a:p>
            <a:fld id="{56B516A6-0BDA-4157-97F6-555E31D93247}" type="slidenum">
              <a:rPr lang="en-US" smtClean="0"/>
              <a:t>39</a:t>
            </a:fld>
            <a:endParaRPr lang="en-US"/>
          </a:p>
        </p:txBody>
      </p:sp>
    </p:spTree>
    <p:extLst>
      <p:ext uri="{BB962C8B-B14F-4D97-AF65-F5344CB8AC3E}">
        <p14:creationId xmlns:p14="http://schemas.microsoft.com/office/powerpoint/2010/main" val="33662050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Uporedni prikaz do sada opisanih Njutn−Kotesovih metoda primenjenih na rešavanje integrala</a:t>
            </a:r>
          </a:p>
          <a:p>
            <a:pPr marL="171450" indent="-171450">
              <a:buFont typeface="Arial" pitchFamily="34" charset="0"/>
              <a:buChar char="•"/>
            </a:pPr>
            <a:r>
              <a:rPr lang="sr-Latn-RS" sz="1200" kern="1200" dirty="0">
                <a:solidFill>
                  <a:schemeClr val="tx1"/>
                </a:solidFill>
                <a:effectLst/>
                <a:latin typeface="+mn-lt"/>
                <a:ea typeface="+mn-ea"/>
                <a:cs typeface="+mn-cs"/>
              </a:rPr>
              <a:t>Iako se stepen polinoma, a time i tačnost, može proizvoljno povećavati, metode postaju sve više računski složene</a:t>
            </a:r>
          </a:p>
          <a:p>
            <a:pPr marL="171450" indent="-171450">
              <a:buFont typeface="Arial" pitchFamily="34" charset="0"/>
              <a:buChar char="•"/>
            </a:pPr>
            <a:r>
              <a:rPr lang="sr-Latn-RS" sz="1200" kern="1200" dirty="0">
                <a:solidFill>
                  <a:schemeClr val="tx1"/>
                </a:solidFill>
                <a:effectLst/>
                <a:latin typeface="+mn-lt"/>
                <a:ea typeface="+mn-ea"/>
                <a:cs typeface="+mn-cs"/>
              </a:rPr>
              <a:t>Pored povećanja stepena interpolacionog polinoma, još jedan način za povećanje tačnosti Njutn-Kotesovih metoda su kompozitne metode. Međutim, one, kao što smo do sada videli, zahtevaju da se interval deli na što manje podintervale. Smanjivanjem veličine podintervala, pored toga što raste kompleksnost metode, prinuđeni smo da vršimo izračunavanja sa veoma malim brojevima, što</a:t>
            </a:r>
            <a:r>
              <a:rPr lang="sr-Latn-RS" sz="1200" kern="1200" baseline="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može biti problematično</a:t>
            </a:r>
          </a:p>
          <a:p>
            <a:pPr marL="171450" indent="-171450">
              <a:buFont typeface="Arial" pitchFamily="34" charset="0"/>
              <a:buChar char="•"/>
            </a:pPr>
            <a:r>
              <a:rPr lang="sr-Latn-RS" sz="1200" kern="1200" dirty="0">
                <a:solidFill>
                  <a:schemeClr val="tx1"/>
                </a:solidFill>
                <a:effectLst/>
                <a:latin typeface="+mn-lt"/>
                <a:ea typeface="+mn-ea"/>
                <a:cs typeface="+mn-cs"/>
              </a:rPr>
              <a:t>U nastavku sekcije pokazaćemo na koji način se može povećati tačnost numeričkih metoda za integraciju bez, ili, uz minimalno povećanje računske složenosti</a:t>
            </a:r>
          </a:p>
          <a:p>
            <a:pPr marL="171450" indent="-171450">
              <a:buFont typeface="Arial" pitchFamily="34" charset="0"/>
              <a:buChar char="•"/>
            </a:pPr>
            <a:endParaRPr lang="sr-Latn-R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56B516A6-0BDA-4157-97F6-555E31D93247}" type="slidenum">
              <a:rPr lang="en-US" smtClean="0"/>
              <a:t>42</a:t>
            </a:fld>
            <a:endParaRPr lang="en-US"/>
          </a:p>
        </p:txBody>
      </p:sp>
    </p:spTree>
    <p:extLst>
      <p:ext uri="{BB962C8B-B14F-4D97-AF65-F5344CB8AC3E}">
        <p14:creationId xmlns:p14="http://schemas.microsoft.com/office/powerpoint/2010/main" val="2455100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err="1">
                    <a:solidFill>
                      <a:schemeClr val="tx1"/>
                    </a:solidFill>
                    <a:effectLst/>
                    <a:latin typeface="+mn-lt"/>
                    <a:ea typeface="+mn-ea"/>
                    <a:cs typeface="+mn-cs"/>
                  </a:rPr>
                  <a:t>Kombinovanje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dva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rezultata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manjeg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tačnosti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realizovano</a:t>
                </a:r>
                <a:r>
                  <a:rPr lang="en-US" sz="1200" kern="1200" dirty="0">
                    <a:solidFill>
                      <a:schemeClr val="tx1"/>
                    </a:solidFill>
                    <a:effectLst/>
                    <a:latin typeface="+mn-lt"/>
                    <a:ea typeface="+mn-ea"/>
                    <a:cs typeface="+mn-cs"/>
                  </a:rPr>
                  <a:t> je </a:t>
                </a:r>
                <a:r>
                  <a:rPr lang="en-US" sz="1200" kern="1200" dirty="0" err="1">
                    <a:solidFill>
                      <a:schemeClr val="tx1"/>
                    </a:solidFill>
                    <a:effectLst/>
                    <a:latin typeface="+mn-lt"/>
                    <a:ea typeface="+mn-ea"/>
                    <a:cs typeface="+mn-cs"/>
                  </a:rPr>
                  <a:t>kroz</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upotrebu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Ričardsonove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ekstrapolacije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objašnjeno</a:t>
                </a:r>
                <a:r>
                  <a:rPr lang="en-US" sz="1200" kern="1200" dirty="0">
                    <a:solidFill>
                      <a:schemeClr val="tx1"/>
                    </a:solidFill>
                    <a:effectLst/>
                    <a:latin typeface="+mn-lt"/>
                    <a:ea typeface="+mn-ea"/>
                    <a:cs typeface="+mn-cs"/>
                  </a:rPr>
                  <a:t> u </a:t>
                </a:r>
                <a:r>
                  <a:rPr lang="en-US" sz="1200" kern="1200" dirty="0" err="1">
                    <a:solidFill>
                      <a:schemeClr val="tx1"/>
                    </a:solidFill>
                    <a:effectLst/>
                    <a:latin typeface="+mn-lt"/>
                    <a:ea typeface="+mn-ea"/>
                    <a:cs typeface="+mn-cs"/>
                  </a:rPr>
                  <a:t>nastavku</a:t>
                </a:r>
                <a:r>
                  <a:rPr lang="en-US" sz="1200" kern="1200" dirty="0">
                    <a:solidFill>
                      <a:schemeClr val="tx1"/>
                    </a:solidFill>
                    <a:effectLst/>
                    <a:latin typeface="+mn-lt"/>
                    <a:ea typeface="+mn-ea"/>
                    <a:cs typeface="+mn-cs"/>
                  </a:rPr>
                  <a:t>)</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Rombergova metoda prevazilazi nedostake Njutn-Kotesovih metoda, odnosno, omogućava povećanje tačnosti bez potrebe za velikim smanjivanjem podintervala ili podizanjem računske složenosti</a:t>
                </a:r>
                <a:endParaRPr lang="sr-Cyrl-RS" sz="1200" kern="120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Na primer, možemo kombinovati dva rezultat</a:t>
                </a:r>
                <a:r>
                  <a:rPr lang="sr-Cyrl-RS" sz="1200" kern="1200" dirty="0" smtClean="0">
                    <a:solidFill>
                      <a:schemeClr val="tx1"/>
                    </a:solidFill>
                    <a:effectLst/>
                    <a:latin typeface="+mn-lt"/>
                    <a:ea typeface="+mn-ea"/>
                    <a:cs typeface="+mn-cs"/>
                  </a:rPr>
                  <a:t>а</a:t>
                </a:r>
                <a:r>
                  <a:rPr lang="sr-Latn-RS" sz="1200" kern="1200" dirty="0" smtClean="0">
                    <a:solidFill>
                      <a:schemeClr val="tx1"/>
                    </a:solidFill>
                    <a:effectLst/>
                    <a:latin typeface="+mn-lt"/>
                    <a:ea typeface="+mn-ea"/>
                    <a:cs typeface="+mn-cs"/>
                  </a:rPr>
                  <a:t> metode trapeza i dobiti rezultat Simpsonove 1/3 metode</a:t>
                </a:r>
                <a:r>
                  <a:rPr lang="sr-Cyrl-R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bez</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kori</a:t>
                </a:r>
                <a:r>
                  <a:rPr lang="sr-Latn-RS" sz="1200" kern="1200" dirty="0" smtClean="0">
                    <a:solidFill>
                      <a:schemeClr val="tx1"/>
                    </a:solidFill>
                    <a:effectLst/>
                    <a:latin typeface="+mn-lt"/>
                    <a:ea typeface="+mn-ea"/>
                    <a:cs typeface="+mn-cs"/>
                  </a:rPr>
                  <a:t>šćenja same Simpsonove 1/3 metode</a:t>
                </a:r>
                <a:endParaRPr lang="sr-Cyrl-RS" sz="1200" kern="120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Pomenuli smo da koristimo dva rezultata metode trapeza. Ako je prvi dobijen pomoću celog intervala </a:t>
                </a:r>
                <a:r>
                  <a:rPr lang="en-US" sz="1200" i="0" kern="1200">
                    <a:solidFill>
                      <a:schemeClr val="tx1"/>
                    </a:solidFill>
                    <a:effectLst/>
                    <a:latin typeface="+mn-lt"/>
                    <a:ea typeface="+mn-ea"/>
                    <a:cs typeface="+mn-cs"/>
                  </a:rPr>
                  <a:t>[𝑎, 𝑏]</a:t>
                </a:r>
                <a:r>
                  <a:rPr lang="en-US" sz="1200" kern="1200" dirty="0">
                    <a:solidFill>
                      <a:schemeClr val="tx1"/>
                    </a:solidFill>
                    <a:effectLst/>
                    <a:latin typeface="+mn-lt"/>
                    <a:ea typeface="+mn-ea"/>
                    <a:cs typeface="+mn-cs"/>
                  </a:rPr>
                  <a:t>, to jest, </a:t>
                </a:r>
                <a:r>
                  <a:rPr lang="en-US" sz="1200" i="0" kern="1200">
                    <a:solidFill>
                      <a:schemeClr val="tx1"/>
                    </a:solidFill>
                    <a:effectLst/>
                    <a:latin typeface="+mn-lt"/>
                    <a:ea typeface="+mn-ea"/>
                    <a:cs typeface="+mn-cs"/>
                  </a:rPr>
                  <a:t>ℎ=(𝑏−𝑎)</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drugi</a:t>
                </a:r>
                <a:r>
                  <a:rPr lang="en-US" sz="1200" kern="1200" dirty="0">
                    <a:solidFill>
                      <a:schemeClr val="tx1"/>
                    </a:solidFill>
                    <a:effectLst/>
                    <a:latin typeface="+mn-lt"/>
                    <a:ea typeface="+mn-ea"/>
                    <a:cs typeface="+mn-cs"/>
                  </a:rPr>
                  <a:t> se </a:t>
                </a:r>
                <a:r>
                  <a:rPr lang="en-US" sz="1200" kern="1200" dirty="0" err="1">
                    <a:solidFill>
                      <a:schemeClr val="tx1"/>
                    </a:solidFill>
                    <a:effectLst/>
                    <a:latin typeface="+mn-lt"/>
                    <a:ea typeface="+mn-ea"/>
                    <a:cs typeface="+mn-cs"/>
                  </a:rPr>
                  <a:t>dobija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tako</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što broj podintervala podelimo sa 2, u ovom slučaju </a:t>
                </a:r>
                <a:r>
                  <a:rPr lang="sr-Latn-RS" sz="1200" i="0" kern="1200">
                    <a:solidFill>
                      <a:schemeClr val="tx1"/>
                    </a:solidFill>
                    <a:effectLst/>
                    <a:latin typeface="+mn-lt"/>
                    <a:ea typeface="+mn-ea"/>
                    <a:cs typeface="+mn-cs"/>
                  </a:rPr>
                  <a:t>ℎ=</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𝑏−𝑎)</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2</a:t>
                </a:r>
                <a:r>
                  <a:rPr lang="en-US" sz="1200" kern="1200" dirty="0">
                    <a:solidFill>
                      <a:schemeClr val="tx1"/>
                    </a:solidFill>
                    <a:effectLst/>
                    <a:latin typeface="+mn-lt"/>
                    <a:ea typeface="+mn-ea"/>
                    <a:cs typeface="+mn-cs"/>
                  </a:rPr>
                  <a:t> </a:t>
                </a:r>
                <a:endParaRPr lang="sr-Cyrl-RS" sz="1200" kern="1200" dirty="0" smtClean="0">
                  <a:solidFill>
                    <a:schemeClr val="tx1"/>
                  </a:solidFill>
                  <a:effectLst/>
                  <a:latin typeface="+mn-lt"/>
                  <a:ea typeface="+mn-ea"/>
                  <a:cs typeface="+mn-cs"/>
                </a:endParaRPr>
              </a:p>
              <a:p>
                <a:pPr marL="171450" indent="-171450">
                  <a:buFont typeface="Arial" pitchFamily="34" charset="0"/>
                  <a:buChar char="•"/>
                </a:pPr>
                <a:r>
                  <a:rPr lang="en-US" sz="1200" kern="1200" dirty="0" smtClean="0">
                    <a:solidFill>
                      <a:schemeClr val="tx1"/>
                    </a:solidFill>
                    <a:effectLst/>
                    <a:latin typeface="+mn-lt"/>
                    <a:ea typeface="+mn-ea"/>
                    <a:cs typeface="+mn-cs"/>
                  </a:rPr>
                  <a:t>Kombinovanje </a:t>
                </a:r>
                <a:r>
                  <a:rPr lang="en-US" sz="1200" kern="1200" dirty="0" err="1">
                    <a:solidFill>
                      <a:schemeClr val="tx1"/>
                    </a:solidFill>
                    <a:effectLst/>
                    <a:latin typeface="+mn-lt"/>
                    <a:ea typeface="+mn-ea"/>
                    <a:cs typeface="+mn-cs"/>
                  </a:rPr>
                  <a:t>dva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rezultata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metoda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manjeg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reda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tačnosti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realizovano</a:t>
                </a:r>
                <a:r>
                  <a:rPr lang="en-US" sz="1200" kern="1200" dirty="0">
                    <a:solidFill>
                      <a:schemeClr val="tx1"/>
                    </a:solidFill>
                    <a:effectLst/>
                    <a:latin typeface="+mn-lt"/>
                    <a:ea typeface="+mn-ea"/>
                    <a:cs typeface="+mn-cs"/>
                  </a:rPr>
                  <a:t> je </a:t>
                </a:r>
                <a:r>
                  <a:rPr lang="en-US" sz="1200" kern="1200" dirty="0" err="1">
                    <a:solidFill>
                      <a:schemeClr val="tx1"/>
                    </a:solidFill>
                    <a:effectLst/>
                    <a:latin typeface="+mn-lt"/>
                    <a:ea typeface="+mn-ea"/>
                    <a:cs typeface="+mn-cs"/>
                  </a:rPr>
                  <a:t>kroz</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upotrebu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Ričardsonove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ekstrapolacije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objašnjeno</a:t>
                </a:r>
                <a:r>
                  <a:rPr lang="en-US" sz="1200" kern="1200" dirty="0">
                    <a:solidFill>
                      <a:schemeClr val="tx1"/>
                    </a:solidFill>
                    <a:effectLst/>
                    <a:latin typeface="+mn-lt"/>
                    <a:ea typeface="+mn-ea"/>
                    <a:cs typeface="+mn-cs"/>
                  </a:rPr>
                  <a:t> u </a:t>
                </a:r>
                <a:r>
                  <a:rPr lang="en-US" sz="1200" kern="1200" dirty="0" err="1">
                    <a:solidFill>
                      <a:schemeClr val="tx1"/>
                    </a:solidFill>
                    <a:effectLst/>
                    <a:latin typeface="+mn-lt"/>
                    <a:ea typeface="+mn-ea"/>
                    <a:cs typeface="+mn-cs"/>
                  </a:rPr>
                  <a:t>nastavku</a:t>
                </a:r>
                <a:r>
                  <a:rPr lang="en-US" sz="1200" kern="1200" dirty="0">
                    <a:solidFill>
                      <a:schemeClr val="tx1"/>
                    </a:solidFill>
                    <a:effectLst/>
                    <a:latin typeface="+mn-lt"/>
                    <a:ea typeface="+mn-ea"/>
                    <a:cs typeface="+mn-cs"/>
                  </a:rPr>
                  <a:t>)</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44</a:t>
            </a:fld>
            <a:endParaRPr lang="en-US"/>
          </a:p>
        </p:txBody>
      </p:sp>
    </p:spTree>
    <p:extLst>
      <p:ext uri="{BB962C8B-B14F-4D97-AF65-F5344CB8AC3E}">
        <p14:creationId xmlns:p14="http://schemas.microsoft.com/office/powerpoint/2010/main" val="1339609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14:m>
                  <m:oMath xmlns:m="http://schemas.openxmlformats.org/officeDocument/2006/math">
                    <m:r>
                      <a:rPr lang="sr-Cyrl-RS" sz="1200" b="0" i="1" kern="1200" smtClean="0">
                        <a:solidFill>
                          <a:schemeClr val="tx1"/>
                        </a:solidFill>
                        <a:effectLst/>
                        <a:latin typeface="Cambria Math"/>
                        <a:ea typeface="+mn-ea"/>
                        <a:cs typeface="+mn-cs"/>
                      </a:rPr>
                      <m:t>ј</m:t>
                    </m:r>
                  </m:oMath>
                </a14:m>
                <a:r>
                  <a:rPr lang="sr-Latn-RS" sz="1200" kern="1200" dirty="0">
                    <a:solidFill>
                      <a:schemeClr val="tx1"/>
                    </a:solidFill>
                    <a:effectLst/>
                    <a:latin typeface="+mn-lt"/>
                    <a:ea typeface="+mn-ea"/>
                    <a:cs typeface="+mn-cs"/>
                  </a:rPr>
                  <a:t> odgovara nivou „finoće“ podele, a </a:t>
                </a:r>
                <a14:m>
                  <m:oMath xmlns:m="http://schemas.openxmlformats.org/officeDocument/2006/math">
                    <m:r>
                      <a:rPr lang="en-US" sz="1200" b="0" i="1" kern="1200" smtClean="0">
                        <a:solidFill>
                          <a:schemeClr val="tx1"/>
                        </a:solidFill>
                        <a:effectLst/>
                        <a:latin typeface="Cambria Math"/>
                        <a:ea typeface="+mn-ea"/>
                        <a:cs typeface="+mn-cs"/>
                      </a:rPr>
                      <m:t>𝑘</m:t>
                    </m:r>
                  </m:oMath>
                </a14:m>
                <a:r>
                  <a:rPr lang="sr-Latn-RS" sz="1200" kern="1200" dirty="0">
                    <a:solidFill>
                      <a:schemeClr val="tx1"/>
                    </a:solidFill>
                    <a:effectLst/>
                    <a:latin typeface="+mn-lt"/>
                    <a:ea typeface="+mn-ea"/>
                    <a:cs typeface="+mn-cs"/>
                  </a:rPr>
                  <a:t> redu tačnosti metoda</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Cyrl-RS" sz="1200" b="0" i="0" kern="1200" smtClean="0">
                    <a:solidFill>
                      <a:schemeClr val="tx1"/>
                    </a:solidFill>
                    <a:effectLst/>
                    <a:latin typeface="Cambria Math"/>
                    <a:ea typeface="+mn-ea"/>
                    <a:cs typeface="+mn-cs"/>
                  </a:rPr>
                  <a:t>ј</a:t>
                </a:r>
                <a:r>
                  <a:rPr lang="sr-Latn-RS" sz="1200" kern="1200" dirty="0" smtClean="0">
                    <a:solidFill>
                      <a:schemeClr val="tx1"/>
                    </a:solidFill>
                    <a:effectLst/>
                    <a:latin typeface="+mn-lt"/>
                    <a:ea typeface="+mn-ea"/>
                    <a:cs typeface="+mn-cs"/>
                  </a:rPr>
                  <a:t> </a:t>
                </a:r>
                <a:r>
                  <a:rPr lang="sr-Latn-RS" sz="1200" kern="1200" dirty="0">
                    <a:solidFill>
                      <a:schemeClr val="tx1"/>
                    </a:solidFill>
                    <a:effectLst/>
                    <a:latin typeface="+mn-lt"/>
                    <a:ea typeface="+mn-ea"/>
                    <a:cs typeface="+mn-cs"/>
                  </a:rPr>
                  <a:t>odgovara nivou „finoće“ podele, a </a:t>
                </a:r>
                <a:r>
                  <a:rPr lang="en-US" sz="1200" b="0" i="0" kern="1200" smtClean="0">
                    <a:solidFill>
                      <a:schemeClr val="tx1"/>
                    </a:solidFill>
                    <a:effectLst/>
                    <a:latin typeface="Cambria Math"/>
                    <a:ea typeface="+mn-ea"/>
                    <a:cs typeface="+mn-cs"/>
                  </a:rPr>
                  <a:t>𝑘</a:t>
                </a:r>
                <a:r>
                  <a:rPr lang="sr-Latn-RS" sz="1200" kern="1200" dirty="0" smtClean="0">
                    <a:solidFill>
                      <a:schemeClr val="tx1"/>
                    </a:solidFill>
                    <a:effectLst/>
                    <a:latin typeface="+mn-lt"/>
                    <a:ea typeface="+mn-ea"/>
                    <a:cs typeface="+mn-cs"/>
                  </a:rPr>
                  <a:t> </a:t>
                </a:r>
                <a:r>
                  <a:rPr lang="sr-Latn-RS" sz="1200" kern="1200" dirty="0">
                    <a:solidFill>
                      <a:schemeClr val="tx1"/>
                    </a:solidFill>
                    <a:effectLst/>
                    <a:latin typeface="+mn-lt"/>
                    <a:ea typeface="+mn-ea"/>
                    <a:cs typeface="+mn-cs"/>
                  </a:rPr>
                  <a:t>redu tačnosti metoda</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53</a:t>
            </a:fld>
            <a:endParaRPr lang="en-US"/>
          </a:p>
        </p:txBody>
      </p:sp>
    </p:spTree>
    <p:extLst>
      <p:ext uri="{BB962C8B-B14F-4D97-AF65-F5344CB8AC3E}">
        <p14:creationId xmlns:p14="http://schemas.microsoft.com/office/powerpoint/2010/main" val="34429541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82947" name="Rectangle 3"/>
              <p:cNvSpPr>
                <a:spLocks noGrp="1" noChangeArrowheads="1"/>
              </p:cNvSpPr>
              <p:nvPr>
                <p:ph type="body" idx="1"/>
              </p:nvPr>
            </p:nvSpPr>
            <p:spPr>
              <a:xfrm>
                <a:off x="914400" y="4343400"/>
                <a:ext cx="5029200" cy="4114800"/>
              </a:xfrm>
              <a:noFill/>
            </p:spPr>
            <p:txBody>
              <a:bodyPr/>
              <a:lstStyle/>
              <a:p>
                <a:pPr marL="171450" indent="-171450" eaLnBrk="1" hangingPunct="1">
                  <a:buFont typeface="Arial" pitchFamily="34" charset="0"/>
                  <a:buChar char="•"/>
                </a:pPr>
                <a:r>
                  <a:rPr lang="sr-Latn-RS" sz="1200" kern="1200" dirty="0">
                    <a:solidFill>
                      <a:schemeClr val="tx1"/>
                    </a:solidFill>
                    <a:effectLst/>
                    <a:latin typeface="+mn-lt"/>
                    <a:ea typeface="+mn-ea"/>
                    <a:cs typeface="+mn-cs"/>
                  </a:rPr>
                  <a:t>Najbolje rešenje iz tabele je prvi element poslednje kolone. To rešenje odgovara metodu reda tačnosti </a:t>
                </a:r>
                <a14:m>
                  <m:oMath xmlns:m="http://schemas.openxmlformats.org/officeDocument/2006/math">
                    <m:r>
                      <a:rPr lang="sr-Latn-RS" sz="1200" i="1" kern="1200">
                        <a:solidFill>
                          <a:schemeClr val="tx1"/>
                        </a:solidFill>
                        <a:effectLst/>
                        <a:latin typeface="Cambria Math"/>
                        <a:ea typeface="+mn-ea"/>
                        <a:cs typeface="+mn-cs"/>
                      </a:rPr>
                      <m:t>𝑂</m:t>
                    </m:r>
                    <m:d>
                      <m:dPr>
                        <m:ctrlPr>
                          <a:rPr lang="en-US" sz="1200" i="1" kern="1200">
                            <a:solidFill>
                              <a:schemeClr val="tx1"/>
                            </a:solidFill>
                            <a:effectLst/>
                            <a:latin typeface="Cambria Math" panose="02040503050406030204" pitchFamily="18" charset="0"/>
                            <a:ea typeface="+mn-ea"/>
                            <a:cs typeface="+mn-cs"/>
                          </a:rPr>
                        </m:ctrlPr>
                      </m:dPr>
                      <m:e>
                        <m:sSup>
                          <m:sSupPr>
                            <m:ctrlPr>
                              <a:rPr lang="en-US"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a:ea typeface="+mn-ea"/>
                                <a:cs typeface="+mn-cs"/>
                              </a:rPr>
                              <m:t>h</m:t>
                            </m:r>
                          </m:e>
                          <m:sup>
                            <m:r>
                              <a:rPr lang="sr-Latn-RS" sz="1200" i="1" kern="1200">
                                <a:solidFill>
                                  <a:schemeClr val="tx1"/>
                                </a:solidFill>
                                <a:effectLst/>
                                <a:latin typeface="Cambria Math"/>
                                <a:ea typeface="+mn-ea"/>
                                <a:cs typeface="+mn-cs"/>
                              </a:rPr>
                              <m:t>10</m:t>
                            </m:r>
                          </m:sup>
                        </m:sSup>
                      </m:e>
                    </m:d>
                  </m:oMath>
                </a14:m>
                <a:endParaRPr lang="en-US" altLang="sr-Latn-RS" dirty="0"/>
              </a:p>
              <a:p>
                <a:pPr marL="0" indent="0" eaLnBrk="1" hangingPunct="1">
                  <a:buFont typeface="Arial" pitchFamily="34" charset="0"/>
                  <a:buNone/>
                </a:pPr>
                <a:endParaRPr lang="en-US" sz="1200" kern="1200" dirty="0">
                  <a:solidFill>
                    <a:schemeClr val="tx1"/>
                  </a:solidFill>
                  <a:effectLst/>
                  <a:latin typeface="+mn-lt"/>
                  <a:ea typeface="+mn-ea"/>
                  <a:cs typeface="+mn-cs"/>
                </a:endParaRPr>
              </a:p>
            </p:txBody>
          </p:sp>
        </mc:Choice>
        <mc:Fallback xmlns="">
          <p:sp>
            <p:nvSpPr>
              <p:cNvPr id="82947" name="Rectangle 3"/>
              <p:cNvSpPr>
                <a:spLocks noGrp="1" noChangeArrowheads="1"/>
              </p:cNvSpPr>
              <p:nvPr>
                <p:ph type="body" idx="1"/>
              </p:nvPr>
            </p:nvSpPr>
            <p:spPr>
              <a:xfrm>
                <a:off x="914400" y="4343400"/>
                <a:ext cx="5029200" cy="4114800"/>
              </a:xfrm>
              <a:noFill/>
            </p:spPr>
            <p:txBody>
              <a:bodyPr/>
              <a:lstStyle/>
              <a:p>
                <a:pPr marL="171450" indent="-171450" eaLnBrk="1" hangingPunct="1">
                  <a:buFont typeface="Arial" pitchFamily="34" charset="0"/>
                  <a:buChar char="•"/>
                </a:pPr>
                <a:r>
                  <a:rPr lang="sr-Latn-CS" sz="1200" i="0" kern="1200">
                    <a:solidFill>
                      <a:schemeClr val="tx1"/>
                    </a:solidFill>
                    <a:effectLst/>
                    <a:latin typeface="+mn-lt"/>
                    <a:ea typeface="+mn-ea"/>
                    <a:cs typeface="+mn-cs"/>
                  </a:rPr>
                  <a:t>𝑅</a:t>
                </a:r>
                <a:r>
                  <a:rPr lang="en-US" sz="1200" i="0" kern="1200" smtClean="0">
                    <a:solidFill>
                      <a:schemeClr val="tx1"/>
                    </a:solidFill>
                    <a:effectLst/>
                    <a:latin typeface="+mn-lt"/>
                    <a:ea typeface="+mn-ea"/>
                    <a:cs typeface="+mn-cs"/>
                  </a:rPr>
                  <a:t>_</a:t>
                </a:r>
                <a:r>
                  <a:rPr lang="sr-Latn-CS" sz="1200" i="0" kern="1200">
                    <a:solidFill>
                      <a:schemeClr val="tx1"/>
                    </a:solidFill>
                    <a:effectLst/>
                    <a:latin typeface="+mn-lt"/>
                    <a:ea typeface="+mn-ea"/>
                    <a:cs typeface="+mn-cs"/>
                  </a:rPr>
                  <a:t>0,1=</a:t>
                </a:r>
                <a:r>
                  <a:rPr lang="en-US" sz="1200" i="0" kern="1200">
                    <a:solidFill>
                      <a:schemeClr val="tx1"/>
                    </a:solidFill>
                    <a:effectLst/>
                    <a:latin typeface="+mn-lt"/>
                    <a:ea typeface="+mn-ea"/>
                    <a:cs typeface="+mn-cs"/>
                  </a:rPr>
                  <a:t>(〖</a:t>
                </a:r>
                <a:r>
                  <a:rPr lang="sr-Latn-CS" sz="1200" i="0" kern="1200">
                    <a:solidFill>
                      <a:schemeClr val="tx1"/>
                    </a:solidFill>
                    <a:effectLst/>
                    <a:latin typeface="+mn-lt"/>
                    <a:ea typeface="+mn-ea"/>
                    <a:cs typeface="+mn-cs"/>
                  </a:rPr>
                  <a:t>4𝑅</a:t>
                </a:r>
                <a:r>
                  <a:rPr lang="en-US" sz="1200" i="0" kern="1200">
                    <a:solidFill>
                      <a:schemeClr val="tx1"/>
                    </a:solidFill>
                    <a:effectLst/>
                    <a:latin typeface="+mn-lt"/>
                    <a:ea typeface="+mn-ea"/>
                    <a:cs typeface="+mn-cs"/>
                  </a:rPr>
                  <a:t>〗_</a:t>
                </a:r>
                <a:r>
                  <a:rPr lang="sr-Latn-CS" sz="1200" i="0" kern="1200">
                    <a:solidFill>
                      <a:schemeClr val="tx1"/>
                    </a:solidFill>
                    <a:effectLst/>
                    <a:latin typeface="+mn-lt"/>
                    <a:ea typeface="+mn-ea"/>
                    <a:cs typeface="+mn-cs"/>
                  </a:rPr>
                  <a:t>1,0−𝑅</a:t>
                </a:r>
                <a:r>
                  <a:rPr lang="en-US" sz="1200" i="0" kern="1200">
                    <a:solidFill>
                      <a:schemeClr val="tx1"/>
                    </a:solidFill>
                    <a:effectLst/>
                    <a:latin typeface="+mn-lt"/>
                    <a:ea typeface="+mn-ea"/>
                    <a:cs typeface="+mn-cs"/>
                  </a:rPr>
                  <a:t>_</a:t>
                </a:r>
                <a:r>
                  <a:rPr lang="sr-Latn-CS" sz="1200" i="0" kern="1200">
                    <a:solidFill>
                      <a:schemeClr val="tx1"/>
                    </a:solidFill>
                    <a:effectLst/>
                    <a:latin typeface="+mn-lt"/>
                    <a:ea typeface="+mn-ea"/>
                    <a:cs typeface="+mn-cs"/>
                  </a:rPr>
                  <a:t>0,0</a:t>
                </a:r>
                <a:r>
                  <a:rPr lang="en-US" sz="1200" i="0" kern="1200">
                    <a:solidFill>
                      <a:schemeClr val="tx1"/>
                    </a:solidFill>
                    <a:effectLst/>
                    <a:latin typeface="+mn-lt"/>
                    <a:ea typeface="+mn-ea"/>
                    <a:cs typeface="+mn-cs"/>
                  </a:rPr>
                  <a:t>)/</a:t>
                </a:r>
                <a:r>
                  <a:rPr lang="sr-Latn-CS" sz="1200" i="0" kern="1200">
                    <a:solidFill>
                      <a:schemeClr val="tx1"/>
                    </a:solidFill>
                    <a:effectLst/>
                    <a:latin typeface="+mn-lt"/>
                    <a:ea typeface="+mn-ea"/>
                    <a:cs typeface="+mn-cs"/>
                  </a:rPr>
                  <a:t>3</a:t>
                </a:r>
                <a:r>
                  <a:rPr lang="en-US" altLang="sr-Latn-RS" dirty="0" smtClean="0"/>
                  <a:t>=(4*12142.2-23847.7)/3=8240.41</a:t>
                </a:r>
              </a:p>
              <a:p>
                <a:pPr marL="171450" indent="-171450" eaLnBrk="1" hangingPunct="1">
                  <a:buFont typeface="Arial" pitchFamily="34" charset="0"/>
                  <a:buChar char="•"/>
                </a:pPr>
                <a:r>
                  <a:rPr lang="en-US" sz="1200" kern="1200" dirty="0" err="1" smtClean="0">
                    <a:solidFill>
                      <a:schemeClr val="tx1"/>
                    </a:solidFill>
                    <a:effectLst/>
                    <a:latin typeface="+mn-lt"/>
                    <a:ea typeface="+mn-ea"/>
                    <a:cs typeface="+mn-cs"/>
                  </a:rPr>
                  <a:t>Pslednji</a:t>
                </a:r>
                <a:r>
                  <a:rPr lang="sr-Latn-RS" sz="1200" kern="1200" dirty="0" smtClean="0">
                    <a:solidFill>
                      <a:schemeClr val="tx1"/>
                    </a:solidFill>
                    <a:effectLst/>
                    <a:latin typeface="+mn-lt"/>
                    <a:ea typeface="+mn-ea"/>
                    <a:cs typeface="+mn-cs"/>
                  </a:rPr>
                  <a:t> </a:t>
                </a:r>
                <a:r>
                  <a:rPr lang="sr-Latn-RS" sz="1200" kern="1200" dirty="0">
                    <a:solidFill>
                      <a:schemeClr val="tx1"/>
                    </a:solidFill>
                    <a:effectLst/>
                    <a:latin typeface="+mn-lt"/>
                    <a:ea typeface="+mn-ea"/>
                    <a:cs typeface="+mn-cs"/>
                  </a:rPr>
                  <a:t>element svake od kolona tabele </a:t>
                </a:r>
                <a:r>
                  <a:rPr lang="sr-Latn-RS" sz="1200" kern="1200" dirty="0" smtClean="0">
                    <a:solidFill>
                      <a:schemeClr val="tx1"/>
                    </a:solidFill>
                    <a:effectLst/>
                    <a:latin typeface="+mn-lt"/>
                    <a:ea typeface="+mn-ea"/>
                    <a:cs typeface="+mn-cs"/>
                  </a:rPr>
                  <a:t>je </a:t>
                </a:r>
                <a:r>
                  <a:rPr lang="sr-Latn-RS" sz="1200" kern="1200" dirty="0">
                    <a:solidFill>
                      <a:schemeClr val="tx1"/>
                    </a:solidFill>
                    <a:effectLst/>
                    <a:latin typeface="+mn-lt"/>
                    <a:ea typeface="+mn-ea"/>
                    <a:cs typeface="+mn-cs"/>
                  </a:rPr>
                  <a:t>najbolje rešenje koje smo dobili za red tačnosti koji odgovara koloni.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Poslednji </a:t>
                </a:r>
                <a:r>
                  <a:rPr lang="sr-Latn-RS" sz="1200" kern="1200" dirty="0">
                    <a:solidFill>
                      <a:schemeClr val="tx1"/>
                    </a:solidFill>
                    <a:effectLst/>
                    <a:latin typeface="+mn-lt"/>
                    <a:ea typeface="+mn-ea"/>
                    <a:cs typeface="+mn-cs"/>
                  </a:rPr>
                  <a:t>red tabele prikazuje relativnu grešku dobijenu na osnovu poslednjeg elementa.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Najbolje </a:t>
                </a:r>
                <a:r>
                  <a:rPr lang="sr-Latn-RS" sz="1200" kern="1200" dirty="0">
                    <a:solidFill>
                      <a:schemeClr val="tx1"/>
                    </a:solidFill>
                    <a:effectLst/>
                    <a:latin typeface="+mn-lt"/>
                    <a:ea typeface="+mn-ea"/>
                    <a:cs typeface="+mn-cs"/>
                  </a:rPr>
                  <a:t>rešenje iz tabele je prvi element poslednje kolone. To rešenje odgovara metodu reda tačnosti </a:t>
                </a:r>
                <a:r>
                  <a:rPr lang="sr-Latn-RS" sz="1200" i="0" kern="1200">
                    <a:solidFill>
                      <a:schemeClr val="tx1"/>
                    </a:solidFill>
                    <a:effectLst/>
                    <a:latin typeface="+mn-lt"/>
                    <a:ea typeface="+mn-ea"/>
                    <a:cs typeface="+mn-cs"/>
                  </a:rPr>
                  <a:t>𝑂</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ℎ</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10 )</a:t>
                </a:r>
                <a:endParaRPr lang="en-US" altLang="sr-Latn-RS" dirty="0" smtClean="0"/>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Vrlo je važno primetiti da je jedini numerički metod koji je korišćen prilikom popunjavanja tabele metoda </a:t>
                </a:r>
                <a:r>
                  <a:rPr lang="sr-Latn-RS" sz="1200" kern="1200" dirty="0">
                    <a:solidFill>
                      <a:schemeClr val="tx1"/>
                    </a:solidFill>
                    <a:effectLst/>
                    <a:latin typeface="+mn-lt"/>
                    <a:ea typeface="+mn-ea"/>
                    <a:cs typeface="+mn-cs"/>
                  </a:rPr>
                  <a:t>tarpeza.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Sve </a:t>
                </a:r>
                <a:r>
                  <a:rPr lang="sr-Latn-RS" sz="1200" kern="1200" dirty="0">
                    <a:solidFill>
                      <a:schemeClr val="tx1"/>
                    </a:solidFill>
                    <a:effectLst/>
                    <a:latin typeface="+mn-lt"/>
                    <a:ea typeface="+mn-ea"/>
                    <a:cs typeface="+mn-cs"/>
                  </a:rPr>
                  <a:t>ostale vrednosti dobijene su pomoću vrlo jednostavne formule, odnosno, primenom Ričardsonove ekstrapolacije.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Dakle</a:t>
                </a:r>
                <a:r>
                  <a:rPr lang="sr-Latn-RS" sz="1200" kern="1200" dirty="0">
                    <a:solidFill>
                      <a:schemeClr val="tx1"/>
                    </a:solidFill>
                    <a:effectLst/>
                    <a:latin typeface="+mn-lt"/>
                    <a:ea typeface="+mn-ea"/>
                    <a:cs typeface="+mn-cs"/>
                  </a:rPr>
                  <a:t>, postigli smo rezultat koji bi vratio metod reda tačnosti </a:t>
                </a:r>
                <a:r>
                  <a:rPr lang="sr-Latn-RS" sz="1200" i="1" kern="1200" dirty="0">
                    <a:solidFill>
                      <a:schemeClr val="tx1"/>
                    </a:solidFill>
                    <a:effectLst/>
                    <a:latin typeface="+mn-lt"/>
                    <a:ea typeface="+mn-ea"/>
                    <a:cs typeface="+mn-cs"/>
                  </a:rPr>
                  <a:t>O</a:t>
                </a:r>
                <a:r>
                  <a:rPr lang="sr-Latn-RS" sz="1200" kern="1200" dirty="0">
                    <a:solidFill>
                      <a:schemeClr val="tx1"/>
                    </a:solidFill>
                    <a:effectLst/>
                    <a:latin typeface="+mn-lt"/>
                    <a:ea typeface="+mn-ea"/>
                    <a:cs typeface="+mn-cs"/>
                  </a:rPr>
                  <a:t>(</a:t>
                </a:r>
                <a:r>
                  <a:rPr lang="sr-Latn-RS" sz="1200" i="1" kern="1200" dirty="0">
                    <a:solidFill>
                      <a:schemeClr val="tx1"/>
                    </a:solidFill>
                    <a:effectLst/>
                    <a:latin typeface="+mn-lt"/>
                    <a:ea typeface="+mn-ea"/>
                    <a:cs typeface="+mn-cs"/>
                  </a:rPr>
                  <a:t>h</a:t>
                </a:r>
                <a:r>
                  <a:rPr lang="sr-Latn-RS" sz="1200" i="1" kern="1200" baseline="30000" dirty="0">
                    <a:solidFill>
                      <a:schemeClr val="tx1"/>
                    </a:solidFill>
                    <a:effectLst/>
                    <a:latin typeface="+mn-lt"/>
                    <a:ea typeface="+mn-ea"/>
                    <a:cs typeface="+mn-cs"/>
                  </a:rPr>
                  <a:t>10</a:t>
                </a:r>
                <a:r>
                  <a:rPr lang="sr-Latn-RS" sz="1200" kern="1200" dirty="0">
                    <a:solidFill>
                      <a:schemeClr val="tx1"/>
                    </a:solidFill>
                    <a:effectLst/>
                    <a:latin typeface="+mn-lt"/>
                    <a:ea typeface="+mn-ea"/>
                    <a:cs typeface="+mn-cs"/>
                  </a:rPr>
                  <a:t>) iako nismo primenili taj metod.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Takođe </a:t>
                </a:r>
                <a:r>
                  <a:rPr lang="sr-Latn-RS" sz="1200" kern="1200" dirty="0">
                    <a:solidFill>
                      <a:schemeClr val="tx1"/>
                    </a:solidFill>
                    <a:effectLst/>
                    <a:latin typeface="+mn-lt"/>
                    <a:ea typeface="+mn-ea"/>
                    <a:cs typeface="+mn-cs"/>
                  </a:rPr>
                  <a:t>postigli smo tačnost reda </a:t>
                </a:r>
                <a:r>
                  <a:rPr lang="sr-Latn-RS" sz="1200" i="0" kern="1200">
                    <a:solidFill>
                      <a:schemeClr val="tx1"/>
                    </a:solidFill>
                    <a:effectLst/>
                    <a:latin typeface="+mn-lt"/>
                    <a:ea typeface="+mn-ea"/>
                    <a:cs typeface="+mn-cs"/>
                  </a:rPr>
                  <a:t>𝑂</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ℎ</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10 )</a:t>
                </a:r>
                <a:r>
                  <a:rPr lang="sr-Latn-RS" sz="1200" kern="1200" dirty="0">
                    <a:solidFill>
                      <a:schemeClr val="tx1"/>
                    </a:solidFill>
                    <a:effectLst/>
                    <a:latin typeface="+mn-lt"/>
                    <a:ea typeface="+mn-ea"/>
                    <a:cs typeface="+mn-cs"/>
                  </a:rPr>
                  <a:t> deleći interval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2,6]</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najvi</a:t>
                </a:r>
                <a:r>
                  <a:rPr lang="sr-Latn-RS" sz="1200" kern="1200" dirty="0">
                    <a:solidFill>
                      <a:schemeClr val="tx1"/>
                    </a:solidFill>
                    <a:effectLst/>
                    <a:latin typeface="+mn-lt"/>
                    <a:ea typeface="+mn-ea"/>
                    <a:cs typeface="+mn-cs"/>
                  </a:rPr>
                  <a:t>še 16 podintervala</a:t>
                </a:r>
                <a:endParaRPr lang="sr-Latn-RS" altLang="sr-Latn-RS" dirty="0" smtClean="0"/>
              </a:p>
            </p:txBody>
          </p:sp>
        </mc:Fallback>
      </mc:AlternateContent>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a:ln/>
        </p:spPr>
      </p:sp>
      <mc:AlternateContent xmlns:mc="http://schemas.openxmlformats.org/markup-compatibility/2006" xmlns:a14="http://schemas.microsoft.com/office/drawing/2010/main">
        <mc:Choice Requires="a14">
          <p:sp>
            <p:nvSpPr>
              <p:cNvPr id="82947" name="Rectangle 3"/>
              <p:cNvSpPr>
                <a:spLocks noGrp="1" noChangeArrowheads="1"/>
              </p:cNvSpPr>
              <p:nvPr>
                <p:ph type="body" idx="1"/>
              </p:nvPr>
            </p:nvSpPr>
            <p:spPr>
              <a:xfrm>
                <a:off x="914400" y="4343400"/>
                <a:ext cx="5029200" cy="4114800"/>
              </a:xfrm>
              <a:noFill/>
            </p:spPr>
            <p:txBody>
              <a:bodyPr/>
              <a:lstStyle/>
              <a:p>
                <a:pPr marL="171450" indent="-171450" eaLnBrk="1" hangingPunct="1">
                  <a:buFont typeface="Arial" pitchFamily="34" charset="0"/>
                  <a:buChar char="•"/>
                </a:pPr>
                <a:r>
                  <a:rPr lang="sr-Latn-RS" sz="1200" kern="1200" dirty="0">
                    <a:solidFill>
                      <a:schemeClr val="tx1"/>
                    </a:solidFill>
                    <a:effectLst/>
                    <a:latin typeface="+mn-lt"/>
                    <a:ea typeface="+mn-ea"/>
                    <a:cs typeface="+mn-cs"/>
                  </a:rPr>
                  <a:t>Najbolje rešenje iz tabele je prvi element poslednje kolone. To rešenje odgovara metodu reda tačnosti </a:t>
                </a:r>
                <a14:m>
                  <m:oMath xmlns:m="http://schemas.openxmlformats.org/officeDocument/2006/math">
                    <m:r>
                      <a:rPr lang="sr-Latn-RS" sz="1200" i="1" kern="1200">
                        <a:solidFill>
                          <a:schemeClr val="tx1"/>
                        </a:solidFill>
                        <a:effectLst/>
                        <a:latin typeface="Cambria Math"/>
                        <a:ea typeface="+mn-ea"/>
                        <a:cs typeface="+mn-cs"/>
                      </a:rPr>
                      <m:t>𝑂</m:t>
                    </m:r>
                    <m:d>
                      <m:dPr>
                        <m:ctrlPr>
                          <a:rPr lang="en-US" sz="1200" i="1" kern="1200">
                            <a:solidFill>
                              <a:schemeClr val="tx1"/>
                            </a:solidFill>
                            <a:effectLst/>
                            <a:latin typeface="Cambria Math" panose="02040503050406030204" pitchFamily="18" charset="0"/>
                            <a:ea typeface="+mn-ea"/>
                            <a:cs typeface="+mn-cs"/>
                          </a:rPr>
                        </m:ctrlPr>
                      </m:dPr>
                      <m:e>
                        <m:sSup>
                          <m:sSupPr>
                            <m:ctrlPr>
                              <a:rPr lang="en-US" sz="1200" i="1" kern="1200">
                                <a:solidFill>
                                  <a:schemeClr val="tx1"/>
                                </a:solidFill>
                                <a:effectLst/>
                                <a:latin typeface="Cambria Math" panose="02040503050406030204" pitchFamily="18" charset="0"/>
                                <a:ea typeface="+mn-ea"/>
                                <a:cs typeface="+mn-cs"/>
                              </a:rPr>
                            </m:ctrlPr>
                          </m:sSupPr>
                          <m:e>
                            <m:r>
                              <a:rPr lang="sr-Latn-RS" sz="1200" i="1" kern="1200">
                                <a:solidFill>
                                  <a:schemeClr val="tx1"/>
                                </a:solidFill>
                                <a:effectLst/>
                                <a:latin typeface="Cambria Math"/>
                                <a:ea typeface="+mn-ea"/>
                                <a:cs typeface="+mn-cs"/>
                              </a:rPr>
                              <m:t>h</m:t>
                            </m:r>
                          </m:e>
                          <m:sup>
                            <m:r>
                              <a:rPr lang="sr-Latn-RS" sz="1200" i="1" kern="1200">
                                <a:solidFill>
                                  <a:schemeClr val="tx1"/>
                                </a:solidFill>
                                <a:effectLst/>
                                <a:latin typeface="Cambria Math"/>
                                <a:ea typeface="+mn-ea"/>
                                <a:cs typeface="+mn-cs"/>
                              </a:rPr>
                              <m:t>10</m:t>
                            </m:r>
                          </m:sup>
                        </m:sSup>
                      </m:e>
                    </m:d>
                  </m:oMath>
                </a14:m>
                <a:endParaRPr lang="en-US" altLang="sr-Latn-RS" dirty="0"/>
              </a:p>
              <a:p>
                <a:pPr marL="0" indent="0" eaLnBrk="1" hangingPunct="1">
                  <a:buFont typeface="Arial" pitchFamily="34" charset="0"/>
                  <a:buNone/>
                </a:pPr>
                <a:endParaRPr lang="en-US" sz="1200" kern="1200" dirty="0">
                  <a:solidFill>
                    <a:schemeClr val="tx1"/>
                  </a:solidFill>
                  <a:effectLst/>
                  <a:latin typeface="+mn-lt"/>
                  <a:ea typeface="+mn-ea"/>
                  <a:cs typeface="+mn-cs"/>
                </a:endParaRPr>
              </a:p>
            </p:txBody>
          </p:sp>
        </mc:Choice>
        <mc:Fallback xmlns="">
          <p:sp>
            <p:nvSpPr>
              <p:cNvPr id="82947" name="Rectangle 3"/>
              <p:cNvSpPr>
                <a:spLocks noGrp="1" noChangeArrowheads="1"/>
              </p:cNvSpPr>
              <p:nvPr>
                <p:ph type="body" idx="1"/>
              </p:nvPr>
            </p:nvSpPr>
            <p:spPr>
              <a:xfrm>
                <a:off x="914400" y="4343400"/>
                <a:ext cx="5029200" cy="4114800"/>
              </a:xfrm>
              <a:noFill/>
            </p:spPr>
            <p:txBody>
              <a:bodyPr/>
              <a:lstStyle/>
              <a:p>
                <a:pPr marL="171450" indent="-171450" eaLnBrk="1" hangingPunct="1">
                  <a:buFont typeface="Arial" pitchFamily="34" charset="0"/>
                  <a:buChar char="•"/>
                </a:pPr>
                <a:r>
                  <a:rPr lang="sr-Latn-CS" sz="1200" i="0" kern="1200">
                    <a:solidFill>
                      <a:schemeClr val="tx1"/>
                    </a:solidFill>
                    <a:effectLst/>
                    <a:latin typeface="+mn-lt"/>
                    <a:ea typeface="+mn-ea"/>
                    <a:cs typeface="+mn-cs"/>
                  </a:rPr>
                  <a:t>𝑅</a:t>
                </a:r>
                <a:r>
                  <a:rPr lang="en-US" sz="1200" i="0" kern="1200" smtClean="0">
                    <a:solidFill>
                      <a:schemeClr val="tx1"/>
                    </a:solidFill>
                    <a:effectLst/>
                    <a:latin typeface="+mn-lt"/>
                    <a:ea typeface="+mn-ea"/>
                    <a:cs typeface="+mn-cs"/>
                  </a:rPr>
                  <a:t>_</a:t>
                </a:r>
                <a:r>
                  <a:rPr lang="sr-Latn-CS" sz="1200" i="0" kern="1200">
                    <a:solidFill>
                      <a:schemeClr val="tx1"/>
                    </a:solidFill>
                    <a:effectLst/>
                    <a:latin typeface="+mn-lt"/>
                    <a:ea typeface="+mn-ea"/>
                    <a:cs typeface="+mn-cs"/>
                  </a:rPr>
                  <a:t>0,1=</a:t>
                </a:r>
                <a:r>
                  <a:rPr lang="en-US" sz="1200" i="0" kern="1200">
                    <a:solidFill>
                      <a:schemeClr val="tx1"/>
                    </a:solidFill>
                    <a:effectLst/>
                    <a:latin typeface="+mn-lt"/>
                    <a:ea typeface="+mn-ea"/>
                    <a:cs typeface="+mn-cs"/>
                  </a:rPr>
                  <a:t>(〖</a:t>
                </a:r>
                <a:r>
                  <a:rPr lang="sr-Latn-CS" sz="1200" i="0" kern="1200">
                    <a:solidFill>
                      <a:schemeClr val="tx1"/>
                    </a:solidFill>
                    <a:effectLst/>
                    <a:latin typeface="+mn-lt"/>
                    <a:ea typeface="+mn-ea"/>
                    <a:cs typeface="+mn-cs"/>
                  </a:rPr>
                  <a:t>4𝑅</a:t>
                </a:r>
                <a:r>
                  <a:rPr lang="en-US" sz="1200" i="0" kern="1200">
                    <a:solidFill>
                      <a:schemeClr val="tx1"/>
                    </a:solidFill>
                    <a:effectLst/>
                    <a:latin typeface="+mn-lt"/>
                    <a:ea typeface="+mn-ea"/>
                    <a:cs typeface="+mn-cs"/>
                  </a:rPr>
                  <a:t>〗_</a:t>
                </a:r>
                <a:r>
                  <a:rPr lang="sr-Latn-CS" sz="1200" i="0" kern="1200">
                    <a:solidFill>
                      <a:schemeClr val="tx1"/>
                    </a:solidFill>
                    <a:effectLst/>
                    <a:latin typeface="+mn-lt"/>
                    <a:ea typeface="+mn-ea"/>
                    <a:cs typeface="+mn-cs"/>
                  </a:rPr>
                  <a:t>1,0−𝑅</a:t>
                </a:r>
                <a:r>
                  <a:rPr lang="en-US" sz="1200" i="0" kern="1200">
                    <a:solidFill>
                      <a:schemeClr val="tx1"/>
                    </a:solidFill>
                    <a:effectLst/>
                    <a:latin typeface="+mn-lt"/>
                    <a:ea typeface="+mn-ea"/>
                    <a:cs typeface="+mn-cs"/>
                  </a:rPr>
                  <a:t>_</a:t>
                </a:r>
                <a:r>
                  <a:rPr lang="sr-Latn-CS" sz="1200" i="0" kern="1200">
                    <a:solidFill>
                      <a:schemeClr val="tx1"/>
                    </a:solidFill>
                    <a:effectLst/>
                    <a:latin typeface="+mn-lt"/>
                    <a:ea typeface="+mn-ea"/>
                    <a:cs typeface="+mn-cs"/>
                  </a:rPr>
                  <a:t>0,0</a:t>
                </a:r>
                <a:r>
                  <a:rPr lang="en-US" sz="1200" i="0" kern="1200">
                    <a:solidFill>
                      <a:schemeClr val="tx1"/>
                    </a:solidFill>
                    <a:effectLst/>
                    <a:latin typeface="+mn-lt"/>
                    <a:ea typeface="+mn-ea"/>
                    <a:cs typeface="+mn-cs"/>
                  </a:rPr>
                  <a:t>)/</a:t>
                </a:r>
                <a:r>
                  <a:rPr lang="sr-Latn-CS" sz="1200" i="0" kern="1200">
                    <a:solidFill>
                      <a:schemeClr val="tx1"/>
                    </a:solidFill>
                    <a:effectLst/>
                    <a:latin typeface="+mn-lt"/>
                    <a:ea typeface="+mn-ea"/>
                    <a:cs typeface="+mn-cs"/>
                  </a:rPr>
                  <a:t>3</a:t>
                </a:r>
                <a:r>
                  <a:rPr lang="en-US" altLang="sr-Latn-RS" dirty="0" smtClean="0"/>
                  <a:t>=(4*12142.2-23847.7)/3=8240.41</a:t>
                </a:r>
              </a:p>
              <a:p>
                <a:pPr marL="171450" indent="-171450" eaLnBrk="1" hangingPunct="1">
                  <a:buFont typeface="Arial" pitchFamily="34" charset="0"/>
                  <a:buChar char="•"/>
                </a:pPr>
                <a:r>
                  <a:rPr lang="en-US" sz="1200" kern="1200" dirty="0" err="1" smtClean="0">
                    <a:solidFill>
                      <a:schemeClr val="tx1"/>
                    </a:solidFill>
                    <a:effectLst/>
                    <a:latin typeface="+mn-lt"/>
                    <a:ea typeface="+mn-ea"/>
                    <a:cs typeface="+mn-cs"/>
                  </a:rPr>
                  <a:t>Pslednji</a:t>
                </a:r>
                <a:r>
                  <a:rPr lang="sr-Latn-RS" sz="1200" kern="1200" dirty="0" smtClean="0">
                    <a:solidFill>
                      <a:schemeClr val="tx1"/>
                    </a:solidFill>
                    <a:effectLst/>
                    <a:latin typeface="+mn-lt"/>
                    <a:ea typeface="+mn-ea"/>
                    <a:cs typeface="+mn-cs"/>
                  </a:rPr>
                  <a:t> </a:t>
                </a:r>
                <a:r>
                  <a:rPr lang="sr-Latn-RS" sz="1200" kern="1200" dirty="0">
                    <a:solidFill>
                      <a:schemeClr val="tx1"/>
                    </a:solidFill>
                    <a:effectLst/>
                    <a:latin typeface="+mn-lt"/>
                    <a:ea typeface="+mn-ea"/>
                    <a:cs typeface="+mn-cs"/>
                  </a:rPr>
                  <a:t>element svake od kolona tabele </a:t>
                </a:r>
                <a:r>
                  <a:rPr lang="sr-Latn-RS" sz="1200" kern="1200" dirty="0" smtClean="0">
                    <a:solidFill>
                      <a:schemeClr val="tx1"/>
                    </a:solidFill>
                    <a:effectLst/>
                    <a:latin typeface="+mn-lt"/>
                    <a:ea typeface="+mn-ea"/>
                    <a:cs typeface="+mn-cs"/>
                  </a:rPr>
                  <a:t>je </a:t>
                </a:r>
                <a:r>
                  <a:rPr lang="sr-Latn-RS" sz="1200" kern="1200" dirty="0">
                    <a:solidFill>
                      <a:schemeClr val="tx1"/>
                    </a:solidFill>
                    <a:effectLst/>
                    <a:latin typeface="+mn-lt"/>
                    <a:ea typeface="+mn-ea"/>
                    <a:cs typeface="+mn-cs"/>
                  </a:rPr>
                  <a:t>najbolje rešenje koje smo dobili za red tačnosti koji odgovara koloni.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Poslednji </a:t>
                </a:r>
                <a:r>
                  <a:rPr lang="sr-Latn-RS" sz="1200" kern="1200" dirty="0">
                    <a:solidFill>
                      <a:schemeClr val="tx1"/>
                    </a:solidFill>
                    <a:effectLst/>
                    <a:latin typeface="+mn-lt"/>
                    <a:ea typeface="+mn-ea"/>
                    <a:cs typeface="+mn-cs"/>
                  </a:rPr>
                  <a:t>red tabele prikazuje relativnu grešku dobijenu na osnovu poslednjeg elementa.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Najbolje </a:t>
                </a:r>
                <a:r>
                  <a:rPr lang="sr-Latn-RS" sz="1200" kern="1200" dirty="0">
                    <a:solidFill>
                      <a:schemeClr val="tx1"/>
                    </a:solidFill>
                    <a:effectLst/>
                    <a:latin typeface="+mn-lt"/>
                    <a:ea typeface="+mn-ea"/>
                    <a:cs typeface="+mn-cs"/>
                  </a:rPr>
                  <a:t>rešenje iz tabele je prvi element poslednje kolone. To rešenje odgovara metodu reda tačnosti </a:t>
                </a:r>
                <a:r>
                  <a:rPr lang="sr-Latn-RS" sz="1200" i="0" kern="1200">
                    <a:solidFill>
                      <a:schemeClr val="tx1"/>
                    </a:solidFill>
                    <a:effectLst/>
                    <a:latin typeface="+mn-lt"/>
                    <a:ea typeface="+mn-ea"/>
                    <a:cs typeface="+mn-cs"/>
                  </a:rPr>
                  <a:t>𝑂</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ℎ</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10 )</a:t>
                </a:r>
                <a:endParaRPr lang="en-US" altLang="sr-Latn-RS" dirty="0" smtClean="0"/>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Vrlo je važno primetiti da je jedini numerički metod koji je korišćen prilikom popunjavanja tabele metoda </a:t>
                </a:r>
                <a:r>
                  <a:rPr lang="sr-Latn-RS" sz="1200" kern="1200" dirty="0">
                    <a:solidFill>
                      <a:schemeClr val="tx1"/>
                    </a:solidFill>
                    <a:effectLst/>
                    <a:latin typeface="+mn-lt"/>
                    <a:ea typeface="+mn-ea"/>
                    <a:cs typeface="+mn-cs"/>
                  </a:rPr>
                  <a:t>tarpeza.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Sve </a:t>
                </a:r>
                <a:r>
                  <a:rPr lang="sr-Latn-RS" sz="1200" kern="1200" dirty="0">
                    <a:solidFill>
                      <a:schemeClr val="tx1"/>
                    </a:solidFill>
                    <a:effectLst/>
                    <a:latin typeface="+mn-lt"/>
                    <a:ea typeface="+mn-ea"/>
                    <a:cs typeface="+mn-cs"/>
                  </a:rPr>
                  <a:t>ostale vrednosti dobijene su pomoću vrlo jednostavne formule, odnosno, primenom Ričardsonove ekstrapolacije.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Dakle</a:t>
                </a:r>
                <a:r>
                  <a:rPr lang="sr-Latn-RS" sz="1200" kern="1200" dirty="0">
                    <a:solidFill>
                      <a:schemeClr val="tx1"/>
                    </a:solidFill>
                    <a:effectLst/>
                    <a:latin typeface="+mn-lt"/>
                    <a:ea typeface="+mn-ea"/>
                    <a:cs typeface="+mn-cs"/>
                  </a:rPr>
                  <a:t>, postigli smo rezultat koji bi vratio metod reda tačnosti </a:t>
                </a:r>
                <a:r>
                  <a:rPr lang="sr-Latn-RS" sz="1200" i="1" kern="1200" dirty="0">
                    <a:solidFill>
                      <a:schemeClr val="tx1"/>
                    </a:solidFill>
                    <a:effectLst/>
                    <a:latin typeface="+mn-lt"/>
                    <a:ea typeface="+mn-ea"/>
                    <a:cs typeface="+mn-cs"/>
                  </a:rPr>
                  <a:t>O</a:t>
                </a:r>
                <a:r>
                  <a:rPr lang="sr-Latn-RS" sz="1200" kern="1200" dirty="0">
                    <a:solidFill>
                      <a:schemeClr val="tx1"/>
                    </a:solidFill>
                    <a:effectLst/>
                    <a:latin typeface="+mn-lt"/>
                    <a:ea typeface="+mn-ea"/>
                    <a:cs typeface="+mn-cs"/>
                  </a:rPr>
                  <a:t>(</a:t>
                </a:r>
                <a:r>
                  <a:rPr lang="sr-Latn-RS" sz="1200" i="1" kern="1200" dirty="0">
                    <a:solidFill>
                      <a:schemeClr val="tx1"/>
                    </a:solidFill>
                    <a:effectLst/>
                    <a:latin typeface="+mn-lt"/>
                    <a:ea typeface="+mn-ea"/>
                    <a:cs typeface="+mn-cs"/>
                  </a:rPr>
                  <a:t>h</a:t>
                </a:r>
                <a:r>
                  <a:rPr lang="sr-Latn-RS" sz="1200" i="1" kern="1200" baseline="30000" dirty="0">
                    <a:solidFill>
                      <a:schemeClr val="tx1"/>
                    </a:solidFill>
                    <a:effectLst/>
                    <a:latin typeface="+mn-lt"/>
                    <a:ea typeface="+mn-ea"/>
                    <a:cs typeface="+mn-cs"/>
                  </a:rPr>
                  <a:t>10</a:t>
                </a:r>
                <a:r>
                  <a:rPr lang="sr-Latn-RS" sz="1200" kern="1200" dirty="0">
                    <a:solidFill>
                      <a:schemeClr val="tx1"/>
                    </a:solidFill>
                    <a:effectLst/>
                    <a:latin typeface="+mn-lt"/>
                    <a:ea typeface="+mn-ea"/>
                    <a:cs typeface="+mn-cs"/>
                  </a:rPr>
                  <a:t>) iako nismo primenili taj metod. </a:t>
                </a:r>
                <a:endParaRPr lang="en-US" sz="1200" kern="1200" dirty="0" smtClean="0">
                  <a:solidFill>
                    <a:schemeClr val="tx1"/>
                  </a:solidFill>
                  <a:effectLst/>
                  <a:latin typeface="+mn-lt"/>
                  <a:ea typeface="+mn-ea"/>
                  <a:cs typeface="+mn-cs"/>
                </a:endParaRPr>
              </a:p>
              <a:p>
                <a:pPr marL="171450" indent="-171450" eaLnBrk="1" hangingPunct="1">
                  <a:buFont typeface="Arial" pitchFamily="34" charset="0"/>
                  <a:buChar char="•"/>
                </a:pPr>
                <a:r>
                  <a:rPr lang="sr-Latn-RS" sz="1200" kern="1200" dirty="0" smtClean="0">
                    <a:solidFill>
                      <a:schemeClr val="tx1"/>
                    </a:solidFill>
                    <a:effectLst/>
                    <a:latin typeface="+mn-lt"/>
                    <a:ea typeface="+mn-ea"/>
                    <a:cs typeface="+mn-cs"/>
                  </a:rPr>
                  <a:t>Takođe </a:t>
                </a:r>
                <a:r>
                  <a:rPr lang="sr-Latn-RS" sz="1200" kern="1200" dirty="0">
                    <a:solidFill>
                      <a:schemeClr val="tx1"/>
                    </a:solidFill>
                    <a:effectLst/>
                    <a:latin typeface="+mn-lt"/>
                    <a:ea typeface="+mn-ea"/>
                    <a:cs typeface="+mn-cs"/>
                  </a:rPr>
                  <a:t>postigli smo tačnost reda </a:t>
                </a:r>
                <a:r>
                  <a:rPr lang="sr-Latn-RS" sz="1200" i="0" kern="1200">
                    <a:solidFill>
                      <a:schemeClr val="tx1"/>
                    </a:solidFill>
                    <a:effectLst/>
                    <a:latin typeface="+mn-lt"/>
                    <a:ea typeface="+mn-ea"/>
                    <a:cs typeface="+mn-cs"/>
                  </a:rPr>
                  <a:t>𝑂</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ℎ</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10 )</a:t>
                </a:r>
                <a:r>
                  <a:rPr lang="sr-Latn-RS" sz="1200" kern="1200" dirty="0">
                    <a:solidFill>
                      <a:schemeClr val="tx1"/>
                    </a:solidFill>
                    <a:effectLst/>
                    <a:latin typeface="+mn-lt"/>
                    <a:ea typeface="+mn-ea"/>
                    <a:cs typeface="+mn-cs"/>
                  </a:rPr>
                  <a:t> deleći interval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2,6]</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najvi</a:t>
                </a:r>
                <a:r>
                  <a:rPr lang="sr-Latn-RS" sz="1200" kern="1200" dirty="0">
                    <a:solidFill>
                      <a:schemeClr val="tx1"/>
                    </a:solidFill>
                    <a:effectLst/>
                    <a:latin typeface="+mn-lt"/>
                    <a:ea typeface="+mn-ea"/>
                    <a:cs typeface="+mn-cs"/>
                  </a:rPr>
                  <a:t>še 16 podintervala</a:t>
                </a:r>
                <a:endParaRPr lang="sr-Latn-RS" altLang="sr-Latn-RS" dirty="0" smtClean="0"/>
              </a:p>
            </p:txBody>
          </p:sp>
        </mc:Fallback>
      </mc:AlternateContent>
    </p:spTree>
    <p:extLst>
      <p:ext uri="{BB962C8B-B14F-4D97-AF65-F5344CB8AC3E}">
        <p14:creationId xmlns:p14="http://schemas.microsoft.com/office/powerpoint/2010/main" val="1325463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Same koordinate tačaka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𝑖</m:t>
                        </m:r>
                      </m:sub>
                    </m:sSub>
                  </m:oMath>
                </a14:m>
                <a:r>
                  <a:rPr lang="sr-Latn-RS" sz="1200" kern="1200" baseline="-250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birane su tako da je postupak izvođenja formula što jednostavniji, i uključuju krajnje tačke intervala, odnosno </a:t>
                </a:r>
                <a14:m>
                  <m:oMath xmlns:m="http://schemas.openxmlformats.org/officeDocument/2006/math">
                    <m:r>
                      <a:rPr lang="sr-Latn-RS" sz="1200" i="1" kern="1200">
                        <a:solidFill>
                          <a:schemeClr val="tx1"/>
                        </a:solidFill>
                        <a:effectLst/>
                        <a:latin typeface="Cambria Math"/>
                        <a:ea typeface="+mn-ea"/>
                        <a:cs typeface="+mn-cs"/>
                      </a:rPr>
                      <m:t>𝑎</m:t>
                    </m:r>
                  </m:oMath>
                </a14:m>
                <a:r>
                  <a:rPr lang="sr-Latn-RS" sz="1200" kern="1200" dirty="0">
                    <a:solidFill>
                      <a:schemeClr val="tx1"/>
                    </a:solidFill>
                    <a:effectLst/>
                    <a:latin typeface="+mn-lt"/>
                    <a:ea typeface="+mn-ea"/>
                    <a:cs typeface="+mn-cs"/>
                  </a:rPr>
                  <a:t> i </a:t>
                </a:r>
                <a14:m>
                  <m:oMath xmlns:m="http://schemas.openxmlformats.org/officeDocument/2006/math">
                    <m:r>
                      <a:rPr lang="sr-Latn-RS" sz="1200" i="1" kern="1200">
                        <a:solidFill>
                          <a:schemeClr val="tx1"/>
                        </a:solidFill>
                        <a:effectLst/>
                        <a:latin typeface="Cambria Math"/>
                        <a:ea typeface="+mn-ea"/>
                        <a:cs typeface="+mn-cs"/>
                      </a:rPr>
                      <m:t>𝑏</m:t>
                    </m:r>
                  </m:oMath>
                </a14:m>
                <a:r>
                  <a:rPr lang="sr-Latn-RS" sz="1200" kern="1200" dirty="0">
                    <a:solidFill>
                      <a:schemeClr val="tx1"/>
                    </a:solidFill>
                    <a:effectLst/>
                    <a:latin typeface="+mn-lt"/>
                    <a:ea typeface="+mn-ea"/>
                    <a:cs typeface="+mn-cs"/>
                  </a:rPr>
                  <a:t>, kao i tačke koje se dobijaju kada se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𝑎</m:t>
                        </m:r>
                        <m:r>
                          <a:rPr lang="sr-Latn-RS" sz="1200" i="1" kern="1200">
                            <a:solidFill>
                              <a:schemeClr val="tx1"/>
                            </a:solidFill>
                            <a:effectLst/>
                            <a:latin typeface="Cambria Math"/>
                            <a:ea typeface="+mn-ea"/>
                            <a:cs typeface="+mn-cs"/>
                          </a:rPr>
                          <m:t>, </m:t>
                        </m:r>
                        <m:r>
                          <a:rPr lang="sr-Latn-RS" sz="1200" i="1" kern="1200">
                            <a:solidFill>
                              <a:schemeClr val="tx1"/>
                            </a:solidFill>
                            <a:effectLst/>
                            <a:latin typeface="Cambria Math"/>
                            <a:ea typeface="+mn-ea"/>
                            <a:cs typeface="+mn-cs"/>
                          </a:rPr>
                          <m:t>𝑏</m:t>
                        </m:r>
                      </m:e>
                    </m:d>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podeli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jednake delove. </a:t>
                </a:r>
              </a:p>
              <a:p>
                <a:pPr marL="171450" indent="-171450">
                  <a:buFont typeface="Arial" pitchFamily="34" charset="0"/>
                  <a:buChar char="•"/>
                </a:pPr>
                <a:r>
                  <a:rPr lang="sr-Latn-RS" sz="1200" kern="1200" dirty="0">
                    <a:solidFill>
                      <a:schemeClr val="tx1"/>
                    </a:solidFill>
                    <a:effectLst/>
                    <a:latin typeface="+mn-lt"/>
                    <a:ea typeface="+mn-ea"/>
                    <a:cs typeface="+mn-cs"/>
                  </a:rPr>
                  <a:t>Koordinate tačaka nisu birane sa ciljem da se poveća tačnost formule. Na primer, ako nam je za Simpsonovu 1/3 metodu bilo potrebno 3 tačke da bi podintegralnu funkciju aproksimirali polinomom drugog stepena, odabrali bismo krajnje tačke intrevala, kao i tačku u sredini intervala. Takav izbor deluje logično, jer sam metod ne zahteva određene pozicije za tri tačke, već samo da ih bude tri</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Same koordinate tačaka </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𝑖</a:t>
                </a:r>
                <a:r>
                  <a:rPr lang="sr-Latn-RS" sz="1200" kern="1200" baseline="-250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birane su tako da je postupak izvođenja formula što jednostavniji, i uključuju krajnje tačke intervala, odnosno </a:t>
                </a:r>
                <a:r>
                  <a:rPr lang="sr-Latn-RS" sz="1200" i="0" kern="1200">
                    <a:solidFill>
                      <a:schemeClr val="tx1"/>
                    </a:solidFill>
                    <a:effectLst/>
                    <a:latin typeface="+mn-lt"/>
                    <a:ea typeface="+mn-ea"/>
                    <a:cs typeface="+mn-cs"/>
                  </a:rPr>
                  <a:t>𝑎</a:t>
                </a:r>
                <a:r>
                  <a:rPr lang="sr-Latn-RS" sz="1200" kern="1200" dirty="0">
                    <a:solidFill>
                      <a:schemeClr val="tx1"/>
                    </a:solidFill>
                    <a:effectLst/>
                    <a:latin typeface="+mn-lt"/>
                    <a:ea typeface="+mn-ea"/>
                    <a:cs typeface="+mn-cs"/>
                  </a:rPr>
                  <a:t> i </a:t>
                </a:r>
                <a:r>
                  <a:rPr lang="sr-Latn-RS" sz="1200" i="0" kern="1200">
                    <a:solidFill>
                      <a:schemeClr val="tx1"/>
                    </a:solidFill>
                    <a:effectLst/>
                    <a:latin typeface="+mn-lt"/>
                    <a:ea typeface="+mn-ea"/>
                    <a:cs typeface="+mn-cs"/>
                  </a:rPr>
                  <a:t>𝑏</a:t>
                </a:r>
                <a:r>
                  <a:rPr lang="sr-Latn-RS" sz="1200" kern="1200" dirty="0">
                    <a:solidFill>
                      <a:schemeClr val="tx1"/>
                    </a:solidFill>
                    <a:effectLst/>
                    <a:latin typeface="+mn-lt"/>
                    <a:ea typeface="+mn-ea"/>
                    <a:cs typeface="+mn-cs"/>
                  </a:rPr>
                  <a:t>, kao i tačke koje se dobijaju kada se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 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podeli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jednake delove. Koordinate tačaka nisu birane sa ciljem da se poveća tačnost formule. Na primer, ako nam je za Simpsonovu 1/3 metodu bilo potrebno 3 tačke da bi podintegralnu funkciju aproksimirali polinomom drugog stepena, odabrali bismo krajnje tačke intrevala, kao i tačku u sredini intervala. Takav izbor deluje logično, jer sam metod ne zahteva određene pozicije za tri tačke, već samo da ih bude tri</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61</a:t>
            </a:fld>
            <a:endParaRPr lang="en-US"/>
          </a:p>
        </p:txBody>
      </p:sp>
    </p:spTree>
    <p:extLst>
      <p:ext uri="{BB962C8B-B14F-4D97-AF65-F5344CB8AC3E}">
        <p14:creationId xmlns:p14="http://schemas.microsoft.com/office/powerpoint/2010/main" val="191125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Metoda trapeza na intervalu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𝑎</m:t>
                        </m:r>
                        <m:r>
                          <a:rPr lang="sr-Latn-RS" sz="1200" i="1" kern="1200">
                            <a:solidFill>
                              <a:schemeClr val="tx1"/>
                            </a:solidFill>
                            <a:effectLst/>
                            <a:latin typeface="Cambria Math"/>
                            <a:ea typeface="+mn-ea"/>
                            <a:cs typeface="+mn-cs"/>
                          </a:rPr>
                          <m:t>, </m:t>
                        </m:r>
                        <m:r>
                          <a:rPr lang="sr-Latn-RS" sz="1200" i="1" kern="1200">
                            <a:solidFill>
                              <a:schemeClr val="tx1"/>
                            </a:solidFill>
                            <a:effectLst/>
                            <a:latin typeface="Cambria Math"/>
                            <a:ea typeface="+mn-ea"/>
                            <a:cs typeface="+mn-cs"/>
                          </a:rPr>
                          <m:t>𝑏</m:t>
                        </m:r>
                      </m:e>
                    </m:d>
                  </m:oMath>
                </a14:m>
                <a:r>
                  <a:rPr lang="sr-Latn-RS" sz="1200" kern="1200" dirty="0">
                    <a:solidFill>
                      <a:schemeClr val="tx1"/>
                    </a:solidFill>
                    <a:effectLst/>
                    <a:latin typeface="+mn-lt"/>
                    <a:ea typeface="+mn-ea"/>
                    <a:cs typeface="+mn-cs"/>
                  </a:rPr>
                  <a:t> ima tačnost od 100% samo ako je funkcija </a:t>
                </a:r>
                <a14:m>
                  <m:oMath xmlns:m="http://schemas.openxmlformats.org/officeDocument/2006/math">
                    <m:r>
                      <a:rPr lang="sr-Latn-RS" sz="1200" i="1" kern="1200">
                        <a:solidFill>
                          <a:schemeClr val="tx1"/>
                        </a:solidFill>
                        <a:effectLst/>
                        <a:latin typeface="Cambria Math"/>
                        <a:ea typeface="+mn-ea"/>
                        <a:cs typeface="+mn-cs"/>
                      </a:rPr>
                      <m:t>𝑓</m:t>
                    </m:r>
                    <m:d>
                      <m:dPr>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𝑥</m:t>
                        </m:r>
                      </m:e>
                    </m:d>
                  </m:oMath>
                </a14:m>
                <a:r>
                  <a:rPr lang="sr-Latn-RS" sz="1200" kern="1200" dirty="0">
                    <a:solidFill>
                      <a:schemeClr val="tx1"/>
                    </a:solidFill>
                    <a:effectLst/>
                    <a:latin typeface="+mn-lt"/>
                    <a:ea typeface="+mn-ea"/>
                    <a:cs typeface="+mn-cs"/>
                  </a:rPr>
                  <a:t> prava linija, odnosno polinom prvog stepena</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Metoda trapeza na intervalu </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𝑎, 𝑏]</a:t>
                </a:r>
                <a:r>
                  <a:rPr lang="sr-Latn-RS" sz="1200" kern="1200" dirty="0">
                    <a:solidFill>
                      <a:schemeClr val="tx1"/>
                    </a:solidFill>
                    <a:effectLst/>
                    <a:latin typeface="+mn-lt"/>
                    <a:ea typeface="+mn-ea"/>
                    <a:cs typeface="+mn-cs"/>
                  </a:rPr>
                  <a:t> ima tačnost od 100% samo ako je funkcija </a:t>
                </a:r>
                <a:r>
                  <a:rPr lang="sr-Latn-RS" sz="1200" i="0" kern="1200">
                    <a:solidFill>
                      <a:schemeClr val="tx1"/>
                    </a:solidFill>
                    <a:effectLst/>
                    <a:latin typeface="+mn-lt"/>
                    <a:ea typeface="+mn-ea"/>
                    <a:cs typeface="+mn-cs"/>
                  </a:rPr>
                  <a:t>𝑓</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sr-Latn-RS" sz="1200" kern="1200" dirty="0">
                    <a:solidFill>
                      <a:schemeClr val="tx1"/>
                    </a:solidFill>
                    <a:effectLst/>
                    <a:latin typeface="+mn-lt"/>
                    <a:ea typeface="+mn-ea"/>
                    <a:cs typeface="+mn-cs"/>
                  </a:rPr>
                  <a:t> prava linija, odnosno polinom prvog stepena</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62</a:t>
            </a:fld>
            <a:endParaRPr lang="en-US"/>
          </a:p>
        </p:txBody>
      </p:sp>
    </p:spTree>
    <p:extLst>
      <p:ext uri="{BB962C8B-B14F-4D97-AF65-F5344CB8AC3E}">
        <p14:creationId xmlns:p14="http://schemas.microsoft.com/office/powerpoint/2010/main" val="235930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Cilj nam je da zadržimo istu računsku složenost formule za metodu trapeza (isti broj tačaka i koeficijenata), ali da na drugi način odaberemo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1</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2</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𝑐</m:t>
                        </m:r>
                      </m:e>
                      <m:sub>
                        <m:r>
                          <a:rPr lang="sr-Latn-RS" sz="1200" i="1" kern="1200">
                            <a:solidFill>
                              <a:schemeClr val="tx1"/>
                            </a:solidFill>
                            <a:effectLst/>
                            <a:latin typeface="Cambria Math"/>
                            <a:ea typeface="+mn-ea"/>
                            <a:cs typeface="+mn-cs"/>
                          </a:rPr>
                          <m:t>1</m:t>
                        </m:r>
                      </m:sub>
                    </m:sSub>
                  </m:oMath>
                </a14:m>
                <a:r>
                  <a:rPr lang="sr-Latn-RS" sz="1200" i="1"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i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𝑐</m:t>
                        </m:r>
                      </m:e>
                      <m:sub>
                        <m:r>
                          <a:rPr lang="sr-Latn-RS" sz="1200" i="1" kern="1200">
                            <a:solidFill>
                              <a:schemeClr val="tx1"/>
                            </a:solidFill>
                            <a:effectLst/>
                            <a:latin typeface="Cambria Math"/>
                            <a:ea typeface="+mn-ea"/>
                            <a:cs typeface="+mn-cs"/>
                          </a:rPr>
                          <m:t>2</m:t>
                        </m:r>
                      </m:sub>
                    </m:sSub>
                  </m:oMath>
                </a14:m>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Krenućemo od metode trapeza. Formula metode ima sledeći oblik</a:t>
                </a:r>
                <a:endParaRPr lang="en-US" sz="1200" kern="120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Cilj nam je da zadržimo istu računsku složenost formule za metodu trapeza (isti broj tačaka i koeficijenata), ali da na drugi način odaberemo </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2,𝑐</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a:t>
                </a:r>
                <a:r>
                  <a:rPr lang="sr-Latn-RS" sz="1200" i="1"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i </a:t>
                </a:r>
                <a:r>
                  <a:rPr lang="sr-Latn-RS" sz="1200" i="0" kern="1200">
                    <a:solidFill>
                      <a:schemeClr val="tx1"/>
                    </a:solidFill>
                    <a:effectLst/>
                    <a:latin typeface="+mn-lt"/>
                    <a:ea typeface="+mn-ea"/>
                    <a:cs typeface="+mn-cs"/>
                  </a:rPr>
                  <a:t>𝑐</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63</a:t>
            </a:fld>
            <a:endParaRPr lang="en-US"/>
          </a:p>
        </p:txBody>
      </p:sp>
    </p:spTree>
    <p:extLst>
      <p:ext uri="{BB962C8B-B14F-4D97-AF65-F5344CB8AC3E}">
        <p14:creationId xmlns:p14="http://schemas.microsoft.com/office/powerpoint/2010/main" val="20798658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Kod Gausove kvadrature pokušaćemo da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1</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2</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𝑐</m:t>
                        </m:r>
                      </m:e>
                      <m:sub>
                        <m:r>
                          <a:rPr lang="sr-Latn-RS" sz="1200" i="1" kern="1200">
                            <a:solidFill>
                              <a:schemeClr val="tx1"/>
                            </a:solidFill>
                            <a:effectLst/>
                            <a:latin typeface="Cambria Math"/>
                            <a:ea typeface="+mn-ea"/>
                            <a:cs typeface="+mn-cs"/>
                          </a:rPr>
                          <m:t>1</m:t>
                        </m:r>
                      </m:sub>
                    </m:sSub>
                  </m:oMath>
                </a14:m>
                <a:r>
                  <a:rPr lang="sr-Latn-RS" sz="1200" i="1"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i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𝑐</m:t>
                        </m:r>
                      </m:e>
                      <m:sub>
                        <m:r>
                          <a:rPr lang="sr-Latn-RS" sz="1200" i="1" kern="1200">
                            <a:solidFill>
                              <a:schemeClr val="tx1"/>
                            </a:solidFill>
                            <a:effectLst/>
                            <a:latin typeface="Cambria Math"/>
                            <a:ea typeface="+mn-ea"/>
                            <a:cs typeface="+mn-cs"/>
                          </a:rPr>
                          <m:t>2</m:t>
                        </m:r>
                      </m:sub>
                    </m:sSub>
                  </m:oMath>
                </a14:m>
                <a:r>
                  <a:rPr lang="sr-Latn-RS" sz="1200" kern="1200" dirty="0">
                    <a:solidFill>
                      <a:schemeClr val="tx1"/>
                    </a:solidFill>
                    <a:effectLst/>
                    <a:latin typeface="+mn-lt"/>
                    <a:ea typeface="+mn-ea"/>
                    <a:cs typeface="+mn-cs"/>
                  </a:rPr>
                  <a:t> odredimo tako da imamo 100% tačan rezultat ako je </a:t>
                </a:r>
                <a14:m>
                  <m:oMath xmlns:m="http://schemas.openxmlformats.org/officeDocument/2006/math">
                    <m:r>
                      <a:rPr lang="sr-Latn-RS" sz="1200" i="1" kern="1200">
                        <a:solidFill>
                          <a:schemeClr val="tx1"/>
                        </a:solidFill>
                        <a:effectLst/>
                        <a:latin typeface="Cambria Math"/>
                        <a:ea typeface="+mn-ea"/>
                        <a:cs typeface="+mn-cs"/>
                      </a:rPr>
                      <m:t>𝑓</m:t>
                    </m:r>
                    <m:d>
                      <m:dPr>
                        <m:ctrlPr>
                          <a:rPr lang="en-US" sz="1200" i="1" kern="1200">
                            <a:solidFill>
                              <a:schemeClr val="tx1"/>
                            </a:solidFill>
                            <a:effectLst/>
                            <a:latin typeface="Cambria Math" panose="02040503050406030204" pitchFamily="18" charset="0"/>
                            <a:ea typeface="+mn-ea"/>
                            <a:cs typeface="+mn-cs"/>
                          </a:rPr>
                        </m:ctrlPr>
                      </m:dPr>
                      <m:e>
                        <m:r>
                          <a:rPr lang="sr-Latn-RS" sz="1200" i="1" kern="1200">
                            <a:solidFill>
                              <a:schemeClr val="tx1"/>
                            </a:solidFill>
                            <a:effectLst/>
                            <a:latin typeface="Cambria Math"/>
                            <a:ea typeface="+mn-ea"/>
                            <a:cs typeface="+mn-cs"/>
                          </a:rPr>
                          <m:t>𝑥</m:t>
                        </m:r>
                      </m:e>
                    </m:d>
                  </m:oMath>
                </a14:m>
                <a:r>
                  <a:rPr lang="sr-Latn-RS" sz="1200" kern="1200" dirty="0">
                    <a:solidFill>
                      <a:schemeClr val="tx1"/>
                    </a:solidFill>
                    <a:effectLst/>
                    <a:latin typeface="+mn-lt"/>
                    <a:ea typeface="+mn-ea"/>
                    <a:cs typeface="+mn-cs"/>
                  </a:rPr>
                  <a:t> proizvoljan polinom trećeg stepena</a:t>
                </a:r>
                <a:endParaRPr lang="en-US" sz="1200" kern="1200" dirty="0">
                  <a:solidFill>
                    <a:schemeClr val="tx1"/>
                  </a:solidFill>
                  <a:effectLst/>
                  <a:latin typeface="+mn-lt"/>
                  <a:ea typeface="+mn-ea"/>
                  <a:cs typeface="+mn-cs"/>
                </a:endParaRPr>
              </a:p>
              <a:p>
                <a:pPr marL="171450" indent="-171450">
                  <a:buFont typeface="Arial" pitchFamily="34" charset="0"/>
                  <a:buChar char="•"/>
                </a:pPr>
                <a:r>
                  <a:rPr lang="sr-Latn-RS" sz="1200" kern="1200" dirty="0">
                    <a:solidFill>
                      <a:schemeClr val="tx1"/>
                    </a:solidFill>
                    <a:effectLst/>
                    <a:latin typeface="+mn-lt"/>
                    <a:ea typeface="+mn-ea"/>
                    <a:cs typeface="+mn-cs"/>
                  </a:rPr>
                  <a:t>Analitičko rešenje određenog integrala proizvoljnog polinoma trećeg stepena dato je sa</a:t>
                </a:r>
                <a:r>
                  <a:rPr lang="en-US" sz="1200" kern="1200" dirty="0">
                    <a:solidFill>
                      <a:schemeClr val="tx1"/>
                    </a:solidFill>
                    <a:effectLst/>
                    <a:latin typeface="+mn-lt"/>
                    <a:ea typeface="+mn-ea"/>
                    <a:cs typeface="+mn-cs"/>
                  </a:rPr>
                  <a:t>:…</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Kod Gausove kvadrature pokušaćemo da </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2,𝑐</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a:t>
                </a:r>
                <a:r>
                  <a:rPr lang="sr-Latn-RS" sz="1200" i="1"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i </a:t>
                </a:r>
                <a:r>
                  <a:rPr lang="sr-Latn-RS" sz="1200" i="0" kern="1200">
                    <a:solidFill>
                      <a:schemeClr val="tx1"/>
                    </a:solidFill>
                    <a:effectLst/>
                    <a:latin typeface="+mn-lt"/>
                    <a:ea typeface="+mn-ea"/>
                    <a:cs typeface="+mn-cs"/>
                  </a:rPr>
                  <a:t>𝑐</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a:t>
                </a:r>
                <a:r>
                  <a:rPr lang="sr-Latn-RS" sz="1200" kern="1200" dirty="0">
                    <a:solidFill>
                      <a:schemeClr val="tx1"/>
                    </a:solidFill>
                    <a:effectLst/>
                    <a:latin typeface="+mn-lt"/>
                    <a:ea typeface="+mn-ea"/>
                    <a:cs typeface="+mn-cs"/>
                  </a:rPr>
                  <a:t> odredimo tako da imamo 100% tačan rezultat ako je </a:t>
                </a:r>
                <a:r>
                  <a:rPr lang="sr-Latn-RS" sz="1200" i="0" kern="1200">
                    <a:solidFill>
                      <a:schemeClr val="tx1"/>
                    </a:solidFill>
                    <a:effectLst/>
                    <a:latin typeface="+mn-lt"/>
                    <a:ea typeface="+mn-ea"/>
                    <a:cs typeface="+mn-cs"/>
                  </a:rPr>
                  <a:t>𝑓</a:t>
                </a:r>
                <a:r>
                  <a:rPr lang="en-US"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sr-Latn-RS" sz="1200" kern="1200" dirty="0">
                    <a:solidFill>
                      <a:schemeClr val="tx1"/>
                    </a:solidFill>
                    <a:effectLst/>
                    <a:latin typeface="+mn-lt"/>
                    <a:ea typeface="+mn-ea"/>
                    <a:cs typeface="+mn-cs"/>
                  </a:rPr>
                  <a:t> proizvoljan polinom trećeg </a:t>
                </a:r>
                <a:r>
                  <a:rPr lang="sr-Latn-RS" sz="1200" kern="1200" dirty="0" smtClean="0">
                    <a:solidFill>
                      <a:schemeClr val="tx1"/>
                    </a:solidFill>
                    <a:effectLst/>
                    <a:latin typeface="+mn-lt"/>
                    <a:ea typeface="+mn-ea"/>
                    <a:cs typeface="+mn-cs"/>
                  </a:rPr>
                  <a:t>stepena</a:t>
                </a:r>
                <a:endParaRPr lang="en-US" sz="1200" kern="120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Analitičko rešenje određenog integrala proizvoljnog polinoma trećeg stepena dato je sa</a:t>
                </a:r>
                <a:r>
                  <a:rPr lang="en-US" sz="1200" kern="1200" dirty="0" smtClean="0">
                    <a:solidFill>
                      <a:schemeClr val="tx1"/>
                    </a:solidFill>
                    <a:effectLst/>
                    <a:latin typeface="+mn-lt"/>
                    <a:ea typeface="+mn-ea"/>
                    <a:cs typeface="+mn-cs"/>
                  </a:rPr>
                  <a:t>:…</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65</a:t>
            </a:fld>
            <a:endParaRPr lang="en-US"/>
          </a:p>
        </p:txBody>
      </p:sp>
    </p:spTree>
    <p:extLst>
      <p:ext uri="{BB962C8B-B14F-4D97-AF65-F5344CB8AC3E}">
        <p14:creationId xmlns:p14="http://schemas.microsoft.com/office/powerpoint/2010/main" val="754290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Znači, ako želimo da zadržimo računsku kompleksnost jedne primene metode trapeza, a da pri tome podignemo tačnost do polinoma trećeg stepena, treba da odaberemo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1</m:t>
                        </m:r>
                      </m:sub>
                    </m:sSub>
                    <m:r>
                      <a:rPr lang="sr-Latn-RS" sz="1200" i="1" kern="1200">
                        <a:solidFill>
                          <a:schemeClr val="tx1"/>
                        </a:solidFill>
                        <a:effectLst/>
                        <a:latin typeface="Cambria Math"/>
                        <a:ea typeface="+mn-ea"/>
                        <a:cs typeface="+mn-cs"/>
                      </a:rPr>
                      <m:t>,</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𝑥</m:t>
                        </m:r>
                      </m:e>
                      <m:sub>
                        <m:r>
                          <a:rPr lang="sr-Latn-RS" sz="1200" i="1" kern="1200">
                            <a:solidFill>
                              <a:schemeClr val="tx1"/>
                            </a:solidFill>
                            <a:effectLst/>
                            <a:latin typeface="Cambria Math"/>
                            <a:ea typeface="+mn-ea"/>
                            <a:cs typeface="+mn-cs"/>
                          </a:rPr>
                          <m:t>2</m:t>
                        </m:r>
                      </m:sub>
                    </m:sSub>
                    <m:r>
                      <a:rPr lang="sr-Latn-RS" sz="1200" i="1" kern="1200">
                        <a:solidFill>
                          <a:schemeClr val="tx1"/>
                        </a:solidFill>
                        <a:effectLst/>
                        <a:latin typeface="Cambria Math"/>
                        <a:ea typeface="+mn-ea"/>
                        <a:cs typeface="+mn-cs"/>
                      </a:rPr>
                      <m:t>, </m:t>
                    </m:r>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𝑐</m:t>
                        </m:r>
                      </m:e>
                      <m:sub>
                        <m:r>
                          <a:rPr lang="sr-Latn-RS" sz="1200" i="1" kern="1200">
                            <a:solidFill>
                              <a:schemeClr val="tx1"/>
                            </a:solidFill>
                            <a:effectLst/>
                            <a:latin typeface="Cambria Math"/>
                            <a:ea typeface="+mn-ea"/>
                            <a:cs typeface="+mn-cs"/>
                          </a:rPr>
                          <m:t>1</m:t>
                        </m:r>
                      </m:sub>
                    </m:sSub>
                  </m:oMath>
                </a14:m>
                <a:r>
                  <a:rPr lang="sr-Latn-RS" sz="1200" kern="1200" dirty="0">
                    <a:solidFill>
                      <a:schemeClr val="tx1"/>
                    </a:solidFill>
                    <a:effectLst/>
                    <a:latin typeface="+mn-lt"/>
                    <a:ea typeface="+mn-ea"/>
                    <a:cs typeface="+mn-cs"/>
                  </a:rPr>
                  <a:t> i</a:t>
                </a:r>
                <a:r>
                  <a:rPr lang="sr-Latn-RS" sz="1200" i="1" kern="1200" dirty="0">
                    <a:solidFill>
                      <a:schemeClr val="tx1"/>
                    </a:solidFill>
                    <a:effectLst/>
                    <a:latin typeface="+mn-lt"/>
                    <a:ea typeface="+mn-ea"/>
                    <a:cs typeface="+mn-cs"/>
                  </a:rPr>
                  <a:t> </a:t>
                </a:r>
                <a14:m>
                  <m:oMath xmlns:m="http://schemas.openxmlformats.org/officeDocument/2006/math">
                    <m:sSub>
                      <m:sSubPr>
                        <m:ctrlPr>
                          <a:rPr lang="en-US"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a:ea typeface="+mn-ea"/>
                            <a:cs typeface="+mn-cs"/>
                          </a:rPr>
                          <m:t>𝑐</m:t>
                        </m:r>
                      </m:e>
                      <m:sub>
                        <m:r>
                          <a:rPr lang="sr-Latn-RS" sz="1200" i="1" kern="1200">
                            <a:solidFill>
                              <a:schemeClr val="tx1"/>
                            </a:solidFill>
                            <a:effectLst/>
                            <a:latin typeface="Cambria Math"/>
                            <a:ea typeface="+mn-ea"/>
                            <a:cs typeface="+mn-cs"/>
                          </a:rPr>
                          <m:t>2</m:t>
                        </m:r>
                      </m:sub>
                    </m:sSub>
                  </m:oMath>
                </a14:m>
                <a:r>
                  <a:rPr lang="sr-Latn-RS" sz="1200" kern="1200" dirty="0">
                    <a:solidFill>
                      <a:schemeClr val="tx1"/>
                    </a:solidFill>
                    <a:effectLst/>
                    <a:latin typeface="+mn-lt"/>
                    <a:ea typeface="+mn-ea"/>
                    <a:cs typeface="+mn-cs"/>
                  </a:rPr>
                  <a:t> po </a:t>
                </a:r>
                <a:r>
                  <a:rPr lang="en-US" sz="1200" kern="1200" dirty="0" err="1">
                    <a:solidFill>
                      <a:schemeClr val="tx1"/>
                    </a:solidFill>
                    <a:effectLst/>
                    <a:latin typeface="+mn-lt"/>
                    <a:ea typeface="+mn-ea"/>
                    <a:cs typeface="+mn-cs"/>
                  </a:rPr>
                  <a:t>ovoj</a:t>
                </a:r>
                <a:r>
                  <a:rPr lang="en-US" sz="1200"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formuli </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Znači, ako želimo da zadržimo računsku kompleksnost jedne primene metode trapeza, a da pri tome podignemo tačnost do polinoma trećeg stepena, treba da odaberemo </a:t>
                </a:r>
                <a:r>
                  <a:rPr lang="sr-Latn-RS" sz="1200" i="0" kern="1200">
                    <a:solidFill>
                      <a:schemeClr val="tx1"/>
                    </a:solidFill>
                    <a:effectLst/>
                    <a:latin typeface="+mn-lt"/>
                    <a:ea typeface="+mn-ea"/>
                    <a:cs typeface="+mn-cs"/>
                  </a:rPr>
                  <a:t>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1,𝑥</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 𝑐</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a:t>
                </a:r>
                <a:r>
                  <a:rPr lang="sr-Latn-RS" sz="1200" kern="1200" dirty="0">
                    <a:solidFill>
                      <a:schemeClr val="tx1"/>
                    </a:solidFill>
                    <a:effectLst/>
                    <a:latin typeface="+mn-lt"/>
                    <a:ea typeface="+mn-ea"/>
                    <a:cs typeface="+mn-cs"/>
                  </a:rPr>
                  <a:t> i</a:t>
                </a:r>
                <a:r>
                  <a:rPr lang="sr-Latn-RS" sz="1200" i="1"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𝑐</a:t>
                </a:r>
                <a:r>
                  <a:rPr lang="en-US"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a:t>
                </a:r>
                <a:r>
                  <a:rPr lang="sr-Latn-RS" sz="1200" kern="1200" dirty="0">
                    <a:solidFill>
                      <a:schemeClr val="tx1"/>
                    </a:solidFill>
                    <a:effectLst/>
                    <a:latin typeface="+mn-lt"/>
                    <a:ea typeface="+mn-ea"/>
                    <a:cs typeface="+mn-cs"/>
                  </a:rPr>
                  <a:t> po </a:t>
                </a:r>
                <a:r>
                  <a:rPr lang="en-US" sz="1200" kern="1200" dirty="0" err="1" smtClean="0">
                    <a:solidFill>
                      <a:schemeClr val="tx1"/>
                    </a:solidFill>
                    <a:effectLst/>
                    <a:latin typeface="+mn-lt"/>
                    <a:ea typeface="+mn-ea"/>
                    <a:cs typeface="+mn-cs"/>
                  </a:rPr>
                  <a:t>ovoj</a:t>
                </a:r>
                <a:r>
                  <a:rPr lang="en-US" sz="1200" kern="1200" dirty="0" smtClean="0">
                    <a:solidFill>
                      <a:schemeClr val="tx1"/>
                    </a:solidFill>
                    <a:effectLst/>
                    <a:latin typeface="+mn-lt"/>
                    <a:ea typeface="+mn-ea"/>
                    <a:cs typeface="+mn-cs"/>
                  </a:rPr>
                  <a:t> </a:t>
                </a:r>
                <a:r>
                  <a:rPr lang="sr-Latn-RS" sz="1200" kern="1200" dirty="0" smtClean="0">
                    <a:solidFill>
                      <a:schemeClr val="tx1"/>
                    </a:solidFill>
                    <a:effectLst/>
                    <a:latin typeface="+mn-lt"/>
                    <a:ea typeface="+mn-ea"/>
                    <a:cs typeface="+mn-cs"/>
                  </a:rPr>
                  <a:t>formuli </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68</a:t>
            </a:fld>
            <a:endParaRPr lang="en-US"/>
          </a:p>
        </p:txBody>
      </p:sp>
    </p:spTree>
    <p:extLst>
      <p:ext uri="{BB962C8B-B14F-4D97-AF65-F5344CB8AC3E}">
        <p14:creationId xmlns:p14="http://schemas.microsoft.com/office/powerpoint/2010/main" val="26748509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err="1">
                    <a:solidFill>
                      <a:schemeClr val="tx1"/>
                    </a:solidFill>
                    <a:effectLst/>
                    <a:latin typeface="+mn-lt"/>
                    <a:ea typeface="+mn-ea"/>
                    <a:cs typeface="+mn-cs"/>
                  </a:rPr>
                  <a:t>Prethodna</a:t>
                </a:r>
                <a:r>
                  <a:rPr lang="en-US" sz="1200" kern="1200" dirty="0">
                    <a:solidFill>
                      <a:schemeClr val="tx1"/>
                    </a:solidFill>
                    <a:effectLst/>
                    <a:latin typeface="+mn-lt"/>
                    <a:ea typeface="+mn-ea"/>
                    <a:cs typeface="+mn-cs"/>
                  </a:rPr>
                  <a:t> formula</a:t>
                </a:r>
                <a:r>
                  <a:rPr lang="sr-Latn-RS" sz="1200" kern="1200" dirty="0">
                    <a:solidFill>
                      <a:schemeClr val="tx1"/>
                    </a:solidFill>
                    <a:effectLst/>
                    <a:latin typeface="+mn-lt"/>
                    <a:ea typeface="+mn-ea"/>
                    <a:cs typeface="+mn-cs"/>
                  </a:rPr>
                  <a:t> važi u slučaju da želimo da koristimo dve tačke i dva koeficijenta. </a:t>
                </a:r>
                <a:endParaRPr lang="en-US" sz="1200" kern="1200" dirty="0">
                  <a:solidFill>
                    <a:schemeClr val="tx1"/>
                  </a:solidFill>
                  <a:effectLst/>
                  <a:latin typeface="+mn-lt"/>
                  <a:ea typeface="+mn-ea"/>
                  <a:cs typeface="+mn-cs"/>
                </a:endParaRPr>
              </a:p>
              <a:p>
                <a:pPr marL="171450" indent="-171450">
                  <a:buFont typeface="Arial" pitchFamily="34" charset="0"/>
                  <a:buChar char="•"/>
                </a:pPr>
                <a:r>
                  <a:rPr lang="sr-Latn-RS" sz="1200" kern="1200" dirty="0">
                    <a:solidFill>
                      <a:schemeClr val="tx1"/>
                    </a:solidFill>
                    <a:effectLst/>
                    <a:latin typeface="+mn-lt"/>
                    <a:ea typeface="+mn-ea"/>
                    <a:cs typeface="+mn-cs"/>
                  </a:rPr>
                  <a:t>Postoji mogućnost korišćenja većeg broja tačaka i koeficijenata, pri čemu je proces izvođenja formule veoma sličan slučaju za dve tačke</a:t>
                </a:r>
                <a:endParaRPr lang="en-US" sz="1200" kern="1200" dirty="0">
                  <a:solidFill>
                    <a:schemeClr val="tx1"/>
                  </a:solidFill>
                  <a:effectLst/>
                  <a:latin typeface="+mn-lt"/>
                  <a:ea typeface="+mn-ea"/>
                  <a:cs typeface="+mn-cs"/>
                </a:endParaRPr>
              </a:p>
              <a:p>
                <a:pPr marL="171450" indent="-171450">
                  <a:buFont typeface="Arial" pitchFamily="34" charset="0"/>
                  <a:buChar char="•"/>
                </a:pPr>
                <a:r>
                  <a:rPr lang="en-US" sz="1200" kern="1200" dirty="0" err="1">
                    <a:solidFill>
                      <a:schemeClr val="tx1"/>
                    </a:solidFill>
                    <a:effectLst/>
                    <a:latin typeface="+mn-lt"/>
                    <a:ea typeface="+mn-ea"/>
                    <a:cs typeface="+mn-cs"/>
                  </a:rPr>
                  <a:t>Konkretno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za</a:t>
                </a:r>
                <a:r>
                  <a:rPr lang="en-US" sz="1200" kern="1200" baseline="0" dirty="0">
                    <a:solidFill>
                      <a:schemeClr val="tx1"/>
                    </a:solidFill>
                    <a:effectLst/>
                    <a:latin typeface="+mn-lt"/>
                    <a:ea typeface="+mn-ea"/>
                    <a:cs typeface="+mn-cs"/>
                  </a:rPr>
                  <a:t> tri ta</a:t>
                </a:r>
                <a:r>
                  <a:rPr lang="sr-Latn-RS" sz="1200" kern="1200" baseline="0" dirty="0">
                    <a:solidFill>
                      <a:schemeClr val="tx1"/>
                    </a:solidFill>
                    <a:effectLst/>
                    <a:latin typeface="+mn-lt"/>
                    <a:ea typeface="+mn-ea"/>
                    <a:cs typeface="+mn-cs"/>
                  </a:rPr>
                  <a:t>čke...</a:t>
                </a:r>
              </a:p>
              <a:p>
                <a:pPr marL="171450" indent="-171450">
                  <a:buFont typeface="Arial" pitchFamily="34" charset="0"/>
                  <a:buChar char="•"/>
                </a:pPr>
                <a:endParaRPr lang="sr-Latn-RS" sz="1200" kern="1200" baseline="0" dirty="0">
                  <a:solidFill>
                    <a:schemeClr val="tx1"/>
                  </a:solidFill>
                  <a:effectLst/>
                  <a:latin typeface="+mn-lt"/>
                  <a:ea typeface="+mn-ea"/>
                  <a:cs typeface="+mn-cs"/>
                </a:endParaRPr>
              </a:p>
              <a:p>
                <a:pPr marL="171450" indent="-171450">
                  <a:buFont typeface="Arial" pitchFamily="34" charset="0"/>
                  <a:buChar char="•"/>
                </a:pPr>
                <a:r>
                  <a:rPr lang="sr-Latn-RS" sz="1200" kern="1200" dirty="0">
                    <a:solidFill>
                      <a:schemeClr val="tx1"/>
                    </a:solidFill>
                    <a:effectLst/>
                    <a:latin typeface="+mn-lt"/>
                    <a:ea typeface="+mn-ea"/>
                    <a:cs typeface="+mn-cs"/>
                  </a:rPr>
                  <a:t>Polinom stepena </a:t>
                </a:r>
                <a14:m>
                  <m:oMath xmlns:m="http://schemas.openxmlformats.org/officeDocument/2006/math">
                    <m:r>
                      <a:rPr lang="sr-Latn-RS" sz="1200" i="1" kern="1200">
                        <a:solidFill>
                          <a:schemeClr val="tx1"/>
                        </a:solidFill>
                        <a:effectLst/>
                        <a:latin typeface="Cambria Math"/>
                        <a:ea typeface="+mn-ea"/>
                        <a:cs typeface="+mn-cs"/>
                      </a:rPr>
                      <m:t>2</m:t>
                    </m:r>
                    <m:r>
                      <a:rPr lang="sr-Latn-RS" sz="1200" i="1" kern="1200">
                        <a:solidFill>
                          <a:schemeClr val="tx1"/>
                        </a:solidFill>
                        <a:effectLst/>
                        <a:latin typeface="Cambria Math"/>
                        <a:ea typeface="+mn-ea"/>
                        <a:cs typeface="+mn-cs"/>
                      </a:rPr>
                      <m:t>𝑛</m:t>
                    </m:r>
                    <m:r>
                      <a:rPr lang="sr-Latn-RS" sz="1200" i="1" kern="1200">
                        <a:solidFill>
                          <a:schemeClr val="tx1"/>
                        </a:solidFill>
                        <a:effectLst/>
                        <a:latin typeface="Cambria Math"/>
                        <a:ea typeface="+mn-ea"/>
                        <a:cs typeface="+mn-cs"/>
                      </a:rPr>
                      <m:t>−1</m:t>
                    </m:r>
                  </m:oMath>
                </a14:m>
                <a:r>
                  <a:rPr lang="sr-Latn-RS" sz="1200" kern="1200" dirty="0">
                    <a:solidFill>
                      <a:schemeClr val="tx1"/>
                    </a:solidFill>
                    <a:effectLst/>
                    <a:latin typeface="+mn-lt"/>
                    <a:ea typeface="+mn-ea"/>
                    <a:cs typeface="+mn-cs"/>
                  </a:rPr>
                  <a:t> ima </a:t>
                </a:r>
                <a14:m>
                  <m:oMath xmlns:m="http://schemas.openxmlformats.org/officeDocument/2006/math">
                    <m:r>
                      <a:rPr lang="sr-Latn-RS" sz="1200" i="1" kern="1200">
                        <a:solidFill>
                          <a:schemeClr val="tx1"/>
                        </a:solidFill>
                        <a:effectLst/>
                        <a:latin typeface="Cambria Math"/>
                        <a:ea typeface="+mn-ea"/>
                        <a:cs typeface="+mn-cs"/>
                      </a:rPr>
                      <m:t>2</m:t>
                    </m:r>
                    <m:r>
                      <a:rPr lang="sr-Latn-RS" sz="1200" i="1" kern="1200">
                        <a:solidFill>
                          <a:schemeClr val="tx1"/>
                        </a:solidFill>
                        <a:effectLst/>
                        <a:latin typeface="Cambria Math"/>
                        <a:ea typeface="+mn-ea"/>
                        <a:cs typeface="+mn-cs"/>
                      </a:rPr>
                      <m:t>𝑛</m:t>
                    </m:r>
                  </m:oMath>
                </a14:m>
                <a:r>
                  <a:rPr lang="sr-Latn-RS" sz="1200" kern="1200" dirty="0">
                    <a:solidFill>
                      <a:schemeClr val="tx1"/>
                    </a:solidFill>
                    <a:effectLst/>
                    <a:latin typeface="+mn-lt"/>
                    <a:ea typeface="+mn-ea"/>
                    <a:cs typeface="+mn-cs"/>
                  </a:rPr>
                  <a:t> koeficijenata, a nama je cilj da odredimo </a:t>
                </a:r>
                <a14:m>
                  <m:oMath xmlns:m="http://schemas.openxmlformats.org/officeDocument/2006/math">
                    <m:r>
                      <a:rPr lang="sr-Latn-RS" sz="1200" i="1" kern="1200">
                        <a:solidFill>
                          <a:schemeClr val="tx1"/>
                        </a:solidFill>
                        <a:effectLst/>
                        <a:latin typeface="Cambria Math"/>
                        <a:ea typeface="+mn-ea"/>
                        <a:cs typeface="+mn-cs"/>
                      </a:rPr>
                      <m:t>2</m:t>
                    </m:r>
                    <m:r>
                      <a:rPr lang="sr-Latn-RS" sz="1200" i="1" kern="1200">
                        <a:solidFill>
                          <a:schemeClr val="tx1"/>
                        </a:solidFill>
                        <a:effectLst/>
                        <a:latin typeface="Cambria Math"/>
                        <a:ea typeface="+mn-ea"/>
                        <a:cs typeface="+mn-cs"/>
                      </a:rPr>
                      <m:t>𝑛</m:t>
                    </m:r>
                  </m:oMath>
                </a14:m>
                <a:r>
                  <a:rPr lang="sr-Latn-RS" sz="1200" i="1"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nepoznatih (</a:t>
                </a:r>
                <a14:m>
                  <m:oMath xmlns:m="http://schemas.openxmlformats.org/officeDocument/2006/math">
                    <m:r>
                      <a:rPr lang="sr-Latn-RS" sz="1200" i="1" kern="1200">
                        <a:solidFill>
                          <a:schemeClr val="tx1"/>
                        </a:solidFill>
                        <a:effectLst/>
                        <a:latin typeface="Cambria Math"/>
                        <a:ea typeface="+mn-ea"/>
                        <a:cs typeface="+mn-cs"/>
                      </a:rPr>
                      <m:t>𝑛</m:t>
                    </m:r>
                  </m:oMath>
                </a14:m>
                <a:r>
                  <a:rPr lang="sr-Latn-RS" sz="1200" kern="1200" dirty="0">
                    <a:solidFill>
                      <a:schemeClr val="tx1"/>
                    </a:solidFill>
                    <a:effectLst/>
                    <a:latin typeface="+mn-lt"/>
                    <a:ea typeface="+mn-ea"/>
                    <a:cs typeface="+mn-cs"/>
                  </a:rPr>
                  <a:t> tačaka i </a:t>
                </a:r>
                <a14:m>
                  <m:oMath xmlns:m="http://schemas.openxmlformats.org/officeDocument/2006/math">
                    <m:r>
                      <a:rPr lang="sr-Latn-RS" sz="1200" i="1" kern="1200">
                        <a:solidFill>
                          <a:schemeClr val="tx1"/>
                        </a:solidFill>
                        <a:effectLst/>
                        <a:latin typeface="Cambria Math"/>
                        <a:ea typeface="+mn-ea"/>
                        <a:cs typeface="+mn-cs"/>
                      </a:rPr>
                      <m:t>𝑛</m:t>
                    </m:r>
                  </m:oMath>
                </a14:m>
                <a:r>
                  <a:rPr lang="sr-Latn-RS" sz="1200" kern="1200" dirty="0">
                    <a:solidFill>
                      <a:schemeClr val="tx1"/>
                    </a:solidFill>
                    <a:effectLst/>
                    <a:latin typeface="+mn-lt"/>
                    <a:ea typeface="+mn-ea"/>
                    <a:cs typeface="+mn-cs"/>
                  </a:rPr>
                  <a:t> koeficijenata), odnosno sistem koji odgovara onom iz </a:t>
                </a:r>
                <a:r>
                  <a:rPr lang="sr-Latn-CS" sz="1200" kern="1200" dirty="0">
                    <a:solidFill>
                      <a:schemeClr val="tx1"/>
                    </a:solidFill>
                    <a:effectLst/>
                    <a:latin typeface="+mn-lt"/>
                    <a:ea typeface="+mn-ea"/>
                    <a:cs typeface="+mn-cs"/>
                  </a:rPr>
                  <a:t>(118)</a:t>
                </a:r>
                <a:r>
                  <a:rPr lang="sr-Latn-RS" sz="1200" kern="1200" dirty="0">
                    <a:solidFill>
                      <a:schemeClr val="tx1"/>
                    </a:solidFill>
                    <a:effectLst/>
                    <a:latin typeface="+mn-lt"/>
                    <a:ea typeface="+mn-ea"/>
                    <a:cs typeface="+mn-cs"/>
                  </a:rPr>
                  <a:t> imaće isti broj jednačina kao i nepoznatih</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err="1" smtClean="0">
                    <a:solidFill>
                      <a:schemeClr val="tx1"/>
                    </a:solidFill>
                    <a:effectLst/>
                    <a:latin typeface="+mn-lt"/>
                    <a:ea typeface="+mn-ea"/>
                    <a:cs typeface="+mn-cs"/>
                  </a:rPr>
                  <a:t>Prethodna</a:t>
                </a:r>
                <a:r>
                  <a:rPr lang="en-US" sz="1200" kern="1200" dirty="0" smtClean="0">
                    <a:solidFill>
                      <a:schemeClr val="tx1"/>
                    </a:solidFill>
                    <a:effectLst/>
                    <a:latin typeface="+mn-lt"/>
                    <a:ea typeface="+mn-ea"/>
                    <a:cs typeface="+mn-cs"/>
                  </a:rPr>
                  <a:t> formula</a:t>
                </a:r>
                <a:r>
                  <a:rPr lang="sr-Latn-RS" sz="1200" kern="1200" dirty="0" smtClean="0">
                    <a:solidFill>
                      <a:schemeClr val="tx1"/>
                    </a:solidFill>
                    <a:effectLst/>
                    <a:latin typeface="+mn-lt"/>
                    <a:ea typeface="+mn-ea"/>
                    <a:cs typeface="+mn-cs"/>
                  </a:rPr>
                  <a:t> važi u slučaju da želimo da koristimo dve tačke i dva koeficijenta. </a:t>
                </a:r>
                <a:endParaRPr lang="en-US" sz="1200" kern="120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Postoji mogućnost korišćenja većeg broja tačaka i koeficijenata, pri čemu je proces izvođenja formule veoma sličan slučaju za dve tačke</a:t>
                </a:r>
                <a:endParaRPr lang="en-US" sz="1200" kern="1200" dirty="0" smtClean="0">
                  <a:solidFill>
                    <a:schemeClr val="tx1"/>
                  </a:solidFill>
                  <a:effectLst/>
                  <a:latin typeface="+mn-lt"/>
                  <a:ea typeface="+mn-ea"/>
                  <a:cs typeface="+mn-cs"/>
                </a:endParaRPr>
              </a:p>
              <a:p>
                <a:pPr marL="171450" indent="-171450">
                  <a:buFont typeface="Arial" pitchFamily="34" charset="0"/>
                  <a:buChar char="•"/>
                </a:pPr>
                <a:r>
                  <a:rPr lang="en-US" sz="1200" kern="1200" dirty="0" err="1" smtClean="0">
                    <a:solidFill>
                      <a:schemeClr val="tx1"/>
                    </a:solidFill>
                    <a:effectLst/>
                    <a:latin typeface="+mn-lt"/>
                    <a:ea typeface="+mn-ea"/>
                    <a:cs typeface="+mn-cs"/>
                  </a:rPr>
                  <a:t>Konkretno</a:t>
                </a:r>
                <a:r>
                  <a:rPr lang="en-US" sz="1200" kern="1200" dirty="0" smtClean="0">
                    <a:solidFill>
                      <a:schemeClr val="tx1"/>
                    </a:solidFill>
                    <a:effectLst/>
                    <a:latin typeface="+mn-lt"/>
                    <a:ea typeface="+mn-ea"/>
                    <a:cs typeface="+mn-cs"/>
                  </a:rPr>
                  <a:t>, </a:t>
                </a:r>
                <a:r>
                  <a:rPr lang="en-US" sz="1200" kern="1200" dirty="0" err="1" smtClean="0">
                    <a:solidFill>
                      <a:schemeClr val="tx1"/>
                    </a:solidFill>
                    <a:effectLst/>
                    <a:latin typeface="+mn-lt"/>
                    <a:ea typeface="+mn-ea"/>
                    <a:cs typeface="+mn-cs"/>
                  </a:rPr>
                  <a:t>za</a:t>
                </a:r>
                <a:r>
                  <a:rPr lang="en-US" sz="1200" kern="1200" baseline="0" dirty="0" smtClean="0">
                    <a:solidFill>
                      <a:schemeClr val="tx1"/>
                    </a:solidFill>
                    <a:effectLst/>
                    <a:latin typeface="+mn-lt"/>
                    <a:ea typeface="+mn-ea"/>
                    <a:cs typeface="+mn-cs"/>
                  </a:rPr>
                  <a:t> tri ta</a:t>
                </a:r>
                <a:r>
                  <a:rPr lang="sr-Latn-RS" sz="1200" kern="1200" baseline="0" dirty="0" smtClean="0">
                    <a:solidFill>
                      <a:schemeClr val="tx1"/>
                    </a:solidFill>
                    <a:effectLst/>
                    <a:latin typeface="+mn-lt"/>
                    <a:ea typeface="+mn-ea"/>
                    <a:cs typeface="+mn-cs"/>
                  </a:rPr>
                  <a:t>čke...</a:t>
                </a:r>
              </a:p>
              <a:p>
                <a:pPr marL="171450" indent="-171450">
                  <a:buFont typeface="Arial" pitchFamily="34" charset="0"/>
                  <a:buChar char="•"/>
                </a:pPr>
                <a:endParaRPr lang="sr-Latn-RS" sz="1200" kern="1200" baseline="0" dirty="0" smtClean="0">
                  <a:solidFill>
                    <a:schemeClr val="tx1"/>
                  </a:solidFill>
                  <a:effectLst/>
                  <a:latin typeface="+mn-lt"/>
                  <a:ea typeface="+mn-ea"/>
                  <a:cs typeface="+mn-cs"/>
                </a:endParaRPr>
              </a:p>
              <a:p>
                <a:pPr marL="171450" indent="-171450">
                  <a:buFont typeface="Arial" pitchFamily="34" charset="0"/>
                  <a:buChar char="•"/>
                </a:pPr>
                <a:r>
                  <a:rPr lang="sr-Latn-RS" sz="1200" kern="1200" dirty="0" smtClean="0">
                    <a:solidFill>
                      <a:schemeClr val="tx1"/>
                    </a:solidFill>
                    <a:effectLst/>
                    <a:latin typeface="+mn-lt"/>
                    <a:ea typeface="+mn-ea"/>
                    <a:cs typeface="+mn-cs"/>
                  </a:rPr>
                  <a:t>U opštem slučaju, ako želimo da koristimo </a:t>
                </a:r>
                <a:r>
                  <a:rPr lang="sr-Latn-RS" sz="1200" i="0" kern="120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tačaka i pri tome </a:t>
                </a:r>
                <a:r>
                  <a:rPr lang="sr-Latn-RS" sz="1200" i="0" kern="120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koeficijenata, onda zahtevamo tačnost za polinome stepena </a:t>
                </a:r>
                <a:r>
                  <a:rPr lang="sr-Latn-RS" sz="1200" i="0" kern="1200">
                    <a:solidFill>
                      <a:schemeClr val="tx1"/>
                    </a:solidFill>
                    <a:effectLst/>
                    <a:latin typeface="+mn-lt"/>
                    <a:ea typeface="+mn-ea"/>
                    <a:cs typeface="+mn-cs"/>
                  </a:rPr>
                  <a:t>2𝑛−1</a:t>
                </a:r>
                <a:r>
                  <a:rPr lang="sr-Latn-RS" sz="1200" kern="1200" dirty="0">
                    <a:solidFill>
                      <a:schemeClr val="tx1"/>
                    </a:solidFill>
                    <a:effectLst/>
                    <a:latin typeface="+mn-lt"/>
                    <a:ea typeface="+mn-ea"/>
                    <a:cs typeface="+mn-cs"/>
                  </a:rPr>
                  <a:t>. Polinom stepena </a:t>
                </a:r>
                <a:r>
                  <a:rPr lang="sr-Latn-RS" sz="1200" i="0" kern="1200">
                    <a:solidFill>
                      <a:schemeClr val="tx1"/>
                    </a:solidFill>
                    <a:effectLst/>
                    <a:latin typeface="+mn-lt"/>
                    <a:ea typeface="+mn-ea"/>
                    <a:cs typeface="+mn-cs"/>
                  </a:rPr>
                  <a:t>2𝑛−1</a:t>
                </a:r>
                <a:r>
                  <a:rPr lang="sr-Latn-RS" sz="1200" kern="1200" dirty="0">
                    <a:solidFill>
                      <a:schemeClr val="tx1"/>
                    </a:solidFill>
                    <a:effectLst/>
                    <a:latin typeface="+mn-lt"/>
                    <a:ea typeface="+mn-ea"/>
                    <a:cs typeface="+mn-cs"/>
                  </a:rPr>
                  <a:t> ima </a:t>
                </a:r>
                <a:r>
                  <a:rPr lang="sr-Latn-RS" sz="1200" i="0" kern="1200">
                    <a:solidFill>
                      <a:schemeClr val="tx1"/>
                    </a:solidFill>
                    <a:effectLst/>
                    <a:latin typeface="+mn-lt"/>
                    <a:ea typeface="+mn-ea"/>
                    <a:cs typeface="+mn-cs"/>
                  </a:rPr>
                  <a:t>2𝑛</a:t>
                </a:r>
                <a:r>
                  <a:rPr lang="sr-Latn-RS" sz="1200" kern="1200" dirty="0">
                    <a:solidFill>
                      <a:schemeClr val="tx1"/>
                    </a:solidFill>
                    <a:effectLst/>
                    <a:latin typeface="+mn-lt"/>
                    <a:ea typeface="+mn-ea"/>
                    <a:cs typeface="+mn-cs"/>
                  </a:rPr>
                  <a:t> koeficijenata, a nama je cilj da odredimo </a:t>
                </a:r>
                <a:r>
                  <a:rPr lang="sr-Latn-RS" sz="1200" i="0" kern="1200">
                    <a:solidFill>
                      <a:schemeClr val="tx1"/>
                    </a:solidFill>
                    <a:effectLst/>
                    <a:latin typeface="+mn-lt"/>
                    <a:ea typeface="+mn-ea"/>
                    <a:cs typeface="+mn-cs"/>
                  </a:rPr>
                  <a:t>2𝑛</a:t>
                </a:r>
                <a:r>
                  <a:rPr lang="sr-Latn-RS" sz="1200" i="1" kern="1200" dirty="0">
                    <a:solidFill>
                      <a:schemeClr val="tx1"/>
                    </a:solidFill>
                    <a:effectLst/>
                    <a:latin typeface="+mn-lt"/>
                    <a:ea typeface="+mn-ea"/>
                    <a:cs typeface="+mn-cs"/>
                  </a:rPr>
                  <a:t> </a:t>
                </a:r>
                <a:r>
                  <a:rPr lang="sr-Latn-RS" sz="1200" kern="1200" dirty="0">
                    <a:solidFill>
                      <a:schemeClr val="tx1"/>
                    </a:solidFill>
                    <a:effectLst/>
                    <a:latin typeface="+mn-lt"/>
                    <a:ea typeface="+mn-ea"/>
                    <a:cs typeface="+mn-cs"/>
                  </a:rPr>
                  <a:t>nepoznatih (</a:t>
                </a:r>
                <a:r>
                  <a:rPr lang="sr-Latn-RS" sz="1200" i="0" kern="120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tačaka i </a:t>
                </a:r>
                <a:r>
                  <a:rPr lang="sr-Latn-RS" sz="1200" i="0" kern="1200">
                    <a:solidFill>
                      <a:schemeClr val="tx1"/>
                    </a:solidFill>
                    <a:effectLst/>
                    <a:latin typeface="+mn-lt"/>
                    <a:ea typeface="+mn-ea"/>
                    <a:cs typeface="+mn-cs"/>
                  </a:rPr>
                  <a:t>𝑛</a:t>
                </a:r>
                <a:r>
                  <a:rPr lang="sr-Latn-RS" sz="1200" kern="1200" dirty="0">
                    <a:solidFill>
                      <a:schemeClr val="tx1"/>
                    </a:solidFill>
                    <a:effectLst/>
                    <a:latin typeface="+mn-lt"/>
                    <a:ea typeface="+mn-ea"/>
                    <a:cs typeface="+mn-cs"/>
                  </a:rPr>
                  <a:t> koeficijenata), odnosno sistem koji odgovara onom iz </a:t>
                </a:r>
                <a:r>
                  <a:rPr lang="sr-Latn-CS" sz="1200" kern="1200" dirty="0">
                    <a:solidFill>
                      <a:schemeClr val="tx1"/>
                    </a:solidFill>
                    <a:effectLst/>
                    <a:latin typeface="+mn-lt"/>
                    <a:ea typeface="+mn-ea"/>
                    <a:cs typeface="+mn-cs"/>
                  </a:rPr>
                  <a:t>(118)</a:t>
                </a:r>
                <a:r>
                  <a:rPr lang="sr-Latn-RS" sz="1200" kern="1200" dirty="0">
                    <a:solidFill>
                      <a:schemeClr val="tx1"/>
                    </a:solidFill>
                    <a:effectLst/>
                    <a:latin typeface="+mn-lt"/>
                    <a:ea typeface="+mn-ea"/>
                    <a:cs typeface="+mn-cs"/>
                  </a:rPr>
                  <a:t> imaće isti broj jednačina kao i nepoznatih</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70</a:t>
            </a:fld>
            <a:endParaRPr lang="en-US"/>
          </a:p>
        </p:txBody>
      </p:sp>
    </p:spTree>
    <p:extLst>
      <p:ext uri="{BB962C8B-B14F-4D97-AF65-F5344CB8AC3E}">
        <p14:creationId xmlns:p14="http://schemas.microsoft.com/office/powerpoint/2010/main" val="2839987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a:solidFill>
                      <a:schemeClr val="tx1"/>
                    </a:solidFill>
                    <a:effectLst/>
                    <a:latin typeface="+mn-lt"/>
                    <a:ea typeface="+mn-ea"/>
                    <a:cs typeface="+mn-cs"/>
                  </a:rPr>
                  <a:t>Radi jednostavnosti primene u praksi, vrednosti za tačke i koeficijente su izračunate unapred i dostupne za interval </a:t>
                </a:r>
                <a:r>
                  <a:rPr lang="en-US" sz="1200" kern="1200" dirty="0">
                    <a:solidFill>
                      <a:schemeClr val="tx1"/>
                    </a:solidFill>
                    <a:effectLst/>
                    <a:latin typeface="+mn-lt"/>
                    <a:ea typeface="+mn-ea"/>
                    <a:cs typeface="+mn-cs"/>
                  </a:rPr>
                  <a:t>[−1,1], </a:t>
                </a:r>
                <a:r>
                  <a:rPr lang="en-US" sz="1200" kern="1200" dirty="0" err="1">
                    <a:solidFill>
                      <a:schemeClr val="tx1"/>
                    </a:solidFill>
                    <a:effectLst/>
                    <a:latin typeface="+mn-lt"/>
                    <a:ea typeface="+mn-ea"/>
                    <a:cs typeface="+mn-cs"/>
                  </a:rPr>
                  <a:t>kao</a:t>
                </a:r>
                <a:r>
                  <a:rPr lang="en-US" sz="1200" kern="1200" dirty="0">
                    <a:solidFill>
                      <a:schemeClr val="tx1"/>
                    </a:solidFill>
                    <a:effectLst/>
                    <a:latin typeface="+mn-lt"/>
                    <a:ea typeface="+mn-ea"/>
                    <a:cs typeface="+mn-cs"/>
                  </a:rPr>
                  <a:t> u </a:t>
                </a:r>
                <a:r>
                  <a:rPr lang="en-US" sz="1200" kern="1200" dirty="0" err="1">
                    <a:solidFill>
                      <a:schemeClr val="tx1"/>
                    </a:solidFill>
                    <a:effectLst/>
                    <a:latin typeface="+mn-lt"/>
                    <a:ea typeface="+mn-ea"/>
                    <a:cs typeface="+mn-cs"/>
                  </a:rPr>
                  <a:t>tabeli</a:t>
                </a:r>
                <a:r>
                  <a:rPr lang="en-US" sz="1200" kern="1200" dirty="0">
                    <a:solidFill>
                      <a:schemeClr val="tx1"/>
                    </a:solidFill>
                    <a:effectLst/>
                    <a:latin typeface="+mn-lt"/>
                    <a:ea typeface="+mn-ea"/>
                    <a:cs typeface="+mn-cs"/>
                  </a:rPr>
                  <a:t>. </a:t>
                </a:r>
                <a:endParaRPr lang="sr-Latn-RS" sz="1200" kern="1200" dirty="0">
                  <a:solidFill>
                    <a:schemeClr val="tx1"/>
                  </a:solidFill>
                  <a:effectLst/>
                  <a:latin typeface="+mn-lt"/>
                  <a:ea typeface="+mn-ea"/>
                  <a:cs typeface="+mn-cs"/>
                </a:endParaRPr>
              </a:p>
              <a:p>
                <a:pPr marL="171450" indent="-171450">
                  <a:buFont typeface="Arial" pitchFamily="34" charset="0"/>
                  <a:buChar char="•"/>
                </a:pPr>
                <a:r>
                  <a:rPr lang="en-US" sz="1200" kern="1200" dirty="0">
                    <a:solidFill>
                      <a:schemeClr val="tx1"/>
                    </a:solidFill>
                    <a:effectLst/>
                    <a:latin typeface="+mn-lt"/>
                    <a:ea typeface="+mn-ea"/>
                    <a:cs typeface="+mn-cs"/>
                  </a:rPr>
                  <a:t>To </a:t>
                </a:r>
                <a:r>
                  <a:rPr lang="en-US" sz="1200" kern="1200" dirty="0" err="1">
                    <a:solidFill>
                      <a:schemeClr val="tx1"/>
                    </a:solidFill>
                    <a:effectLst/>
                    <a:latin typeface="+mn-lt"/>
                    <a:ea typeface="+mn-ea"/>
                    <a:cs typeface="+mn-cs"/>
                  </a:rPr>
                  <a:t>znači</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želimo</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izračunamo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određeni</a:t>
                </a:r>
                <a:r>
                  <a:rPr lang="en-US" sz="1200" kern="1200" dirty="0">
                    <a:solidFill>
                      <a:schemeClr val="tx1"/>
                    </a:solidFill>
                    <a:effectLst/>
                    <a:latin typeface="+mn-lt"/>
                    <a:ea typeface="+mn-ea"/>
                    <a:cs typeface="+mn-cs"/>
                  </a:rPr>
                  <a:t> integral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proizvoljnom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intervalu</a:t>
                </a:r>
                <a:r>
                  <a:rPr lang="en-US" sz="1200" kern="1200" dirty="0">
                    <a:solidFill>
                      <a:schemeClr val="tx1"/>
                    </a:solidFill>
                    <a:effectLst/>
                    <a:latin typeface="+mn-lt"/>
                    <a:ea typeface="+mn-ea"/>
                    <a:cs typeface="+mn-cs"/>
                  </a:rPr>
                  <a:t> </a:t>
                </a:r>
                <a14:m>
                  <m:oMath xmlns:m="http://schemas.openxmlformats.org/officeDocument/2006/math">
                    <m:r>
                      <a:rPr lang="en-US" sz="1200" i="1" kern="1200">
                        <a:solidFill>
                          <a:schemeClr val="tx1"/>
                        </a:solidFill>
                        <a:effectLst/>
                        <a:latin typeface="Cambria Math"/>
                        <a:ea typeface="+mn-ea"/>
                        <a:cs typeface="+mn-cs"/>
                      </a:rPr>
                      <m:t>[</m:t>
                    </m:r>
                    <m:r>
                      <a:rPr lang="en-US" sz="1200" i="1" kern="1200">
                        <a:solidFill>
                          <a:schemeClr val="tx1"/>
                        </a:solidFill>
                        <a:effectLst/>
                        <a:latin typeface="Cambria Math"/>
                        <a:ea typeface="+mn-ea"/>
                        <a:cs typeface="+mn-cs"/>
                      </a:rPr>
                      <m:t>𝑎</m:t>
                    </m:r>
                    <m:r>
                      <a:rPr lang="en-US" sz="1200" i="1" kern="1200">
                        <a:solidFill>
                          <a:schemeClr val="tx1"/>
                        </a:solidFill>
                        <a:effectLst/>
                        <a:latin typeface="Cambria Math"/>
                        <a:ea typeface="+mn-ea"/>
                        <a:cs typeface="+mn-cs"/>
                      </a:rPr>
                      <m:t>, </m:t>
                    </m:r>
                    <m:r>
                      <a:rPr lang="en-US" sz="1200" i="1" kern="1200">
                        <a:solidFill>
                          <a:schemeClr val="tx1"/>
                        </a:solidFill>
                        <a:effectLst/>
                        <a:latin typeface="Cambria Math"/>
                        <a:ea typeface="+mn-ea"/>
                        <a:cs typeface="+mn-cs"/>
                      </a:rPr>
                      <m:t>𝑏</m:t>
                    </m:r>
                    <m:r>
                      <a:rPr lang="en-US" sz="1200" i="1" kern="1200">
                        <a:solidFill>
                          <a:schemeClr val="tx1"/>
                        </a:solidFill>
                        <a:effectLst/>
                        <a:latin typeface="Cambria Math"/>
                        <a:ea typeface="+mn-ea"/>
                        <a:cs typeface="+mn-cs"/>
                      </a:rPr>
                      <m:t>]</m:t>
                    </m:r>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potrebno</a:t>
                </a:r>
                <a:r>
                  <a:rPr lang="en-US" sz="1200" kern="1200" dirty="0">
                    <a:solidFill>
                      <a:schemeClr val="tx1"/>
                    </a:solidFill>
                    <a:effectLst/>
                    <a:latin typeface="+mn-lt"/>
                    <a:ea typeface="+mn-ea"/>
                    <a:cs typeface="+mn-cs"/>
                  </a:rPr>
                  <a:t> je </a:t>
                </a:r>
                <a:r>
                  <a:rPr lang="en-US" sz="1200" kern="1200" dirty="0" err="1">
                    <a:solidFill>
                      <a:schemeClr val="tx1"/>
                    </a:solidFill>
                    <a:effectLst/>
                    <a:latin typeface="+mn-lt"/>
                    <a:ea typeface="+mn-ea"/>
                    <a:cs typeface="+mn-cs"/>
                  </a:rPr>
                  <a:t>samo</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uvedemo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smenu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koja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će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taj</a:t>
                </a:r>
                <a:r>
                  <a:rPr lang="en-US" sz="1200" kern="1200" dirty="0">
                    <a:solidFill>
                      <a:schemeClr val="tx1"/>
                    </a:solidFill>
                    <a:effectLst/>
                    <a:latin typeface="+mn-lt"/>
                    <a:ea typeface="+mn-ea"/>
                    <a:cs typeface="+mn-cs"/>
                  </a:rPr>
                  <a:t> interval </a:t>
                </a:r>
                <a:r>
                  <a:rPr lang="en-US" sz="1200" kern="1200" dirty="0" err="1">
                    <a:solidFill>
                      <a:schemeClr val="tx1"/>
                    </a:solidFill>
                    <a:effectLst/>
                    <a:latin typeface="+mn-lt"/>
                    <a:ea typeface="+mn-ea"/>
                    <a:cs typeface="+mn-cs"/>
                  </a:rPr>
                  <a:t>preslikati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interval </a:t>
                </a:r>
                <a14:m>
                  <m:oMath xmlns:m="http://schemas.openxmlformats.org/officeDocument/2006/math">
                    <m:d>
                      <m:dPr>
                        <m:begChr m:val="["/>
                        <m:endChr m:val="]"/>
                        <m:ctrlPr>
                          <a:rPr lang="en-US" sz="1200" i="1" kern="1200">
                            <a:solidFill>
                              <a:schemeClr val="tx1"/>
                            </a:solidFill>
                            <a:effectLst/>
                            <a:latin typeface="Cambria Math" panose="02040503050406030204" pitchFamily="18" charset="0"/>
                            <a:ea typeface="+mn-ea"/>
                            <a:cs typeface="+mn-cs"/>
                          </a:rPr>
                        </m:ctrlPr>
                      </m:dPr>
                      <m:e>
                        <m:r>
                          <a:rPr lang="en-US" sz="1200" i="1" kern="1200">
                            <a:solidFill>
                              <a:schemeClr val="tx1"/>
                            </a:solidFill>
                            <a:effectLst/>
                            <a:latin typeface="Cambria Math"/>
                            <a:ea typeface="+mn-ea"/>
                            <a:cs typeface="+mn-cs"/>
                          </a:rPr>
                          <m:t>−1, 1</m:t>
                        </m:r>
                      </m:e>
                    </m:d>
                  </m:oMath>
                </a14:m>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onda</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iskoristimo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odgovarajuće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tačke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koeficijente</a:t>
                </a:r>
                <a:endParaRPr lang="en-US" dirty="0"/>
              </a:p>
            </p:txBody>
          </p:sp>
        </mc:Choice>
        <mc:Fallback xmlns="">
          <p:sp>
            <p:nvSpPr>
              <p:cNvPr id="3" name="Notes Placeholder 2"/>
              <p:cNvSpPr>
                <a:spLocks noGrp="1"/>
              </p:cNvSpPr>
              <p:nvPr>
                <p:ph type="body" idx="1"/>
              </p:nvPr>
            </p:nvSpPr>
            <p:spPr/>
            <p:txBody>
              <a:bodyPr/>
              <a:lstStyle/>
              <a:p>
                <a:pPr marL="171450" indent="-171450">
                  <a:buFont typeface="Arial" pitchFamily="34" charset="0"/>
                  <a:buChar char="•"/>
                </a:pPr>
                <a:r>
                  <a:rPr lang="sr-Latn-RS" sz="1200" kern="1200" dirty="0" smtClean="0">
                    <a:solidFill>
                      <a:schemeClr val="tx1"/>
                    </a:solidFill>
                    <a:effectLst/>
                    <a:latin typeface="+mn-lt"/>
                    <a:ea typeface="+mn-ea"/>
                    <a:cs typeface="+mn-cs"/>
                  </a:rPr>
                  <a:t>Radi jednostavnosti primene u praksi, vrednosti za tačke i koeficijente su izračunate unapred i dostupne za interval </a:t>
                </a:r>
                <a:r>
                  <a:rPr lang="en-US" sz="1200" kern="1200" dirty="0">
                    <a:solidFill>
                      <a:schemeClr val="tx1"/>
                    </a:solidFill>
                    <a:effectLst/>
                    <a:latin typeface="+mn-lt"/>
                    <a:ea typeface="+mn-ea"/>
                    <a:cs typeface="+mn-cs"/>
                  </a:rPr>
                  <a:t>[−1,1], </a:t>
                </a:r>
                <a:r>
                  <a:rPr lang="en-US" sz="1200" kern="1200" dirty="0" err="1">
                    <a:solidFill>
                      <a:schemeClr val="tx1"/>
                    </a:solidFill>
                    <a:effectLst/>
                    <a:latin typeface="+mn-lt"/>
                    <a:ea typeface="+mn-ea"/>
                    <a:cs typeface="+mn-cs"/>
                  </a:rPr>
                  <a:t>kao</a:t>
                </a:r>
                <a:r>
                  <a:rPr lang="en-US" sz="1200" kern="1200" dirty="0">
                    <a:solidFill>
                      <a:schemeClr val="tx1"/>
                    </a:solidFill>
                    <a:effectLst/>
                    <a:latin typeface="+mn-lt"/>
                    <a:ea typeface="+mn-ea"/>
                    <a:cs typeface="+mn-cs"/>
                  </a:rPr>
                  <a:t> u </a:t>
                </a:r>
                <a:r>
                  <a:rPr lang="en-US" sz="1200" kern="1200" dirty="0" err="1" smtClean="0">
                    <a:solidFill>
                      <a:schemeClr val="tx1"/>
                    </a:solidFill>
                    <a:effectLst/>
                    <a:latin typeface="+mn-lt"/>
                    <a:ea typeface="+mn-ea"/>
                    <a:cs typeface="+mn-cs"/>
                  </a:rPr>
                  <a:t>tabeli</a:t>
                </a:r>
                <a:r>
                  <a:rPr lang="en-US" sz="1200" kern="1200" dirty="0" smtClean="0">
                    <a:solidFill>
                      <a:schemeClr val="tx1"/>
                    </a:solidFill>
                    <a:effectLst/>
                    <a:latin typeface="+mn-lt"/>
                    <a:ea typeface="+mn-ea"/>
                    <a:cs typeface="+mn-cs"/>
                  </a:rPr>
                  <a:t>. </a:t>
                </a:r>
                <a:endParaRPr lang="sr-Latn-RS" sz="1200" kern="1200" dirty="0" smtClean="0">
                  <a:solidFill>
                    <a:schemeClr val="tx1"/>
                  </a:solidFill>
                  <a:effectLst/>
                  <a:latin typeface="+mn-lt"/>
                  <a:ea typeface="+mn-ea"/>
                  <a:cs typeface="+mn-cs"/>
                </a:endParaRPr>
              </a:p>
              <a:p>
                <a:pPr marL="171450" indent="-171450">
                  <a:buFont typeface="Arial" pitchFamily="34" charset="0"/>
                  <a:buChar char="•"/>
                </a:pPr>
                <a:r>
                  <a:rPr lang="en-US" sz="1200" kern="1200" dirty="0" smtClean="0">
                    <a:solidFill>
                      <a:schemeClr val="tx1"/>
                    </a:solidFill>
                    <a:effectLst/>
                    <a:latin typeface="+mn-lt"/>
                    <a:ea typeface="+mn-ea"/>
                    <a:cs typeface="+mn-cs"/>
                  </a:rPr>
                  <a:t>To </a:t>
                </a:r>
                <a:r>
                  <a:rPr lang="en-US" sz="1200" kern="1200" dirty="0" err="1">
                    <a:solidFill>
                      <a:schemeClr val="tx1"/>
                    </a:solidFill>
                    <a:effectLst/>
                    <a:latin typeface="+mn-lt"/>
                    <a:ea typeface="+mn-ea"/>
                    <a:cs typeface="+mn-cs"/>
                  </a:rPr>
                  <a:t>znači</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ako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želimo</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izračunamo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određeni</a:t>
                </a:r>
                <a:r>
                  <a:rPr lang="en-US" sz="1200" kern="1200" dirty="0">
                    <a:solidFill>
                      <a:schemeClr val="tx1"/>
                    </a:solidFill>
                    <a:effectLst/>
                    <a:latin typeface="+mn-lt"/>
                    <a:ea typeface="+mn-ea"/>
                    <a:cs typeface="+mn-cs"/>
                  </a:rPr>
                  <a:t> integral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proizvoljnom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intervalu</a:t>
                </a:r>
                <a:r>
                  <a:rPr lang="en-US" sz="1200" kern="1200" dirty="0">
                    <a:solidFill>
                      <a:schemeClr val="tx1"/>
                    </a:solidFill>
                    <a:effectLst/>
                    <a:latin typeface="+mn-lt"/>
                    <a:ea typeface="+mn-ea"/>
                    <a:cs typeface="+mn-cs"/>
                  </a:rPr>
                  <a:t> </a:t>
                </a:r>
                <a:r>
                  <a:rPr lang="en-US" sz="1200" i="0" kern="1200">
                    <a:solidFill>
                      <a:schemeClr val="tx1"/>
                    </a:solidFill>
                    <a:effectLst/>
                    <a:latin typeface="+mn-lt"/>
                    <a:ea typeface="+mn-ea"/>
                    <a:cs typeface="+mn-cs"/>
                  </a:rPr>
                  <a:t>[𝑎, 𝑏]</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potrebno</a:t>
                </a:r>
                <a:r>
                  <a:rPr lang="en-US" sz="1200" kern="1200" dirty="0">
                    <a:solidFill>
                      <a:schemeClr val="tx1"/>
                    </a:solidFill>
                    <a:effectLst/>
                    <a:latin typeface="+mn-lt"/>
                    <a:ea typeface="+mn-ea"/>
                    <a:cs typeface="+mn-cs"/>
                  </a:rPr>
                  <a:t> je </a:t>
                </a:r>
                <a:r>
                  <a:rPr lang="en-US" sz="1200" kern="1200" dirty="0" err="1">
                    <a:solidFill>
                      <a:schemeClr val="tx1"/>
                    </a:solidFill>
                    <a:effectLst/>
                    <a:latin typeface="+mn-lt"/>
                    <a:ea typeface="+mn-ea"/>
                    <a:cs typeface="+mn-cs"/>
                  </a:rPr>
                  <a:t>samo</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uvedemo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smenu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koja</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će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taj</a:t>
                </a:r>
                <a:r>
                  <a:rPr lang="en-US" sz="1200" kern="1200" dirty="0">
                    <a:solidFill>
                      <a:schemeClr val="tx1"/>
                    </a:solidFill>
                    <a:effectLst/>
                    <a:latin typeface="+mn-lt"/>
                    <a:ea typeface="+mn-ea"/>
                    <a:cs typeface="+mn-cs"/>
                  </a:rPr>
                  <a:t> interval </a:t>
                </a:r>
                <a:r>
                  <a:rPr lang="en-US" sz="1200" kern="1200" dirty="0" err="1">
                    <a:solidFill>
                      <a:schemeClr val="tx1"/>
                    </a:solidFill>
                    <a:effectLst/>
                    <a:latin typeface="+mn-lt"/>
                    <a:ea typeface="+mn-ea"/>
                    <a:cs typeface="+mn-cs"/>
                  </a:rPr>
                  <a:t>preslikati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na</a:t>
                </a:r>
                <a:r>
                  <a:rPr lang="en-US" sz="1200" kern="1200" dirty="0">
                    <a:solidFill>
                      <a:schemeClr val="tx1"/>
                    </a:solidFill>
                    <a:effectLst/>
                    <a:latin typeface="+mn-lt"/>
                    <a:ea typeface="+mn-ea"/>
                    <a:cs typeface="+mn-cs"/>
                  </a:rPr>
                  <a:t> interval </a:t>
                </a:r>
                <a:r>
                  <a:rPr lang="en-US" sz="1200" i="0" kern="1200">
                    <a:solidFill>
                      <a:schemeClr val="tx1"/>
                    </a:solidFill>
                    <a:effectLst/>
                    <a:latin typeface="+mn-lt"/>
                    <a:ea typeface="+mn-ea"/>
                    <a:cs typeface="+mn-cs"/>
                  </a:rPr>
                  <a:t>[−1, 1]</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onda</a:t>
                </a:r>
                <a:r>
                  <a:rPr lang="en-US" sz="1200" kern="1200" dirty="0">
                    <a:solidFill>
                      <a:schemeClr val="tx1"/>
                    </a:solidFill>
                    <a:effectLst/>
                    <a:latin typeface="+mn-lt"/>
                    <a:ea typeface="+mn-ea"/>
                    <a:cs typeface="+mn-cs"/>
                  </a:rPr>
                  <a:t> da </a:t>
                </a:r>
                <a:r>
                  <a:rPr lang="en-US" sz="1200" kern="1200" dirty="0" err="1">
                    <a:solidFill>
                      <a:schemeClr val="tx1"/>
                    </a:solidFill>
                    <a:effectLst/>
                    <a:latin typeface="+mn-lt"/>
                    <a:ea typeface="+mn-ea"/>
                    <a:cs typeface="+mn-cs"/>
                  </a:rPr>
                  <a:t>iskoristimo</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odgovarajuće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tačke</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koeficijente</a:t>
                </a:r>
                <a:endParaRPr lang="en-US" dirty="0"/>
              </a:p>
            </p:txBody>
          </p:sp>
        </mc:Fallback>
      </mc:AlternateContent>
      <p:sp>
        <p:nvSpPr>
          <p:cNvPr id="4" name="Slide Number Placeholder 3"/>
          <p:cNvSpPr>
            <a:spLocks noGrp="1"/>
          </p:cNvSpPr>
          <p:nvPr>
            <p:ph type="sldNum" sz="quarter" idx="10"/>
          </p:nvPr>
        </p:nvSpPr>
        <p:spPr/>
        <p:txBody>
          <a:bodyPr/>
          <a:lstStyle/>
          <a:p>
            <a:fld id="{56B516A6-0BDA-4157-97F6-555E31D93247}" type="slidenum">
              <a:rPr lang="en-US" smtClean="0"/>
              <a:t>71</a:t>
            </a:fld>
            <a:endParaRPr lang="en-US"/>
          </a:p>
        </p:txBody>
      </p:sp>
    </p:spTree>
    <p:extLst>
      <p:ext uri="{BB962C8B-B14F-4D97-AF65-F5344CB8AC3E}">
        <p14:creationId xmlns:p14="http://schemas.microsoft.com/office/powerpoint/2010/main" val="2457624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8" name="Straight Connector 7"/>
          <p:cNvCxnSpPr/>
          <p:nvPr/>
        </p:nvCxnSpPr>
        <p:spPr>
          <a:xfrm>
            <a:off x="685800" y="3398520"/>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0"/>
            <a:ext cx="77724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722313" y="4626864"/>
            <a:ext cx="77724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cxnSp>
        <p:nvCxnSpPr>
          <p:cNvPr id="11" name="Straight Connector 10"/>
          <p:cNvCxnSpPr/>
          <p:nvPr/>
        </p:nvCxnSpPr>
        <p:spPr>
          <a:xfrm rot="5400000">
            <a:off x="2217817" y="4045823"/>
            <a:ext cx="470916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cxnSp>
        <p:nvCxnSpPr>
          <p:cNvPr id="9" name="Straight Connector 8"/>
          <p:cNvCxnSpPr/>
          <p:nvPr/>
        </p:nvCxnSpPr>
        <p:spPr>
          <a:xfrm rot="5400000">
            <a:off x="-13116" y="3580206"/>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12/25/2023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defRPr>
            </a:lvl1pPr>
          </a:lstStyle>
          <a:p>
            <a:fld id="{1D8BD707-D9CF-40AE-B4C6-C98DA3205C09}" type="datetimeFigureOut">
              <a:rPr lang="en-US" smtClean="0"/>
              <a:pPr/>
              <a:t>12/25/2023</a:t>
            </a:fld>
            <a:endParaRPr lang="en-US"/>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defRPr>
            </a:lvl1pPr>
          </a:lstStyle>
          <a:p>
            <a:endParaRPr lang="en-US"/>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4.bin"/><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wmf"/><Relationship Id="rId5" Type="http://schemas.openxmlformats.org/officeDocument/2006/relationships/oleObject" Target="../embeddings/oleObject6.bin"/><Relationship Id="rId4"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10.bin"/><Relationship Id="rId4" Type="http://schemas.openxmlformats.org/officeDocument/2006/relationships/image" Target="../media/image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13.bin"/><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5.wmf"/></Relationships>
</file>

<file path=ppt/slides/_rels/slide13.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wmf"/><Relationship Id="rId5" Type="http://schemas.openxmlformats.org/officeDocument/2006/relationships/oleObject" Target="../embeddings/oleObject17.bin"/><Relationship Id="rId10" Type="http://schemas.openxmlformats.org/officeDocument/2006/relationships/image" Target="../media/image19.wmf"/><Relationship Id="rId4" Type="http://schemas.openxmlformats.org/officeDocument/2006/relationships/image" Target="../media/image16.wmf"/><Relationship Id="rId9" Type="http://schemas.openxmlformats.org/officeDocument/2006/relationships/oleObject" Target="../embeddings/oleObject19.bin"/></Relationships>
</file>

<file path=ppt/slides/_rels/slide14.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image" Target="../media/image26.png"/><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1.wmf"/><Relationship Id="rId11" Type="http://schemas.openxmlformats.org/officeDocument/2006/relationships/image" Target="../media/image24.png"/><Relationship Id="rId5" Type="http://schemas.openxmlformats.org/officeDocument/2006/relationships/oleObject" Target="../embeddings/oleObject21.bin"/><Relationship Id="rId10" Type="http://schemas.openxmlformats.org/officeDocument/2006/relationships/image" Target="../media/image23.wmf"/><Relationship Id="rId4" Type="http://schemas.openxmlformats.org/officeDocument/2006/relationships/image" Target="../media/image20.wmf"/><Relationship Id="rId9" Type="http://schemas.openxmlformats.org/officeDocument/2006/relationships/oleObject" Target="../embeddings/oleObject2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7.tif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8.tiff"/></Relationships>
</file>

<file path=ppt/slides/_rels/slide17.xml.rels><?xml version="1.0" encoding="UTF-8" standalone="yes"?>
<Relationships xmlns="http://schemas.openxmlformats.org/package/2006/relationships"><Relationship Id="rId3" Type="http://schemas.openxmlformats.org/officeDocument/2006/relationships/image" Target="../media/image29.wmf"/><Relationship Id="rId7" Type="http://schemas.openxmlformats.org/officeDocument/2006/relationships/image" Target="../media/image31.wmf"/><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image" Target="../media/image30.wmf"/><Relationship Id="rId4" Type="http://schemas.openxmlformats.org/officeDocument/2006/relationships/oleObject" Target="../embeddings/oleObject25.bin"/></Relationships>
</file>

<file path=ppt/slides/_rels/slide18.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36.wmf"/><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3.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30.bin"/></Relationships>
</file>

<file path=ppt/slides/_rels/slide1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41.wmf"/><Relationship Id="rId5" Type="http://schemas.openxmlformats.org/officeDocument/2006/relationships/oleObject" Target="../embeddings/oleObject32.bin"/><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oleObject" Target="../embeddings/oleObject33.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8" Type="http://schemas.openxmlformats.org/officeDocument/2006/relationships/image" Target="../media/image46.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45.wmf"/><Relationship Id="rId5" Type="http://schemas.openxmlformats.org/officeDocument/2006/relationships/oleObject" Target="../embeddings/oleObject35.bin"/><Relationship Id="rId4" Type="http://schemas.openxmlformats.org/officeDocument/2006/relationships/image" Target="../media/image44.wmf"/></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5" Type="http://schemas.openxmlformats.org/officeDocument/2006/relationships/image" Target="../media/image48.wmf"/><Relationship Id="rId4" Type="http://schemas.openxmlformats.org/officeDocument/2006/relationships/oleObject" Target="../embeddings/oleObject38.bin"/><Relationship Id="rId9" Type="http://schemas.openxmlformats.org/officeDocument/2006/relationships/image" Target="../media/image50.wmf"/></Relationships>
</file>

<file path=ppt/slides/_rels/slide3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54.wmf"/></Relationships>
</file>

<file path=ppt/slides/_rels/slide38.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oleObject" Target="../embeddings/oleObject42.bin"/><Relationship Id="rId1" Type="http://schemas.openxmlformats.org/officeDocument/2006/relationships/slideLayout" Target="../slideLayouts/slideLayout2.xml"/><Relationship Id="rId5" Type="http://schemas.openxmlformats.org/officeDocument/2006/relationships/image" Target="../media/image56.wmf"/><Relationship Id="rId4" Type="http://schemas.openxmlformats.org/officeDocument/2006/relationships/oleObject" Target="../embeddings/oleObject43.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7.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48.bin"/><Relationship Id="rId3" Type="http://schemas.openxmlformats.org/officeDocument/2006/relationships/image" Target="../media/image21.wmf"/><Relationship Id="rId7" Type="http://schemas.openxmlformats.org/officeDocument/2006/relationships/image" Target="../media/image59.wmf"/><Relationship Id="rId2" Type="http://schemas.openxmlformats.org/officeDocument/2006/relationships/oleObject" Target="../embeddings/oleObject45.bin"/><Relationship Id="rId1" Type="http://schemas.openxmlformats.org/officeDocument/2006/relationships/slideLayout" Target="../slideLayouts/slideLayout2.xml"/><Relationship Id="rId6" Type="http://schemas.openxmlformats.org/officeDocument/2006/relationships/oleObject" Target="../embeddings/oleObject47.bin"/><Relationship Id="rId5" Type="http://schemas.openxmlformats.org/officeDocument/2006/relationships/image" Target="../media/image58.wmf"/><Relationship Id="rId4" Type="http://schemas.openxmlformats.org/officeDocument/2006/relationships/oleObject" Target="../embeddings/oleObject46.bin"/><Relationship Id="rId9" Type="http://schemas.openxmlformats.org/officeDocument/2006/relationships/image" Target="../media/image50.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60.wm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wmf"/><Relationship Id="rId7" Type="http://schemas.openxmlformats.org/officeDocument/2006/relationships/image" Target="../media/image63.wmf"/><Relationship Id="rId2"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52.bin"/><Relationship Id="rId5" Type="http://schemas.openxmlformats.org/officeDocument/2006/relationships/image" Target="../media/image62.wmf"/><Relationship Id="rId4" Type="http://schemas.openxmlformats.org/officeDocument/2006/relationships/oleObject" Target="../embeddings/oleObject51.bin"/></Relationships>
</file>

<file path=ppt/slides/_rels/slide49.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oleObject" Target="../embeddings/oleObject53.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67.wmf"/><Relationship Id="rId5" Type="http://schemas.openxmlformats.org/officeDocument/2006/relationships/oleObject" Target="../embeddings/oleObject55.bin"/><Relationship Id="rId4" Type="http://schemas.openxmlformats.org/officeDocument/2006/relationships/image" Target="../media/image66.wmf"/></Relationships>
</file>

<file path=ppt/slides/_rels/slide54.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oleObject" Target="../embeddings/oleObject56.bin"/><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oleObject" Target="../embeddings/oleObject57.bin"/><Relationship Id="rId1" Type="http://schemas.openxmlformats.org/officeDocument/2006/relationships/slideLayout" Target="../slideLayouts/slideLayout2.xml"/><Relationship Id="rId5" Type="http://schemas.openxmlformats.org/officeDocument/2006/relationships/image" Target="../media/image69.wmf"/><Relationship Id="rId4" Type="http://schemas.openxmlformats.org/officeDocument/2006/relationships/oleObject" Target="../embeddings/oleObject58.bin"/></Relationships>
</file>

<file path=ppt/slides/_rels/slide57.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oleObject" Target="../embeddings/oleObject59.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71.wmf"/><Relationship Id="rId5" Type="http://schemas.openxmlformats.org/officeDocument/2006/relationships/oleObject" Target="../embeddings/oleObject60.bin"/><Relationship Id="rId4" Type="http://schemas.openxmlformats.org/officeDocument/2006/relationships/image" Target="../media/image70.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80.png"/><Relationship Id="rId4" Type="http://schemas.openxmlformats.org/officeDocument/2006/relationships/image" Target="../media/image71.wmf"/></Relationships>
</file>

<file path=ppt/slides/_rels/slide59.x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oleObject" Target="../embeddings/oleObject61.bin"/><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60.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62.bin"/><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3.bin"/><Relationship Id="rId7"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76.wmf"/><Relationship Id="rId5" Type="http://schemas.openxmlformats.org/officeDocument/2006/relationships/oleObject" Target="../embeddings/oleObject64.bin"/><Relationship Id="rId4" Type="http://schemas.openxmlformats.org/officeDocument/2006/relationships/image" Target="../media/image75.wmf"/></Relationships>
</file>

<file path=ppt/slides/_rels/slide64.x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oleObject" Target="../embeddings/oleObject65.bin"/><Relationship Id="rId1" Type="http://schemas.openxmlformats.org/officeDocument/2006/relationships/slideLayout" Target="../slideLayouts/slideLayout2.xml"/><Relationship Id="rId5" Type="http://schemas.openxmlformats.org/officeDocument/2006/relationships/image" Target="../media/image78.wmf"/><Relationship Id="rId4" Type="http://schemas.openxmlformats.org/officeDocument/2006/relationships/oleObject" Target="../embeddings/oleObject66.bin"/></Relationships>
</file>

<file path=ppt/slides/_rels/slide65.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80.wmf"/><Relationship Id="rId5" Type="http://schemas.openxmlformats.org/officeDocument/2006/relationships/oleObject" Target="../embeddings/oleObject68.bin"/><Relationship Id="rId10" Type="http://schemas.openxmlformats.org/officeDocument/2006/relationships/image" Target="../media/image82.wmf"/><Relationship Id="rId4" Type="http://schemas.openxmlformats.org/officeDocument/2006/relationships/image" Target="../media/image79.wmf"/><Relationship Id="rId9" Type="http://schemas.openxmlformats.org/officeDocument/2006/relationships/oleObject" Target="../embeddings/oleObject70.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74.bin"/><Relationship Id="rId3" Type="http://schemas.openxmlformats.org/officeDocument/2006/relationships/image" Target="../media/image83.wmf"/><Relationship Id="rId7" Type="http://schemas.openxmlformats.org/officeDocument/2006/relationships/image" Target="../media/image85.wmf"/><Relationship Id="rId12" Type="http://schemas.openxmlformats.org/officeDocument/2006/relationships/image" Target="../media/image78.wmf"/><Relationship Id="rId2" Type="http://schemas.openxmlformats.org/officeDocument/2006/relationships/oleObject" Target="../embeddings/oleObject71.bin"/><Relationship Id="rId1" Type="http://schemas.openxmlformats.org/officeDocument/2006/relationships/slideLayout" Target="../slideLayouts/slideLayout2.xml"/><Relationship Id="rId6" Type="http://schemas.openxmlformats.org/officeDocument/2006/relationships/oleObject" Target="../embeddings/oleObject73.bin"/><Relationship Id="rId11" Type="http://schemas.openxmlformats.org/officeDocument/2006/relationships/oleObject" Target="../embeddings/oleObject76.bin"/><Relationship Id="rId5" Type="http://schemas.openxmlformats.org/officeDocument/2006/relationships/image" Target="../media/image84.wmf"/><Relationship Id="rId10" Type="http://schemas.openxmlformats.org/officeDocument/2006/relationships/image" Target="../media/image77.wmf"/><Relationship Id="rId4" Type="http://schemas.openxmlformats.org/officeDocument/2006/relationships/oleObject" Target="../embeddings/oleObject72.bin"/><Relationship Id="rId9" Type="http://schemas.openxmlformats.org/officeDocument/2006/relationships/oleObject" Target="../embeddings/oleObject75.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image" Target="../media/image86.wmf"/><Relationship Id="rId7" Type="http://schemas.openxmlformats.org/officeDocument/2006/relationships/image" Target="../media/image88.wmf"/><Relationship Id="rId2" Type="http://schemas.openxmlformats.org/officeDocument/2006/relationships/oleObject" Target="../embeddings/oleObject77.bin"/><Relationship Id="rId1" Type="http://schemas.openxmlformats.org/officeDocument/2006/relationships/slideLayout" Target="../slideLayouts/slideLayout2.xml"/><Relationship Id="rId6" Type="http://schemas.openxmlformats.org/officeDocument/2006/relationships/oleObject" Target="../embeddings/oleObject79.bin"/><Relationship Id="rId5" Type="http://schemas.openxmlformats.org/officeDocument/2006/relationships/image" Target="../media/image87.wmf"/><Relationship Id="rId4" Type="http://schemas.openxmlformats.org/officeDocument/2006/relationships/oleObject" Target="../embeddings/oleObject78.bin"/><Relationship Id="rId9" Type="http://schemas.openxmlformats.org/officeDocument/2006/relationships/image" Target="../media/image89.wmf"/></Relationships>
</file>

<file path=ppt/slides/_rels/slide68.xml.rels><?xml version="1.0" encoding="UTF-8" standalone="yes"?>
<Relationships xmlns="http://schemas.openxmlformats.org/package/2006/relationships"><Relationship Id="rId8" Type="http://schemas.openxmlformats.org/officeDocument/2006/relationships/image" Target="../media/image92.wmf"/><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94.wm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91.wmf"/><Relationship Id="rId11" Type="http://schemas.openxmlformats.org/officeDocument/2006/relationships/oleObject" Target="../embeddings/oleObject85.bin"/><Relationship Id="rId5" Type="http://schemas.openxmlformats.org/officeDocument/2006/relationships/oleObject" Target="../embeddings/oleObject82.bin"/><Relationship Id="rId10" Type="http://schemas.openxmlformats.org/officeDocument/2006/relationships/image" Target="../media/image93.wmf"/><Relationship Id="rId4" Type="http://schemas.openxmlformats.org/officeDocument/2006/relationships/image" Target="../media/image90.wmf"/><Relationship Id="rId9" Type="http://schemas.openxmlformats.org/officeDocument/2006/relationships/oleObject" Target="../embeddings/oleObject84.bin"/></Relationships>
</file>

<file path=ppt/slides/_rels/slide69.x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oleObject" Target="../embeddings/oleObject86.bin"/><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97.wmf"/><Relationship Id="rId7" Type="http://schemas.openxmlformats.org/officeDocument/2006/relationships/oleObject" Target="../embeddings/oleObject88.bin"/><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96.wmf"/><Relationship Id="rId5" Type="http://schemas.openxmlformats.org/officeDocument/2006/relationships/oleObject" Target="../embeddings/oleObject87.bin"/><Relationship Id="rId10" Type="http://schemas.openxmlformats.org/officeDocument/2006/relationships/image" Target="../media/image98.wmf"/><Relationship Id="rId4" Type="http://schemas.openxmlformats.org/officeDocument/2006/relationships/image" Target="../media/image102.png"/><Relationship Id="rId9" Type="http://schemas.openxmlformats.org/officeDocument/2006/relationships/oleObject" Target="../embeddings/oleObject89.bin"/></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99.wmf"/></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94.bin"/><Relationship Id="rId13" Type="http://schemas.openxmlformats.org/officeDocument/2006/relationships/image" Target="../media/image105.wmf"/><Relationship Id="rId18" Type="http://schemas.openxmlformats.org/officeDocument/2006/relationships/oleObject" Target="../embeddings/oleObject99.bin"/><Relationship Id="rId3" Type="http://schemas.openxmlformats.org/officeDocument/2006/relationships/image" Target="../media/image100.wmf"/><Relationship Id="rId21" Type="http://schemas.openxmlformats.org/officeDocument/2006/relationships/image" Target="../media/image109.wmf"/><Relationship Id="rId7" Type="http://schemas.openxmlformats.org/officeDocument/2006/relationships/image" Target="../media/image102.wmf"/><Relationship Id="rId12" Type="http://schemas.openxmlformats.org/officeDocument/2006/relationships/oleObject" Target="../embeddings/oleObject96.bin"/><Relationship Id="rId17" Type="http://schemas.openxmlformats.org/officeDocument/2006/relationships/image" Target="../media/image107.wmf"/><Relationship Id="rId2" Type="http://schemas.openxmlformats.org/officeDocument/2006/relationships/oleObject" Target="../embeddings/oleObject91.bin"/><Relationship Id="rId16" Type="http://schemas.openxmlformats.org/officeDocument/2006/relationships/oleObject" Target="../embeddings/oleObject98.bin"/><Relationship Id="rId20" Type="http://schemas.openxmlformats.org/officeDocument/2006/relationships/oleObject" Target="../embeddings/oleObject100.bin"/><Relationship Id="rId1" Type="http://schemas.openxmlformats.org/officeDocument/2006/relationships/slideLayout" Target="../slideLayouts/slideLayout2.xml"/><Relationship Id="rId6" Type="http://schemas.openxmlformats.org/officeDocument/2006/relationships/oleObject" Target="../embeddings/oleObject93.bin"/><Relationship Id="rId11" Type="http://schemas.openxmlformats.org/officeDocument/2006/relationships/image" Target="../media/image104.wmf"/><Relationship Id="rId5" Type="http://schemas.openxmlformats.org/officeDocument/2006/relationships/image" Target="../media/image101.wmf"/><Relationship Id="rId15" Type="http://schemas.openxmlformats.org/officeDocument/2006/relationships/image" Target="../media/image106.wmf"/><Relationship Id="rId23" Type="http://schemas.openxmlformats.org/officeDocument/2006/relationships/image" Target="../media/image110.wmf"/><Relationship Id="rId10" Type="http://schemas.openxmlformats.org/officeDocument/2006/relationships/oleObject" Target="../embeddings/oleObject95.bin"/><Relationship Id="rId19" Type="http://schemas.openxmlformats.org/officeDocument/2006/relationships/image" Target="../media/image108.wmf"/><Relationship Id="rId4" Type="http://schemas.openxmlformats.org/officeDocument/2006/relationships/oleObject" Target="../embeddings/oleObject92.bin"/><Relationship Id="rId9" Type="http://schemas.openxmlformats.org/officeDocument/2006/relationships/image" Target="../media/image103.wmf"/><Relationship Id="rId14" Type="http://schemas.openxmlformats.org/officeDocument/2006/relationships/oleObject" Target="../embeddings/oleObject97.bin"/><Relationship Id="rId22" Type="http://schemas.openxmlformats.org/officeDocument/2006/relationships/oleObject" Target="../embeddings/oleObject101.bin"/></Relationships>
</file>

<file path=ppt/slides/_rels/slide73.xml.rels><?xml version="1.0" encoding="UTF-8" standalone="yes"?>
<Relationships xmlns="http://schemas.openxmlformats.org/package/2006/relationships"><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102.bin"/><Relationship Id="rId1" Type="http://schemas.openxmlformats.org/officeDocument/2006/relationships/slideLayout" Target="../slideLayouts/slideLayout2.xml"/><Relationship Id="rId6" Type="http://schemas.openxmlformats.org/officeDocument/2006/relationships/oleObject" Target="../embeddings/oleObject104.bin"/><Relationship Id="rId5" Type="http://schemas.openxmlformats.org/officeDocument/2006/relationships/image" Target="../media/image112.wmf"/><Relationship Id="rId4" Type="http://schemas.openxmlformats.org/officeDocument/2006/relationships/oleObject" Target="../embeddings/oleObject103.bin"/></Relationships>
</file>

<file path=ppt/slides/_rels/slide74.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oleObject" Target="../embeddings/oleObject105.bin"/><Relationship Id="rId1" Type="http://schemas.openxmlformats.org/officeDocument/2006/relationships/slideLayout" Target="../slideLayouts/slideLayout2.xml"/><Relationship Id="rId5" Type="http://schemas.openxmlformats.org/officeDocument/2006/relationships/image" Target="../media/image114.wmf"/><Relationship Id="rId4" Type="http://schemas.openxmlformats.org/officeDocument/2006/relationships/oleObject" Target="../embeddings/oleObject106.bin"/></Relationships>
</file>

<file path=ppt/slides/_rels/slide75.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oleObject" Target="../embeddings/oleObject107.bin"/><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oleObject" Target="../embeddings/oleObject108.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altLang="sr-Latn-RS"/>
              <a:t>Numeri</a:t>
            </a:r>
            <a:r>
              <a:rPr lang="sr-Latn-RS" altLang="sr-Latn-RS"/>
              <a:t>čka integracija</a:t>
            </a:r>
            <a:endParaRPr lang="en-US" altLang="sr-Latn-RS"/>
          </a:p>
        </p:txBody>
      </p:sp>
      <p:sp>
        <p:nvSpPr>
          <p:cNvPr id="2051" name="Rectangle 3"/>
          <p:cNvSpPr>
            <a:spLocks noGrp="1" noChangeArrowheads="1"/>
          </p:cNvSpPr>
          <p:nvPr>
            <p:ph type="subTitle" idx="1"/>
          </p:nvPr>
        </p:nvSpPr>
        <p:spPr>
          <a:xfrm>
            <a:off x="457200" y="3886200"/>
            <a:ext cx="8382000" cy="2590800"/>
          </a:xfrm>
        </p:spPr>
        <p:txBody>
          <a:bodyPr/>
          <a:lstStyle/>
          <a:p>
            <a:pPr eaLnBrk="1" hangingPunct="1">
              <a:lnSpc>
                <a:spcPct val="80000"/>
              </a:lnSpc>
            </a:pPr>
            <a:endParaRPr lang="sr-Latn-RS" altLang="sr-Latn-RS" sz="3600" dirty="0"/>
          </a:p>
          <a:p>
            <a:pPr algn="l" eaLnBrk="1" hangingPunct="1">
              <a:lnSpc>
                <a:spcPct val="80000"/>
              </a:lnSpc>
            </a:pPr>
            <a:endParaRPr lang="sr-Latn-RS" altLang="sr-Latn-RS" sz="2400" dirty="0"/>
          </a:p>
          <a:p>
            <a:pPr algn="l" eaLnBrk="1" hangingPunct="1">
              <a:lnSpc>
                <a:spcPct val="80000"/>
              </a:lnSpc>
            </a:pPr>
            <a:endParaRPr lang="sr-Latn-RS" altLang="sr-Latn-RS" sz="2400" dirty="0"/>
          </a:p>
        </p:txBody>
      </p:sp>
    </p:spTree>
    <p:extLst>
      <p:ext uri="{BB962C8B-B14F-4D97-AF65-F5344CB8AC3E}">
        <p14:creationId xmlns:p14="http://schemas.microsoft.com/office/powerpoint/2010/main" val="1217590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sr-Latn-RS"/>
              <a:t>Numeri</a:t>
            </a:r>
            <a:r>
              <a:rPr lang="sr-Latn-RS" altLang="sr-Latn-RS"/>
              <a:t>čka integracija</a:t>
            </a:r>
          </a:p>
        </p:txBody>
      </p:sp>
      <p:sp>
        <p:nvSpPr>
          <p:cNvPr id="3075" name="Rectangle 3"/>
          <p:cNvSpPr>
            <a:spLocks noGrp="1" noChangeArrowheads="1"/>
          </p:cNvSpPr>
          <p:nvPr>
            <p:ph type="body" idx="1"/>
          </p:nvPr>
        </p:nvSpPr>
        <p:spPr>
          <a:xfrm>
            <a:off x="457200" y="1600200"/>
            <a:ext cx="8229600" cy="5105400"/>
          </a:xfrm>
        </p:spPr>
        <p:txBody>
          <a:bodyPr/>
          <a:lstStyle/>
          <a:p>
            <a:pPr>
              <a:lnSpc>
                <a:spcPct val="90000"/>
              </a:lnSpc>
            </a:pPr>
            <a:r>
              <a:rPr lang="sr-Latn-RS" altLang="sr-Latn-RS" dirty="0"/>
              <a:t>Izračunav</a:t>
            </a:r>
            <a:r>
              <a:rPr lang="en-US" altLang="sr-Latn-RS" dirty="0"/>
              <a:t>a</a:t>
            </a:r>
            <a:r>
              <a:rPr lang="sr-Latn-RS" altLang="sr-Latn-RS" dirty="0"/>
              <a:t>nje određenih integrala deo je rešenja mnogih problema u industriji kao i u nauci</a:t>
            </a:r>
            <a:endParaRPr lang="en-US" altLang="sr-Latn-RS" dirty="0"/>
          </a:p>
          <a:p>
            <a:pPr>
              <a:lnSpc>
                <a:spcPct val="90000"/>
              </a:lnSpc>
            </a:pPr>
            <a:endParaRPr lang="en-US" altLang="sr-Latn-RS" dirty="0"/>
          </a:p>
          <a:p>
            <a:pPr>
              <a:lnSpc>
                <a:spcPct val="90000"/>
              </a:lnSpc>
            </a:pPr>
            <a:endParaRPr lang="sr-Latn-RS" altLang="sr-Latn-RS" dirty="0"/>
          </a:p>
          <a:p>
            <a:pPr>
              <a:lnSpc>
                <a:spcPct val="90000"/>
              </a:lnSpc>
            </a:pPr>
            <a:endParaRPr lang="sr-Latn-RS" altLang="sr-Latn-RS" dirty="0"/>
          </a:p>
          <a:p>
            <a:pPr>
              <a:lnSpc>
                <a:spcPct val="90000"/>
              </a:lnSpc>
            </a:pPr>
            <a:r>
              <a:rPr lang="sr-Latn-RS" altLang="sr-Latn-RS" dirty="0"/>
              <a:t>Ako je funkcija f(x) komplikovana analit</a:t>
            </a:r>
            <a:r>
              <a:rPr lang="en-US" altLang="sr-Latn-RS" dirty="0" err="1"/>
              <a:t>i</a:t>
            </a:r>
            <a:r>
              <a:rPr lang="sr-Latn-RS" altLang="sr-Latn-RS" dirty="0"/>
              <a:t>čko rešenje nije uvek moguće</a:t>
            </a:r>
          </a:p>
          <a:p>
            <a:pPr>
              <a:lnSpc>
                <a:spcPct val="90000"/>
              </a:lnSpc>
            </a:pPr>
            <a:endParaRPr lang="en-US" altLang="sr-Latn-RS" dirty="0"/>
          </a:p>
          <a:p>
            <a:pPr>
              <a:lnSpc>
                <a:spcPct val="90000"/>
              </a:lnSpc>
            </a:pPr>
            <a:r>
              <a:rPr lang="sr-Latn-RS" altLang="sr-Latn-RS" dirty="0"/>
              <a:t>Na ovom predavanju pokazaćemo numeričke metode za izračunavanje određenih integrala</a:t>
            </a:r>
          </a:p>
        </p:txBody>
      </p:sp>
      <p:graphicFrame>
        <p:nvGraphicFramePr>
          <p:cNvPr id="3076" name="Object 4"/>
          <p:cNvGraphicFramePr>
            <a:graphicFrameLocks noChangeAspect="1"/>
          </p:cNvGraphicFramePr>
          <p:nvPr>
            <p:extLst>
              <p:ext uri="{D42A27DB-BD31-4B8C-83A1-F6EECF244321}">
                <p14:modId xmlns:p14="http://schemas.microsoft.com/office/powerpoint/2010/main" val="2336478515"/>
              </p:ext>
            </p:extLst>
          </p:nvPr>
        </p:nvGraphicFramePr>
        <p:xfrm>
          <a:off x="3200400" y="2330450"/>
          <a:ext cx="1695450" cy="1022350"/>
        </p:xfrm>
        <a:graphic>
          <a:graphicData uri="http://schemas.openxmlformats.org/presentationml/2006/ole">
            <mc:AlternateContent xmlns:mc="http://schemas.openxmlformats.org/markup-compatibility/2006">
              <mc:Choice xmlns:v="urn:schemas-microsoft-com:vml" Requires="v">
                <p:oleObj name="Equation" r:id="rId2" imgW="799753" imgH="482391" progId="Equation.3">
                  <p:embed/>
                </p:oleObj>
              </mc:Choice>
              <mc:Fallback>
                <p:oleObj name="Equation" r:id="rId2" imgW="799753" imgH="482391"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2330450"/>
                        <a:ext cx="169545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211658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fade">
                                      <p:cBhvr>
                                        <p:cTn id="7" dur="500"/>
                                        <p:tgtEl>
                                          <p:spTgt spid="30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5">
                                            <p:txEl>
                                              <p:pRg st="4" end="4"/>
                                            </p:txEl>
                                          </p:spTgt>
                                        </p:tgtEl>
                                        <p:attrNameLst>
                                          <p:attrName>style.visibility</p:attrName>
                                        </p:attrNameLst>
                                      </p:cBhvr>
                                      <p:to>
                                        <p:strVal val="visible"/>
                                      </p:to>
                                    </p:set>
                                    <p:animEffect transition="in" filter="fade">
                                      <p:cBhvr>
                                        <p:cTn id="12" dur="500"/>
                                        <p:tgtEl>
                                          <p:spTgt spid="307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5">
                                            <p:txEl>
                                              <p:pRg st="6" end="6"/>
                                            </p:txEl>
                                          </p:spTgt>
                                        </p:tgtEl>
                                        <p:attrNameLst>
                                          <p:attrName>style.visibility</p:attrName>
                                        </p:attrNameLst>
                                      </p:cBhvr>
                                      <p:to>
                                        <p:strVal val="visible"/>
                                      </p:to>
                                    </p:set>
                                    <p:animEffect transition="in" filter="fade">
                                      <p:cBhvr>
                                        <p:cTn id="17" dur="500"/>
                                        <p:tgtEl>
                                          <p:spTgt spid="307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sr-Latn-RS"/>
              <a:t>Numeri</a:t>
            </a:r>
            <a:r>
              <a:rPr lang="sr-Latn-RS" altLang="sr-Latn-RS"/>
              <a:t>čka integracija</a:t>
            </a:r>
          </a:p>
        </p:txBody>
      </p:sp>
      <p:sp>
        <p:nvSpPr>
          <p:cNvPr id="4099" name="Rectangle 3"/>
          <p:cNvSpPr>
            <a:spLocks noGrp="1" noChangeArrowheads="1"/>
          </p:cNvSpPr>
          <p:nvPr>
            <p:ph type="body" idx="1"/>
          </p:nvPr>
        </p:nvSpPr>
        <p:spPr/>
        <p:txBody>
          <a:bodyPr>
            <a:normAutofit/>
          </a:bodyPr>
          <a:lstStyle/>
          <a:p>
            <a:pPr>
              <a:spcAft>
                <a:spcPts val="1200"/>
              </a:spcAft>
            </a:pPr>
            <a:r>
              <a:rPr lang="sr-Latn-RS" altLang="sr-Latn-RS" dirty="0"/>
              <a:t>Činjenica na koju se oslanjaju numeričke metode za integraciju</a:t>
            </a:r>
            <a:r>
              <a:rPr lang="en-US" altLang="sr-Latn-RS" dirty="0"/>
              <a:t>:</a:t>
            </a:r>
            <a:r>
              <a:rPr lang="sr-Latn-RS" altLang="sr-Latn-RS" dirty="0"/>
              <a:t> </a:t>
            </a:r>
            <a:endParaRPr lang="en-US" altLang="sr-Latn-RS" dirty="0"/>
          </a:p>
          <a:p>
            <a:pPr marL="0" indent="0" algn="ctr">
              <a:buNone/>
            </a:pPr>
            <a:r>
              <a:rPr lang="sr-Latn-RS" altLang="sr-Latn-RS" dirty="0"/>
              <a:t>određeni integral predstavlja površinu ispod funkcije f(x) na intervalu [a, b]</a:t>
            </a:r>
          </a:p>
        </p:txBody>
      </p:sp>
      <p:pic>
        <p:nvPicPr>
          <p:cNvPr id="4100" name="Picture 5" descr="File:Integral-area-under-curve.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124200"/>
            <a:ext cx="5638800" cy="348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01" name="Object 6"/>
          <p:cNvGraphicFramePr>
            <a:graphicFrameLocks noChangeAspect="1"/>
          </p:cNvGraphicFramePr>
          <p:nvPr/>
        </p:nvGraphicFramePr>
        <p:xfrm>
          <a:off x="4343400" y="4724400"/>
          <a:ext cx="1695450" cy="1022350"/>
        </p:xfrm>
        <a:graphic>
          <a:graphicData uri="http://schemas.openxmlformats.org/presentationml/2006/ole">
            <mc:AlternateContent xmlns:mc="http://schemas.openxmlformats.org/markup-compatibility/2006">
              <mc:Choice xmlns:v="urn:schemas-microsoft-com:vml" Requires="v">
                <p:oleObj name="Equation" r:id="rId4" imgW="799753" imgH="482391" progId="Equation.3">
                  <p:embed/>
                </p:oleObj>
              </mc:Choice>
              <mc:Fallback>
                <p:oleObj name="Equation" r:id="rId4" imgW="799753" imgH="482391"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4724400"/>
                        <a:ext cx="1695450"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7088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7"/>
          <p:cNvSpPr txBox="1">
            <a:spLocks noChangeArrowheads="1"/>
          </p:cNvSpPr>
          <p:nvPr/>
        </p:nvSpPr>
        <p:spPr bwMode="auto">
          <a:xfrm>
            <a:off x="228600" y="1676400"/>
            <a:ext cx="5486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sr-Latn-RS" altLang="sr-Latn-RS" sz="2400" dirty="0">
                <a:cs typeface="Arial" charset="0"/>
              </a:rPr>
              <a:t>Interval [</a:t>
            </a:r>
            <a:r>
              <a:rPr lang="sr-Latn-RS" altLang="sr-Latn-RS" sz="2400" dirty="0" err="1">
                <a:cs typeface="Arial" charset="0"/>
              </a:rPr>
              <a:t>a,b</a:t>
            </a:r>
            <a:r>
              <a:rPr lang="sr-Latn-RS" altLang="sr-Latn-RS" sz="2400" dirty="0">
                <a:cs typeface="Arial" charset="0"/>
              </a:rPr>
              <a:t>] delimo na </a:t>
            </a:r>
            <a:r>
              <a:rPr lang="sr-Latn-RS" altLang="sr-Latn-RS" sz="2400" dirty="0" err="1">
                <a:cs typeface="Arial" charset="0"/>
              </a:rPr>
              <a:t>podintervale</a:t>
            </a:r>
            <a:r>
              <a:rPr lang="en-US" altLang="sr-Latn-RS" sz="2400" dirty="0">
                <a:cs typeface="Arial" charset="0"/>
              </a:rPr>
              <a:t>.</a:t>
            </a:r>
          </a:p>
          <a:p>
            <a:pPr eaLnBrk="1" hangingPunct="1">
              <a:spcBef>
                <a:spcPct val="50000"/>
              </a:spcBef>
              <a:buFontTx/>
              <a:buNone/>
            </a:pPr>
            <a:endParaRPr lang="en-US" altLang="sr-Latn-RS" sz="2400" dirty="0">
              <a:cs typeface="Arial" charset="0"/>
            </a:endParaRPr>
          </a:p>
        </p:txBody>
      </p:sp>
      <p:sp>
        <p:nvSpPr>
          <p:cNvPr id="5123" name="Rectangle 2"/>
          <p:cNvSpPr>
            <a:spLocks noGrp="1" noChangeArrowheads="1"/>
          </p:cNvSpPr>
          <p:nvPr>
            <p:ph type="title"/>
          </p:nvPr>
        </p:nvSpPr>
        <p:spPr/>
        <p:txBody>
          <a:bodyPr/>
          <a:lstStyle/>
          <a:p>
            <a:r>
              <a:rPr lang="sr-Latn-RS" altLang="sr-Latn-RS"/>
              <a:t>Donja i gornja suma</a:t>
            </a:r>
          </a:p>
        </p:txBody>
      </p:sp>
      <p:sp>
        <p:nvSpPr>
          <p:cNvPr id="5124" name="Text Box 3"/>
          <p:cNvSpPr txBox="1">
            <a:spLocks noChangeArrowheads="1"/>
          </p:cNvSpPr>
          <p:nvPr/>
        </p:nvSpPr>
        <p:spPr bwMode="auto">
          <a:xfrm>
            <a:off x="6019800" y="5943600"/>
            <a:ext cx="3968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a</a:t>
            </a:r>
          </a:p>
        </p:txBody>
      </p:sp>
      <p:sp>
        <p:nvSpPr>
          <p:cNvPr id="5125" name="Text Box 4"/>
          <p:cNvSpPr txBox="1">
            <a:spLocks noChangeArrowheads="1"/>
          </p:cNvSpPr>
          <p:nvPr/>
        </p:nvSpPr>
        <p:spPr bwMode="auto">
          <a:xfrm>
            <a:off x="7543800" y="59436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b</a:t>
            </a:r>
          </a:p>
        </p:txBody>
      </p:sp>
      <p:sp>
        <p:nvSpPr>
          <p:cNvPr id="5126" name="Text Box 5"/>
          <p:cNvSpPr txBox="1">
            <a:spLocks noChangeArrowheads="1"/>
          </p:cNvSpPr>
          <p:nvPr/>
        </p:nvSpPr>
        <p:spPr bwMode="auto">
          <a:xfrm>
            <a:off x="5562600" y="33528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f(x)</a:t>
            </a:r>
          </a:p>
        </p:txBody>
      </p:sp>
      <p:sp>
        <p:nvSpPr>
          <p:cNvPr id="5127" name="Line 6"/>
          <p:cNvSpPr>
            <a:spLocks noChangeShapeType="1"/>
          </p:cNvSpPr>
          <p:nvPr/>
        </p:nvSpPr>
        <p:spPr bwMode="auto">
          <a:xfrm flipV="1">
            <a:off x="5334000" y="2514600"/>
            <a:ext cx="0" cy="297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5128" name="Line 7"/>
          <p:cNvSpPr>
            <a:spLocks noChangeShapeType="1"/>
          </p:cNvSpPr>
          <p:nvPr/>
        </p:nvSpPr>
        <p:spPr bwMode="auto">
          <a:xfrm>
            <a:off x="5334000" y="5486400"/>
            <a:ext cx="3581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5129" name="Rectangle 8"/>
          <p:cNvSpPr>
            <a:spLocks noChangeArrowheads="1"/>
          </p:cNvSpPr>
          <p:nvPr/>
        </p:nvSpPr>
        <p:spPr bwMode="auto">
          <a:xfrm>
            <a:off x="6172200" y="4419600"/>
            <a:ext cx="533400" cy="10668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5130" name="Rectangle 9"/>
          <p:cNvSpPr>
            <a:spLocks noChangeArrowheads="1"/>
          </p:cNvSpPr>
          <p:nvPr/>
        </p:nvSpPr>
        <p:spPr bwMode="auto">
          <a:xfrm>
            <a:off x="6705600" y="4267200"/>
            <a:ext cx="457200" cy="12192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5131" name="Rectangle 10"/>
          <p:cNvSpPr>
            <a:spLocks noChangeArrowheads="1"/>
          </p:cNvSpPr>
          <p:nvPr/>
        </p:nvSpPr>
        <p:spPr bwMode="auto">
          <a:xfrm>
            <a:off x="6172200" y="4267200"/>
            <a:ext cx="533400" cy="152400"/>
          </a:xfrm>
          <a:prstGeom prst="rect">
            <a:avLst/>
          </a:prstGeom>
          <a:solidFill>
            <a:srgbClr val="993366">
              <a:alpha val="54117"/>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5132" name="Freeform 11"/>
          <p:cNvSpPr>
            <a:spLocks/>
          </p:cNvSpPr>
          <p:nvPr/>
        </p:nvSpPr>
        <p:spPr bwMode="auto">
          <a:xfrm>
            <a:off x="5486400" y="3200400"/>
            <a:ext cx="2819400" cy="1219200"/>
          </a:xfrm>
          <a:custGeom>
            <a:avLst/>
            <a:gdLst>
              <a:gd name="T0" fmla="*/ 0 w 1344"/>
              <a:gd name="T1" fmla="*/ 2147483647 h 528"/>
              <a:gd name="T2" fmla="*/ 2147483647 w 1344"/>
              <a:gd name="T3" fmla="*/ 2147483647 h 528"/>
              <a:gd name="T4" fmla="*/ 2147483647 w 1344"/>
              <a:gd name="T5" fmla="*/ 2147483647 h 528"/>
              <a:gd name="T6" fmla="*/ 2147483647 w 1344"/>
              <a:gd name="T7" fmla="*/ 0 h 528"/>
              <a:gd name="T8" fmla="*/ 2147483647 w 1344"/>
              <a:gd name="T9" fmla="*/ 2147483647 h 528"/>
              <a:gd name="T10" fmla="*/ 2147483647 w 1344"/>
              <a:gd name="T11" fmla="*/ 2147483647 h 528"/>
              <a:gd name="T12" fmla="*/ 0 60000 65536"/>
              <a:gd name="T13" fmla="*/ 0 60000 65536"/>
              <a:gd name="T14" fmla="*/ 0 60000 65536"/>
              <a:gd name="T15" fmla="*/ 0 60000 65536"/>
              <a:gd name="T16" fmla="*/ 0 60000 65536"/>
              <a:gd name="T17" fmla="*/ 0 60000 65536"/>
              <a:gd name="T18" fmla="*/ 0 w 1344"/>
              <a:gd name="T19" fmla="*/ 0 h 528"/>
              <a:gd name="T20" fmla="*/ 1344 w 1344"/>
              <a:gd name="T21" fmla="*/ 528 h 528"/>
            </a:gdLst>
            <a:ahLst/>
            <a:cxnLst>
              <a:cxn ang="T12">
                <a:pos x="T0" y="T1"/>
              </a:cxn>
              <a:cxn ang="T13">
                <a:pos x="T2" y="T3"/>
              </a:cxn>
              <a:cxn ang="T14">
                <a:pos x="T4" y="T5"/>
              </a:cxn>
              <a:cxn ang="T15">
                <a:pos x="T6" y="T7"/>
              </a:cxn>
              <a:cxn ang="T16">
                <a:pos x="T8" y="T9"/>
              </a:cxn>
              <a:cxn ang="T17">
                <a:pos x="T10" y="T11"/>
              </a:cxn>
            </a:cxnLst>
            <a:rect l="T18" t="T19" r="T20" b="T21"/>
            <a:pathLst>
              <a:path w="1344" h="528">
                <a:moveTo>
                  <a:pt x="0" y="192"/>
                </a:moveTo>
                <a:cubicBezTo>
                  <a:pt x="180" y="360"/>
                  <a:pt x="360" y="528"/>
                  <a:pt x="480" y="528"/>
                </a:cubicBezTo>
                <a:cubicBezTo>
                  <a:pt x="600" y="528"/>
                  <a:pt x="648" y="280"/>
                  <a:pt x="720" y="192"/>
                </a:cubicBezTo>
                <a:cubicBezTo>
                  <a:pt x="792" y="104"/>
                  <a:pt x="832" y="0"/>
                  <a:pt x="912" y="0"/>
                </a:cubicBezTo>
                <a:cubicBezTo>
                  <a:pt x="992" y="0"/>
                  <a:pt x="1128" y="136"/>
                  <a:pt x="1200" y="192"/>
                </a:cubicBezTo>
                <a:cubicBezTo>
                  <a:pt x="1272" y="248"/>
                  <a:pt x="1308" y="292"/>
                  <a:pt x="1344" y="336"/>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sr-Latn-RS"/>
          </a:p>
        </p:txBody>
      </p:sp>
      <p:sp>
        <p:nvSpPr>
          <p:cNvPr id="5133" name="Rectangle 12"/>
          <p:cNvSpPr>
            <a:spLocks noChangeArrowheads="1"/>
          </p:cNvSpPr>
          <p:nvPr/>
        </p:nvSpPr>
        <p:spPr bwMode="auto">
          <a:xfrm>
            <a:off x="6705600" y="3429000"/>
            <a:ext cx="457200" cy="838200"/>
          </a:xfrm>
          <a:prstGeom prst="rect">
            <a:avLst/>
          </a:prstGeom>
          <a:solidFill>
            <a:srgbClr val="993366">
              <a:alpha val="54117"/>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5134" name="Rectangle 13"/>
          <p:cNvSpPr>
            <a:spLocks noChangeArrowheads="1"/>
          </p:cNvSpPr>
          <p:nvPr/>
        </p:nvSpPr>
        <p:spPr bwMode="auto">
          <a:xfrm>
            <a:off x="7162800" y="3429000"/>
            <a:ext cx="457200" cy="20574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5135" name="Rectangle 14"/>
          <p:cNvSpPr>
            <a:spLocks noChangeArrowheads="1"/>
          </p:cNvSpPr>
          <p:nvPr/>
        </p:nvSpPr>
        <p:spPr bwMode="auto">
          <a:xfrm>
            <a:off x="7162800" y="3200400"/>
            <a:ext cx="457200" cy="228600"/>
          </a:xfrm>
          <a:prstGeom prst="rect">
            <a:avLst/>
          </a:prstGeom>
          <a:solidFill>
            <a:srgbClr val="993366">
              <a:alpha val="54117"/>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graphicFrame>
        <p:nvGraphicFramePr>
          <p:cNvPr id="5136" name="Object 15"/>
          <p:cNvGraphicFramePr>
            <a:graphicFrameLocks noChangeAspect="1"/>
          </p:cNvGraphicFramePr>
          <p:nvPr/>
        </p:nvGraphicFramePr>
        <p:xfrm>
          <a:off x="6019800" y="5562600"/>
          <a:ext cx="2133600" cy="487363"/>
        </p:xfrm>
        <a:graphic>
          <a:graphicData uri="http://schemas.openxmlformats.org/presentationml/2006/ole">
            <mc:AlternateContent xmlns:mc="http://schemas.openxmlformats.org/markup-compatibility/2006">
              <mc:Choice xmlns:v="urn:schemas-microsoft-com:vml" Requires="v">
                <p:oleObj name="Equation" r:id="rId3" imgW="1002865" imgH="228501" progId="Equation.3">
                  <p:embed/>
                </p:oleObj>
              </mc:Choice>
              <mc:Fallback>
                <p:oleObj name="Equation" r:id="rId3" imgW="1002865"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5562600"/>
                        <a:ext cx="21336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7" name="Object 16"/>
          <p:cNvGraphicFramePr>
            <a:graphicFrameLocks noChangeAspect="1"/>
          </p:cNvGraphicFramePr>
          <p:nvPr/>
        </p:nvGraphicFramePr>
        <p:xfrm>
          <a:off x="247650" y="2286000"/>
          <a:ext cx="4840288" cy="3741738"/>
        </p:xfrm>
        <a:graphic>
          <a:graphicData uri="http://schemas.openxmlformats.org/presentationml/2006/ole">
            <mc:AlternateContent xmlns:mc="http://schemas.openxmlformats.org/markup-compatibility/2006">
              <mc:Choice xmlns:v="urn:schemas-microsoft-com:vml" Requires="v">
                <p:oleObj name="Equation" r:id="rId5" imgW="2527300" imgH="2032000" progId="Equation.3">
                  <p:embed/>
                </p:oleObj>
              </mc:Choice>
              <mc:Fallback>
                <p:oleObj name="Equation" r:id="rId5" imgW="2527300" imgH="2032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650" y="2286000"/>
                        <a:ext cx="4840288" cy="37417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8" name="Rectangle 18"/>
          <p:cNvSpPr>
            <a:spLocks noChangeArrowheads="1"/>
          </p:cNvSpPr>
          <p:nvPr/>
        </p:nvSpPr>
        <p:spPr bwMode="auto">
          <a:xfrm>
            <a:off x="457200" y="5029200"/>
            <a:ext cx="1219200" cy="1524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5139" name="Rectangle 19"/>
          <p:cNvSpPr>
            <a:spLocks noChangeArrowheads="1"/>
          </p:cNvSpPr>
          <p:nvPr/>
        </p:nvSpPr>
        <p:spPr bwMode="auto">
          <a:xfrm>
            <a:off x="457200" y="5791200"/>
            <a:ext cx="1219200" cy="152400"/>
          </a:xfrm>
          <a:prstGeom prst="rect">
            <a:avLst/>
          </a:prstGeom>
          <a:solidFill>
            <a:srgbClr val="993366">
              <a:alpha val="54117"/>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5140" name="Rectangle 20"/>
          <p:cNvSpPr>
            <a:spLocks noChangeArrowheads="1"/>
          </p:cNvSpPr>
          <p:nvPr/>
        </p:nvSpPr>
        <p:spPr bwMode="auto">
          <a:xfrm>
            <a:off x="457200" y="5943600"/>
            <a:ext cx="1219200" cy="1524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Tree>
    <p:extLst>
      <p:ext uri="{BB962C8B-B14F-4D97-AF65-F5344CB8AC3E}">
        <p14:creationId xmlns:p14="http://schemas.microsoft.com/office/powerpoint/2010/main" val="3553479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sr-Latn-RS" altLang="sr-Latn-RS"/>
              <a:t>Donja i gornja suma</a:t>
            </a:r>
          </a:p>
        </p:txBody>
      </p:sp>
      <p:sp>
        <p:nvSpPr>
          <p:cNvPr id="6147" name="Text Box 3"/>
          <p:cNvSpPr txBox="1">
            <a:spLocks noChangeArrowheads="1"/>
          </p:cNvSpPr>
          <p:nvPr/>
        </p:nvSpPr>
        <p:spPr bwMode="auto">
          <a:xfrm>
            <a:off x="6019800" y="6019800"/>
            <a:ext cx="3968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a</a:t>
            </a:r>
          </a:p>
        </p:txBody>
      </p:sp>
      <p:sp>
        <p:nvSpPr>
          <p:cNvPr id="6148" name="Text Box 4"/>
          <p:cNvSpPr txBox="1">
            <a:spLocks noChangeArrowheads="1"/>
          </p:cNvSpPr>
          <p:nvPr/>
        </p:nvSpPr>
        <p:spPr bwMode="auto">
          <a:xfrm>
            <a:off x="7543800" y="6019800"/>
            <a:ext cx="30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b</a:t>
            </a:r>
          </a:p>
        </p:txBody>
      </p:sp>
      <p:sp>
        <p:nvSpPr>
          <p:cNvPr id="6149" name="Text Box 5"/>
          <p:cNvSpPr txBox="1">
            <a:spLocks noChangeArrowheads="1"/>
          </p:cNvSpPr>
          <p:nvPr/>
        </p:nvSpPr>
        <p:spPr bwMode="auto">
          <a:xfrm>
            <a:off x="5562600" y="32766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f(x)</a:t>
            </a:r>
          </a:p>
        </p:txBody>
      </p:sp>
      <p:sp>
        <p:nvSpPr>
          <p:cNvPr id="6150" name="Line 6"/>
          <p:cNvSpPr>
            <a:spLocks noChangeShapeType="1"/>
          </p:cNvSpPr>
          <p:nvPr/>
        </p:nvSpPr>
        <p:spPr bwMode="auto">
          <a:xfrm flipV="1">
            <a:off x="5334000" y="2438400"/>
            <a:ext cx="0" cy="297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6151" name="Line 7"/>
          <p:cNvSpPr>
            <a:spLocks noChangeShapeType="1"/>
          </p:cNvSpPr>
          <p:nvPr/>
        </p:nvSpPr>
        <p:spPr bwMode="auto">
          <a:xfrm>
            <a:off x="5334000" y="5410200"/>
            <a:ext cx="3581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6152" name="Rectangle 8"/>
          <p:cNvSpPr>
            <a:spLocks noChangeArrowheads="1"/>
          </p:cNvSpPr>
          <p:nvPr/>
        </p:nvSpPr>
        <p:spPr bwMode="auto">
          <a:xfrm>
            <a:off x="6172200" y="4343400"/>
            <a:ext cx="533400" cy="10668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6153" name="Rectangle 9"/>
          <p:cNvSpPr>
            <a:spLocks noChangeArrowheads="1"/>
          </p:cNvSpPr>
          <p:nvPr/>
        </p:nvSpPr>
        <p:spPr bwMode="auto">
          <a:xfrm>
            <a:off x="6705600" y="4191000"/>
            <a:ext cx="457200" cy="12192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6154" name="Rectangle 10"/>
          <p:cNvSpPr>
            <a:spLocks noChangeArrowheads="1"/>
          </p:cNvSpPr>
          <p:nvPr/>
        </p:nvSpPr>
        <p:spPr bwMode="auto">
          <a:xfrm>
            <a:off x="6172200" y="4191000"/>
            <a:ext cx="533400" cy="152400"/>
          </a:xfrm>
          <a:prstGeom prst="rect">
            <a:avLst/>
          </a:prstGeom>
          <a:solidFill>
            <a:srgbClr val="993366">
              <a:alpha val="54117"/>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6155" name="Freeform 11"/>
          <p:cNvSpPr>
            <a:spLocks/>
          </p:cNvSpPr>
          <p:nvPr/>
        </p:nvSpPr>
        <p:spPr bwMode="auto">
          <a:xfrm>
            <a:off x="5486400" y="3154363"/>
            <a:ext cx="2819400" cy="1189037"/>
          </a:xfrm>
          <a:custGeom>
            <a:avLst/>
            <a:gdLst>
              <a:gd name="T0" fmla="*/ 0 w 1776"/>
              <a:gd name="T1" fmla="*/ 2147483647 h 749"/>
              <a:gd name="T2" fmla="*/ 2147483647 w 1776"/>
              <a:gd name="T3" fmla="*/ 2147483647 h 749"/>
              <a:gd name="T4" fmla="*/ 2147483647 w 1776"/>
              <a:gd name="T5" fmla="*/ 2147483647 h 749"/>
              <a:gd name="T6" fmla="*/ 2147483647 w 1776"/>
              <a:gd name="T7" fmla="*/ 0 h 749"/>
              <a:gd name="T8" fmla="*/ 2147483647 w 1776"/>
              <a:gd name="T9" fmla="*/ 2147483647 h 749"/>
              <a:gd name="T10" fmla="*/ 2147483647 w 1776"/>
              <a:gd name="T11" fmla="*/ 2147483647 h 749"/>
              <a:gd name="T12" fmla="*/ 0 60000 65536"/>
              <a:gd name="T13" fmla="*/ 0 60000 65536"/>
              <a:gd name="T14" fmla="*/ 0 60000 65536"/>
              <a:gd name="T15" fmla="*/ 0 60000 65536"/>
              <a:gd name="T16" fmla="*/ 0 60000 65536"/>
              <a:gd name="T17" fmla="*/ 0 60000 65536"/>
              <a:gd name="T18" fmla="*/ 0 w 1776"/>
              <a:gd name="T19" fmla="*/ 0 h 749"/>
              <a:gd name="T20" fmla="*/ 1776 w 1776"/>
              <a:gd name="T21" fmla="*/ 749 h 749"/>
            </a:gdLst>
            <a:ahLst/>
            <a:cxnLst>
              <a:cxn ang="T12">
                <a:pos x="T0" y="T1"/>
              </a:cxn>
              <a:cxn ang="T13">
                <a:pos x="T2" y="T3"/>
              </a:cxn>
              <a:cxn ang="T14">
                <a:pos x="T4" y="T5"/>
              </a:cxn>
              <a:cxn ang="T15">
                <a:pos x="T6" y="T7"/>
              </a:cxn>
              <a:cxn ang="T16">
                <a:pos x="T8" y="T9"/>
              </a:cxn>
              <a:cxn ang="T17">
                <a:pos x="T10" y="T11"/>
              </a:cxn>
            </a:cxnLst>
            <a:rect l="T18" t="T19" r="T20" b="T21"/>
            <a:pathLst>
              <a:path w="1776" h="749">
                <a:moveTo>
                  <a:pt x="0" y="260"/>
                </a:moveTo>
                <a:cubicBezTo>
                  <a:pt x="238" y="505"/>
                  <a:pt x="476" y="749"/>
                  <a:pt x="634" y="749"/>
                </a:cubicBezTo>
                <a:cubicBezTo>
                  <a:pt x="793" y="749"/>
                  <a:pt x="849" y="385"/>
                  <a:pt x="951" y="260"/>
                </a:cubicBezTo>
                <a:cubicBezTo>
                  <a:pt x="1053" y="135"/>
                  <a:pt x="1142" y="0"/>
                  <a:pt x="1248" y="0"/>
                </a:cubicBezTo>
                <a:cubicBezTo>
                  <a:pt x="1354" y="0"/>
                  <a:pt x="1498" y="182"/>
                  <a:pt x="1586" y="260"/>
                </a:cubicBezTo>
                <a:cubicBezTo>
                  <a:pt x="1674" y="338"/>
                  <a:pt x="1728" y="406"/>
                  <a:pt x="1776" y="47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sr-Latn-RS"/>
          </a:p>
        </p:txBody>
      </p:sp>
      <p:sp>
        <p:nvSpPr>
          <p:cNvPr id="6156" name="Rectangle 12"/>
          <p:cNvSpPr>
            <a:spLocks noChangeArrowheads="1"/>
          </p:cNvSpPr>
          <p:nvPr/>
        </p:nvSpPr>
        <p:spPr bwMode="auto">
          <a:xfrm>
            <a:off x="6705600" y="3352800"/>
            <a:ext cx="457200" cy="838200"/>
          </a:xfrm>
          <a:prstGeom prst="rect">
            <a:avLst/>
          </a:prstGeom>
          <a:solidFill>
            <a:srgbClr val="993366">
              <a:alpha val="54117"/>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6157" name="Rectangle 13"/>
          <p:cNvSpPr>
            <a:spLocks noChangeArrowheads="1"/>
          </p:cNvSpPr>
          <p:nvPr/>
        </p:nvSpPr>
        <p:spPr bwMode="auto">
          <a:xfrm>
            <a:off x="7162800" y="3352800"/>
            <a:ext cx="457200" cy="2057400"/>
          </a:xfrm>
          <a:prstGeom prst="rect">
            <a:avLst/>
          </a:prstGeom>
          <a:solidFill>
            <a:schemeClr val="accent1">
              <a:alpha val="49019"/>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6158" name="Rectangle 14"/>
          <p:cNvSpPr>
            <a:spLocks noChangeArrowheads="1"/>
          </p:cNvSpPr>
          <p:nvPr/>
        </p:nvSpPr>
        <p:spPr bwMode="auto">
          <a:xfrm>
            <a:off x="7162800" y="3124200"/>
            <a:ext cx="457200" cy="228600"/>
          </a:xfrm>
          <a:prstGeom prst="rect">
            <a:avLst/>
          </a:prstGeom>
          <a:solidFill>
            <a:srgbClr val="993366">
              <a:alpha val="54117"/>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graphicFrame>
        <p:nvGraphicFramePr>
          <p:cNvPr id="6159" name="Object 15"/>
          <p:cNvGraphicFramePr>
            <a:graphicFrameLocks noChangeAspect="1"/>
          </p:cNvGraphicFramePr>
          <p:nvPr/>
        </p:nvGraphicFramePr>
        <p:xfrm>
          <a:off x="6019800" y="5486400"/>
          <a:ext cx="2133600" cy="487363"/>
        </p:xfrm>
        <a:graphic>
          <a:graphicData uri="http://schemas.openxmlformats.org/presentationml/2006/ole">
            <mc:AlternateContent xmlns:mc="http://schemas.openxmlformats.org/markup-compatibility/2006">
              <mc:Choice xmlns:v="urn:schemas-microsoft-com:vml" Requires="v">
                <p:oleObj name="Equation" r:id="rId3" imgW="1002865" imgH="228501" progId="Equation.3">
                  <p:embed/>
                </p:oleObj>
              </mc:Choice>
              <mc:Fallback>
                <p:oleObj name="Equation" r:id="rId3" imgW="1002865" imgH="22850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5486400"/>
                        <a:ext cx="2133600"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60" name="Object 16"/>
          <p:cNvGraphicFramePr>
            <a:graphicFrameLocks noChangeAspect="1"/>
          </p:cNvGraphicFramePr>
          <p:nvPr/>
        </p:nvGraphicFramePr>
        <p:xfrm>
          <a:off x="304800" y="2306638"/>
          <a:ext cx="4919663" cy="3386137"/>
        </p:xfrm>
        <a:graphic>
          <a:graphicData uri="http://schemas.openxmlformats.org/presentationml/2006/ole">
            <mc:AlternateContent xmlns:mc="http://schemas.openxmlformats.org/markup-compatibility/2006">
              <mc:Choice xmlns:v="urn:schemas-microsoft-com:vml" Requires="v">
                <p:oleObj name="Equation" r:id="rId5" imgW="2527300" imgH="1739900" progId="Equation.3">
                  <p:embed/>
                </p:oleObj>
              </mc:Choice>
              <mc:Fallback>
                <p:oleObj name="Equation" r:id="rId5" imgW="2527300" imgH="1739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306638"/>
                        <a:ext cx="4919663" cy="3386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61" name="Rectangle 17"/>
          <p:cNvSpPr>
            <a:spLocks noChangeArrowheads="1"/>
          </p:cNvSpPr>
          <p:nvPr/>
        </p:nvSpPr>
        <p:spPr bwMode="auto">
          <a:xfrm>
            <a:off x="304800" y="2743200"/>
            <a:ext cx="1524000" cy="609600"/>
          </a:xfrm>
          <a:prstGeom prst="rect">
            <a:avLst/>
          </a:prstGeom>
          <a:solidFill>
            <a:schemeClr val="accent1">
              <a:alpha val="3882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6162" name="Rectangle 18"/>
          <p:cNvSpPr>
            <a:spLocks noChangeArrowheads="1"/>
          </p:cNvSpPr>
          <p:nvPr/>
        </p:nvSpPr>
        <p:spPr bwMode="auto">
          <a:xfrm>
            <a:off x="304800" y="3886200"/>
            <a:ext cx="1600200" cy="304800"/>
          </a:xfrm>
          <a:prstGeom prst="rect">
            <a:avLst/>
          </a:prstGeom>
          <a:solidFill>
            <a:srgbClr val="993366">
              <a:alpha val="32156"/>
            </a:srgbClr>
          </a:solidFill>
          <a:ln w="9525">
            <a:solidFill>
              <a:srgbClr val="993366"/>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6163" name="Rectangle 19"/>
          <p:cNvSpPr>
            <a:spLocks noChangeArrowheads="1"/>
          </p:cNvSpPr>
          <p:nvPr/>
        </p:nvSpPr>
        <p:spPr bwMode="auto">
          <a:xfrm>
            <a:off x="304800" y="3581400"/>
            <a:ext cx="1600200" cy="304800"/>
          </a:xfrm>
          <a:prstGeom prst="rect">
            <a:avLst/>
          </a:prstGeom>
          <a:solidFill>
            <a:schemeClr val="accent1">
              <a:alpha val="34901"/>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Tree>
    <p:extLst>
      <p:ext uri="{BB962C8B-B14F-4D97-AF65-F5344CB8AC3E}">
        <p14:creationId xmlns:p14="http://schemas.microsoft.com/office/powerpoint/2010/main" val="2984540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sr-Latn-RS" altLang="sr-Latn-RS"/>
              <a:t>Primer</a:t>
            </a:r>
          </a:p>
        </p:txBody>
      </p:sp>
      <p:sp>
        <p:nvSpPr>
          <p:cNvPr id="7171" name="Line 3"/>
          <p:cNvSpPr>
            <a:spLocks noChangeShapeType="1"/>
          </p:cNvSpPr>
          <p:nvPr/>
        </p:nvSpPr>
        <p:spPr bwMode="auto">
          <a:xfrm flipV="1">
            <a:off x="5943600" y="2286000"/>
            <a:ext cx="0" cy="297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7172" name="Line 4"/>
          <p:cNvSpPr>
            <a:spLocks noChangeShapeType="1"/>
          </p:cNvSpPr>
          <p:nvPr/>
        </p:nvSpPr>
        <p:spPr bwMode="auto">
          <a:xfrm>
            <a:off x="5943600" y="5257800"/>
            <a:ext cx="2971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graphicFrame>
        <p:nvGraphicFramePr>
          <p:cNvPr id="7173" name="Object 5"/>
          <p:cNvGraphicFramePr>
            <a:graphicFrameLocks noChangeAspect="1"/>
          </p:cNvGraphicFramePr>
          <p:nvPr/>
        </p:nvGraphicFramePr>
        <p:xfrm>
          <a:off x="5943600" y="5334000"/>
          <a:ext cx="2484438" cy="633413"/>
        </p:xfrm>
        <a:graphic>
          <a:graphicData uri="http://schemas.openxmlformats.org/presentationml/2006/ole">
            <mc:AlternateContent xmlns:mc="http://schemas.openxmlformats.org/markup-compatibility/2006">
              <mc:Choice xmlns:v="urn:schemas-microsoft-com:vml" Requires="v">
                <p:oleObj name="Equation" r:id="rId3" imgW="1548728" imgH="393529" progId="Equation.3">
                  <p:embed/>
                </p:oleObj>
              </mc:Choice>
              <mc:Fallback>
                <p:oleObj name="Equation" r:id="rId3" imgW="1548728"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0" y="5334000"/>
                        <a:ext cx="2484438" cy="63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 name="Freeform 6"/>
          <p:cNvSpPr>
            <a:spLocks/>
          </p:cNvSpPr>
          <p:nvPr/>
        </p:nvSpPr>
        <p:spPr bwMode="auto">
          <a:xfrm>
            <a:off x="5943600" y="3429000"/>
            <a:ext cx="2133600" cy="1828800"/>
          </a:xfrm>
          <a:custGeom>
            <a:avLst/>
            <a:gdLst>
              <a:gd name="T0" fmla="*/ 0 w 1296"/>
              <a:gd name="T1" fmla="*/ 2147483647 h 1104"/>
              <a:gd name="T2" fmla="*/ 2147483647 w 1296"/>
              <a:gd name="T3" fmla="*/ 2147483647 h 1104"/>
              <a:gd name="T4" fmla="*/ 2147483647 w 1296"/>
              <a:gd name="T5" fmla="*/ 2147483647 h 1104"/>
              <a:gd name="T6" fmla="*/ 2147483647 w 1296"/>
              <a:gd name="T7" fmla="*/ 2147483647 h 1104"/>
              <a:gd name="T8" fmla="*/ 2147483647 w 1296"/>
              <a:gd name="T9" fmla="*/ 0 h 1104"/>
              <a:gd name="T10" fmla="*/ 0 60000 65536"/>
              <a:gd name="T11" fmla="*/ 0 60000 65536"/>
              <a:gd name="T12" fmla="*/ 0 60000 65536"/>
              <a:gd name="T13" fmla="*/ 0 60000 65536"/>
              <a:gd name="T14" fmla="*/ 0 60000 65536"/>
              <a:gd name="T15" fmla="*/ 0 w 1296"/>
              <a:gd name="T16" fmla="*/ 0 h 1104"/>
              <a:gd name="T17" fmla="*/ 1296 w 1296"/>
              <a:gd name="T18" fmla="*/ 1104 h 1104"/>
            </a:gdLst>
            <a:ahLst/>
            <a:cxnLst>
              <a:cxn ang="T10">
                <a:pos x="T0" y="T1"/>
              </a:cxn>
              <a:cxn ang="T11">
                <a:pos x="T2" y="T3"/>
              </a:cxn>
              <a:cxn ang="T12">
                <a:pos x="T4" y="T5"/>
              </a:cxn>
              <a:cxn ang="T13">
                <a:pos x="T6" y="T7"/>
              </a:cxn>
              <a:cxn ang="T14">
                <a:pos x="T8" y="T9"/>
              </a:cxn>
            </a:cxnLst>
            <a:rect l="T15" t="T16" r="T17" b="T18"/>
            <a:pathLst>
              <a:path w="1296" h="1104">
                <a:moveTo>
                  <a:pt x="0" y="1104"/>
                </a:moveTo>
                <a:cubicBezTo>
                  <a:pt x="116" y="1076"/>
                  <a:pt x="232" y="1048"/>
                  <a:pt x="336" y="1008"/>
                </a:cubicBezTo>
                <a:cubicBezTo>
                  <a:pt x="440" y="968"/>
                  <a:pt x="520" y="936"/>
                  <a:pt x="624" y="864"/>
                </a:cubicBezTo>
                <a:cubicBezTo>
                  <a:pt x="728" y="792"/>
                  <a:pt x="848" y="720"/>
                  <a:pt x="960" y="576"/>
                </a:cubicBezTo>
                <a:cubicBezTo>
                  <a:pt x="1072" y="432"/>
                  <a:pt x="1240" y="96"/>
                  <a:pt x="1296"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sr-Latn-RS"/>
          </a:p>
        </p:txBody>
      </p:sp>
      <p:sp>
        <p:nvSpPr>
          <p:cNvPr id="7175" name="Rectangle 7"/>
          <p:cNvSpPr>
            <a:spLocks noChangeArrowheads="1"/>
          </p:cNvSpPr>
          <p:nvPr/>
        </p:nvSpPr>
        <p:spPr bwMode="auto">
          <a:xfrm flipV="1">
            <a:off x="6477000" y="5105400"/>
            <a:ext cx="533400" cy="152400"/>
          </a:xfrm>
          <a:prstGeom prst="rect">
            <a:avLst/>
          </a:prstGeom>
          <a:solidFill>
            <a:schemeClr val="accent1">
              <a:alpha val="2784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7176" name="Rectangle 8"/>
          <p:cNvSpPr>
            <a:spLocks noChangeArrowheads="1"/>
          </p:cNvSpPr>
          <p:nvPr/>
        </p:nvSpPr>
        <p:spPr bwMode="auto">
          <a:xfrm>
            <a:off x="7010400" y="4800600"/>
            <a:ext cx="533400" cy="457200"/>
          </a:xfrm>
          <a:prstGeom prst="rect">
            <a:avLst/>
          </a:prstGeom>
          <a:solidFill>
            <a:schemeClr val="accent1">
              <a:alpha val="2784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7177" name="Rectangle 9"/>
          <p:cNvSpPr>
            <a:spLocks noChangeArrowheads="1"/>
          </p:cNvSpPr>
          <p:nvPr/>
        </p:nvSpPr>
        <p:spPr bwMode="auto">
          <a:xfrm>
            <a:off x="7543800" y="4343400"/>
            <a:ext cx="533400" cy="914400"/>
          </a:xfrm>
          <a:prstGeom prst="rect">
            <a:avLst/>
          </a:prstGeom>
          <a:solidFill>
            <a:schemeClr val="accent1">
              <a:alpha val="2784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7178" name="Rectangle 10"/>
          <p:cNvSpPr>
            <a:spLocks noChangeArrowheads="1"/>
          </p:cNvSpPr>
          <p:nvPr/>
        </p:nvSpPr>
        <p:spPr bwMode="auto">
          <a:xfrm flipV="1">
            <a:off x="5943600" y="5105400"/>
            <a:ext cx="533400" cy="152400"/>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7179" name="Rectangle 11"/>
          <p:cNvSpPr>
            <a:spLocks noChangeArrowheads="1"/>
          </p:cNvSpPr>
          <p:nvPr/>
        </p:nvSpPr>
        <p:spPr bwMode="auto">
          <a:xfrm>
            <a:off x="6477000" y="4800600"/>
            <a:ext cx="533400" cy="304800"/>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7180" name="Rectangle 12"/>
          <p:cNvSpPr>
            <a:spLocks noChangeArrowheads="1"/>
          </p:cNvSpPr>
          <p:nvPr/>
        </p:nvSpPr>
        <p:spPr bwMode="auto">
          <a:xfrm>
            <a:off x="7010400" y="4343400"/>
            <a:ext cx="533400" cy="457200"/>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7181" name="Rectangle 13"/>
          <p:cNvSpPr>
            <a:spLocks noChangeArrowheads="1"/>
          </p:cNvSpPr>
          <p:nvPr/>
        </p:nvSpPr>
        <p:spPr bwMode="auto">
          <a:xfrm>
            <a:off x="7543800" y="3429000"/>
            <a:ext cx="533400" cy="914400"/>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graphicFrame>
        <p:nvGraphicFramePr>
          <p:cNvPr id="7182" name="Object 14"/>
          <p:cNvGraphicFramePr>
            <a:graphicFrameLocks noChangeAspect="1"/>
          </p:cNvGraphicFramePr>
          <p:nvPr>
            <p:extLst>
              <p:ext uri="{D42A27DB-BD31-4B8C-83A1-F6EECF244321}">
                <p14:modId xmlns:p14="http://schemas.microsoft.com/office/powerpoint/2010/main" val="1602817373"/>
              </p:ext>
            </p:extLst>
          </p:nvPr>
        </p:nvGraphicFramePr>
        <p:xfrm>
          <a:off x="304800" y="1600200"/>
          <a:ext cx="5334000" cy="4953000"/>
        </p:xfrm>
        <a:graphic>
          <a:graphicData uri="http://schemas.openxmlformats.org/presentationml/2006/ole">
            <mc:AlternateContent xmlns:mc="http://schemas.openxmlformats.org/markup-compatibility/2006">
              <mc:Choice xmlns:v="urn:schemas-microsoft-com:vml" Requires="v">
                <p:oleObj name="Equation" r:id="rId5" imgW="2667000" imgH="2476500" progId="Equation.3">
                  <p:embed/>
                </p:oleObj>
              </mc:Choice>
              <mc:Fallback>
                <p:oleObj name="Equation" r:id="rId5" imgW="2667000" imgH="2476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1600200"/>
                        <a:ext cx="5334000" cy="495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13278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6"/>
          <p:cNvSpPr>
            <a:spLocks noChangeArrowheads="1"/>
          </p:cNvSpPr>
          <p:nvPr/>
        </p:nvSpPr>
        <p:spPr bwMode="auto">
          <a:xfrm>
            <a:off x="381000" y="1371600"/>
            <a:ext cx="4648200" cy="1828800"/>
          </a:xfrm>
          <a:prstGeom prst="rect">
            <a:avLst/>
          </a:prstGeom>
          <a:solidFill>
            <a:schemeClr val="accent1">
              <a:alpha val="2784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195" name="Rectangle 2"/>
          <p:cNvSpPr>
            <a:spLocks noGrp="1" noChangeArrowheads="1"/>
          </p:cNvSpPr>
          <p:nvPr>
            <p:ph type="title"/>
          </p:nvPr>
        </p:nvSpPr>
        <p:spPr/>
        <p:txBody>
          <a:bodyPr/>
          <a:lstStyle/>
          <a:p>
            <a:r>
              <a:rPr lang="sr-Latn-RS" altLang="sr-Latn-RS"/>
              <a:t>Primer</a:t>
            </a:r>
          </a:p>
        </p:txBody>
      </p:sp>
      <p:sp>
        <p:nvSpPr>
          <p:cNvPr id="8196" name="Line 3"/>
          <p:cNvSpPr>
            <a:spLocks noChangeShapeType="1"/>
          </p:cNvSpPr>
          <p:nvPr/>
        </p:nvSpPr>
        <p:spPr bwMode="auto">
          <a:xfrm flipV="1">
            <a:off x="5486400" y="2971800"/>
            <a:ext cx="1588" cy="244633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8197" name="Line 4"/>
          <p:cNvSpPr>
            <a:spLocks noChangeShapeType="1"/>
          </p:cNvSpPr>
          <p:nvPr/>
        </p:nvSpPr>
        <p:spPr bwMode="auto">
          <a:xfrm>
            <a:off x="5637213" y="5410200"/>
            <a:ext cx="3278187" cy="15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graphicFrame>
        <p:nvGraphicFramePr>
          <p:cNvPr id="8198" name="Object 5"/>
          <p:cNvGraphicFramePr>
            <a:graphicFrameLocks noChangeAspect="1"/>
          </p:cNvGraphicFramePr>
          <p:nvPr/>
        </p:nvGraphicFramePr>
        <p:xfrm>
          <a:off x="5545138" y="5540375"/>
          <a:ext cx="2273300" cy="579438"/>
        </p:xfrm>
        <a:graphic>
          <a:graphicData uri="http://schemas.openxmlformats.org/presentationml/2006/ole">
            <mc:AlternateContent xmlns:mc="http://schemas.openxmlformats.org/markup-compatibility/2006">
              <mc:Choice xmlns:v="urn:schemas-microsoft-com:vml" Requires="v">
                <p:oleObj name="Equation" r:id="rId3" imgW="1548728" imgH="393529" progId="Equation.3">
                  <p:embed/>
                </p:oleObj>
              </mc:Choice>
              <mc:Fallback>
                <p:oleObj name="Equation" r:id="rId3" imgW="1548728"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45138" y="5540375"/>
                        <a:ext cx="22733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9" name="Object 6"/>
          <p:cNvGraphicFramePr>
            <a:graphicFrameLocks noChangeAspect="1"/>
          </p:cNvGraphicFramePr>
          <p:nvPr>
            <p:extLst>
              <p:ext uri="{D42A27DB-BD31-4B8C-83A1-F6EECF244321}">
                <p14:modId xmlns:p14="http://schemas.microsoft.com/office/powerpoint/2010/main" val="2751141114"/>
              </p:ext>
            </p:extLst>
          </p:nvPr>
        </p:nvGraphicFramePr>
        <p:xfrm>
          <a:off x="406400" y="1447800"/>
          <a:ext cx="4495800" cy="4614863"/>
        </p:xfrm>
        <a:graphic>
          <a:graphicData uri="http://schemas.openxmlformats.org/presentationml/2006/ole">
            <mc:AlternateContent xmlns:mc="http://schemas.openxmlformats.org/markup-compatibility/2006">
              <mc:Choice xmlns:v="urn:schemas-microsoft-com:vml" Requires="v">
                <p:oleObj name="Equation" r:id="rId5" imgW="2540000" imgH="2463800" progId="Equation.3">
                  <p:embed/>
                </p:oleObj>
              </mc:Choice>
              <mc:Fallback>
                <p:oleObj name="Equation" r:id="rId5" imgW="2540000" imgH="2463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400" y="1447800"/>
                        <a:ext cx="4495800" cy="461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0" name="Freeform 7"/>
          <p:cNvSpPr>
            <a:spLocks/>
          </p:cNvSpPr>
          <p:nvPr/>
        </p:nvSpPr>
        <p:spPr bwMode="auto">
          <a:xfrm>
            <a:off x="5486400" y="3905250"/>
            <a:ext cx="1981200" cy="1495425"/>
          </a:xfrm>
          <a:custGeom>
            <a:avLst/>
            <a:gdLst>
              <a:gd name="T0" fmla="*/ 0 w 1248"/>
              <a:gd name="T1" fmla="*/ 2147483647 h 942"/>
              <a:gd name="T2" fmla="*/ 2147483647 w 1248"/>
              <a:gd name="T3" fmla="*/ 2147483647 h 942"/>
              <a:gd name="T4" fmla="*/ 2147483647 w 1248"/>
              <a:gd name="T5" fmla="*/ 2147483647 h 942"/>
              <a:gd name="T6" fmla="*/ 2147483647 w 1248"/>
              <a:gd name="T7" fmla="*/ 2147483647 h 942"/>
              <a:gd name="T8" fmla="*/ 2147483647 w 1248"/>
              <a:gd name="T9" fmla="*/ 0 h 942"/>
              <a:gd name="T10" fmla="*/ 0 60000 65536"/>
              <a:gd name="T11" fmla="*/ 0 60000 65536"/>
              <a:gd name="T12" fmla="*/ 0 60000 65536"/>
              <a:gd name="T13" fmla="*/ 0 60000 65536"/>
              <a:gd name="T14" fmla="*/ 0 60000 65536"/>
              <a:gd name="T15" fmla="*/ 0 w 1248"/>
              <a:gd name="T16" fmla="*/ 0 h 942"/>
              <a:gd name="T17" fmla="*/ 1248 w 1248"/>
              <a:gd name="T18" fmla="*/ 942 h 942"/>
            </a:gdLst>
            <a:ahLst/>
            <a:cxnLst>
              <a:cxn ang="T10">
                <a:pos x="T0" y="T1"/>
              </a:cxn>
              <a:cxn ang="T11">
                <a:pos x="T2" y="T3"/>
              </a:cxn>
              <a:cxn ang="T12">
                <a:pos x="T4" y="T5"/>
              </a:cxn>
              <a:cxn ang="T13">
                <a:pos x="T6" y="T7"/>
              </a:cxn>
              <a:cxn ang="T14">
                <a:pos x="T8" y="T9"/>
              </a:cxn>
            </a:cxnLst>
            <a:rect l="T15" t="T16" r="T17" b="T18"/>
            <a:pathLst>
              <a:path w="1248" h="942">
                <a:moveTo>
                  <a:pt x="0" y="942"/>
                </a:moveTo>
                <a:cubicBezTo>
                  <a:pt x="54" y="930"/>
                  <a:pt x="218" y="902"/>
                  <a:pt x="323" y="861"/>
                </a:cubicBezTo>
                <a:cubicBezTo>
                  <a:pt x="429" y="821"/>
                  <a:pt x="531" y="767"/>
                  <a:pt x="635" y="700"/>
                </a:cubicBezTo>
                <a:cubicBezTo>
                  <a:pt x="738" y="633"/>
                  <a:pt x="847" y="575"/>
                  <a:pt x="949" y="458"/>
                </a:cubicBezTo>
                <a:cubicBezTo>
                  <a:pt x="1051" y="341"/>
                  <a:pt x="1186" y="95"/>
                  <a:pt x="1248" y="0"/>
                </a:cubicBez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sr-Latn-RS"/>
          </a:p>
        </p:txBody>
      </p:sp>
      <p:sp>
        <p:nvSpPr>
          <p:cNvPr id="8201" name="Rectangle 8"/>
          <p:cNvSpPr>
            <a:spLocks noChangeArrowheads="1"/>
          </p:cNvSpPr>
          <p:nvPr/>
        </p:nvSpPr>
        <p:spPr bwMode="auto">
          <a:xfrm flipV="1">
            <a:off x="5988050" y="5257800"/>
            <a:ext cx="488950" cy="152400"/>
          </a:xfrm>
          <a:prstGeom prst="rect">
            <a:avLst/>
          </a:prstGeom>
          <a:solidFill>
            <a:schemeClr val="accent1">
              <a:alpha val="2784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202" name="Rectangle 9"/>
          <p:cNvSpPr>
            <a:spLocks noChangeArrowheads="1"/>
          </p:cNvSpPr>
          <p:nvPr/>
        </p:nvSpPr>
        <p:spPr bwMode="auto">
          <a:xfrm>
            <a:off x="6477000" y="5033963"/>
            <a:ext cx="488950" cy="376237"/>
          </a:xfrm>
          <a:prstGeom prst="rect">
            <a:avLst/>
          </a:prstGeom>
          <a:solidFill>
            <a:schemeClr val="accent1">
              <a:alpha val="2784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203" name="Rectangle 10"/>
          <p:cNvSpPr>
            <a:spLocks noChangeArrowheads="1"/>
          </p:cNvSpPr>
          <p:nvPr/>
        </p:nvSpPr>
        <p:spPr bwMode="auto">
          <a:xfrm>
            <a:off x="6978650" y="4657725"/>
            <a:ext cx="488950" cy="752475"/>
          </a:xfrm>
          <a:prstGeom prst="rect">
            <a:avLst/>
          </a:prstGeom>
          <a:solidFill>
            <a:schemeClr val="accent1">
              <a:alpha val="27843"/>
            </a:scheme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204" name="Rectangle 11"/>
          <p:cNvSpPr>
            <a:spLocks noChangeArrowheads="1"/>
          </p:cNvSpPr>
          <p:nvPr/>
        </p:nvSpPr>
        <p:spPr bwMode="auto">
          <a:xfrm flipV="1">
            <a:off x="5486400" y="5284788"/>
            <a:ext cx="488950" cy="125412"/>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205" name="Rectangle 12"/>
          <p:cNvSpPr>
            <a:spLocks noChangeArrowheads="1"/>
          </p:cNvSpPr>
          <p:nvPr/>
        </p:nvSpPr>
        <p:spPr bwMode="auto">
          <a:xfrm>
            <a:off x="5988050" y="5029200"/>
            <a:ext cx="488950" cy="228600"/>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206" name="Rectangle 13"/>
          <p:cNvSpPr>
            <a:spLocks noChangeArrowheads="1"/>
          </p:cNvSpPr>
          <p:nvPr/>
        </p:nvSpPr>
        <p:spPr bwMode="auto">
          <a:xfrm>
            <a:off x="6477000" y="4652963"/>
            <a:ext cx="488950" cy="376237"/>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207" name="Rectangle 14"/>
          <p:cNvSpPr>
            <a:spLocks noChangeArrowheads="1"/>
          </p:cNvSpPr>
          <p:nvPr/>
        </p:nvSpPr>
        <p:spPr bwMode="auto">
          <a:xfrm>
            <a:off x="6978650" y="3895725"/>
            <a:ext cx="488950" cy="752475"/>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8208" name="Rectangle 15"/>
          <p:cNvSpPr>
            <a:spLocks noChangeArrowheads="1"/>
          </p:cNvSpPr>
          <p:nvPr/>
        </p:nvSpPr>
        <p:spPr bwMode="auto">
          <a:xfrm>
            <a:off x="381000" y="3200400"/>
            <a:ext cx="4648200" cy="1676400"/>
          </a:xfrm>
          <a:prstGeom prst="rect">
            <a:avLst/>
          </a:prstGeom>
          <a:solidFill>
            <a:srgbClr val="FF00FF">
              <a:alpha val="27843"/>
            </a:srgbClr>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dirty="0">
              <a:latin typeface="Verdana" pitchFamily="34" charset="0"/>
              <a:cs typeface="Arial" charset="0"/>
            </a:endParaRPr>
          </a:p>
        </p:txBody>
      </p:sp>
    </p:spTree>
    <p:extLst>
      <p:ext uri="{BB962C8B-B14F-4D97-AF65-F5344CB8AC3E}">
        <p14:creationId xmlns:p14="http://schemas.microsoft.com/office/powerpoint/2010/main" val="1816045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sr-Latn-RS" altLang="sr-Latn-RS"/>
              <a:t>Donja i gornja suma</a:t>
            </a:r>
          </a:p>
        </p:txBody>
      </p:sp>
      <p:sp>
        <p:nvSpPr>
          <p:cNvPr id="9219" name="Rectangle 3"/>
          <p:cNvSpPr>
            <a:spLocks noGrp="1" noChangeArrowheads="1"/>
          </p:cNvSpPr>
          <p:nvPr>
            <p:ph type="body" idx="1"/>
          </p:nvPr>
        </p:nvSpPr>
        <p:spPr/>
        <p:txBody>
          <a:bodyPr/>
          <a:lstStyle/>
          <a:p>
            <a:pPr>
              <a:spcBef>
                <a:spcPct val="50000"/>
              </a:spcBef>
            </a:pPr>
            <a:r>
              <a:rPr lang="en-US" dirty="0"/>
              <a:t>N</a:t>
            </a:r>
            <a:r>
              <a:rPr lang="sr-Latn-RS" dirty="0"/>
              <a:t>edostatak </a:t>
            </a:r>
            <a:r>
              <a:rPr lang="en-US" altLang="sr-Latn-RS" dirty="0"/>
              <a:t>p</a:t>
            </a:r>
            <a:r>
              <a:rPr lang="sr-Latn-RS" altLang="sr-Latn-RS" dirty="0"/>
              <a:t>rocene integrala pomoću donje i gornje sume</a:t>
            </a:r>
            <a:r>
              <a:rPr lang="sr-Latn-RS" dirty="0"/>
              <a:t> je to što za svaki podinterval moramo da znamo minimalnu i maksimalnu vrednost funkcije</a:t>
            </a:r>
            <a:endParaRPr lang="en-US" dirty="0"/>
          </a:p>
          <a:p>
            <a:pPr>
              <a:spcBef>
                <a:spcPct val="50000"/>
              </a:spcBef>
            </a:pPr>
            <a:endParaRPr lang="en-US" altLang="sr-Latn-RS" dirty="0"/>
          </a:p>
          <a:p>
            <a:pPr eaLnBrk="1" hangingPunct="1">
              <a:spcBef>
                <a:spcPct val="50000"/>
              </a:spcBef>
            </a:pPr>
            <a:r>
              <a:rPr lang="en-US" altLang="sr-Latn-RS" dirty="0" err="1"/>
              <a:t>Ove</a:t>
            </a:r>
            <a:r>
              <a:rPr lang="en-US" altLang="sr-Latn-RS" dirty="0"/>
              <a:t> </a:t>
            </a:r>
            <a:r>
              <a:rPr lang="en-US" altLang="sr-Latn-RS" dirty="0" err="1"/>
              <a:t>vrednosti</a:t>
            </a:r>
            <a:r>
              <a:rPr lang="en-US" altLang="sr-Latn-RS" dirty="0"/>
              <a:t> je </a:t>
            </a:r>
            <a:r>
              <a:rPr lang="en-US" altLang="sr-Latn-RS" dirty="0" err="1"/>
              <a:t>lako</a:t>
            </a:r>
            <a:r>
              <a:rPr lang="en-US" altLang="sr-Latn-RS" dirty="0"/>
              <a:t> </a:t>
            </a:r>
            <a:r>
              <a:rPr lang="en-US" altLang="sr-Latn-RS" dirty="0" err="1"/>
              <a:t>utvrditi</a:t>
            </a:r>
            <a:r>
              <a:rPr lang="sr-Latn-RS" altLang="sr-Latn-RS" dirty="0"/>
              <a:t> samo za</a:t>
            </a:r>
            <a:r>
              <a:rPr lang="en-US" altLang="sr-Latn-RS" dirty="0"/>
              <a:t> </a:t>
            </a:r>
            <a:r>
              <a:rPr lang="sr-Latn-RS" altLang="sr-Latn-RS" b="1" u="sng" dirty="0">
                <a:solidFill>
                  <a:srgbClr val="FF0000"/>
                </a:solidFill>
              </a:rPr>
              <a:t>monotone</a:t>
            </a:r>
            <a:r>
              <a:rPr lang="en-US" altLang="sr-Latn-RS" dirty="0"/>
              <a:t> </a:t>
            </a:r>
            <a:r>
              <a:rPr lang="sr-Latn-RS" altLang="sr-Latn-RS" dirty="0"/>
              <a:t>funkcije</a:t>
            </a:r>
            <a:r>
              <a:rPr lang="en-US" altLang="sr-Latn-RS" dirty="0"/>
              <a:t> (</a:t>
            </a:r>
            <a:r>
              <a:rPr lang="sr-Latn-RS" altLang="sr-Latn-RS" dirty="0">
                <a:solidFill>
                  <a:srgbClr val="FF0000"/>
                </a:solidFill>
              </a:rPr>
              <a:t>uvek rastu ili uvek opadaju</a:t>
            </a:r>
            <a:r>
              <a:rPr lang="en-US" altLang="sr-Latn-RS" dirty="0"/>
              <a:t>)</a:t>
            </a:r>
          </a:p>
          <a:p>
            <a:pPr eaLnBrk="1" hangingPunct="1">
              <a:spcBef>
                <a:spcPct val="50000"/>
              </a:spcBef>
            </a:pPr>
            <a:endParaRPr lang="en-US" altLang="sr-Latn-RS" dirty="0"/>
          </a:p>
          <a:p>
            <a:pPr eaLnBrk="1" hangingPunct="1">
              <a:spcBef>
                <a:spcPct val="50000"/>
              </a:spcBef>
            </a:pPr>
            <a:r>
              <a:rPr lang="sr-Latn-RS" altLang="sr-Latn-RS" dirty="0"/>
              <a:t>Za</a:t>
            </a:r>
            <a:r>
              <a:rPr lang="en-US" altLang="sr-Latn-RS" dirty="0"/>
              <a:t> </a:t>
            </a:r>
            <a:r>
              <a:rPr lang="sr-Latn-RS" altLang="sr-Latn-RS" dirty="0"/>
              <a:t>funkcije koje nisu monotone</a:t>
            </a:r>
            <a:r>
              <a:rPr lang="en-US" altLang="sr-Latn-RS" dirty="0"/>
              <a:t>, </a:t>
            </a:r>
            <a:r>
              <a:rPr lang="sr-Latn-RS" altLang="sr-Latn-RS" dirty="0"/>
              <a:t>određivanje minimuma i maksimuma nije uvek jednostavno</a:t>
            </a:r>
            <a:r>
              <a:rPr lang="en-US" altLang="sr-Latn-RS" dirty="0"/>
              <a:t> </a:t>
            </a:r>
            <a:r>
              <a:rPr lang="en-US" altLang="sr-Latn-RS" dirty="0" err="1"/>
              <a:t>i</a:t>
            </a:r>
            <a:r>
              <a:rPr lang="en-US" altLang="sr-Latn-RS" dirty="0"/>
              <a:t> </a:t>
            </a:r>
            <a:r>
              <a:rPr lang="en-US" altLang="sr-Latn-RS" dirty="0" err="1"/>
              <a:t>mo</a:t>
            </a:r>
            <a:r>
              <a:rPr lang="sr-Latn-RS" altLang="sr-Latn-RS" dirty="0"/>
              <a:t>že biti računski neefikasno</a:t>
            </a:r>
          </a:p>
        </p:txBody>
      </p:sp>
    </p:spTree>
    <p:extLst>
      <p:ext uri="{BB962C8B-B14F-4D97-AF65-F5344CB8AC3E}">
        <p14:creationId xmlns:p14="http://schemas.microsoft.com/office/powerpoint/2010/main" val="58655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fade">
                                      <p:cBhvr>
                                        <p:cTn id="7" dur="500"/>
                                        <p:tgtEl>
                                          <p:spTgt spid="92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219">
                                            <p:txEl>
                                              <p:pRg st="2" end="2"/>
                                            </p:txEl>
                                          </p:spTgt>
                                        </p:tgtEl>
                                        <p:attrNameLst>
                                          <p:attrName>style.visibility</p:attrName>
                                        </p:attrNameLst>
                                      </p:cBhvr>
                                      <p:to>
                                        <p:strVal val="visible"/>
                                      </p:to>
                                    </p:set>
                                    <p:animEffect transition="in" filter="fade">
                                      <p:cBhvr>
                                        <p:cTn id="12" dur="500"/>
                                        <p:tgtEl>
                                          <p:spTgt spid="921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219">
                                            <p:txEl>
                                              <p:pRg st="4" end="4"/>
                                            </p:txEl>
                                          </p:spTgt>
                                        </p:tgtEl>
                                        <p:attrNameLst>
                                          <p:attrName>style.visibility</p:attrName>
                                        </p:attrNameLst>
                                      </p:cBhvr>
                                      <p:to>
                                        <p:strVal val="visible"/>
                                      </p:to>
                                    </p:set>
                                    <p:animEffect transition="in" filter="fade">
                                      <p:cBhvr>
                                        <p:cTn id="17" dur="5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33400" y="274638"/>
            <a:ext cx="8229600" cy="1143000"/>
          </a:xfrm>
        </p:spPr>
        <p:txBody>
          <a:bodyPr/>
          <a:lstStyle/>
          <a:p>
            <a:r>
              <a:rPr lang="sr-Latn-RS" altLang="sr-Latn-RS"/>
              <a:t>Njutn-Kotesove metode</a:t>
            </a:r>
          </a:p>
        </p:txBody>
      </p:sp>
      <p:sp>
        <p:nvSpPr>
          <p:cNvPr id="10243" name="Rectangle 3"/>
          <p:cNvSpPr>
            <a:spLocks noGrp="1" noChangeArrowheads="1"/>
          </p:cNvSpPr>
          <p:nvPr>
            <p:ph type="body" idx="1"/>
          </p:nvPr>
        </p:nvSpPr>
        <p:spPr>
          <a:xfrm>
            <a:off x="457200" y="1600200"/>
            <a:ext cx="8458200" cy="4525963"/>
          </a:xfrm>
        </p:spPr>
        <p:txBody>
          <a:bodyPr/>
          <a:lstStyle/>
          <a:p>
            <a:pPr eaLnBrk="1" hangingPunct="1"/>
            <a:r>
              <a:rPr lang="sr-Latn-RS" altLang="sr-Latn-RS" sz="2800" dirty="0"/>
              <a:t>Funkciju čiji se integral izračunava</a:t>
            </a:r>
            <a:r>
              <a:rPr lang="en-US" altLang="sr-Latn-RS" sz="2800" dirty="0"/>
              <a:t> </a:t>
            </a:r>
            <a:r>
              <a:rPr lang="sr-Latn-RS" altLang="sr-Latn-RS" sz="2800" dirty="0"/>
              <a:t>aproksimiramo</a:t>
            </a:r>
            <a:r>
              <a:rPr lang="en-US" altLang="sr-Latn-RS" sz="2800" dirty="0"/>
              <a:t> </a:t>
            </a:r>
            <a:r>
              <a:rPr lang="sr-Latn-RS" altLang="sr-Latn-RS" sz="2800" dirty="0">
                <a:solidFill>
                  <a:srgbClr val="FF0000"/>
                </a:solidFill>
              </a:rPr>
              <a:t>polinomom stepena</a:t>
            </a:r>
            <a:r>
              <a:rPr lang="en-US" altLang="sr-Latn-RS" sz="2800" dirty="0">
                <a:solidFill>
                  <a:srgbClr val="FF0000"/>
                </a:solidFill>
              </a:rPr>
              <a:t> </a:t>
            </a:r>
            <a:r>
              <a:rPr lang="en-US" altLang="sr-Latn-RS" sz="2800" i="1" dirty="0">
                <a:solidFill>
                  <a:srgbClr val="FF0000"/>
                </a:solidFill>
              </a:rPr>
              <a:t>n</a:t>
            </a:r>
            <a:endParaRPr lang="sr-Latn-RS" altLang="sr-Latn-RS" sz="2800" dirty="0"/>
          </a:p>
          <a:p>
            <a:pPr eaLnBrk="1" hangingPunct="1"/>
            <a:r>
              <a:rPr lang="sr-Latn-RS" altLang="sr-Latn-RS" sz="2800" dirty="0"/>
              <a:t>Zatim, integral dobijenog polinoma računamo analitički</a:t>
            </a:r>
            <a:endParaRPr lang="en-US" altLang="sr-Latn-RS" sz="2800" dirty="0"/>
          </a:p>
        </p:txBody>
      </p:sp>
      <p:graphicFrame>
        <p:nvGraphicFramePr>
          <p:cNvPr id="10244" name="Object 4"/>
          <p:cNvGraphicFramePr>
            <a:graphicFrameLocks noChangeAspect="1"/>
          </p:cNvGraphicFramePr>
          <p:nvPr>
            <p:extLst>
              <p:ext uri="{D42A27DB-BD31-4B8C-83A1-F6EECF244321}">
                <p14:modId xmlns:p14="http://schemas.microsoft.com/office/powerpoint/2010/main" val="4144944185"/>
              </p:ext>
            </p:extLst>
          </p:nvPr>
        </p:nvGraphicFramePr>
        <p:xfrm>
          <a:off x="266700" y="3897313"/>
          <a:ext cx="8610600" cy="1970087"/>
        </p:xfrm>
        <a:graphic>
          <a:graphicData uri="http://schemas.openxmlformats.org/presentationml/2006/ole">
            <mc:AlternateContent xmlns:mc="http://schemas.openxmlformats.org/markup-compatibility/2006">
              <mc:Choice xmlns:v="urn:schemas-microsoft-com:vml" Requires="v">
                <p:oleObj name="Equation" r:id="rId3" imgW="3441700" imgH="787400" progId="Equation.3">
                  <p:embed/>
                </p:oleObj>
              </mc:Choice>
              <mc:Fallback>
                <p:oleObj name="Equation" r:id="rId3" imgW="3441700" imgH="787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 y="3897313"/>
                        <a:ext cx="8610600" cy="197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722226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fade">
                                      <p:cBhvr>
                                        <p:cTn id="7" dur="500"/>
                                        <p:tgtEl>
                                          <p:spTgt spid="102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fade">
                                      <p:cBhvr>
                                        <p:cTn id="12" dur="500"/>
                                        <p:tgtEl>
                                          <p:spTgt spid="102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44"/>
                                        </p:tgtEl>
                                        <p:attrNameLst>
                                          <p:attrName>style.visibility</p:attrName>
                                        </p:attrNameLst>
                                      </p:cBhvr>
                                      <p:to>
                                        <p:strVal val="visible"/>
                                      </p:to>
                                    </p:set>
                                    <p:animEffect transition="in" filter="fade">
                                      <p:cBhvr>
                                        <p:cTn id="17"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09600" y="304800"/>
            <a:ext cx="8229600" cy="1143000"/>
          </a:xfrm>
        </p:spPr>
        <p:txBody>
          <a:bodyPr/>
          <a:lstStyle/>
          <a:p>
            <a:r>
              <a:rPr lang="sr-Latn-RS" altLang="sr-Latn-RS"/>
              <a:t>Njutn-Kotesove metode</a:t>
            </a:r>
          </a:p>
        </p:txBody>
      </p:sp>
      <mc:AlternateContent xmlns:mc="http://schemas.openxmlformats.org/markup-compatibility/2006" xmlns:a14="http://schemas.microsoft.com/office/drawing/2010/main">
        <mc:Choice Requires="a14">
          <p:sp>
            <p:nvSpPr>
              <p:cNvPr id="11267" name="Rectangle 3"/>
              <p:cNvSpPr>
                <a:spLocks noGrp="1" noChangeArrowheads="1"/>
              </p:cNvSpPr>
              <p:nvPr>
                <p:ph type="body" idx="1"/>
              </p:nvPr>
            </p:nvSpPr>
            <p:spPr>
              <a:xfrm>
                <a:off x="457200" y="1600200"/>
                <a:ext cx="8229600" cy="5029200"/>
              </a:xfrm>
            </p:spPr>
            <p:txBody>
              <a:bodyPr>
                <a:normAutofit fontScale="92500" lnSpcReduction="10000"/>
              </a:bodyPr>
              <a:lstStyle/>
              <a:p>
                <a:r>
                  <a:rPr lang="sr-Latn-RS" altLang="sr-Latn-RS" sz="2800" dirty="0"/>
                  <a:t>Ako koristimo polinom prvog stepena imamo: </a:t>
                </a:r>
                <a:r>
                  <a:rPr lang="sr-Latn-RS" altLang="sr-Latn-RS" sz="2800" dirty="0">
                    <a:solidFill>
                      <a:srgbClr val="FF0000"/>
                    </a:solidFill>
                  </a:rPr>
                  <a:t>Metodu Trapeza</a:t>
                </a:r>
                <a:endParaRPr lang="en-US" altLang="sr-Latn-RS" sz="2800" dirty="0"/>
              </a:p>
              <a:p>
                <a:pPr marL="0" indent="0">
                  <a:spcBef>
                    <a:spcPts val="1200"/>
                  </a:spcBef>
                  <a:spcAft>
                    <a:spcPts val="1200"/>
                  </a:spcAft>
                  <a:buNone/>
                </a:pPr>
                <a14:m>
                  <m:oMathPara xmlns:m="http://schemas.openxmlformats.org/officeDocument/2006/math">
                    <m:oMathParaPr>
                      <m:jc m:val="centerGroup"/>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𝑎</m:t>
                          </m:r>
                        </m:sub>
                        <m:sup>
                          <m:r>
                            <a:rPr lang="en-US" sz="2400" i="1">
                              <a:solidFill>
                                <a:srgbClr val="000000"/>
                              </a:solidFill>
                              <a:latin typeface="Cambria Math" panose="02040503050406030204" pitchFamily="18" charset="0"/>
                            </a:rPr>
                            <m:t>𝑏</m:t>
                          </m:r>
                        </m:sup>
                        <m:e>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𝑑𝑥</m:t>
                          </m:r>
                          <m:r>
                            <a:rPr lang="en-US" sz="2400" i="1">
                              <a:solidFill>
                                <a:srgbClr val="000000"/>
                              </a:solidFill>
                              <a:latin typeface="Cambria Math" panose="02040503050406030204" pitchFamily="18" charset="0"/>
                            </a:rPr>
                            <m:t>≈</m:t>
                          </m:r>
                        </m:e>
                      </m:nary>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𝑎</m:t>
                          </m:r>
                        </m:sub>
                        <m:sup>
                          <m:r>
                            <a:rPr lang="en-US" sz="2400" i="1">
                              <a:solidFill>
                                <a:srgbClr val="000000"/>
                              </a:solidFill>
                              <a:latin typeface="Cambria Math" panose="02040503050406030204" pitchFamily="18" charset="0"/>
                            </a:rPr>
                            <m:t>𝑏</m:t>
                          </m:r>
                        </m:sup>
                        <m:e>
                          <m:d>
                            <m:dPr>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𝑥</m:t>
                              </m:r>
                            </m:e>
                          </m:d>
                          <m:r>
                            <a:rPr lang="en-US" sz="2400" i="1">
                              <a:solidFill>
                                <a:srgbClr val="000000"/>
                              </a:solidFill>
                              <a:latin typeface="Cambria Math" panose="02040503050406030204" pitchFamily="18" charset="0"/>
                            </a:rPr>
                            <m:t>𝑑𝑥</m:t>
                          </m:r>
                        </m:e>
                      </m:nary>
                    </m:oMath>
                  </m:oMathPara>
                </a14:m>
                <a:br>
                  <a:rPr lang="en-US" sz="2400" i="1" dirty="0">
                    <a:solidFill>
                      <a:srgbClr val="000000"/>
                    </a:solidFill>
                    <a:latin typeface="Cambria Math" panose="02040503050406030204" pitchFamily="18" charset="0"/>
                  </a:rPr>
                </a:br>
                <a:endParaRPr lang="en-US" altLang="sr-Latn-RS" sz="2400" dirty="0"/>
              </a:p>
              <a:p>
                <a:r>
                  <a:rPr lang="sr-Latn-RS" altLang="sr-Latn-RS" sz="2800" dirty="0"/>
                  <a:t>Ako koristimo polinom drugog stepena imamo: </a:t>
                </a:r>
                <a:r>
                  <a:rPr lang="sr-Latn-RS" altLang="sr-Latn-RS" sz="2800" dirty="0">
                    <a:solidFill>
                      <a:srgbClr val="FF0000"/>
                    </a:solidFill>
                  </a:rPr>
                  <a:t>Simpsonovu 1/3 metodu</a:t>
                </a:r>
                <a:endParaRPr lang="en-US" altLang="sr-Latn-RS" sz="2800" dirty="0">
                  <a:solidFill>
                    <a:srgbClr val="FF0000"/>
                  </a:solidFill>
                </a:endParaRPr>
              </a:p>
              <a:p>
                <a:pPr marL="274320" lvl="1" indent="0">
                  <a:spcBef>
                    <a:spcPts val="1200"/>
                  </a:spcBef>
                  <a:spcAft>
                    <a:spcPts val="1200"/>
                  </a:spcAft>
                  <a:buNone/>
                </a:pPr>
                <a14:m>
                  <m:oMathPara xmlns:m="http://schemas.openxmlformats.org/officeDocument/2006/math">
                    <m:oMathParaPr>
                      <m:jc m:val="centerGroup"/>
                    </m:oMathParaPr>
                    <m:oMath xmlns:m="http://schemas.openxmlformats.org/officeDocument/2006/math">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𝑎</m:t>
                          </m:r>
                        </m:sub>
                        <m:sup>
                          <m:r>
                            <a:rPr lang="en-US" sz="2400" i="1">
                              <a:solidFill>
                                <a:srgbClr val="000000"/>
                              </a:solidFill>
                              <a:latin typeface="Cambria Math" panose="02040503050406030204" pitchFamily="18" charset="0"/>
                            </a:rPr>
                            <m:t>𝑏</m:t>
                          </m:r>
                        </m:sup>
                        <m:e>
                          <m:r>
                            <a:rPr lang="en-US" sz="2400" i="1">
                              <a:solidFill>
                                <a:srgbClr val="000000"/>
                              </a:solidFill>
                              <a:latin typeface="Cambria Math" panose="02040503050406030204" pitchFamily="18" charset="0"/>
                            </a:rPr>
                            <m:t>𝑓</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𝑑𝑥</m:t>
                          </m:r>
                          <m:r>
                            <a:rPr lang="en-US" sz="2400" i="1">
                              <a:solidFill>
                                <a:srgbClr val="000000"/>
                              </a:solidFill>
                              <a:latin typeface="Cambria Math" panose="02040503050406030204" pitchFamily="18" charset="0"/>
                            </a:rPr>
                            <m:t>≈</m:t>
                          </m:r>
                        </m:e>
                      </m:nary>
                      <m:nary>
                        <m:naryPr>
                          <m:ctrlPr>
                            <a:rPr lang="en-US" sz="2400" i="1">
                              <a:solidFill>
                                <a:srgbClr val="000000"/>
                              </a:solidFill>
                              <a:latin typeface="Cambria Math" panose="02040503050406030204" pitchFamily="18" charset="0"/>
                            </a:rPr>
                          </m:ctrlPr>
                        </m:naryPr>
                        <m:sub>
                          <m:r>
                            <a:rPr lang="en-US" sz="2400" i="1">
                              <a:solidFill>
                                <a:srgbClr val="000000"/>
                              </a:solidFill>
                              <a:latin typeface="Cambria Math" panose="02040503050406030204" pitchFamily="18" charset="0"/>
                            </a:rPr>
                            <m:t>𝑎</m:t>
                          </m:r>
                        </m:sub>
                        <m:sup>
                          <m:r>
                            <a:rPr lang="en-US" sz="2400" i="1">
                              <a:solidFill>
                                <a:srgbClr val="000000"/>
                              </a:solidFill>
                              <a:latin typeface="Cambria Math" panose="02040503050406030204" pitchFamily="18" charset="0"/>
                            </a:rPr>
                            <m:t>𝑏</m:t>
                          </m:r>
                        </m:sup>
                        <m:e>
                          <m:d>
                            <m:dPr>
                              <m:ctrlPr>
                                <a:rPr lang="en-US" sz="2400" i="1">
                                  <a:solidFill>
                                    <a:srgbClr val="000000"/>
                                  </a:solidFill>
                                  <a:latin typeface="Cambria Math" panose="02040503050406030204" pitchFamily="18" charset="0"/>
                                </a:rPr>
                              </m:ctrlPr>
                            </m:dPr>
                            <m:e>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1</m:t>
                                  </m:r>
                                </m:sub>
                              </m:sSub>
                              <m:r>
                                <a:rPr lang="en-US" sz="2400" i="1">
                                  <a:solidFill>
                                    <a:srgbClr val="000000"/>
                                  </a:solidFill>
                                  <a:latin typeface="Cambria Math" panose="02040503050406030204" pitchFamily="18" charset="0"/>
                                </a:rPr>
                                <m:t>𝑥</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𝑎</m:t>
                                  </m:r>
                                </m:e>
                                <m:sub>
                                  <m:r>
                                    <a:rPr lang="en-US" sz="2400" i="1">
                                      <a:solidFill>
                                        <a:srgbClr val="000000"/>
                                      </a:solidFill>
                                      <a:latin typeface="Cambria Math" panose="02040503050406030204" pitchFamily="18" charset="0"/>
                                    </a:rPr>
                                    <m:t>2</m:t>
                                  </m:r>
                                </m:sub>
                              </m:sSub>
                              <m:sSup>
                                <m:sSupPr>
                                  <m:ctrlPr>
                                    <a:rPr lang="en-US" sz="2400" i="1">
                                      <a:solidFill>
                                        <a:srgbClr val="000000"/>
                                      </a:solidFill>
                                      <a:latin typeface="Cambria Math" panose="02040503050406030204" pitchFamily="18" charset="0"/>
                                    </a:rPr>
                                  </m:ctrlPr>
                                </m:sSupPr>
                                <m:e>
                                  <m:r>
                                    <a:rPr lang="en-US" sz="2400" i="1">
                                      <a:solidFill>
                                        <a:srgbClr val="000000"/>
                                      </a:solidFill>
                                      <a:latin typeface="Cambria Math" panose="02040503050406030204" pitchFamily="18" charset="0"/>
                                    </a:rPr>
                                    <m:t>𝑥</m:t>
                                  </m:r>
                                </m:e>
                                <m:sup>
                                  <m:r>
                                    <a:rPr lang="en-US" sz="2400" i="1">
                                      <a:solidFill>
                                        <a:srgbClr val="000000"/>
                                      </a:solidFill>
                                      <a:latin typeface="Cambria Math" panose="02040503050406030204" pitchFamily="18" charset="0"/>
                                    </a:rPr>
                                    <m:t>2</m:t>
                                  </m:r>
                                </m:sup>
                              </m:sSup>
                            </m:e>
                          </m:d>
                          <m:r>
                            <a:rPr lang="en-US" sz="2400" i="1">
                              <a:solidFill>
                                <a:srgbClr val="000000"/>
                              </a:solidFill>
                              <a:latin typeface="Cambria Math" panose="02040503050406030204" pitchFamily="18" charset="0"/>
                            </a:rPr>
                            <m:t>𝑑𝑥</m:t>
                          </m:r>
                        </m:e>
                      </m:nary>
                    </m:oMath>
                  </m:oMathPara>
                </a14:m>
                <a:endParaRPr lang="sr-Latn-RS" altLang="sr-Latn-RS" sz="2400" dirty="0"/>
              </a:p>
              <a:p>
                <a:r>
                  <a:rPr lang="sr-Latn-RS" altLang="sr-Latn-RS" sz="2800" dirty="0"/>
                  <a:t>Ako koristimo polinom trećeg stepena imamo: </a:t>
                </a:r>
                <a:r>
                  <a:rPr lang="sr-Latn-RS" altLang="sr-Latn-RS" sz="2800" dirty="0">
                    <a:solidFill>
                      <a:srgbClr val="FF0000"/>
                    </a:solidFill>
                  </a:rPr>
                  <a:t>Simpsonovu 3/8 metodu</a:t>
                </a:r>
                <a:endParaRPr lang="en-US" altLang="sr-Latn-RS" sz="2800" dirty="0">
                  <a:solidFill>
                    <a:srgbClr val="FF0000"/>
                  </a:solidFill>
                </a:endParaRPr>
              </a:p>
              <a:p>
                <a:pPr marL="0" indent="0">
                  <a:spcBef>
                    <a:spcPts val="1200"/>
                  </a:spcBef>
                  <a:spcAft>
                    <a:spcPts val="1200"/>
                  </a:spcAft>
                  <a:buNone/>
                </a:pPr>
                <a14:m>
                  <m:oMathPara xmlns:m="http://schemas.openxmlformats.org/officeDocument/2006/math">
                    <m:oMathParaPr>
                      <m:jc m:val="centerGroup"/>
                    </m:oMathParaPr>
                    <m:oMath xmlns:m="http://schemas.openxmlformats.org/officeDocument/2006/math">
                      <m:nary>
                        <m:naryPr>
                          <m:ctrlPr>
                            <a:rPr lang="en-US" i="1">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𝑎</m:t>
                          </m:r>
                        </m:sub>
                        <m:sup>
                          <m:r>
                            <a:rPr lang="en-US" i="1">
                              <a:solidFill>
                                <a:srgbClr val="000000"/>
                              </a:solidFill>
                              <a:latin typeface="Cambria Math" panose="02040503050406030204" pitchFamily="18" charset="0"/>
                            </a:rPr>
                            <m:t>𝑏</m:t>
                          </m:r>
                        </m:sup>
                        <m:e>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𝑑𝑥</m:t>
                          </m:r>
                          <m:r>
                            <a:rPr lang="en-US" i="1">
                              <a:solidFill>
                                <a:srgbClr val="000000"/>
                              </a:solidFill>
                              <a:latin typeface="Cambria Math" panose="02040503050406030204" pitchFamily="18" charset="0"/>
                            </a:rPr>
                            <m:t>≈</m:t>
                          </m:r>
                        </m:e>
                      </m:nary>
                      <m:nary>
                        <m:naryPr>
                          <m:ctrlPr>
                            <a:rPr lang="en-US" i="1">
                              <a:solidFill>
                                <a:srgbClr val="000000"/>
                              </a:solidFill>
                              <a:latin typeface="Cambria Math" panose="02040503050406030204" pitchFamily="18" charset="0"/>
                            </a:rPr>
                          </m:ctrlPr>
                        </m:naryPr>
                        <m:sub>
                          <m:r>
                            <a:rPr lang="en-US" i="1">
                              <a:solidFill>
                                <a:srgbClr val="000000"/>
                              </a:solidFill>
                              <a:latin typeface="Cambria Math" panose="02040503050406030204" pitchFamily="18" charset="0"/>
                            </a:rPr>
                            <m:t>𝑎</m:t>
                          </m:r>
                        </m:sub>
                        <m:sup>
                          <m:r>
                            <a:rPr lang="en-US" i="1">
                              <a:solidFill>
                                <a:srgbClr val="000000"/>
                              </a:solidFill>
                              <a:latin typeface="Cambria Math" panose="02040503050406030204" pitchFamily="18" charset="0"/>
                            </a:rPr>
                            <m:t>𝑏</m:t>
                          </m:r>
                        </m:sup>
                        <m:e>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0</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𝑥</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2</m:t>
                                  </m:r>
                                </m:sub>
                              </m:sSub>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𝑥</m:t>
                                  </m:r>
                                </m:e>
                                <m:sup>
                                  <m:r>
                                    <a:rPr lang="en-US" i="1">
                                      <a:solidFill>
                                        <a:srgbClr val="000000"/>
                                      </a:solidFill>
                                      <a:latin typeface="Cambria Math" panose="02040503050406030204" pitchFamily="18" charset="0"/>
                                    </a:rPr>
                                    <m:t>2</m:t>
                                  </m:r>
                                </m:sup>
                              </m:sSup>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𝑎</m:t>
                                  </m:r>
                                </m:e>
                                <m:sub>
                                  <m:r>
                                    <a:rPr lang="en-US" i="1">
                                      <a:solidFill>
                                        <a:srgbClr val="000000"/>
                                      </a:solidFill>
                                      <a:latin typeface="Cambria Math" panose="02040503050406030204" pitchFamily="18" charset="0"/>
                                    </a:rPr>
                                    <m:t>3</m:t>
                                  </m:r>
                                </m:sub>
                              </m:sSub>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𝑥</m:t>
                                  </m:r>
                                </m:e>
                                <m:sup>
                                  <m:r>
                                    <a:rPr lang="en-US" i="1">
                                      <a:solidFill>
                                        <a:srgbClr val="000000"/>
                                      </a:solidFill>
                                      <a:latin typeface="Cambria Math" panose="02040503050406030204" pitchFamily="18" charset="0"/>
                                    </a:rPr>
                                    <m:t>3</m:t>
                                  </m:r>
                                </m:sup>
                              </m:sSup>
                            </m:e>
                          </m:d>
                          <m:r>
                            <a:rPr lang="en-US" i="1">
                              <a:solidFill>
                                <a:srgbClr val="000000"/>
                              </a:solidFill>
                              <a:latin typeface="Cambria Math" panose="02040503050406030204" pitchFamily="18" charset="0"/>
                            </a:rPr>
                            <m:t>𝑑𝑥</m:t>
                          </m:r>
                        </m:e>
                      </m:nary>
                    </m:oMath>
                  </m:oMathPara>
                </a14:m>
                <a:endParaRPr lang="sr-Latn-RS" altLang="sr-Latn-RS" dirty="0"/>
              </a:p>
            </p:txBody>
          </p:sp>
        </mc:Choice>
        <mc:Fallback xmlns="">
          <p:sp>
            <p:nvSpPr>
              <p:cNvPr id="11267" name="Rectangle 3"/>
              <p:cNvSpPr>
                <a:spLocks noGrp="1" noRot="1" noChangeAspect="1" noMove="1" noResize="1" noEditPoints="1" noAdjustHandles="1" noChangeArrowheads="1" noChangeShapeType="1" noTextEdit="1"/>
              </p:cNvSpPr>
              <p:nvPr>
                <p:ph type="body" idx="1"/>
              </p:nvPr>
            </p:nvSpPr>
            <p:spPr>
              <a:xfrm>
                <a:off x="457200" y="1600200"/>
                <a:ext cx="8229600" cy="5029200"/>
              </a:xfrm>
              <a:blipFill>
                <a:blip r:embed="rId3"/>
                <a:stretch>
                  <a:fillRect l="-815" t="-2061" r="-1556"/>
                </a:stretch>
              </a:blipFill>
            </p:spPr>
            <p:txBody>
              <a:bodyPr/>
              <a:lstStyle/>
              <a:p>
                <a:r>
                  <a:rPr lang="en-US">
                    <a:noFill/>
                  </a:rPr>
                  <a:t> </a:t>
                </a:r>
              </a:p>
            </p:txBody>
          </p:sp>
        </mc:Fallback>
      </mc:AlternateContent>
    </p:spTree>
    <p:extLst>
      <p:ext uri="{BB962C8B-B14F-4D97-AF65-F5344CB8AC3E}">
        <p14:creationId xmlns:p14="http://schemas.microsoft.com/office/powerpoint/2010/main" val="192136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fade">
                                      <p:cBhvr>
                                        <p:cTn id="7" dur="500"/>
                                        <p:tgtEl>
                                          <p:spTgt spid="1126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267">
                                            <p:txEl>
                                              <p:pRg st="1" end="1"/>
                                            </p:txEl>
                                          </p:spTgt>
                                        </p:tgtEl>
                                        <p:attrNameLst>
                                          <p:attrName>style.visibility</p:attrName>
                                        </p:attrNameLst>
                                      </p:cBhvr>
                                      <p:to>
                                        <p:strVal val="visible"/>
                                      </p:to>
                                    </p:set>
                                    <p:animEffect transition="in" filter="fade">
                                      <p:cBhvr>
                                        <p:cTn id="10" dur="500"/>
                                        <p:tgtEl>
                                          <p:spTgt spid="1126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267">
                                            <p:txEl>
                                              <p:pRg st="2" end="2"/>
                                            </p:txEl>
                                          </p:spTgt>
                                        </p:tgtEl>
                                        <p:attrNameLst>
                                          <p:attrName>style.visibility</p:attrName>
                                        </p:attrNameLst>
                                      </p:cBhvr>
                                      <p:to>
                                        <p:strVal val="visible"/>
                                      </p:to>
                                    </p:set>
                                    <p:animEffect transition="in" filter="fade">
                                      <p:cBhvr>
                                        <p:cTn id="15" dur="500"/>
                                        <p:tgtEl>
                                          <p:spTgt spid="11267">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11267">
                                            <p:txEl>
                                              <p:pRg st="3" end="3"/>
                                            </p:txEl>
                                          </p:spTgt>
                                        </p:tgtEl>
                                        <p:attrNameLst>
                                          <p:attrName>style.visibility</p:attrName>
                                        </p:attrNameLst>
                                      </p:cBhvr>
                                      <p:to>
                                        <p:strVal val="visible"/>
                                      </p:to>
                                    </p:set>
                                    <p:animEffect transition="in" filter="fade">
                                      <p:cBhvr>
                                        <p:cTn id="18" dur="500"/>
                                        <p:tgtEl>
                                          <p:spTgt spid="1126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267">
                                            <p:txEl>
                                              <p:pRg st="4" end="4"/>
                                            </p:txEl>
                                          </p:spTgt>
                                        </p:tgtEl>
                                        <p:attrNameLst>
                                          <p:attrName>style.visibility</p:attrName>
                                        </p:attrNameLst>
                                      </p:cBhvr>
                                      <p:to>
                                        <p:strVal val="visible"/>
                                      </p:to>
                                    </p:set>
                                    <p:animEffect transition="in" filter="fade">
                                      <p:cBhvr>
                                        <p:cTn id="23" dur="500"/>
                                        <p:tgtEl>
                                          <p:spTgt spid="11267">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1267">
                                            <p:txEl>
                                              <p:pRg st="5" end="5"/>
                                            </p:txEl>
                                          </p:spTgt>
                                        </p:tgtEl>
                                        <p:attrNameLst>
                                          <p:attrName>style.visibility</p:attrName>
                                        </p:attrNameLst>
                                      </p:cBhvr>
                                      <p:to>
                                        <p:strVal val="visible"/>
                                      </p:to>
                                    </p:set>
                                    <p:animEffect transition="in" filter="fade">
                                      <p:cBhvr>
                                        <p:cTn id="26" dur="500"/>
                                        <p:tgtEl>
                                          <p:spTgt spid="11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724400" y="5257800"/>
            <a:ext cx="2590800" cy="990600"/>
          </a:xfrm>
          <a:prstGeom prst="rect">
            <a:avLst/>
          </a:prstGeom>
          <a:solidFill>
            <a:srgbClr val="CCFFFF"/>
          </a:solidFill>
          <a:ln w="9525">
            <a:solidFill>
              <a:schemeClr val="tx1"/>
            </a:solidFill>
            <a:miter lim="800000"/>
            <a:headEnd/>
            <a:tailEnd/>
          </a:ln>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12291" name="Rectangle 3"/>
          <p:cNvSpPr>
            <a:spLocks noGrp="1" noChangeArrowheads="1"/>
          </p:cNvSpPr>
          <p:nvPr>
            <p:ph type="title" idx="4294967295"/>
          </p:nvPr>
        </p:nvSpPr>
        <p:spPr/>
        <p:txBody>
          <a:bodyPr anchor="b"/>
          <a:lstStyle/>
          <a:p>
            <a:pPr eaLnBrk="1" hangingPunct="1"/>
            <a:r>
              <a:rPr lang="sr-Latn-RS" altLang="sr-Latn-RS"/>
              <a:t>Metoda Trapeza</a:t>
            </a:r>
            <a:endParaRPr lang="en-US" altLang="sr-Latn-RS"/>
          </a:p>
        </p:txBody>
      </p:sp>
      <p:graphicFrame>
        <p:nvGraphicFramePr>
          <p:cNvPr id="12292" name="Object 4"/>
          <p:cNvGraphicFramePr>
            <a:graphicFrameLocks noGrp="1" noChangeAspect="1"/>
          </p:cNvGraphicFramePr>
          <p:nvPr>
            <p:ph sz="half" idx="4294967295"/>
          </p:nvPr>
        </p:nvGraphicFramePr>
        <p:xfrm>
          <a:off x="457200" y="2882900"/>
          <a:ext cx="2971800" cy="714375"/>
        </p:xfrm>
        <a:graphic>
          <a:graphicData uri="http://schemas.openxmlformats.org/presentationml/2006/ole">
            <mc:AlternateContent xmlns:mc="http://schemas.openxmlformats.org/markup-compatibility/2006">
              <mc:Choice xmlns:v="urn:schemas-microsoft-com:vml" Requires="v">
                <p:oleObj name="Equation" r:id="rId3" imgW="1637589" imgH="393529" progId="Equation.3">
                  <p:embed/>
                </p:oleObj>
              </mc:Choice>
              <mc:Fallback>
                <p:oleObj name="Equation" r:id="rId3" imgW="1637589"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882900"/>
                        <a:ext cx="2971800" cy="714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3" name="Text Box 5"/>
          <p:cNvSpPr txBox="1">
            <a:spLocks noChangeArrowheads="1"/>
          </p:cNvSpPr>
          <p:nvPr/>
        </p:nvSpPr>
        <p:spPr bwMode="auto">
          <a:xfrm>
            <a:off x="533400" y="3797300"/>
            <a:ext cx="68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f(x)</a:t>
            </a:r>
          </a:p>
        </p:txBody>
      </p:sp>
      <p:sp>
        <p:nvSpPr>
          <p:cNvPr id="12294" name="Line 6"/>
          <p:cNvSpPr>
            <a:spLocks noChangeShapeType="1"/>
          </p:cNvSpPr>
          <p:nvPr/>
        </p:nvSpPr>
        <p:spPr bwMode="auto">
          <a:xfrm flipV="1">
            <a:off x="762000" y="4102100"/>
            <a:ext cx="0" cy="2057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12295" name="Line 7"/>
          <p:cNvSpPr>
            <a:spLocks noChangeShapeType="1"/>
          </p:cNvSpPr>
          <p:nvPr/>
        </p:nvSpPr>
        <p:spPr bwMode="auto">
          <a:xfrm>
            <a:off x="762000" y="6159500"/>
            <a:ext cx="2895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graphicFrame>
        <p:nvGraphicFramePr>
          <p:cNvPr id="12296" name="Object 8"/>
          <p:cNvGraphicFramePr>
            <a:graphicFrameLocks noChangeAspect="1"/>
          </p:cNvGraphicFramePr>
          <p:nvPr/>
        </p:nvGraphicFramePr>
        <p:xfrm>
          <a:off x="1524000" y="6235700"/>
          <a:ext cx="1524000" cy="393700"/>
        </p:xfrm>
        <a:graphic>
          <a:graphicData uri="http://schemas.openxmlformats.org/presentationml/2006/ole">
            <mc:AlternateContent xmlns:mc="http://schemas.openxmlformats.org/markup-compatibility/2006">
              <mc:Choice xmlns:v="urn:schemas-microsoft-com:vml" Requires="v">
                <p:oleObj name="Equation" r:id="rId5" imgW="787058" imgH="203112" progId="Equation.3">
                  <p:embed/>
                </p:oleObj>
              </mc:Choice>
              <mc:Fallback>
                <p:oleObj name="Equation" r:id="rId5" imgW="787058" imgH="20311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0" y="6235700"/>
                        <a:ext cx="15240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7" name="Freeform 9"/>
          <p:cNvSpPr>
            <a:spLocks/>
          </p:cNvSpPr>
          <p:nvPr/>
        </p:nvSpPr>
        <p:spPr bwMode="auto">
          <a:xfrm>
            <a:off x="1143000" y="4178300"/>
            <a:ext cx="2667000" cy="1447800"/>
          </a:xfrm>
          <a:custGeom>
            <a:avLst/>
            <a:gdLst>
              <a:gd name="T0" fmla="*/ 0 w 2064"/>
              <a:gd name="T1" fmla="*/ 2147483647 h 912"/>
              <a:gd name="T2" fmla="*/ 2147483647 w 2064"/>
              <a:gd name="T3" fmla="*/ 2147483647 h 912"/>
              <a:gd name="T4" fmla="*/ 2147483647 w 2064"/>
              <a:gd name="T5" fmla="*/ 2147483647 h 912"/>
              <a:gd name="T6" fmla="*/ 2147483647 w 2064"/>
              <a:gd name="T7" fmla="*/ 2147483647 h 912"/>
              <a:gd name="T8" fmla="*/ 2147483647 w 2064"/>
              <a:gd name="T9" fmla="*/ 2147483647 h 912"/>
              <a:gd name="T10" fmla="*/ 2147483647 w 2064"/>
              <a:gd name="T11" fmla="*/ 2147483647 h 912"/>
              <a:gd name="T12" fmla="*/ 0 60000 65536"/>
              <a:gd name="T13" fmla="*/ 0 60000 65536"/>
              <a:gd name="T14" fmla="*/ 0 60000 65536"/>
              <a:gd name="T15" fmla="*/ 0 60000 65536"/>
              <a:gd name="T16" fmla="*/ 0 60000 65536"/>
              <a:gd name="T17" fmla="*/ 0 60000 65536"/>
              <a:gd name="T18" fmla="*/ 0 w 2064"/>
              <a:gd name="T19" fmla="*/ 0 h 912"/>
              <a:gd name="T20" fmla="*/ 2064 w 2064"/>
              <a:gd name="T21" fmla="*/ 912 h 912"/>
            </a:gdLst>
            <a:ahLst/>
            <a:cxnLst>
              <a:cxn ang="T12">
                <a:pos x="T0" y="T1"/>
              </a:cxn>
              <a:cxn ang="T13">
                <a:pos x="T2" y="T3"/>
              </a:cxn>
              <a:cxn ang="T14">
                <a:pos x="T4" y="T5"/>
              </a:cxn>
              <a:cxn ang="T15">
                <a:pos x="T6" y="T7"/>
              </a:cxn>
              <a:cxn ang="T16">
                <a:pos x="T8" y="T9"/>
              </a:cxn>
              <a:cxn ang="T17">
                <a:pos x="T10" y="T11"/>
              </a:cxn>
            </a:cxnLst>
            <a:rect l="T18" t="T19" r="T20" b="T21"/>
            <a:pathLst>
              <a:path w="2064" h="912">
                <a:moveTo>
                  <a:pt x="0" y="488"/>
                </a:moveTo>
                <a:cubicBezTo>
                  <a:pt x="116" y="680"/>
                  <a:pt x="232" y="872"/>
                  <a:pt x="384" y="824"/>
                </a:cubicBezTo>
                <a:cubicBezTo>
                  <a:pt x="536" y="776"/>
                  <a:pt x="744" y="320"/>
                  <a:pt x="912" y="200"/>
                </a:cubicBezTo>
                <a:cubicBezTo>
                  <a:pt x="1080" y="80"/>
                  <a:pt x="1240" y="0"/>
                  <a:pt x="1392" y="104"/>
                </a:cubicBezTo>
                <a:cubicBezTo>
                  <a:pt x="1544" y="208"/>
                  <a:pt x="1712" y="736"/>
                  <a:pt x="1824" y="824"/>
                </a:cubicBezTo>
                <a:cubicBezTo>
                  <a:pt x="1936" y="912"/>
                  <a:pt x="2024" y="664"/>
                  <a:pt x="2064" y="632"/>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sr-Latn-RS"/>
          </a:p>
        </p:txBody>
      </p:sp>
      <p:sp>
        <p:nvSpPr>
          <p:cNvPr id="12298" name="Line 10"/>
          <p:cNvSpPr>
            <a:spLocks noChangeShapeType="1"/>
          </p:cNvSpPr>
          <p:nvPr/>
        </p:nvSpPr>
        <p:spPr bwMode="auto">
          <a:xfrm flipV="1">
            <a:off x="1600200" y="5473700"/>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r-Latn-RS"/>
          </a:p>
        </p:txBody>
      </p:sp>
      <p:sp>
        <p:nvSpPr>
          <p:cNvPr id="12299" name="Line 11"/>
          <p:cNvSpPr>
            <a:spLocks noChangeShapeType="1"/>
          </p:cNvSpPr>
          <p:nvPr/>
        </p:nvSpPr>
        <p:spPr bwMode="auto">
          <a:xfrm flipV="1">
            <a:off x="2971800" y="4330700"/>
            <a:ext cx="0" cy="1828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r-Latn-RS"/>
          </a:p>
        </p:txBody>
      </p:sp>
      <p:sp>
        <p:nvSpPr>
          <p:cNvPr id="12300" name="Line 12"/>
          <p:cNvSpPr>
            <a:spLocks noChangeShapeType="1"/>
          </p:cNvSpPr>
          <p:nvPr/>
        </p:nvSpPr>
        <p:spPr bwMode="auto">
          <a:xfrm flipV="1">
            <a:off x="1600200" y="4330700"/>
            <a:ext cx="1371600" cy="1143000"/>
          </a:xfrm>
          <a:prstGeom prst="line">
            <a:avLst/>
          </a:prstGeom>
          <a:noFill/>
          <a:ln w="28575">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sr-Latn-RS"/>
          </a:p>
        </p:txBody>
      </p:sp>
      <p:sp>
        <p:nvSpPr>
          <p:cNvPr id="12301" name="Rectangle 13"/>
          <p:cNvSpPr>
            <a:spLocks noChangeArrowheads="1"/>
          </p:cNvSpPr>
          <p:nvPr/>
        </p:nvSpPr>
        <p:spPr bwMode="auto">
          <a:xfrm>
            <a:off x="1600200" y="5473700"/>
            <a:ext cx="1371600" cy="685800"/>
          </a:xfrm>
          <a:prstGeom prst="rect">
            <a:avLst/>
          </a:prstGeom>
          <a:solidFill>
            <a:srgbClr val="00FF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12302" name="AutoShape 14"/>
          <p:cNvSpPr>
            <a:spLocks noChangeArrowheads="1"/>
          </p:cNvSpPr>
          <p:nvPr/>
        </p:nvSpPr>
        <p:spPr bwMode="auto">
          <a:xfrm flipH="1">
            <a:off x="1600200" y="4330700"/>
            <a:ext cx="1371600" cy="1143000"/>
          </a:xfrm>
          <a:prstGeom prst="rtTriangle">
            <a:avLst/>
          </a:prstGeom>
          <a:solidFill>
            <a:srgbClr val="00FFFF">
              <a:alpha val="30196"/>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12303" name="Line 15"/>
          <p:cNvSpPr>
            <a:spLocks noChangeShapeType="1"/>
          </p:cNvSpPr>
          <p:nvPr/>
        </p:nvSpPr>
        <p:spPr bwMode="auto">
          <a:xfrm flipH="1" flipV="1">
            <a:off x="2133600" y="3797300"/>
            <a:ext cx="228600" cy="1066800"/>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graphicFrame>
        <p:nvGraphicFramePr>
          <p:cNvPr id="12304" name="Object 16"/>
          <p:cNvGraphicFramePr>
            <a:graphicFrameLocks noGrp="1" noChangeAspect="1"/>
          </p:cNvGraphicFramePr>
          <p:nvPr>
            <p:ph sz="half" idx="4294967295"/>
          </p:nvPr>
        </p:nvGraphicFramePr>
        <p:xfrm>
          <a:off x="4114800" y="1524000"/>
          <a:ext cx="4692650" cy="4562475"/>
        </p:xfrm>
        <a:graphic>
          <a:graphicData uri="http://schemas.openxmlformats.org/presentationml/2006/ole">
            <mc:AlternateContent xmlns:mc="http://schemas.openxmlformats.org/markup-compatibility/2006">
              <mc:Choice xmlns:v="urn:schemas-microsoft-com:vml" Requires="v">
                <p:oleObj name="Equation" r:id="rId7" imgW="2298700" imgH="2235200" progId="Equation.3">
                  <p:embed/>
                </p:oleObj>
              </mc:Choice>
              <mc:Fallback>
                <p:oleObj name="Equation" r:id="rId7" imgW="2298700" imgH="2235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14800" y="1524000"/>
                        <a:ext cx="4692650" cy="456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305" name="Line 17"/>
          <p:cNvSpPr>
            <a:spLocks noChangeShapeType="1"/>
          </p:cNvSpPr>
          <p:nvPr/>
        </p:nvSpPr>
        <p:spPr bwMode="auto">
          <a:xfrm>
            <a:off x="2590800" y="5334000"/>
            <a:ext cx="2362200" cy="76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12306" name="Text Box 20"/>
          <p:cNvSpPr txBox="1">
            <a:spLocks noChangeArrowheads="1"/>
          </p:cNvSpPr>
          <p:nvPr/>
        </p:nvSpPr>
        <p:spPr bwMode="auto">
          <a:xfrm>
            <a:off x="228600" y="1797050"/>
            <a:ext cx="3810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sr-Latn-RS" altLang="sr-Latn-RS" sz="2000" dirty="0"/>
              <a:t>Funkciju f </a:t>
            </a:r>
            <a:r>
              <a:rPr lang="sr-Latn-RS" altLang="sr-Latn-RS" sz="2000" dirty="0" err="1"/>
              <a:t>aproksimiramo</a:t>
            </a:r>
            <a:r>
              <a:rPr lang="sr-Latn-RS" altLang="sr-Latn-RS" sz="2000" dirty="0"/>
              <a:t> pravom na intervalu [</a:t>
            </a:r>
            <a:r>
              <a:rPr lang="sr-Latn-RS" altLang="sr-Latn-RS" sz="2000" dirty="0" err="1"/>
              <a:t>a,b</a:t>
            </a:r>
            <a:r>
              <a:rPr lang="sr-Latn-RS" altLang="sr-Latn-RS" sz="2000" dirty="0"/>
              <a:t>]</a:t>
            </a:r>
          </a:p>
        </p:txBody>
      </p:sp>
    </p:spTree>
    <p:extLst>
      <p:ext uri="{BB962C8B-B14F-4D97-AF65-F5344CB8AC3E}">
        <p14:creationId xmlns:p14="http://schemas.microsoft.com/office/powerpoint/2010/main" val="225827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306"/>
                                        </p:tgtEl>
                                        <p:attrNameLst>
                                          <p:attrName>style.visibility</p:attrName>
                                        </p:attrNameLst>
                                      </p:cBhvr>
                                      <p:to>
                                        <p:strVal val="visible"/>
                                      </p:to>
                                    </p:set>
                                    <p:animEffect transition="in" filter="fade">
                                      <p:cBhvr>
                                        <p:cTn id="7" dur="500"/>
                                        <p:tgtEl>
                                          <p:spTgt spid="1230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303"/>
                                        </p:tgtEl>
                                        <p:attrNameLst>
                                          <p:attrName>style.visibility</p:attrName>
                                        </p:attrNameLst>
                                      </p:cBhvr>
                                      <p:to>
                                        <p:strVal val="visible"/>
                                      </p:to>
                                    </p:set>
                                    <p:animEffect transition="in" filter="fade">
                                      <p:cBhvr>
                                        <p:cTn id="12" dur="500"/>
                                        <p:tgtEl>
                                          <p:spTgt spid="1230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300"/>
                                        </p:tgtEl>
                                        <p:attrNameLst>
                                          <p:attrName>style.visibility</p:attrName>
                                        </p:attrNameLst>
                                      </p:cBhvr>
                                      <p:to>
                                        <p:strVal val="visible"/>
                                      </p:to>
                                    </p:set>
                                    <p:animEffect transition="in" filter="fade">
                                      <p:cBhvr>
                                        <p:cTn id="15" dur="500"/>
                                        <p:tgtEl>
                                          <p:spTgt spid="12300"/>
                                        </p:tgtEl>
                                      </p:cBhvr>
                                    </p:animEffect>
                                  </p:childTnLst>
                                </p:cTn>
                              </p:par>
                              <p:par>
                                <p:cTn id="16" presetID="10" presetClass="entr" presetSubtype="0" fill="hold" nodeType="withEffect">
                                  <p:stCondLst>
                                    <p:cond delay="0"/>
                                  </p:stCondLst>
                                  <p:childTnLst>
                                    <p:set>
                                      <p:cBhvr>
                                        <p:cTn id="17" dur="1" fill="hold">
                                          <p:stCondLst>
                                            <p:cond delay="0"/>
                                          </p:stCondLst>
                                        </p:cTn>
                                        <p:tgtEl>
                                          <p:spTgt spid="12292"/>
                                        </p:tgtEl>
                                        <p:attrNameLst>
                                          <p:attrName>style.visibility</p:attrName>
                                        </p:attrNameLst>
                                      </p:cBhvr>
                                      <p:to>
                                        <p:strVal val="visible"/>
                                      </p:to>
                                    </p:set>
                                    <p:animEffect transition="in" filter="fade">
                                      <p:cBhvr>
                                        <p:cTn id="18" dur="500"/>
                                        <p:tgtEl>
                                          <p:spTgt spid="1229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301"/>
                                        </p:tgtEl>
                                        <p:attrNameLst>
                                          <p:attrName>style.visibility</p:attrName>
                                        </p:attrNameLst>
                                      </p:cBhvr>
                                      <p:to>
                                        <p:strVal val="visible"/>
                                      </p:to>
                                    </p:set>
                                    <p:animEffect transition="in" filter="fade">
                                      <p:cBhvr>
                                        <p:cTn id="23" dur="500"/>
                                        <p:tgtEl>
                                          <p:spTgt spid="1230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302"/>
                                        </p:tgtEl>
                                        <p:attrNameLst>
                                          <p:attrName>style.visibility</p:attrName>
                                        </p:attrNameLst>
                                      </p:cBhvr>
                                      <p:to>
                                        <p:strVal val="visible"/>
                                      </p:to>
                                    </p:set>
                                    <p:animEffect transition="in" filter="fade">
                                      <p:cBhvr>
                                        <p:cTn id="26" dur="500"/>
                                        <p:tgtEl>
                                          <p:spTgt spid="1230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2304"/>
                                        </p:tgtEl>
                                        <p:attrNameLst>
                                          <p:attrName>style.visibility</p:attrName>
                                        </p:attrNameLst>
                                      </p:cBhvr>
                                      <p:to>
                                        <p:strVal val="visible"/>
                                      </p:to>
                                    </p:set>
                                    <p:animEffect transition="in" filter="fade">
                                      <p:cBhvr>
                                        <p:cTn id="31" dur="500"/>
                                        <p:tgtEl>
                                          <p:spTgt spid="1230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305"/>
                                        </p:tgtEl>
                                        <p:attrNameLst>
                                          <p:attrName>style.visibility</p:attrName>
                                        </p:attrNameLst>
                                      </p:cBhvr>
                                      <p:to>
                                        <p:strVal val="visible"/>
                                      </p:to>
                                    </p:set>
                                    <p:animEffect transition="in" filter="fade">
                                      <p:cBhvr>
                                        <p:cTn id="34" dur="500"/>
                                        <p:tgtEl>
                                          <p:spTgt spid="1230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290"/>
                                        </p:tgtEl>
                                        <p:attrNameLst>
                                          <p:attrName>style.visibility</p:attrName>
                                        </p:attrNameLst>
                                      </p:cBhvr>
                                      <p:to>
                                        <p:strVal val="visible"/>
                                      </p:to>
                                    </p:set>
                                    <p:animEffect transition="in" filter="fade">
                                      <p:cBhvr>
                                        <p:cTn id="37" dur="500"/>
                                        <p:tgtEl>
                                          <p:spTgt spid="12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animBg="1"/>
      <p:bldP spid="12300" grpId="0" animBg="1"/>
      <p:bldP spid="12301" grpId="0" animBg="1"/>
      <p:bldP spid="12302" grpId="0" animBg="1"/>
      <p:bldP spid="12303" grpId="0" animBg="1"/>
      <p:bldP spid="12305" grpId="0" animBg="1"/>
      <p:bldP spid="1230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1066800" y="304800"/>
            <a:ext cx="8229600" cy="1143000"/>
          </a:xfrm>
        </p:spPr>
        <p:txBody>
          <a:bodyPr anchor="b">
            <a:normAutofit fontScale="90000"/>
          </a:bodyPr>
          <a:lstStyle/>
          <a:p>
            <a:pPr eaLnBrk="1" hangingPunct="1"/>
            <a:r>
              <a:rPr lang="sr-Latn-RS" altLang="sr-Latn-RS"/>
              <a:t>Metoda trapeza</a:t>
            </a:r>
            <a:br>
              <a:rPr lang="sr-Latn-RS" altLang="sr-Latn-RS"/>
            </a:br>
            <a:r>
              <a:rPr lang="sr-Latn-RS" altLang="sr-Latn-RS"/>
              <a:t>Izvođenje za jedan interval</a:t>
            </a:r>
            <a:endParaRPr lang="en-US" altLang="sr-Latn-RS" sz="3300"/>
          </a:p>
        </p:txBody>
      </p:sp>
      <p:graphicFrame>
        <p:nvGraphicFramePr>
          <p:cNvPr id="13315" name="Object 3"/>
          <p:cNvGraphicFramePr>
            <a:graphicFrameLocks noGrp="1" noChangeAspect="1"/>
          </p:cNvGraphicFramePr>
          <p:nvPr>
            <p:ph idx="4294967295"/>
            <p:extLst>
              <p:ext uri="{D42A27DB-BD31-4B8C-83A1-F6EECF244321}">
                <p14:modId xmlns:p14="http://schemas.microsoft.com/office/powerpoint/2010/main" val="405973473"/>
              </p:ext>
            </p:extLst>
          </p:nvPr>
        </p:nvGraphicFramePr>
        <p:xfrm>
          <a:off x="533400" y="1616075"/>
          <a:ext cx="7391400" cy="4708525"/>
        </p:xfrm>
        <a:graphic>
          <a:graphicData uri="http://schemas.openxmlformats.org/presentationml/2006/ole">
            <mc:AlternateContent xmlns:mc="http://schemas.openxmlformats.org/markup-compatibility/2006">
              <mc:Choice xmlns:v="urn:schemas-microsoft-com:vml" Requires="v">
                <p:oleObj name="Equation" r:id="rId3" imgW="3568680" imgH="2273040" progId="Equation.3">
                  <p:embed/>
                </p:oleObj>
              </mc:Choice>
              <mc:Fallback>
                <p:oleObj name="Equation" r:id="rId3" imgW="3568680" imgH="2273040" progId="Equation.3">
                  <p:embed/>
                  <p:pic>
                    <p:nvPicPr>
                      <p:cNvPr id="0" name=""/>
                      <p:cNvPicPr>
                        <a:picLocks noChangeAspect="1" noChangeArrowheads="1"/>
                      </p:cNvPicPr>
                      <p:nvPr/>
                    </p:nvPicPr>
                    <p:blipFill>
                      <a:blip r:embed="rId4"/>
                      <a:srcRect/>
                      <a:stretch>
                        <a:fillRect/>
                      </a:stretch>
                    </p:blipFill>
                    <p:spPr bwMode="auto">
                      <a:xfrm>
                        <a:off x="533400" y="1616075"/>
                        <a:ext cx="7391400" cy="4708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900733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p:txBody>
          <a:bodyPr anchor="b">
            <a:normAutofit fontScale="90000"/>
          </a:bodyPr>
          <a:lstStyle/>
          <a:p>
            <a:pPr eaLnBrk="1" hangingPunct="1"/>
            <a:r>
              <a:rPr lang="sr-Latn-RS" altLang="sr-Latn-RS" sz="4000"/>
              <a:t>Metoda trapeza</a:t>
            </a:r>
            <a:br>
              <a:rPr lang="sr-Latn-RS" altLang="sr-Latn-RS" sz="4000"/>
            </a:br>
            <a:r>
              <a:rPr lang="sr-Latn-RS" altLang="sr-Latn-RS" sz="4000"/>
              <a:t>Geometrijska interpretacija</a:t>
            </a:r>
            <a:endParaRPr lang="en-US" altLang="sr-Latn-RS" sz="4000"/>
          </a:p>
        </p:txBody>
      </p:sp>
      <p:graphicFrame>
        <p:nvGraphicFramePr>
          <p:cNvPr id="14339" name="Object 3"/>
          <p:cNvGraphicFramePr>
            <a:graphicFrameLocks noGrp="1" noChangeAspect="1"/>
          </p:cNvGraphicFramePr>
          <p:nvPr>
            <p:ph sz="quarter" idx="4294967295"/>
          </p:nvPr>
        </p:nvGraphicFramePr>
        <p:xfrm>
          <a:off x="457200" y="2665413"/>
          <a:ext cx="588963" cy="361950"/>
        </p:xfrm>
        <a:graphic>
          <a:graphicData uri="http://schemas.openxmlformats.org/presentationml/2006/ole">
            <mc:AlternateContent xmlns:mc="http://schemas.openxmlformats.org/markup-compatibility/2006">
              <mc:Choice xmlns:v="urn:schemas-microsoft-com:vml" Requires="v">
                <p:oleObj name="Equation" r:id="rId3" imgW="330057" imgH="203112" progId="Equation.3">
                  <p:embed/>
                </p:oleObj>
              </mc:Choice>
              <mc:Fallback>
                <p:oleObj name="Equation" r:id="rId3" imgW="330057" imgH="203112"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2665413"/>
                        <a:ext cx="588963" cy="361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40" name="Text Box 4"/>
          <p:cNvSpPr txBox="1">
            <a:spLocks noChangeArrowheads="1"/>
          </p:cNvSpPr>
          <p:nvPr/>
        </p:nvSpPr>
        <p:spPr bwMode="auto">
          <a:xfrm>
            <a:off x="914400" y="1981200"/>
            <a:ext cx="838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en-US" altLang="sr-Latn-RS" sz="1800">
                <a:cs typeface="Arial" charset="0"/>
              </a:rPr>
              <a:t>f(x)</a:t>
            </a:r>
          </a:p>
        </p:txBody>
      </p:sp>
      <p:sp>
        <p:nvSpPr>
          <p:cNvPr id="14341" name="Line 5"/>
          <p:cNvSpPr>
            <a:spLocks noChangeShapeType="1"/>
          </p:cNvSpPr>
          <p:nvPr/>
        </p:nvSpPr>
        <p:spPr bwMode="auto">
          <a:xfrm flipV="1">
            <a:off x="1295400" y="2362200"/>
            <a:ext cx="0" cy="2971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sp>
        <p:nvSpPr>
          <p:cNvPr id="14342" name="Line 6"/>
          <p:cNvSpPr>
            <a:spLocks noChangeShapeType="1"/>
          </p:cNvSpPr>
          <p:nvPr/>
        </p:nvSpPr>
        <p:spPr bwMode="auto">
          <a:xfrm>
            <a:off x="1295400" y="5334000"/>
            <a:ext cx="7467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sr-Latn-RS"/>
          </a:p>
        </p:txBody>
      </p:sp>
      <p:graphicFrame>
        <p:nvGraphicFramePr>
          <p:cNvPr id="14343" name="Object 7"/>
          <p:cNvGraphicFramePr>
            <a:graphicFrameLocks noChangeAspect="1"/>
          </p:cNvGraphicFramePr>
          <p:nvPr/>
        </p:nvGraphicFramePr>
        <p:xfrm>
          <a:off x="1676400" y="5486400"/>
          <a:ext cx="6553200" cy="579438"/>
        </p:xfrm>
        <a:graphic>
          <a:graphicData uri="http://schemas.openxmlformats.org/presentationml/2006/ole">
            <mc:AlternateContent xmlns:mc="http://schemas.openxmlformats.org/markup-compatibility/2006">
              <mc:Choice xmlns:v="urn:schemas-microsoft-com:vml" Requires="v">
                <p:oleObj name="Equation" r:id="rId5" imgW="2311400" imgH="203200" progId="Equation.3">
                  <p:embed/>
                </p:oleObj>
              </mc:Choice>
              <mc:Fallback>
                <p:oleObj name="Equation" r:id="rId5" imgW="2311400" imgH="203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6400" y="5486400"/>
                        <a:ext cx="6553200"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44" name="Freeform 8"/>
          <p:cNvSpPr>
            <a:spLocks/>
          </p:cNvSpPr>
          <p:nvPr/>
        </p:nvSpPr>
        <p:spPr bwMode="auto">
          <a:xfrm>
            <a:off x="1524000" y="2438400"/>
            <a:ext cx="7162800" cy="1770063"/>
          </a:xfrm>
          <a:custGeom>
            <a:avLst/>
            <a:gdLst>
              <a:gd name="T0" fmla="*/ 0 w 3504"/>
              <a:gd name="T1" fmla="*/ 2147483647 h 810"/>
              <a:gd name="T2" fmla="*/ 2147483647 w 3504"/>
              <a:gd name="T3" fmla="*/ 2147483647 h 810"/>
              <a:gd name="T4" fmla="*/ 2147483647 w 3504"/>
              <a:gd name="T5" fmla="*/ 2147483647 h 810"/>
              <a:gd name="T6" fmla="*/ 2147483647 w 3504"/>
              <a:gd name="T7" fmla="*/ 2147483647 h 810"/>
              <a:gd name="T8" fmla="*/ 2147483647 w 3504"/>
              <a:gd name="T9" fmla="*/ 2147483647 h 810"/>
              <a:gd name="T10" fmla="*/ 2147483647 w 3504"/>
              <a:gd name="T11" fmla="*/ 2147483647 h 810"/>
              <a:gd name="T12" fmla="*/ 0 60000 65536"/>
              <a:gd name="T13" fmla="*/ 0 60000 65536"/>
              <a:gd name="T14" fmla="*/ 0 60000 65536"/>
              <a:gd name="T15" fmla="*/ 0 60000 65536"/>
              <a:gd name="T16" fmla="*/ 0 60000 65536"/>
              <a:gd name="T17" fmla="*/ 0 60000 65536"/>
              <a:gd name="T18" fmla="*/ 0 w 3504"/>
              <a:gd name="T19" fmla="*/ 0 h 810"/>
              <a:gd name="T20" fmla="*/ 3504 w 3504"/>
              <a:gd name="T21" fmla="*/ 810 h 810"/>
            </a:gdLst>
            <a:ahLst/>
            <a:cxnLst>
              <a:cxn ang="T12">
                <a:pos x="T0" y="T1"/>
              </a:cxn>
              <a:cxn ang="T13">
                <a:pos x="T2" y="T3"/>
              </a:cxn>
              <a:cxn ang="T14">
                <a:pos x="T4" y="T5"/>
              </a:cxn>
              <a:cxn ang="T15">
                <a:pos x="T6" y="T7"/>
              </a:cxn>
              <a:cxn ang="T16">
                <a:pos x="T8" y="T9"/>
              </a:cxn>
              <a:cxn ang="T17">
                <a:pos x="T10" y="T11"/>
              </a:cxn>
            </a:cxnLst>
            <a:rect l="T18" t="T19" r="T20" b="T21"/>
            <a:pathLst>
              <a:path w="3504" h="810">
                <a:moveTo>
                  <a:pt x="0" y="471"/>
                </a:moveTo>
                <a:cubicBezTo>
                  <a:pt x="83" y="520"/>
                  <a:pt x="241" y="810"/>
                  <a:pt x="496" y="765"/>
                </a:cubicBezTo>
                <a:cubicBezTo>
                  <a:pt x="751" y="720"/>
                  <a:pt x="1229" y="323"/>
                  <a:pt x="1529" y="198"/>
                </a:cubicBezTo>
                <a:cubicBezTo>
                  <a:pt x="1829" y="73"/>
                  <a:pt x="2065" y="30"/>
                  <a:pt x="2297" y="15"/>
                </a:cubicBezTo>
                <a:cubicBezTo>
                  <a:pt x="2529" y="0"/>
                  <a:pt x="2718" y="6"/>
                  <a:pt x="2919" y="106"/>
                </a:cubicBezTo>
                <a:cubicBezTo>
                  <a:pt x="3120" y="206"/>
                  <a:pt x="3382" y="509"/>
                  <a:pt x="3504" y="615"/>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sr-Latn-RS"/>
          </a:p>
        </p:txBody>
      </p:sp>
      <p:sp>
        <p:nvSpPr>
          <p:cNvPr id="14345" name="Line 9"/>
          <p:cNvSpPr>
            <a:spLocks noChangeShapeType="1"/>
          </p:cNvSpPr>
          <p:nvPr/>
        </p:nvSpPr>
        <p:spPr bwMode="auto">
          <a:xfrm flipV="1">
            <a:off x="1905000" y="3886200"/>
            <a:ext cx="0" cy="1447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r-Latn-RS"/>
          </a:p>
        </p:txBody>
      </p:sp>
      <p:sp>
        <p:nvSpPr>
          <p:cNvPr id="14346" name="Line 10"/>
          <p:cNvSpPr>
            <a:spLocks noChangeShapeType="1"/>
          </p:cNvSpPr>
          <p:nvPr/>
        </p:nvSpPr>
        <p:spPr bwMode="auto">
          <a:xfrm flipV="1">
            <a:off x="7772400" y="2819400"/>
            <a:ext cx="0" cy="2514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r-Latn-RS"/>
          </a:p>
        </p:txBody>
      </p:sp>
      <p:sp>
        <p:nvSpPr>
          <p:cNvPr id="14347" name="Line 11"/>
          <p:cNvSpPr>
            <a:spLocks noChangeShapeType="1"/>
          </p:cNvSpPr>
          <p:nvPr/>
        </p:nvSpPr>
        <p:spPr bwMode="auto">
          <a:xfrm flipV="1">
            <a:off x="1905000" y="2819400"/>
            <a:ext cx="586740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sr-Latn-RS"/>
          </a:p>
        </p:txBody>
      </p:sp>
      <p:sp>
        <p:nvSpPr>
          <p:cNvPr id="14348" name="Rectangle 12"/>
          <p:cNvSpPr>
            <a:spLocks noChangeArrowheads="1"/>
          </p:cNvSpPr>
          <p:nvPr/>
        </p:nvSpPr>
        <p:spPr bwMode="auto">
          <a:xfrm>
            <a:off x="1905000" y="3886200"/>
            <a:ext cx="5867400" cy="1447800"/>
          </a:xfrm>
          <a:prstGeom prst="rect">
            <a:avLst/>
          </a:prstGeom>
          <a:solidFill>
            <a:schemeClr val="accent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sp>
        <p:nvSpPr>
          <p:cNvPr id="14349" name="AutoShape 13"/>
          <p:cNvSpPr>
            <a:spLocks noChangeArrowheads="1"/>
          </p:cNvSpPr>
          <p:nvPr/>
        </p:nvSpPr>
        <p:spPr bwMode="auto">
          <a:xfrm flipH="1">
            <a:off x="2057400" y="2819400"/>
            <a:ext cx="5715000" cy="1066800"/>
          </a:xfrm>
          <a:prstGeom prst="rtTriangle">
            <a:avLst/>
          </a:prstGeom>
          <a:solidFill>
            <a:schemeClr val="accent1">
              <a:alpha val="3019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800">
              <a:latin typeface="Verdana" pitchFamily="34" charset="0"/>
              <a:cs typeface="Arial" charset="0"/>
            </a:endParaRPr>
          </a:p>
        </p:txBody>
      </p:sp>
      <p:graphicFrame>
        <p:nvGraphicFramePr>
          <p:cNvPr id="14350" name="Object 14"/>
          <p:cNvGraphicFramePr>
            <a:graphicFrameLocks noChangeAspect="1"/>
          </p:cNvGraphicFramePr>
          <p:nvPr>
            <p:extLst>
              <p:ext uri="{D42A27DB-BD31-4B8C-83A1-F6EECF244321}">
                <p14:modId xmlns:p14="http://schemas.microsoft.com/office/powerpoint/2010/main" val="2186737023"/>
              </p:ext>
            </p:extLst>
          </p:nvPr>
        </p:nvGraphicFramePr>
        <p:xfrm>
          <a:off x="2190750" y="4114800"/>
          <a:ext cx="5602288" cy="1071563"/>
        </p:xfrm>
        <a:graphic>
          <a:graphicData uri="http://schemas.openxmlformats.org/presentationml/2006/ole">
            <mc:AlternateContent xmlns:mc="http://schemas.openxmlformats.org/markup-compatibility/2006">
              <mc:Choice xmlns:v="urn:schemas-microsoft-com:vml" Requires="v">
                <p:oleObj name="Equation" r:id="rId7" imgW="2057400" imgH="393480" progId="Equation.3">
                  <p:embed/>
                </p:oleObj>
              </mc:Choice>
              <mc:Fallback>
                <p:oleObj name="Equation" r:id="rId7" imgW="2057400" imgH="393480" progId="Equation.3">
                  <p:embed/>
                  <p:pic>
                    <p:nvPicPr>
                      <p:cNvPr id="0" name=""/>
                      <p:cNvPicPr>
                        <a:picLocks noChangeAspect="1" noChangeArrowheads="1"/>
                      </p:cNvPicPr>
                      <p:nvPr/>
                    </p:nvPicPr>
                    <p:blipFill>
                      <a:blip r:embed="rId8"/>
                      <a:srcRect/>
                      <a:stretch>
                        <a:fillRect/>
                      </a:stretch>
                    </p:blipFill>
                    <p:spPr bwMode="auto">
                      <a:xfrm>
                        <a:off x="2190750" y="4114800"/>
                        <a:ext cx="5602288" cy="1071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51" name="Line 15"/>
          <p:cNvSpPr>
            <a:spLocks noChangeShapeType="1"/>
          </p:cNvSpPr>
          <p:nvPr/>
        </p:nvSpPr>
        <p:spPr bwMode="auto">
          <a:xfrm flipH="1">
            <a:off x="1295400" y="3886200"/>
            <a:ext cx="533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r-Latn-RS"/>
          </a:p>
        </p:txBody>
      </p:sp>
      <p:sp>
        <p:nvSpPr>
          <p:cNvPr id="14352" name="Line 16"/>
          <p:cNvSpPr>
            <a:spLocks noChangeShapeType="1"/>
          </p:cNvSpPr>
          <p:nvPr/>
        </p:nvSpPr>
        <p:spPr bwMode="auto">
          <a:xfrm flipH="1">
            <a:off x="1295400" y="2819400"/>
            <a:ext cx="6477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sr-Latn-RS"/>
          </a:p>
        </p:txBody>
      </p:sp>
      <p:graphicFrame>
        <p:nvGraphicFramePr>
          <p:cNvPr id="14353" name="Object 17"/>
          <p:cNvGraphicFramePr>
            <a:graphicFrameLocks noGrp="1" noChangeAspect="1"/>
          </p:cNvGraphicFramePr>
          <p:nvPr>
            <p:ph sz="quarter" idx="4294967295"/>
          </p:nvPr>
        </p:nvGraphicFramePr>
        <p:xfrm>
          <a:off x="457200" y="3732213"/>
          <a:ext cx="661988" cy="373062"/>
        </p:xfrm>
        <a:graphic>
          <a:graphicData uri="http://schemas.openxmlformats.org/presentationml/2006/ole">
            <mc:AlternateContent xmlns:mc="http://schemas.openxmlformats.org/markup-compatibility/2006">
              <mc:Choice xmlns:v="urn:schemas-microsoft-com:vml" Requires="v">
                <p:oleObj name="Equation" r:id="rId9" imgW="342751" imgH="203112" progId="Equation.3">
                  <p:embed/>
                </p:oleObj>
              </mc:Choice>
              <mc:Fallback>
                <p:oleObj name="Equation" r:id="rId9" imgW="342751" imgH="203112"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 y="3732213"/>
                        <a:ext cx="661988" cy="373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91284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52400" y="304800"/>
            <a:ext cx="7772400" cy="533400"/>
          </a:xfrm>
        </p:spPr>
        <p:txBody>
          <a:bodyPr>
            <a:normAutofit fontScale="90000"/>
          </a:bodyPr>
          <a:lstStyle/>
          <a:p>
            <a:r>
              <a:rPr lang="sr-Latn-RS" altLang="sr-Latn-RS" dirty="0">
                <a:solidFill>
                  <a:schemeClr val="tx1"/>
                </a:solidFill>
              </a:rPr>
              <a:t>Primer</a:t>
            </a:r>
            <a:endParaRPr lang="en-US" altLang="sr-Latn-RS" dirty="0">
              <a:solidFill>
                <a:schemeClr val="tx1"/>
              </a:solidFill>
            </a:endParaRPr>
          </a:p>
        </p:txBody>
      </p:sp>
      <p:sp>
        <p:nvSpPr>
          <p:cNvPr id="15363" name="Rectangle 3"/>
          <p:cNvSpPr>
            <a:spLocks noGrp="1" noChangeArrowheads="1"/>
          </p:cNvSpPr>
          <p:nvPr>
            <p:ph type="body" idx="1"/>
          </p:nvPr>
        </p:nvSpPr>
        <p:spPr>
          <a:xfrm>
            <a:off x="228600" y="990600"/>
            <a:ext cx="8686800" cy="4114800"/>
          </a:xfrm>
          <a:solidFill>
            <a:schemeClr val="bg1"/>
          </a:solidFill>
        </p:spPr>
        <p:txBody>
          <a:bodyPr/>
          <a:lstStyle/>
          <a:p>
            <a:pPr>
              <a:lnSpc>
                <a:spcPct val="90000"/>
              </a:lnSpc>
            </a:pPr>
            <a:r>
              <a:rPr lang="sr-Latn-RS" altLang="sr-Latn-RS" dirty="0">
                <a:solidFill>
                  <a:srgbClr val="FF0000"/>
                </a:solidFill>
              </a:rPr>
              <a:t>Izračunavamo integral</a:t>
            </a:r>
            <a:endParaRPr lang="en-US" altLang="sr-Latn-RS" dirty="0">
              <a:solidFill>
                <a:srgbClr val="FF0000"/>
              </a:solidFill>
            </a:endParaRPr>
          </a:p>
          <a:p>
            <a:pPr>
              <a:lnSpc>
                <a:spcPct val="90000"/>
              </a:lnSpc>
            </a:pPr>
            <a:r>
              <a:rPr lang="sr-Latn-RS" altLang="sr-Latn-RS" dirty="0">
                <a:solidFill>
                  <a:srgbClr val="FF0000"/>
                </a:solidFill>
              </a:rPr>
              <a:t>Tačno rešenje</a:t>
            </a:r>
            <a:endParaRPr lang="en-US" altLang="sr-Latn-RS" dirty="0">
              <a:solidFill>
                <a:srgbClr val="FF0000"/>
              </a:solidFill>
            </a:endParaRPr>
          </a:p>
          <a:p>
            <a:pPr>
              <a:lnSpc>
                <a:spcPct val="90000"/>
              </a:lnSpc>
            </a:pPr>
            <a:endParaRPr lang="en-US" altLang="sr-Latn-RS" dirty="0">
              <a:solidFill>
                <a:srgbClr val="FF0000"/>
              </a:solidFill>
            </a:endParaRPr>
          </a:p>
          <a:p>
            <a:pPr>
              <a:lnSpc>
                <a:spcPct val="90000"/>
              </a:lnSpc>
            </a:pPr>
            <a:endParaRPr lang="en-US" altLang="sr-Latn-RS" dirty="0"/>
          </a:p>
          <a:p>
            <a:pPr>
              <a:lnSpc>
                <a:spcPct val="90000"/>
              </a:lnSpc>
            </a:pPr>
            <a:endParaRPr lang="en-US" altLang="sr-Latn-RS" dirty="0"/>
          </a:p>
          <a:p>
            <a:pPr>
              <a:lnSpc>
                <a:spcPct val="90000"/>
              </a:lnSpc>
            </a:pPr>
            <a:endParaRPr lang="en-US" altLang="sr-Latn-RS" dirty="0"/>
          </a:p>
          <a:p>
            <a:pPr>
              <a:lnSpc>
                <a:spcPct val="120000"/>
              </a:lnSpc>
            </a:pPr>
            <a:r>
              <a:rPr lang="sr-Latn-RS" altLang="sr-Latn-RS" dirty="0">
                <a:solidFill>
                  <a:srgbClr val="FF0000"/>
                </a:solidFill>
              </a:rPr>
              <a:t>Metoda trapeza</a:t>
            </a:r>
            <a:endParaRPr lang="en-US" altLang="sr-Latn-RS" dirty="0">
              <a:solidFill>
                <a:srgbClr val="FF0000"/>
              </a:solidFill>
            </a:endParaRPr>
          </a:p>
        </p:txBody>
      </p:sp>
      <p:graphicFrame>
        <p:nvGraphicFramePr>
          <p:cNvPr id="15364" name="Object 4"/>
          <p:cNvGraphicFramePr>
            <a:graphicFrameLocks noChangeAspect="1"/>
          </p:cNvGraphicFramePr>
          <p:nvPr>
            <p:extLst>
              <p:ext uri="{D42A27DB-BD31-4B8C-83A1-F6EECF244321}">
                <p14:modId xmlns:p14="http://schemas.microsoft.com/office/powerpoint/2010/main" val="3159281635"/>
              </p:ext>
            </p:extLst>
          </p:nvPr>
        </p:nvGraphicFramePr>
        <p:xfrm>
          <a:off x="100013" y="1828800"/>
          <a:ext cx="8943975" cy="1000125"/>
        </p:xfrm>
        <a:graphic>
          <a:graphicData uri="http://schemas.openxmlformats.org/presentationml/2006/ole">
            <mc:AlternateContent xmlns:mc="http://schemas.openxmlformats.org/markup-compatibility/2006">
              <mc:Choice xmlns:v="urn:schemas-microsoft-com:vml" Requires="v">
                <p:oleObj name="Equation" r:id="rId3" imgW="3632040" imgH="482400" progId="Equation.3">
                  <p:embed/>
                </p:oleObj>
              </mc:Choice>
              <mc:Fallback>
                <p:oleObj name="Equation" r:id="rId3" imgW="3632040" imgH="482400" progId="Equation.3">
                  <p:embed/>
                  <p:pic>
                    <p:nvPicPr>
                      <p:cNvPr id="0" name=""/>
                      <p:cNvPicPr>
                        <a:picLocks noChangeAspect="1" noChangeArrowheads="1"/>
                      </p:cNvPicPr>
                      <p:nvPr/>
                    </p:nvPicPr>
                    <p:blipFill>
                      <a:blip r:embed="rId4"/>
                      <a:srcRect/>
                      <a:stretch>
                        <a:fillRect/>
                      </a:stretch>
                    </p:blipFill>
                    <p:spPr bwMode="auto">
                      <a:xfrm>
                        <a:off x="100013" y="1828800"/>
                        <a:ext cx="8943975" cy="1000125"/>
                      </a:xfrm>
                      <a:prstGeom prst="rect">
                        <a:avLst/>
                      </a:prstGeom>
                      <a:noFill/>
                      <a:ln>
                        <a:noFill/>
                      </a:ln>
                      <a:effectLst/>
                    </p:spPr>
                  </p:pic>
                </p:oleObj>
              </mc:Fallback>
            </mc:AlternateContent>
          </a:graphicData>
        </a:graphic>
      </p:graphicFrame>
      <p:graphicFrame>
        <p:nvGraphicFramePr>
          <p:cNvPr id="15365" name="Object 5"/>
          <p:cNvGraphicFramePr>
            <a:graphicFrameLocks noChangeAspect="1"/>
          </p:cNvGraphicFramePr>
          <p:nvPr>
            <p:extLst>
              <p:ext uri="{D42A27DB-BD31-4B8C-83A1-F6EECF244321}">
                <p14:modId xmlns:p14="http://schemas.microsoft.com/office/powerpoint/2010/main" val="2651331648"/>
              </p:ext>
            </p:extLst>
          </p:nvPr>
        </p:nvGraphicFramePr>
        <p:xfrm>
          <a:off x="3657600" y="762000"/>
          <a:ext cx="1600200" cy="815975"/>
        </p:xfrm>
        <a:graphic>
          <a:graphicData uri="http://schemas.openxmlformats.org/presentationml/2006/ole">
            <mc:AlternateContent xmlns:mc="http://schemas.openxmlformats.org/markup-compatibility/2006">
              <mc:Choice xmlns:v="urn:schemas-microsoft-com:vml" Requires="v">
                <p:oleObj name="Equation" r:id="rId5" imgW="647700" imgH="330200" progId="Equation.3">
                  <p:embed/>
                </p:oleObj>
              </mc:Choice>
              <mc:Fallback>
                <p:oleObj name="Equation" r:id="rId5" imgW="647700" imgH="330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57600" y="762000"/>
                        <a:ext cx="1600200" cy="815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6"/>
          <p:cNvGraphicFramePr>
            <a:graphicFrameLocks noChangeAspect="1"/>
          </p:cNvGraphicFramePr>
          <p:nvPr>
            <p:extLst>
              <p:ext uri="{D42A27DB-BD31-4B8C-83A1-F6EECF244321}">
                <p14:modId xmlns:p14="http://schemas.microsoft.com/office/powerpoint/2010/main" val="3241552389"/>
              </p:ext>
            </p:extLst>
          </p:nvPr>
        </p:nvGraphicFramePr>
        <p:xfrm>
          <a:off x="406424" y="4191000"/>
          <a:ext cx="8331152" cy="1905000"/>
        </p:xfrm>
        <a:graphic>
          <a:graphicData uri="http://schemas.openxmlformats.org/presentationml/2006/ole">
            <mc:AlternateContent xmlns:mc="http://schemas.openxmlformats.org/markup-compatibility/2006">
              <mc:Choice xmlns:v="urn:schemas-microsoft-com:vml" Requires="v">
                <p:oleObj name="Equation" r:id="rId7" imgW="3555720" imgH="812520" progId="Equation.3">
                  <p:embed/>
                </p:oleObj>
              </mc:Choice>
              <mc:Fallback>
                <p:oleObj name="Equation" r:id="rId7" imgW="3555720" imgH="812520" progId="Equation.3">
                  <p:embed/>
                  <p:pic>
                    <p:nvPicPr>
                      <p:cNvPr id="0" name=""/>
                      <p:cNvPicPr>
                        <a:picLocks noChangeAspect="1" noChangeArrowheads="1"/>
                      </p:cNvPicPr>
                      <p:nvPr/>
                    </p:nvPicPr>
                    <p:blipFill>
                      <a:blip r:embed="rId8"/>
                      <a:srcRect/>
                      <a:stretch>
                        <a:fillRect/>
                      </a:stretch>
                    </p:blipFill>
                    <p:spPr bwMode="auto">
                      <a:xfrm>
                        <a:off x="406424" y="4191000"/>
                        <a:ext cx="8331152" cy="1905000"/>
                      </a:xfrm>
                      <a:prstGeom prst="rect">
                        <a:avLst/>
                      </a:prstGeom>
                      <a:noFill/>
                      <a:ln>
                        <a:noFill/>
                      </a:ln>
                      <a:effectLst/>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4102607609"/>
              </p:ext>
            </p:extLst>
          </p:nvPr>
        </p:nvGraphicFramePr>
        <p:xfrm>
          <a:off x="2895600" y="3352800"/>
          <a:ext cx="2566219" cy="685800"/>
        </p:xfrm>
        <a:graphic>
          <a:graphicData uri="http://schemas.openxmlformats.org/presentationml/2006/ole">
            <mc:AlternateContent xmlns:mc="http://schemas.openxmlformats.org/markup-compatibility/2006">
              <mc:Choice xmlns:v="urn:schemas-microsoft-com:vml" Requires="v">
                <p:oleObj name="Equation" r:id="rId9" imgW="1473120" imgH="393480" progId="Equation.3">
                  <p:embed/>
                </p:oleObj>
              </mc:Choice>
              <mc:Fallback>
                <p:oleObj name="Equation" r:id="rId9" imgW="1473120" imgH="393480" progId="Equation.3">
                  <p:embed/>
                  <p:pic>
                    <p:nvPicPr>
                      <p:cNvPr id="0" name=""/>
                      <p:cNvPicPr/>
                      <p:nvPr/>
                    </p:nvPicPr>
                    <p:blipFill>
                      <a:blip r:embed="rId10"/>
                      <a:stretch>
                        <a:fillRect/>
                      </a:stretch>
                    </p:blipFill>
                    <p:spPr>
                      <a:xfrm>
                        <a:off x="2895600" y="3352800"/>
                        <a:ext cx="2566219" cy="685800"/>
                      </a:xfrm>
                      <a:prstGeom prst="rect">
                        <a:avLst/>
                      </a:prstGeom>
                    </p:spPr>
                  </p:pic>
                </p:oleObj>
              </mc:Fallback>
            </mc:AlternateContent>
          </a:graphicData>
        </a:graphic>
      </p:graphicFrame>
      <p:pic>
        <p:nvPicPr>
          <p:cNvPr id="317699" name="Picture 259">
            <a:extLst>
              <a:ext uri="{FF2B5EF4-FFF2-40B4-BE49-F238E27FC236}">
                <a16:creationId xmlns:a16="http://schemas.microsoft.com/office/drawing/2014/main" id="{9F84D941-BF33-4D50-A9F4-D592732ED9FD}"/>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24008" t="44864" r="5408"/>
          <a:stretch/>
        </p:blipFill>
        <p:spPr bwMode="auto">
          <a:xfrm>
            <a:off x="255419" y="874426"/>
            <a:ext cx="8788568" cy="4405575"/>
          </a:xfrm>
          <a:prstGeom prst="rect">
            <a:avLst/>
          </a:prstGeom>
          <a:noFill/>
          <a:extLst>
            <a:ext uri="{909E8E84-426E-40DD-AFC4-6F175D3DCCD1}">
              <a14:hiddenFill xmlns:a14="http://schemas.microsoft.com/office/drawing/2010/main">
                <a:solidFill>
                  <a:srgbClr val="FFFFFF"/>
                </a:solidFill>
              </a14:hiddenFill>
            </a:ext>
          </a:extLst>
        </p:spPr>
      </p:pic>
      <p:pic>
        <p:nvPicPr>
          <p:cNvPr id="317713" name="Picture 273">
            <a:extLst>
              <a:ext uri="{FF2B5EF4-FFF2-40B4-BE49-F238E27FC236}">
                <a16:creationId xmlns:a16="http://schemas.microsoft.com/office/drawing/2014/main" id="{448EBEC6-CBD0-4763-99A3-0BA8980E196E}"/>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24108" t="43629" r="4464"/>
          <a:stretch/>
        </p:blipFill>
        <p:spPr bwMode="auto">
          <a:xfrm>
            <a:off x="320898" y="819548"/>
            <a:ext cx="8787384" cy="4450460"/>
          </a:xfrm>
          <a:prstGeom prst="rect">
            <a:avLst/>
          </a:prstGeom>
          <a:solidFill>
            <a:schemeClr val="bg1"/>
          </a:solidFill>
        </p:spPr>
      </p:pic>
      <p:pic>
        <p:nvPicPr>
          <p:cNvPr id="317711" name="Picture 271">
            <a:extLst>
              <a:ext uri="{FF2B5EF4-FFF2-40B4-BE49-F238E27FC236}">
                <a16:creationId xmlns:a16="http://schemas.microsoft.com/office/drawing/2014/main" id="{CF06A970-166F-47F3-840C-2DE97D1F8131}"/>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24107" t="43629" r="5357"/>
          <a:stretch/>
        </p:blipFill>
        <p:spPr bwMode="auto">
          <a:xfrm>
            <a:off x="288751" y="773206"/>
            <a:ext cx="8787384" cy="4506795"/>
          </a:xfrm>
          <a:prstGeom prst="rect">
            <a:avLst/>
          </a:prstGeom>
          <a:solidFill>
            <a:schemeClr val="bg1"/>
          </a:solidFill>
        </p:spPr>
      </p:pic>
    </p:spTree>
    <p:extLst>
      <p:ext uri="{BB962C8B-B14F-4D97-AF65-F5344CB8AC3E}">
        <p14:creationId xmlns:p14="http://schemas.microsoft.com/office/powerpoint/2010/main" val="1782351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fade">
                                      <p:cBhvr>
                                        <p:cTn id="7" dur="500"/>
                                        <p:tgtEl>
                                          <p:spTgt spid="1536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5364"/>
                                        </p:tgtEl>
                                        <p:attrNameLst>
                                          <p:attrName>style.visibility</p:attrName>
                                        </p:attrNameLst>
                                      </p:cBhvr>
                                      <p:to>
                                        <p:strVal val="visible"/>
                                      </p:to>
                                    </p:set>
                                    <p:animEffect transition="in" filter="fade">
                                      <p:cBhvr>
                                        <p:cTn id="10" dur="500"/>
                                        <p:tgtEl>
                                          <p:spTgt spid="1536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363">
                                            <p:txEl>
                                              <p:pRg st="6" end="6"/>
                                            </p:txEl>
                                          </p:spTgt>
                                        </p:tgtEl>
                                        <p:attrNameLst>
                                          <p:attrName>style.visibility</p:attrName>
                                        </p:attrNameLst>
                                      </p:cBhvr>
                                      <p:to>
                                        <p:strVal val="visible"/>
                                      </p:to>
                                    </p:set>
                                    <p:animEffect transition="in" filter="fade">
                                      <p:cBhvr>
                                        <p:cTn id="15" dur="500"/>
                                        <p:tgtEl>
                                          <p:spTgt spid="15363">
                                            <p:txEl>
                                              <p:pRg st="6" end="6"/>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5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5366"/>
                                        </p:tgtEl>
                                        <p:attrNameLst>
                                          <p:attrName>style.visibility</p:attrName>
                                        </p:attrNameLst>
                                      </p:cBhvr>
                                      <p:to>
                                        <p:strVal val="visible"/>
                                      </p:to>
                                    </p:set>
                                    <p:animEffect transition="in" filter="fade">
                                      <p:cBhvr>
                                        <p:cTn id="23" dur="500"/>
                                        <p:tgtEl>
                                          <p:spTgt spid="1536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17699"/>
                                        </p:tgtEl>
                                        <p:attrNameLst>
                                          <p:attrName>style.visibility</p:attrName>
                                        </p:attrNameLst>
                                      </p:cBhvr>
                                      <p:to>
                                        <p:strVal val="visible"/>
                                      </p:to>
                                    </p:set>
                                    <p:animEffect transition="in" filter="fade">
                                      <p:cBhvr>
                                        <p:cTn id="28" dur="500"/>
                                        <p:tgtEl>
                                          <p:spTgt spid="31769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17713"/>
                                        </p:tgtEl>
                                        <p:attrNameLst>
                                          <p:attrName>style.visibility</p:attrName>
                                        </p:attrNameLst>
                                      </p:cBhvr>
                                      <p:to>
                                        <p:strVal val="visible"/>
                                      </p:to>
                                    </p:set>
                                    <p:animEffect transition="in" filter="fade">
                                      <p:cBhvr>
                                        <p:cTn id="33" dur="500"/>
                                        <p:tgtEl>
                                          <p:spTgt spid="3177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17711"/>
                                        </p:tgtEl>
                                        <p:attrNameLst>
                                          <p:attrName>style.visibility</p:attrName>
                                        </p:attrNameLst>
                                      </p:cBhvr>
                                      <p:to>
                                        <p:strVal val="visible"/>
                                      </p:to>
                                    </p:set>
                                    <p:animEffect transition="in" filter="fade">
                                      <p:cBhvr>
                                        <p:cTn id="38" dur="500"/>
                                        <p:tgtEl>
                                          <p:spTgt spid="3177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sr-Latn-RS" altLang="sr-Latn-RS"/>
              <a:t>Kompozitne metode</a:t>
            </a:r>
          </a:p>
        </p:txBody>
      </p:sp>
      <p:sp>
        <p:nvSpPr>
          <p:cNvPr id="16387" name="Rectangle 3"/>
          <p:cNvSpPr>
            <a:spLocks noGrp="1" noChangeArrowheads="1"/>
          </p:cNvSpPr>
          <p:nvPr>
            <p:ph type="body" idx="1"/>
          </p:nvPr>
        </p:nvSpPr>
        <p:spPr>
          <a:xfrm>
            <a:off x="457200" y="1600200"/>
            <a:ext cx="8458200" cy="4525963"/>
          </a:xfrm>
        </p:spPr>
        <p:txBody>
          <a:bodyPr/>
          <a:lstStyle/>
          <a:p>
            <a:pPr>
              <a:lnSpc>
                <a:spcPct val="90000"/>
              </a:lnSpc>
            </a:pPr>
            <a:r>
              <a:rPr lang="sr-Latn-RS" altLang="sr-Latn-RS" dirty="0"/>
              <a:t>Velika greška kod prethodnog primera ilustruje problem sa metodom trapeza primenjenom na jedan interval</a:t>
            </a:r>
          </a:p>
          <a:p>
            <a:pPr>
              <a:lnSpc>
                <a:spcPct val="90000"/>
              </a:lnSpc>
            </a:pPr>
            <a:endParaRPr lang="en-US" altLang="sr-Latn-RS" dirty="0"/>
          </a:p>
          <a:p>
            <a:pPr>
              <a:lnSpc>
                <a:spcPct val="90000"/>
              </a:lnSpc>
            </a:pPr>
            <a:r>
              <a:rPr lang="sr-Latn-RS" altLang="sr-Latn-RS" dirty="0"/>
              <a:t>Veća tačnost može se postići upotrebom kompozitnih metoda</a:t>
            </a:r>
          </a:p>
          <a:p>
            <a:pPr>
              <a:lnSpc>
                <a:spcPct val="90000"/>
              </a:lnSpc>
            </a:pPr>
            <a:endParaRPr lang="en-US" altLang="sr-Latn-RS" dirty="0"/>
          </a:p>
          <a:p>
            <a:pPr>
              <a:lnSpc>
                <a:spcPct val="90000"/>
              </a:lnSpc>
            </a:pPr>
            <a:r>
              <a:rPr lang="sr-Latn-RS" altLang="sr-Latn-RS" dirty="0"/>
              <a:t>Suština kompozitnih metoda je deljenje intervala [</a:t>
            </a:r>
            <a:r>
              <a:rPr lang="sr-Latn-RS" altLang="sr-Latn-RS" dirty="0" err="1"/>
              <a:t>a,b</a:t>
            </a:r>
            <a:r>
              <a:rPr lang="sr-Latn-RS" altLang="sr-Latn-RS" dirty="0"/>
              <a:t>] na više </a:t>
            </a:r>
            <a:r>
              <a:rPr lang="sr-Latn-RS" altLang="sr-Latn-RS" dirty="0" err="1"/>
              <a:t>podintervala</a:t>
            </a:r>
            <a:r>
              <a:rPr lang="sr-Latn-RS" altLang="sr-Latn-RS" dirty="0"/>
              <a:t> i onda primena metode Trapeza na svaki od </a:t>
            </a:r>
            <a:r>
              <a:rPr lang="sr-Latn-RS" altLang="sr-Latn-RS" dirty="0" err="1"/>
              <a:t>podintervala</a:t>
            </a:r>
            <a:endParaRPr lang="sr-Latn-RS" altLang="sr-Latn-RS" dirty="0"/>
          </a:p>
        </p:txBody>
      </p:sp>
    </p:spTree>
    <p:extLst>
      <p:ext uri="{BB962C8B-B14F-4D97-AF65-F5344CB8AC3E}">
        <p14:creationId xmlns:p14="http://schemas.microsoft.com/office/powerpoint/2010/main" val="377280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animEffect transition="in" filter="fade">
                                      <p:cBhvr>
                                        <p:cTn id="7" dur="500"/>
                                        <p:tgtEl>
                                          <p:spTgt spid="163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387">
                                            <p:txEl>
                                              <p:pRg st="2" end="2"/>
                                            </p:txEl>
                                          </p:spTgt>
                                        </p:tgtEl>
                                        <p:attrNameLst>
                                          <p:attrName>style.visibility</p:attrName>
                                        </p:attrNameLst>
                                      </p:cBhvr>
                                      <p:to>
                                        <p:strVal val="visible"/>
                                      </p:to>
                                    </p:set>
                                    <p:animEffect transition="in" filter="fade">
                                      <p:cBhvr>
                                        <p:cTn id="12" dur="500"/>
                                        <p:tgtEl>
                                          <p:spTgt spid="1638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387">
                                            <p:txEl>
                                              <p:pRg st="4" end="4"/>
                                            </p:txEl>
                                          </p:spTgt>
                                        </p:tgtEl>
                                        <p:attrNameLst>
                                          <p:attrName>style.visibility</p:attrName>
                                        </p:attrNameLst>
                                      </p:cBhvr>
                                      <p:to>
                                        <p:strVal val="visible"/>
                                      </p:to>
                                    </p:set>
                                    <p:animEffect transition="in" filter="fade">
                                      <p:cBhvr>
                                        <p:cTn id="17" dur="500"/>
                                        <p:tgtEl>
                                          <p:spTgt spid="1638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r-Latn-RS" altLang="sr-Latn-RS" dirty="0"/>
              <a:t>Kompozitna metoda trapeza</a:t>
            </a:r>
            <a:endParaRPr lang="en-US" dirty="0"/>
          </a:p>
        </p:txBody>
      </p:sp>
      <p:sp>
        <p:nvSpPr>
          <p:cNvPr id="3" name="Content Placeholder 2"/>
          <p:cNvSpPr>
            <a:spLocks noGrp="1"/>
          </p:cNvSpPr>
          <p:nvPr>
            <p:ph idx="1"/>
          </p:nvPr>
        </p:nvSpPr>
        <p:spPr>
          <a:xfrm>
            <a:off x="457200" y="1600200"/>
            <a:ext cx="8229600" cy="4876800"/>
          </a:xfrm>
        </p:spPr>
        <p:txBody>
          <a:bodyPr/>
          <a:lstStyle/>
          <a:p>
            <a:endParaRPr lang="en-US" dirty="0"/>
          </a:p>
        </p:txBody>
      </p:sp>
      <p:grpSp>
        <p:nvGrpSpPr>
          <p:cNvPr id="6" name="Group 5"/>
          <p:cNvGrpSpPr/>
          <p:nvPr/>
        </p:nvGrpSpPr>
        <p:grpSpPr>
          <a:xfrm>
            <a:off x="274320" y="1600200"/>
            <a:ext cx="8595360" cy="3410157"/>
            <a:chOff x="304800" y="1694787"/>
            <a:chExt cx="8595360" cy="3410157"/>
          </a:xfrm>
        </p:grpSpPr>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3449" t="6061" r="7453"/>
            <a:stretch/>
          </p:blipFill>
          <p:spPr bwMode="auto">
            <a:xfrm>
              <a:off x="304800" y="1700272"/>
              <a:ext cx="4297680" cy="3399188"/>
            </a:xfrm>
            <a:prstGeom prst="rect">
              <a:avLst/>
            </a:prstGeom>
            <a:ln>
              <a:noFill/>
            </a:ln>
            <a:extLst>
              <a:ext uri="{53640926-AAD7-44D8-BBD7-CCE9431645EC}">
                <a14:shadowObscured xmlns:a14="http://schemas.microsoft.com/office/drawing/2010/main"/>
              </a:ext>
            </a:extLst>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l="3449" t="6061" r="7740"/>
            <a:stretch/>
          </p:blipFill>
          <p:spPr bwMode="auto">
            <a:xfrm>
              <a:off x="4602480" y="1694787"/>
              <a:ext cx="4297680" cy="3410157"/>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3103894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447800" y="228600"/>
            <a:ext cx="7696200" cy="1143000"/>
          </a:xfrm>
        </p:spPr>
        <p:txBody>
          <a:bodyPr/>
          <a:lstStyle/>
          <a:p>
            <a:r>
              <a:rPr lang="sr-Latn-RS" altLang="sr-Latn-RS"/>
              <a:t>Kompozitna metoda trapeza</a:t>
            </a:r>
          </a:p>
        </p:txBody>
      </p:sp>
      <p:graphicFrame>
        <p:nvGraphicFramePr>
          <p:cNvPr id="18435" name="Object 4"/>
          <p:cNvGraphicFramePr>
            <a:graphicFrameLocks noChangeAspect="1"/>
          </p:cNvGraphicFramePr>
          <p:nvPr>
            <p:extLst>
              <p:ext uri="{D42A27DB-BD31-4B8C-83A1-F6EECF244321}">
                <p14:modId xmlns:p14="http://schemas.microsoft.com/office/powerpoint/2010/main" val="1193618509"/>
              </p:ext>
            </p:extLst>
          </p:nvPr>
        </p:nvGraphicFramePr>
        <p:xfrm>
          <a:off x="1943100" y="1385888"/>
          <a:ext cx="5257800" cy="1855787"/>
        </p:xfrm>
        <a:graphic>
          <a:graphicData uri="http://schemas.openxmlformats.org/presentationml/2006/ole">
            <mc:AlternateContent xmlns:mc="http://schemas.openxmlformats.org/markup-compatibility/2006">
              <mc:Choice xmlns:v="urn:schemas-microsoft-com:vml" Requires="v">
                <p:oleObj name="Equation" r:id="rId2" imgW="2590800" imgH="914400" progId="Equation.3">
                  <p:embed/>
                </p:oleObj>
              </mc:Choice>
              <mc:Fallback>
                <p:oleObj name="Equation" r:id="rId2" imgW="2590800" imgH="914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3100" y="1385888"/>
                        <a:ext cx="5257800" cy="185578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6" name="Object 8"/>
          <p:cNvGraphicFramePr>
            <a:graphicFrameLocks noChangeAspect="1"/>
          </p:cNvGraphicFramePr>
          <p:nvPr>
            <p:extLst>
              <p:ext uri="{D42A27DB-BD31-4B8C-83A1-F6EECF244321}">
                <p14:modId xmlns:p14="http://schemas.microsoft.com/office/powerpoint/2010/main" val="1249029809"/>
              </p:ext>
            </p:extLst>
          </p:nvPr>
        </p:nvGraphicFramePr>
        <p:xfrm>
          <a:off x="323850" y="4291748"/>
          <a:ext cx="8278813" cy="869950"/>
        </p:xfrm>
        <a:graphic>
          <a:graphicData uri="http://schemas.openxmlformats.org/presentationml/2006/ole">
            <mc:AlternateContent xmlns:mc="http://schemas.openxmlformats.org/markup-compatibility/2006">
              <mc:Choice xmlns:v="urn:schemas-microsoft-com:vml" Requires="v">
                <p:oleObj name="Equation" r:id="rId4" imgW="3746500" imgH="393700" progId="Equation.3">
                  <p:embed/>
                </p:oleObj>
              </mc:Choice>
              <mc:Fallback>
                <p:oleObj name="Equation" r:id="rId4" imgW="3746500" imgH="393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3850" y="4291748"/>
                        <a:ext cx="8278813" cy="869950"/>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7" name="Object 11"/>
          <p:cNvGraphicFramePr>
            <a:graphicFrameLocks noChangeAspect="1"/>
          </p:cNvGraphicFramePr>
          <p:nvPr>
            <p:extLst>
              <p:ext uri="{D42A27DB-BD31-4B8C-83A1-F6EECF244321}">
                <p14:modId xmlns:p14="http://schemas.microsoft.com/office/powerpoint/2010/main" val="3485538202"/>
              </p:ext>
            </p:extLst>
          </p:nvPr>
        </p:nvGraphicFramePr>
        <p:xfrm>
          <a:off x="2195513" y="5440363"/>
          <a:ext cx="4752975" cy="1036637"/>
        </p:xfrm>
        <a:graphic>
          <a:graphicData uri="http://schemas.openxmlformats.org/presentationml/2006/ole">
            <mc:AlternateContent xmlns:mc="http://schemas.openxmlformats.org/markup-compatibility/2006">
              <mc:Choice xmlns:v="urn:schemas-microsoft-com:vml" Requires="v">
                <p:oleObj name="Equation" r:id="rId6" imgW="2095500" imgH="457200" progId="Equation.3">
                  <p:embed/>
                </p:oleObj>
              </mc:Choice>
              <mc:Fallback>
                <p:oleObj name="Equation" r:id="rId6" imgW="2095500" imgH="4572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5440363"/>
                        <a:ext cx="4752975" cy="1036637"/>
                      </a:xfrm>
                      <a:prstGeom prst="rect">
                        <a:avLst/>
                      </a:prstGeom>
                      <a:solidFill>
                        <a:schemeClr val="bg1"/>
                      </a:solidFill>
                      <a:ln w="25400">
                        <a:solidFill>
                          <a:srgbClr val="80008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38" name="Rectangle 10"/>
          <p:cNvSpPr>
            <a:spLocks noChangeArrowheads="1"/>
          </p:cNvSpPr>
          <p:nvPr/>
        </p:nvSpPr>
        <p:spPr bwMode="auto">
          <a:xfrm>
            <a:off x="323850" y="3351213"/>
            <a:ext cx="8135938" cy="830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buClr>
                <a:schemeClr val="tx2"/>
              </a:buClr>
              <a:buSzPct val="70000"/>
              <a:buFont typeface="Wingdings" pitchFamily="2" charset="2"/>
              <a:buNone/>
            </a:pPr>
            <a:r>
              <a:rPr lang="sr-Latn-RS" altLang="ar-SA" sz="2400" dirty="0">
                <a:cs typeface="Arial" charset="0"/>
              </a:rPr>
              <a:t>Svaki od integrala izračunavamo pomoću trapezne metode, i tako dobijamo</a:t>
            </a:r>
            <a:r>
              <a:rPr lang="en-US" altLang="ar-SA" sz="2000" dirty="0">
                <a:cs typeface="Arial" charset="0"/>
              </a:rPr>
              <a:t>:</a:t>
            </a:r>
          </a:p>
        </p:txBody>
      </p:sp>
    </p:spTree>
    <p:extLst>
      <p:ext uri="{BB962C8B-B14F-4D97-AF65-F5344CB8AC3E}">
        <p14:creationId xmlns:p14="http://schemas.microsoft.com/office/powerpoint/2010/main" val="1998264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438"/>
                                        </p:tgtEl>
                                        <p:attrNameLst>
                                          <p:attrName>style.visibility</p:attrName>
                                        </p:attrNameLst>
                                      </p:cBhvr>
                                      <p:to>
                                        <p:strVal val="visible"/>
                                      </p:to>
                                    </p:set>
                                    <p:animEffect transition="in" filter="fade">
                                      <p:cBhvr>
                                        <p:cTn id="7" dur="500"/>
                                        <p:tgtEl>
                                          <p:spTgt spid="18438"/>
                                        </p:tgtEl>
                                      </p:cBhvr>
                                    </p:animEffect>
                                  </p:childTnLst>
                                </p:cTn>
                              </p:par>
                              <p:par>
                                <p:cTn id="8" presetID="10" presetClass="entr" presetSubtype="0" fill="hold" nodeType="withEffect">
                                  <p:stCondLst>
                                    <p:cond delay="0"/>
                                  </p:stCondLst>
                                  <p:childTnLst>
                                    <p:set>
                                      <p:cBhvr>
                                        <p:cTn id="9" dur="1" fill="hold">
                                          <p:stCondLst>
                                            <p:cond delay="0"/>
                                          </p:stCondLst>
                                        </p:cTn>
                                        <p:tgtEl>
                                          <p:spTgt spid="18436"/>
                                        </p:tgtEl>
                                        <p:attrNameLst>
                                          <p:attrName>style.visibility</p:attrName>
                                        </p:attrNameLst>
                                      </p:cBhvr>
                                      <p:to>
                                        <p:strVal val="visible"/>
                                      </p:to>
                                    </p:set>
                                    <p:animEffect transition="in" filter="fade">
                                      <p:cBhvr>
                                        <p:cTn id="10" dur="500"/>
                                        <p:tgtEl>
                                          <p:spTgt spid="1843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437"/>
                                        </p:tgtEl>
                                        <p:attrNameLst>
                                          <p:attrName>style.visibility</p:attrName>
                                        </p:attrNameLst>
                                      </p:cBhvr>
                                      <p:to>
                                        <p:strVal val="visible"/>
                                      </p:to>
                                    </p:set>
                                    <p:animEffect transition="in" filter="fade">
                                      <p:cBhvr>
                                        <p:cTn id="15" dur="500"/>
                                        <p:tgtEl>
                                          <p:spTgt spid="1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6"/>
          <p:cNvSpPr/>
          <p:nvPr/>
        </p:nvSpPr>
        <p:spPr>
          <a:xfrm>
            <a:off x="2443163" y="2819400"/>
            <a:ext cx="457200" cy="3200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5" name="Right Triangle 44"/>
          <p:cNvSpPr/>
          <p:nvPr/>
        </p:nvSpPr>
        <p:spPr>
          <a:xfrm flipH="1">
            <a:off x="2438400" y="2609850"/>
            <a:ext cx="457200" cy="20955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3" name="Right Triangle 42"/>
          <p:cNvSpPr/>
          <p:nvPr/>
        </p:nvSpPr>
        <p:spPr>
          <a:xfrm flipH="1">
            <a:off x="1962150" y="2819400"/>
            <a:ext cx="457200" cy="45720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5" name="Rectangle 54"/>
          <p:cNvSpPr/>
          <p:nvPr/>
        </p:nvSpPr>
        <p:spPr>
          <a:xfrm>
            <a:off x="1966913" y="3276600"/>
            <a:ext cx="457200" cy="2743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cxnSp>
        <p:nvCxnSpPr>
          <p:cNvPr id="2" name="Straight Arrow Connector 1"/>
          <p:cNvCxnSpPr/>
          <p:nvPr/>
        </p:nvCxnSpPr>
        <p:spPr>
          <a:xfrm>
            <a:off x="1128713" y="6019800"/>
            <a:ext cx="7239000" cy="1588"/>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cxnSp>
        <p:nvCxnSpPr>
          <p:cNvPr id="3" name="Straight Arrow Connector 2"/>
          <p:cNvCxnSpPr/>
          <p:nvPr/>
        </p:nvCxnSpPr>
        <p:spPr>
          <a:xfrm rot="5400000" flipH="1" flipV="1">
            <a:off x="-577850" y="4068763"/>
            <a:ext cx="4479925" cy="0"/>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4" name="Freeform 3"/>
          <p:cNvSpPr/>
          <p:nvPr/>
        </p:nvSpPr>
        <p:spPr>
          <a:xfrm>
            <a:off x="838200" y="1752600"/>
            <a:ext cx="6591300" cy="3192463"/>
          </a:xfrm>
          <a:custGeom>
            <a:avLst/>
            <a:gdLst>
              <a:gd name="connsiteX0" fmla="*/ 0 w 6257925"/>
              <a:gd name="connsiteY0" fmla="*/ 2781300 h 2855912"/>
              <a:gd name="connsiteX1" fmla="*/ 895350 w 6257925"/>
              <a:gd name="connsiteY1" fmla="*/ 2790825 h 2855912"/>
              <a:gd name="connsiteX2" fmla="*/ 1285875 w 6257925"/>
              <a:gd name="connsiteY2" fmla="*/ 2390775 h 2855912"/>
              <a:gd name="connsiteX3" fmla="*/ 2171700 w 6257925"/>
              <a:gd name="connsiteY3" fmla="*/ 1800225 h 2855912"/>
              <a:gd name="connsiteX4" fmla="*/ 3105150 w 6257925"/>
              <a:gd name="connsiteY4" fmla="*/ 1476375 h 2855912"/>
              <a:gd name="connsiteX5" fmla="*/ 3733800 w 6257925"/>
              <a:gd name="connsiteY5" fmla="*/ 1323975 h 2855912"/>
              <a:gd name="connsiteX6" fmla="*/ 4486275 w 6257925"/>
              <a:gd name="connsiteY6" fmla="*/ 1038225 h 2855912"/>
              <a:gd name="connsiteX7" fmla="*/ 5429250 w 6257925"/>
              <a:gd name="connsiteY7" fmla="*/ 161925 h 2855912"/>
              <a:gd name="connsiteX8" fmla="*/ 6257925 w 6257925"/>
              <a:gd name="connsiteY8" fmla="*/ 66675 h 2855912"/>
              <a:gd name="connsiteX0" fmla="*/ 0 w 6257925"/>
              <a:gd name="connsiteY0" fmla="*/ 2781300 h 2855912"/>
              <a:gd name="connsiteX1" fmla="*/ 895350 w 6257925"/>
              <a:gd name="connsiteY1" fmla="*/ 2790825 h 2855912"/>
              <a:gd name="connsiteX2" fmla="*/ 1285875 w 6257925"/>
              <a:gd name="connsiteY2" fmla="*/ 2390775 h 2855912"/>
              <a:gd name="connsiteX3" fmla="*/ 2171700 w 6257925"/>
              <a:gd name="connsiteY3" fmla="*/ 1800225 h 2855912"/>
              <a:gd name="connsiteX4" fmla="*/ 2170379 w 6257925"/>
              <a:gd name="connsiteY4" fmla="*/ 943841 h 2855912"/>
              <a:gd name="connsiteX5" fmla="*/ 3105150 w 6257925"/>
              <a:gd name="connsiteY5" fmla="*/ 1476375 h 2855912"/>
              <a:gd name="connsiteX6" fmla="*/ 3733800 w 6257925"/>
              <a:gd name="connsiteY6" fmla="*/ 1323975 h 2855912"/>
              <a:gd name="connsiteX7" fmla="*/ 4486275 w 6257925"/>
              <a:gd name="connsiteY7" fmla="*/ 1038225 h 2855912"/>
              <a:gd name="connsiteX8" fmla="*/ 5429250 w 6257925"/>
              <a:gd name="connsiteY8" fmla="*/ 161925 h 2855912"/>
              <a:gd name="connsiteX9" fmla="*/ 6257925 w 6257925"/>
              <a:gd name="connsiteY9" fmla="*/ 66675 h 2855912"/>
              <a:gd name="connsiteX0" fmla="*/ 0 w 6257925"/>
              <a:gd name="connsiteY0" fmla="*/ 2781300 h 2855912"/>
              <a:gd name="connsiteX1" fmla="*/ 895350 w 6257925"/>
              <a:gd name="connsiteY1" fmla="*/ 2790825 h 2855912"/>
              <a:gd name="connsiteX2" fmla="*/ 1285875 w 6257925"/>
              <a:gd name="connsiteY2" fmla="*/ 2390775 h 2855912"/>
              <a:gd name="connsiteX3" fmla="*/ 2171700 w 6257925"/>
              <a:gd name="connsiteY3" fmla="*/ 1800225 h 2855912"/>
              <a:gd name="connsiteX4" fmla="*/ 2170379 w 6257925"/>
              <a:gd name="connsiteY4" fmla="*/ 943841 h 2855912"/>
              <a:gd name="connsiteX5" fmla="*/ 3105150 w 6257925"/>
              <a:gd name="connsiteY5" fmla="*/ 1476375 h 2855912"/>
              <a:gd name="connsiteX6" fmla="*/ 3117453 w 6257925"/>
              <a:gd name="connsiteY6" fmla="*/ 943841 h 2855912"/>
              <a:gd name="connsiteX7" fmla="*/ 3733800 w 6257925"/>
              <a:gd name="connsiteY7" fmla="*/ 1323975 h 2855912"/>
              <a:gd name="connsiteX8" fmla="*/ 4486275 w 6257925"/>
              <a:gd name="connsiteY8" fmla="*/ 1038225 h 2855912"/>
              <a:gd name="connsiteX9" fmla="*/ 5429250 w 6257925"/>
              <a:gd name="connsiteY9" fmla="*/ 161925 h 2855912"/>
              <a:gd name="connsiteX10" fmla="*/ 6257925 w 6257925"/>
              <a:gd name="connsiteY10" fmla="*/ 66675 h 2855912"/>
              <a:gd name="connsiteX0" fmla="*/ 0 w 6257925"/>
              <a:gd name="connsiteY0" fmla="*/ 2781300 h 2855912"/>
              <a:gd name="connsiteX1" fmla="*/ 895350 w 6257925"/>
              <a:gd name="connsiteY1" fmla="*/ 2790825 h 2855912"/>
              <a:gd name="connsiteX2" fmla="*/ 1285875 w 6257925"/>
              <a:gd name="connsiteY2" fmla="*/ 2390775 h 2855912"/>
              <a:gd name="connsiteX3" fmla="*/ 2171700 w 6257925"/>
              <a:gd name="connsiteY3" fmla="*/ 1800225 h 2855912"/>
              <a:gd name="connsiteX4" fmla="*/ 2170379 w 6257925"/>
              <a:gd name="connsiteY4" fmla="*/ 943841 h 2855912"/>
              <a:gd name="connsiteX5" fmla="*/ 2815766 w 6257925"/>
              <a:gd name="connsiteY5" fmla="*/ 1019176 h 2855912"/>
              <a:gd name="connsiteX6" fmla="*/ 3117453 w 6257925"/>
              <a:gd name="connsiteY6" fmla="*/ 943841 h 2855912"/>
              <a:gd name="connsiteX7" fmla="*/ 3733800 w 6257925"/>
              <a:gd name="connsiteY7" fmla="*/ 1323975 h 2855912"/>
              <a:gd name="connsiteX8" fmla="*/ 4486275 w 6257925"/>
              <a:gd name="connsiteY8" fmla="*/ 1038225 h 2855912"/>
              <a:gd name="connsiteX9" fmla="*/ 5429250 w 6257925"/>
              <a:gd name="connsiteY9" fmla="*/ 161925 h 2855912"/>
              <a:gd name="connsiteX10" fmla="*/ 6257925 w 6257925"/>
              <a:gd name="connsiteY10" fmla="*/ 66675 h 2855912"/>
              <a:gd name="connsiteX0" fmla="*/ 0 w 6257925"/>
              <a:gd name="connsiteY0" fmla="*/ 2781300 h 2855912"/>
              <a:gd name="connsiteX1" fmla="*/ 895350 w 6257925"/>
              <a:gd name="connsiteY1" fmla="*/ 2790825 h 2855912"/>
              <a:gd name="connsiteX2" fmla="*/ 1285875 w 6257925"/>
              <a:gd name="connsiteY2" fmla="*/ 2390775 h 2855912"/>
              <a:gd name="connsiteX3" fmla="*/ 2171700 w 6257925"/>
              <a:gd name="connsiteY3" fmla="*/ 1800225 h 2855912"/>
              <a:gd name="connsiteX4" fmla="*/ 2170379 w 6257925"/>
              <a:gd name="connsiteY4" fmla="*/ 943841 h 2855912"/>
              <a:gd name="connsiteX5" fmla="*/ 2815766 w 6257925"/>
              <a:gd name="connsiteY5" fmla="*/ 1019176 h 2855912"/>
              <a:gd name="connsiteX6" fmla="*/ 2841223 w 6257925"/>
              <a:gd name="connsiteY6" fmla="*/ 472786 h 2855912"/>
              <a:gd name="connsiteX7" fmla="*/ 3117453 w 6257925"/>
              <a:gd name="connsiteY7" fmla="*/ 943841 h 2855912"/>
              <a:gd name="connsiteX8" fmla="*/ 3733800 w 6257925"/>
              <a:gd name="connsiteY8" fmla="*/ 1323975 h 2855912"/>
              <a:gd name="connsiteX9" fmla="*/ 4486275 w 6257925"/>
              <a:gd name="connsiteY9" fmla="*/ 1038225 h 2855912"/>
              <a:gd name="connsiteX10" fmla="*/ 5429250 w 6257925"/>
              <a:gd name="connsiteY10" fmla="*/ 161925 h 2855912"/>
              <a:gd name="connsiteX11" fmla="*/ 6257925 w 6257925"/>
              <a:gd name="connsiteY11" fmla="*/ 66675 h 2855912"/>
              <a:gd name="connsiteX0" fmla="*/ 0 w 6257925"/>
              <a:gd name="connsiteY0" fmla="*/ 2781300 h 2855912"/>
              <a:gd name="connsiteX1" fmla="*/ 895350 w 6257925"/>
              <a:gd name="connsiteY1" fmla="*/ 2790825 h 2855912"/>
              <a:gd name="connsiteX2" fmla="*/ 1285875 w 6257925"/>
              <a:gd name="connsiteY2" fmla="*/ 2390775 h 2855912"/>
              <a:gd name="connsiteX3" fmla="*/ 2171700 w 6257925"/>
              <a:gd name="connsiteY3" fmla="*/ 1800225 h 2855912"/>
              <a:gd name="connsiteX4" fmla="*/ 2170379 w 6257925"/>
              <a:gd name="connsiteY4" fmla="*/ 943841 h 2855912"/>
              <a:gd name="connsiteX5" fmla="*/ 2526382 w 6257925"/>
              <a:gd name="connsiteY5" fmla="*/ 485777 h 2855912"/>
              <a:gd name="connsiteX6" fmla="*/ 2841223 w 6257925"/>
              <a:gd name="connsiteY6" fmla="*/ 472786 h 2855912"/>
              <a:gd name="connsiteX7" fmla="*/ 3117453 w 6257925"/>
              <a:gd name="connsiteY7" fmla="*/ 943841 h 2855912"/>
              <a:gd name="connsiteX8" fmla="*/ 3733800 w 6257925"/>
              <a:gd name="connsiteY8" fmla="*/ 1323975 h 2855912"/>
              <a:gd name="connsiteX9" fmla="*/ 4486275 w 6257925"/>
              <a:gd name="connsiteY9" fmla="*/ 1038225 h 2855912"/>
              <a:gd name="connsiteX10" fmla="*/ 5429250 w 6257925"/>
              <a:gd name="connsiteY10" fmla="*/ 161925 h 2855912"/>
              <a:gd name="connsiteX11" fmla="*/ 6257925 w 6257925"/>
              <a:gd name="connsiteY11" fmla="*/ 66675 h 2855912"/>
              <a:gd name="connsiteX0" fmla="*/ 0 w 6257925"/>
              <a:gd name="connsiteY0" fmla="*/ 2781300 h 2855912"/>
              <a:gd name="connsiteX1" fmla="*/ 895350 w 6257925"/>
              <a:gd name="connsiteY1" fmla="*/ 2790825 h 2855912"/>
              <a:gd name="connsiteX2" fmla="*/ 1285875 w 6257925"/>
              <a:gd name="connsiteY2" fmla="*/ 2390775 h 2855912"/>
              <a:gd name="connsiteX3" fmla="*/ 1953341 w 6257925"/>
              <a:gd name="connsiteY3" fmla="*/ 2377785 h 2855912"/>
              <a:gd name="connsiteX4" fmla="*/ 2171700 w 6257925"/>
              <a:gd name="connsiteY4" fmla="*/ 1800225 h 2855912"/>
              <a:gd name="connsiteX5" fmla="*/ 2170379 w 6257925"/>
              <a:gd name="connsiteY5" fmla="*/ 943841 h 2855912"/>
              <a:gd name="connsiteX6" fmla="*/ 2526382 w 6257925"/>
              <a:gd name="connsiteY6" fmla="*/ 485777 h 2855912"/>
              <a:gd name="connsiteX7" fmla="*/ 2841223 w 6257925"/>
              <a:gd name="connsiteY7" fmla="*/ 472786 h 2855912"/>
              <a:gd name="connsiteX8" fmla="*/ 3117453 w 6257925"/>
              <a:gd name="connsiteY8" fmla="*/ 943841 h 2855912"/>
              <a:gd name="connsiteX9" fmla="*/ 3733800 w 6257925"/>
              <a:gd name="connsiteY9" fmla="*/ 1323975 h 2855912"/>
              <a:gd name="connsiteX10" fmla="*/ 4486275 w 6257925"/>
              <a:gd name="connsiteY10" fmla="*/ 1038225 h 2855912"/>
              <a:gd name="connsiteX11" fmla="*/ 5429250 w 6257925"/>
              <a:gd name="connsiteY11" fmla="*/ 161925 h 2855912"/>
              <a:gd name="connsiteX12" fmla="*/ 6257925 w 6257925"/>
              <a:gd name="connsiteY12" fmla="*/ 66675 h 2855912"/>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2171700 w 6257925"/>
              <a:gd name="connsiteY4" fmla="*/ 1800225 h 2818606"/>
              <a:gd name="connsiteX5" fmla="*/ 2170379 w 6257925"/>
              <a:gd name="connsiteY5" fmla="*/ 943841 h 2818606"/>
              <a:gd name="connsiteX6" fmla="*/ 2526382 w 6257925"/>
              <a:gd name="connsiteY6" fmla="*/ 485777 h 2818606"/>
              <a:gd name="connsiteX7" fmla="*/ 2841223 w 6257925"/>
              <a:gd name="connsiteY7" fmla="*/ 472786 h 2818606"/>
              <a:gd name="connsiteX8" fmla="*/ 3117453 w 6257925"/>
              <a:gd name="connsiteY8" fmla="*/ 943841 h 2818606"/>
              <a:gd name="connsiteX9" fmla="*/ 3733800 w 6257925"/>
              <a:gd name="connsiteY9" fmla="*/ 1323975 h 2818606"/>
              <a:gd name="connsiteX10" fmla="*/ 4486275 w 6257925"/>
              <a:gd name="connsiteY10" fmla="*/ 1038225 h 2818606"/>
              <a:gd name="connsiteX11" fmla="*/ 5429250 w 6257925"/>
              <a:gd name="connsiteY11" fmla="*/ 161925 h 2818606"/>
              <a:gd name="connsiteX12" fmla="*/ 6257925 w 6257925"/>
              <a:gd name="connsiteY12"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2171700 w 6257925"/>
              <a:gd name="connsiteY4" fmla="*/ 1800225 h 2818606"/>
              <a:gd name="connsiteX5" fmla="*/ 2315071 w 6257925"/>
              <a:gd name="connsiteY5" fmla="*/ 943841 h 2818606"/>
              <a:gd name="connsiteX6" fmla="*/ 2526382 w 6257925"/>
              <a:gd name="connsiteY6" fmla="*/ 485777 h 2818606"/>
              <a:gd name="connsiteX7" fmla="*/ 2841223 w 6257925"/>
              <a:gd name="connsiteY7" fmla="*/ 472786 h 2818606"/>
              <a:gd name="connsiteX8" fmla="*/ 3117453 w 6257925"/>
              <a:gd name="connsiteY8" fmla="*/ 943841 h 2818606"/>
              <a:gd name="connsiteX9" fmla="*/ 3733800 w 6257925"/>
              <a:gd name="connsiteY9" fmla="*/ 1323975 h 2818606"/>
              <a:gd name="connsiteX10" fmla="*/ 4486275 w 6257925"/>
              <a:gd name="connsiteY10" fmla="*/ 1038225 h 2818606"/>
              <a:gd name="connsiteX11" fmla="*/ 5429250 w 6257925"/>
              <a:gd name="connsiteY11" fmla="*/ 161925 h 2818606"/>
              <a:gd name="connsiteX12" fmla="*/ 6257925 w 6257925"/>
              <a:gd name="connsiteY12"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2171700 w 6257925"/>
              <a:gd name="connsiteY4" fmla="*/ 1800225 h 2818606"/>
              <a:gd name="connsiteX5" fmla="*/ 2315071 w 6257925"/>
              <a:gd name="connsiteY5" fmla="*/ 943841 h 2818606"/>
              <a:gd name="connsiteX6" fmla="*/ 2841223 w 6257925"/>
              <a:gd name="connsiteY6" fmla="*/ 472786 h 2818606"/>
              <a:gd name="connsiteX7" fmla="*/ 3117453 w 6257925"/>
              <a:gd name="connsiteY7" fmla="*/ 943841 h 2818606"/>
              <a:gd name="connsiteX8" fmla="*/ 3733800 w 6257925"/>
              <a:gd name="connsiteY8" fmla="*/ 1323975 h 2818606"/>
              <a:gd name="connsiteX9" fmla="*/ 4486275 w 6257925"/>
              <a:gd name="connsiteY9" fmla="*/ 1038225 h 2818606"/>
              <a:gd name="connsiteX10" fmla="*/ 5429250 w 6257925"/>
              <a:gd name="connsiteY10" fmla="*/ 161925 h 2818606"/>
              <a:gd name="connsiteX11" fmla="*/ 6257925 w 6257925"/>
              <a:gd name="connsiteY11"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2171700 w 6257925"/>
              <a:gd name="connsiteY4" fmla="*/ 1800225 h 2818606"/>
              <a:gd name="connsiteX5" fmla="*/ 2315071 w 6257925"/>
              <a:gd name="connsiteY5" fmla="*/ 943841 h 2818606"/>
              <a:gd name="connsiteX6" fmla="*/ 3117453 w 6257925"/>
              <a:gd name="connsiteY6" fmla="*/ 943841 h 2818606"/>
              <a:gd name="connsiteX7" fmla="*/ 3733800 w 6257925"/>
              <a:gd name="connsiteY7" fmla="*/ 1323975 h 2818606"/>
              <a:gd name="connsiteX8" fmla="*/ 4486275 w 6257925"/>
              <a:gd name="connsiteY8" fmla="*/ 1038225 h 2818606"/>
              <a:gd name="connsiteX9" fmla="*/ 5429250 w 6257925"/>
              <a:gd name="connsiteY9" fmla="*/ 161925 h 2818606"/>
              <a:gd name="connsiteX10" fmla="*/ 6257925 w 6257925"/>
              <a:gd name="connsiteY10"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2171700 w 6257925"/>
              <a:gd name="connsiteY4" fmla="*/ 1800225 h 2818606"/>
              <a:gd name="connsiteX5" fmla="*/ 3117453 w 6257925"/>
              <a:gd name="connsiteY5" fmla="*/ 943841 h 2818606"/>
              <a:gd name="connsiteX6" fmla="*/ 3733800 w 6257925"/>
              <a:gd name="connsiteY6" fmla="*/ 1323975 h 2818606"/>
              <a:gd name="connsiteX7" fmla="*/ 4486275 w 6257925"/>
              <a:gd name="connsiteY7" fmla="*/ 1038225 h 2818606"/>
              <a:gd name="connsiteX8" fmla="*/ 5429250 w 6257925"/>
              <a:gd name="connsiteY8" fmla="*/ 161925 h 2818606"/>
              <a:gd name="connsiteX9" fmla="*/ 6257925 w 6257925"/>
              <a:gd name="connsiteY9"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3117453 w 6257925"/>
              <a:gd name="connsiteY4" fmla="*/ 943841 h 2818606"/>
              <a:gd name="connsiteX5" fmla="*/ 3733800 w 6257925"/>
              <a:gd name="connsiteY5" fmla="*/ 1323975 h 2818606"/>
              <a:gd name="connsiteX6" fmla="*/ 4486275 w 6257925"/>
              <a:gd name="connsiteY6" fmla="*/ 1038225 h 2818606"/>
              <a:gd name="connsiteX7" fmla="*/ 5429250 w 6257925"/>
              <a:gd name="connsiteY7" fmla="*/ 161925 h 2818606"/>
              <a:gd name="connsiteX8" fmla="*/ 6257925 w 6257925"/>
              <a:gd name="connsiteY8"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3733800 w 6257925"/>
              <a:gd name="connsiteY4" fmla="*/ 1323975 h 2818606"/>
              <a:gd name="connsiteX5" fmla="*/ 4486275 w 6257925"/>
              <a:gd name="connsiteY5" fmla="*/ 1038225 h 2818606"/>
              <a:gd name="connsiteX6" fmla="*/ 5429250 w 6257925"/>
              <a:gd name="connsiteY6" fmla="*/ 161925 h 2818606"/>
              <a:gd name="connsiteX7" fmla="*/ 6257925 w 6257925"/>
              <a:gd name="connsiteY7"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4486275 w 6257925"/>
              <a:gd name="connsiteY4" fmla="*/ 1038225 h 2818606"/>
              <a:gd name="connsiteX5" fmla="*/ 5429250 w 6257925"/>
              <a:gd name="connsiteY5" fmla="*/ 161925 h 2818606"/>
              <a:gd name="connsiteX6" fmla="*/ 6257925 w 6257925"/>
              <a:gd name="connsiteY6"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5429250 w 6257925"/>
              <a:gd name="connsiteY4" fmla="*/ 161925 h 2818606"/>
              <a:gd name="connsiteX5" fmla="*/ 6257925 w 6257925"/>
              <a:gd name="connsiteY5"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5429250 w 6257925"/>
              <a:gd name="connsiteY4" fmla="*/ 161925 h 2818606"/>
              <a:gd name="connsiteX5" fmla="*/ 6257925 w 6257925"/>
              <a:gd name="connsiteY5" fmla="*/ 66675 h 2818606"/>
              <a:gd name="connsiteX0" fmla="*/ 0 w 6257925"/>
              <a:gd name="connsiteY0" fmla="*/ 2781300 h 2818606"/>
              <a:gd name="connsiteX1" fmla="*/ 895350 w 6257925"/>
              <a:gd name="connsiteY1" fmla="*/ 2790825 h 2818606"/>
              <a:gd name="connsiteX2" fmla="*/ 1285875 w 6257925"/>
              <a:gd name="connsiteY2" fmla="*/ 2619375 h 2818606"/>
              <a:gd name="connsiteX3" fmla="*/ 1953341 w 6257925"/>
              <a:gd name="connsiteY3" fmla="*/ 2377785 h 2818606"/>
              <a:gd name="connsiteX4" fmla="*/ 5429250 w 6257925"/>
              <a:gd name="connsiteY4" fmla="*/ 161925 h 2818606"/>
              <a:gd name="connsiteX5" fmla="*/ 6257925 w 6257925"/>
              <a:gd name="connsiteY5" fmla="*/ 66675 h 2818606"/>
              <a:gd name="connsiteX0" fmla="*/ 0 w 6257925"/>
              <a:gd name="connsiteY0" fmla="*/ 2781300 h 3057525"/>
              <a:gd name="connsiteX1" fmla="*/ 895350 w 6257925"/>
              <a:gd name="connsiteY1" fmla="*/ 2790825 h 3057525"/>
              <a:gd name="connsiteX2" fmla="*/ 1285875 w 6257925"/>
              <a:gd name="connsiteY2" fmla="*/ 2619375 h 3057525"/>
              <a:gd name="connsiteX3" fmla="*/ 5429250 w 6257925"/>
              <a:gd name="connsiteY3" fmla="*/ 161925 h 3057525"/>
              <a:gd name="connsiteX4" fmla="*/ 6257925 w 6257925"/>
              <a:gd name="connsiteY4" fmla="*/ 66675 h 3057525"/>
              <a:gd name="connsiteX0" fmla="*/ 9525 w 6267450"/>
              <a:gd name="connsiteY0" fmla="*/ 2781300 h 3227387"/>
              <a:gd name="connsiteX1" fmla="*/ 904875 w 6267450"/>
              <a:gd name="connsiteY1" fmla="*/ 2790825 h 3227387"/>
              <a:gd name="connsiteX2" fmla="*/ 5438775 w 6267450"/>
              <a:gd name="connsiteY2" fmla="*/ 161925 h 3227387"/>
              <a:gd name="connsiteX3" fmla="*/ 6267450 w 6267450"/>
              <a:gd name="connsiteY3" fmla="*/ 66675 h 3227387"/>
              <a:gd name="connsiteX0" fmla="*/ 9525 w 6267450"/>
              <a:gd name="connsiteY0" fmla="*/ 2781300 h 3227387"/>
              <a:gd name="connsiteX1" fmla="*/ 904875 w 6267450"/>
              <a:gd name="connsiteY1" fmla="*/ 2790825 h 3227387"/>
              <a:gd name="connsiteX2" fmla="*/ 4448936 w 6267450"/>
              <a:gd name="connsiteY2" fmla="*/ 2017566 h 3227387"/>
              <a:gd name="connsiteX3" fmla="*/ 5438775 w 6267450"/>
              <a:gd name="connsiteY3" fmla="*/ 161925 h 3227387"/>
              <a:gd name="connsiteX4" fmla="*/ 6267450 w 6267450"/>
              <a:gd name="connsiteY4" fmla="*/ 66675 h 3227387"/>
              <a:gd name="connsiteX0" fmla="*/ 0 w 6257925"/>
              <a:gd name="connsiteY0" fmla="*/ 2781300 h 3227387"/>
              <a:gd name="connsiteX1" fmla="*/ 2052885 w 6257925"/>
              <a:gd name="connsiteY1" fmla="*/ 2790825 h 3227387"/>
              <a:gd name="connsiteX2" fmla="*/ 4439411 w 6257925"/>
              <a:gd name="connsiteY2" fmla="*/ 2017566 h 3227387"/>
              <a:gd name="connsiteX3" fmla="*/ 5429250 w 6257925"/>
              <a:gd name="connsiteY3" fmla="*/ 161925 h 3227387"/>
              <a:gd name="connsiteX4" fmla="*/ 6257925 w 6257925"/>
              <a:gd name="connsiteY4" fmla="*/ 66675 h 3227387"/>
              <a:gd name="connsiteX0" fmla="*/ 0 w 6257925"/>
              <a:gd name="connsiteY0" fmla="*/ 2781300 h 3227387"/>
              <a:gd name="connsiteX1" fmla="*/ 2052885 w 6257925"/>
              <a:gd name="connsiteY1" fmla="*/ 2790825 h 3227387"/>
              <a:gd name="connsiteX2" fmla="*/ 4439412 w 6257925"/>
              <a:gd name="connsiteY2" fmla="*/ 1484167 h 3227387"/>
              <a:gd name="connsiteX3" fmla="*/ 5429250 w 6257925"/>
              <a:gd name="connsiteY3" fmla="*/ 161925 h 3227387"/>
              <a:gd name="connsiteX4" fmla="*/ 6257925 w 6257925"/>
              <a:gd name="connsiteY4" fmla="*/ 66675 h 3227387"/>
              <a:gd name="connsiteX0" fmla="*/ 0 w 6257925"/>
              <a:gd name="connsiteY0" fmla="*/ 2781300 h 3227387"/>
              <a:gd name="connsiteX1" fmla="*/ 2052885 w 6257925"/>
              <a:gd name="connsiteY1" fmla="*/ 2790825 h 3227387"/>
              <a:gd name="connsiteX2" fmla="*/ 4439412 w 6257925"/>
              <a:gd name="connsiteY2" fmla="*/ 1484167 h 3227387"/>
              <a:gd name="connsiteX3" fmla="*/ 5429251 w 6257925"/>
              <a:gd name="connsiteY3" fmla="*/ 161925 h 3227387"/>
              <a:gd name="connsiteX4" fmla="*/ 6257925 w 6257925"/>
              <a:gd name="connsiteY4" fmla="*/ 66675 h 3227387"/>
              <a:gd name="connsiteX0" fmla="*/ 0 w 6257925"/>
              <a:gd name="connsiteY0" fmla="*/ 2781300 h 3227387"/>
              <a:gd name="connsiteX1" fmla="*/ 2052885 w 6257925"/>
              <a:gd name="connsiteY1" fmla="*/ 2790825 h 3227387"/>
              <a:gd name="connsiteX2" fmla="*/ 4439412 w 6257925"/>
              <a:gd name="connsiteY2" fmla="*/ 1484167 h 3227387"/>
              <a:gd name="connsiteX3" fmla="*/ 5429251 w 6257925"/>
              <a:gd name="connsiteY3" fmla="*/ 161925 h 3227387"/>
              <a:gd name="connsiteX4" fmla="*/ 6257925 w 6257925"/>
              <a:gd name="connsiteY4" fmla="*/ 66675 h 3227387"/>
              <a:gd name="connsiteX0" fmla="*/ 0 w 6257925"/>
              <a:gd name="connsiteY0" fmla="*/ 3155373 h 3601460"/>
              <a:gd name="connsiteX1" fmla="*/ 2052885 w 6257925"/>
              <a:gd name="connsiteY1" fmla="*/ 3164898 h 3601460"/>
              <a:gd name="connsiteX2" fmla="*/ 4439412 w 6257925"/>
              <a:gd name="connsiteY2" fmla="*/ 1858240 h 3601460"/>
              <a:gd name="connsiteX3" fmla="*/ 5429251 w 6257925"/>
              <a:gd name="connsiteY3" fmla="*/ 535998 h 3601460"/>
              <a:gd name="connsiteX4" fmla="*/ 6257925 w 6257925"/>
              <a:gd name="connsiteY4" fmla="*/ 440748 h 3601460"/>
              <a:gd name="connsiteX0" fmla="*/ 0 w 6257925"/>
              <a:gd name="connsiteY0" fmla="*/ 3155373 h 3192679"/>
              <a:gd name="connsiteX1" fmla="*/ 1763501 w 6257925"/>
              <a:gd name="connsiteY1" fmla="*/ 879265 h 3192679"/>
              <a:gd name="connsiteX2" fmla="*/ 4439412 w 6257925"/>
              <a:gd name="connsiteY2" fmla="*/ 1858240 h 3192679"/>
              <a:gd name="connsiteX3" fmla="*/ 5429251 w 6257925"/>
              <a:gd name="connsiteY3" fmla="*/ 535998 h 3192679"/>
              <a:gd name="connsiteX4" fmla="*/ 6257925 w 6257925"/>
              <a:gd name="connsiteY4" fmla="*/ 440748 h 3192679"/>
              <a:gd name="connsiteX0" fmla="*/ 0 w 6257925"/>
              <a:gd name="connsiteY0" fmla="*/ 3155373 h 3192679"/>
              <a:gd name="connsiteX1" fmla="*/ 1763501 w 6257925"/>
              <a:gd name="connsiteY1" fmla="*/ 879265 h 3192679"/>
              <a:gd name="connsiteX2" fmla="*/ 4439412 w 6257925"/>
              <a:gd name="connsiteY2" fmla="*/ 1858240 h 3192679"/>
              <a:gd name="connsiteX3" fmla="*/ 5429251 w 6257925"/>
              <a:gd name="connsiteY3" fmla="*/ 535998 h 3192679"/>
              <a:gd name="connsiteX4" fmla="*/ 6257925 w 6257925"/>
              <a:gd name="connsiteY4" fmla="*/ 440748 h 3192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57925" h="3192679">
                <a:moveTo>
                  <a:pt x="0" y="3155373"/>
                </a:moveTo>
                <a:cubicBezTo>
                  <a:pt x="340519" y="3192679"/>
                  <a:pt x="858626" y="1315827"/>
                  <a:pt x="1763501" y="879265"/>
                </a:cubicBezTo>
                <a:cubicBezTo>
                  <a:pt x="2794074" y="537981"/>
                  <a:pt x="3828454" y="1915451"/>
                  <a:pt x="4439412" y="1858240"/>
                </a:cubicBezTo>
                <a:cubicBezTo>
                  <a:pt x="5050370" y="1801029"/>
                  <a:pt x="5068070" y="1576964"/>
                  <a:pt x="5429251" y="535998"/>
                </a:cubicBezTo>
                <a:cubicBezTo>
                  <a:pt x="5731103" y="0"/>
                  <a:pt x="5991225" y="407410"/>
                  <a:pt x="6257925" y="440748"/>
                </a:cubicBezTo>
              </a:path>
            </a:pathLst>
          </a:custGeom>
        </p:spPr>
        <p:style>
          <a:lnRef idx="2">
            <a:schemeClr val="dk1"/>
          </a:lnRef>
          <a:fillRef idx="0">
            <a:schemeClr val="dk1"/>
          </a:fillRef>
          <a:effectRef idx="1">
            <a:schemeClr val="dk1"/>
          </a:effectRef>
          <a:fontRef idx="minor">
            <a:schemeClr val="tx1"/>
          </a:fontRef>
        </p:style>
        <p:txBody>
          <a:bodyPr anchor="ctr"/>
          <a:lstStyle/>
          <a:p>
            <a:pPr algn="ctr">
              <a:defRPr/>
            </a:pPr>
            <a:endParaRPr lang="en-US"/>
          </a:p>
        </p:txBody>
      </p:sp>
      <p:cxnSp>
        <p:nvCxnSpPr>
          <p:cNvPr id="5" name="Straight Connector 4"/>
          <p:cNvCxnSpPr/>
          <p:nvPr/>
        </p:nvCxnSpPr>
        <p:spPr>
          <a:xfrm rot="5400000">
            <a:off x="-226218" y="4098131"/>
            <a:ext cx="4389438" cy="31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466" name="TextBox 14"/>
          <p:cNvSpPr txBox="1">
            <a:spLocks noChangeArrowheads="1"/>
          </p:cNvSpPr>
          <p:nvPr/>
        </p:nvSpPr>
        <p:spPr bwMode="auto">
          <a:xfrm>
            <a:off x="1830388" y="6019800"/>
            <a:ext cx="2841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sr-Latn-CS" altLang="sr-Latn-RS" sz="1400"/>
              <a:t>a</a:t>
            </a:r>
            <a:endParaRPr lang="en-US" altLang="sr-Latn-RS" sz="1400" baseline="-25000"/>
          </a:p>
        </p:txBody>
      </p:sp>
      <p:sp>
        <p:nvSpPr>
          <p:cNvPr id="19467" name="TextBox 16"/>
          <p:cNvSpPr txBox="1">
            <a:spLocks noChangeArrowheads="1"/>
          </p:cNvSpPr>
          <p:nvPr/>
        </p:nvSpPr>
        <p:spPr bwMode="auto">
          <a:xfrm>
            <a:off x="7148513" y="1828800"/>
            <a:ext cx="4429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sr-Latn-CS" altLang="sr-Latn-RS" sz="1400" i="1"/>
              <a:t>f</a:t>
            </a:r>
            <a:r>
              <a:rPr lang="en-US" altLang="sr-Latn-RS" sz="1400" i="1"/>
              <a:t>(x)</a:t>
            </a:r>
          </a:p>
        </p:txBody>
      </p:sp>
      <p:sp>
        <p:nvSpPr>
          <p:cNvPr id="8" name="TextBox 19"/>
          <p:cNvSpPr txBox="1">
            <a:spLocks noChangeArrowheads="1"/>
          </p:cNvSpPr>
          <p:nvPr/>
        </p:nvSpPr>
        <p:spPr bwMode="auto">
          <a:xfrm>
            <a:off x="1814513" y="2743200"/>
            <a:ext cx="4524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sr-Latn-CS" altLang="sr-Latn-RS" sz="1400" i="1"/>
              <a:t>f(a)</a:t>
            </a:r>
            <a:endParaRPr lang="en-US" altLang="sr-Latn-RS" sz="1400" i="1" baseline="-25000"/>
          </a:p>
        </p:txBody>
      </p:sp>
      <p:graphicFrame>
        <p:nvGraphicFramePr>
          <p:cNvPr id="28" name="Object 14"/>
          <p:cNvGraphicFramePr>
            <a:graphicFrameLocks noChangeAspect="1"/>
          </p:cNvGraphicFramePr>
          <p:nvPr/>
        </p:nvGraphicFramePr>
        <p:xfrm>
          <a:off x="7289800" y="3276600"/>
          <a:ext cx="1011238" cy="668338"/>
        </p:xfrm>
        <a:graphic>
          <a:graphicData uri="http://schemas.openxmlformats.org/presentationml/2006/ole">
            <mc:AlternateContent xmlns:mc="http://schemas.openxmlformats.org/markup-compatibility/2006">
              <mc:Choice xmlns:v="urn:schemas-microsoft-com:vml" Requires="v">
                <p:oleObj name="Equation" r:id="rId3" imgW="596641" imgH="393529" progId="Equation.3">
                  <p:embed/>
                </p:oleObj>
              </mc:Choice>
              <mc:Fallback>
                <p:oleObj name="Equation" r:id="rId3" imgW="596641" imgH="39352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9800" y="3276600"/>
                        <a:ext cx="1011238" cy="668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32" name="Straight Connector 31"/>
          <p:cNvCxnSpPr/>
          <p:nvPr/>
        </p:nvCxnSpPr>
        <p:spPr>
          <a:xfrm rot="5400000">
            <a:off x="2278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6850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11422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5400000">
            <a:off x="15994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20566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25138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5400000">
            <a:off x="29710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3428207" y="4098131"/>
            <a:ext cx="4389438" cy="3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3885407" y="4098131"/>
            <a:ext cx="4389438" cy="317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9479" name="TextBox 14"/>
          <p:cNvSpPr txBox="1">
            <a:spLocks noChangeArrowheads="1"/>
          </p:cNvSpPr>
          <p:nvPr/>
        </p:nvSpPr>
        <p:spPr bwMode="auto">
          <a:xfrm>
            <a:off x="5929313" y="6019800"/>
            <a:ext cx="2841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sr-Latn-CS" altLang="sr-Latn-RS" sz="1400"/>
              <a:t>b</a:t>
            </a:r>
            <a:endParaRPr lang="en-US" altLang="sr-Latn-RS" sz="1400" baseline="-25000"/>
          </a:p>
        </p:txBody>
      </p:sp>
      <p:cxnSp>
        <p:nvCxnSpPr>
          <p:cNvPr id="53" name="Straight Connector 52"/>
          <p:cNvCxnSpPr/>
          <p:nvPr/>
        </p:nvCxnSpPr>
        <p:spPr>
          <a:xfrm>
            <a:off x="1966913" y="3276600"/>
            <a:ext cx="457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54" name="TextBox 53"/>
          <p:cNvSpPr txBox="1">
            <a:spLocks noChangeArrowheads="1"/>
          </p:cNvSpPr>
          <p:nvPr/>
        </p:nvSpPr>
        <p:spPr bwMode="auto">
          <a:xfrm>
            <a:off x="6767513" y="2514600"/>
            <a:ext cx="23002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sr-Latn-CS" altLang="sr-Latn-RS" sz="1800"/>
              <a:t>Podeliti interval a-b</a:t>
            </a:r>
          </a:p>
          <a:p>
            <a:pPr eaLnBrk="1" hangingPunct="1">
              <a:spcBef>
                <a:spcPct val="0"/>
              </a:spcBef>
              <a:buFontTx/>
              <a:buNone/>
            </a:pPr>
            <a:r>
              <a:rPr lang="sr-Latn-CS" altLang="sr-Latn-RS" sz="1800"/>
              <a:t>na </a:t>
            </a:r>
            <a:r>
              <a:rPr lang="sr-Latn-CS" altLang="sr-Latn-RS" sz="1800" i="1"/>
              <a:t>n </a:t>
            </a:r>
            <a:r>
              <a:rPr lang="sr-Latn-CS" altLang="sr-Latn-RS" sz="1800"/>
              <a:t>jednakih delova</a:t>
            </a:r>
            <a:endParaRPr lang="en-US" altLang="sr-Latn-RS" sz="1800"/>
          </a:p>
        </p:txBody>
      </p:sp>
      <p:graphicFrame>
        <p:nvGraphicFramePr>
          <p:cNvPr id="1038" name="Object 3"/>
          <p:cNvGraphicFramePr>
            <a:graphicFrameLocks noChangeAspect="1"/>
          </p:cNvGraphicFramePr>
          <p:nvPr/>
        </p:nvGraphicFramePr>
        <p:xfrm>
          <a:off x="76200" y="1752600"/>
          <a:ext cx="1525588" cy="609600"/>
        </p:xfrm>
        <a:graphic>
          <a:graphicData uri="http://schemas.openxmlformats.org/presentationml/2006/ole">
            <mc:AlternateContent xmlns:mc="http://schemas.openxmlformats.org/markup-compatibility/2006">
              <mc:Choice xmlns:v="urn:schemas-microsoft-com:vml" Requires="v">
                <p:oleObj name="Equation" r:id="rId5" imgW="1167893" imgH="393529" progId="Equation.3">
                  <p:embed/>
                </p:oleObj>
              </mc:Choice>
              <mc:Fallback>
                <p:oleObj name="Equation" r:id="rId5" imgW="1167893" imgH="39352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1752600"/>
                        <a:ext cx="15255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cxnSp>
        <p:nvCxnSpPr>
          <p:cNvPr id="66" name="Straight Connector 65"/>
          <p:cNvCxnSpPr/>
          <p:nvPr/>
        </p:nvCxnSpPr>
        <p:spPr>
          <a:xfrm rot="16200000" flipH="1">
            <a:off x="1021557" y="2331243"/>
            <a:ext cx="1295400" cy="1052513"/>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2057400" y="2362200"/>
            <a:ext cx="2362200" cy="114300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4" name="Object 6"/>
          <p:cNvGraphicFramePr>
            <a:graphicFrameLocks noChangeAspect="1"/>
          </p:cNvGraphicFramePr>
          <p:nvPr/>
        </p:nvGraphicFramePr>
        <p:xfrm>
          <a:off x="1524000" y="4800600"/>
          <a:ext cx="5053013" cy="1038225"/>
        </p:xfrm>
        <a:graphic>
          <a:graphicData uri="http://schemas.openxmlformats.org/presentationml/2006/ole">
            <mc:AlternateContent xmlns:mc="http://schemas.openxmlformats.org/markup-compatibility/2006">
              <mc:Choice xmlns:v="urn:schemas-microsoft-com:vml" Requires="v">
                <p:oleObj name="Equation" r:id="rId7" imgW="2108200" imgH="431800" progId="Equation.3">
                  <p:embed/>
                </p:oleObj>
              </mc:Choice>
              <mc:Fallback>
                <p:oleObj name="Equation" r:id="rId7" imgW="2108200" imgH="431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4800600"/>
                        <a:ext cx="5053013" cy="1038225"/>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 name="TextBox 19"/>
          <p:cNvSpPr txBox="1">
            <a:spLocks noChangeArrowheads="1"/>
          </p:cNvSpPr>
          <p:nvPr/>
        </p:nvSpPr>
        <p:spPr bwMode="auto">
          <a:xfrm>
            <a:off x="2109788" y="2347913"/>
            <a:ext cx="657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sr-Latn-CS" altLang="sr-Latn-RS" sz="1400" i="1"/>
              <a:t>f(a+h)</a:t>
            </a:r>
            <a:endParaRPr lang="en-US" altLang="sr-Latn-RS" sz="1400" i="1" baseline="-25000"/>
          </a:p>
        </p:txBody>
      </p:sp>
      <p:graphicFrame>
        <p:nvGraphicFramePr>
          <p:cNvPr id="78" name="Object 7"/>
          <p:cNvGraphicFramePr>
            <a:graphicFrameLocks noChangeAspect="1"/>
          </p:cNvGraphicFramePr>
          <p:nvPr/>
        </p:nvGraphicFramePr>
        <p:xfrm>
          <a:off x="973138" y="3657600"/>
          <a:ext cx="5884862" cy="944563"/>
        </p:xfrm>
        <a:graphic>
          <a:graphicData uri="http://schemas.openxmlformats.org/presentationml/2006/ole">
            <mc:AlternateContent xmlns:mc="http://schemas.openxmlformats.org/markup-compatibility/2006">
              <mc:Choice xmlns:v="urn:schemas-microsoft-com:vml" Requires="v">
                <p:oleObj name="Equation" r:id="rId9" imgW="3009900" imgH="393700" progId="Equation.3">
                  <p:embed/>
                </p:oleObj>
              </mc:Choice>
              <mc:Fallback>
                <p:oleObj name="Equation" r:id="rId9" imgW="3009900" imgH="3937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3138" y="3657600"/>
                        <a:ext cx="5884862" cy="944563"/>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 name="TextBox 85"/>
          <p:cNvSpPr txBox="1">
            <a:spLocks noChangeArrowheads="1"/>
          </p:cNvSpPr>
          <p:nvPr/>
        </p:nvSpPr>
        <p:spPr bwMode="auto">
          <a:xfrm>
            <a:off x="685800" y="6211888"/>
            <a:ext cx="8051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sr-Latn-CS" altLang="sr-Latn-RS" sz="1800"/>
              <a:t>Funkcija se u delu između a i a+h </a:t>
            </a:r>
            <a:r>
              <a:rPr lang="sr-Latn-CS" altLang="sr-Latn-RS" sz="1800" i="1"/>
              <a:t>aproksimira </a:t>
            </a:r>
            <a:r>
              <a:rPr lang="sr-Latn-CS" altLang="sr-Latn-RS" sz="1800"/>
              <a:t>pravom koja prolazi kroz tačke</a:t>
            </a:r>
            <a:br>
              <a:rPr lang="sr-Latn-CS" altLang="sr-Latn-RS" sz="1800"/>
            </a:br>
            <a:r>
              <a:rPr lang="sr-Latn-CS" altLang="sr-Latn-RS" sz="1800"/>
              <a:t>na krajevima intervala  - aproksimacija polinomom prvog stepena</a:t>
            </a:r>
            <a:endParaRPr lang="en-US" altLang="sr-Latn-RS" sz="1800"/>
          </a:p>
        </p:txBody>
      </p:sp>
      <p:graphicFrame>
        <p:nvGraphicFramePr>
          <p:cNvPr id="9" name="Object 8"/>
          <p:cNvGraphicFramePr>
            <a:graphicFrameLocks noChangeAspect="1"/>
          </p:cNvGraphicFramePr>
          <p:nvPr/>
        </p:nvGraphicFramePr>
        <p:xfrm>
          <a:off x="2590800" y="1295400"/>
          <a:ext cx="1906588" cy="609600"/>
        </p:xfrm>
        <a:graphic>
          <a:graphicData uri="http://schemas.openxmlformats.org/presentationml/2006/ole">
            <mc:AlternateContent xmlns:mc="http://schemas.openxmlformats.org/markup-compatibility/2006">
              <mc:Choice xmlns:v="urn:schemas-microsoft-com:vml" Requires="v">
                <p:oleObj name="Equation" r:id="rId11" imgW="1459866" imgH="393529" progId="Equation.3">
                  <p:embed/>
                </p:oleObj>
              </mc:Choice>
              <mc:Fallback>
                <p:oleObj name="Equation" r:id="rId11" imgW="1459866" imgH="393529"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90800" y="1295400"/>
                        <a:ext cx="1906588"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0" name="Rectangle 36"/>
          <p:cNvSpPr>
            <a:spLocks noChangeArrowheads="1"/>
          </p:cNvSpPr>
          <p:nvPr/>
        </p:nvSpPr>
        <p:spPr bwMode="auto">
          <a:xfrm>
            <a:off x="1295400" y="152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spcBef>
                <a:spcPct val="0"/>
              </a:spcBef>
              <a:buFontTx/>
              <a:buNone/>
            </a:pPr>
            <a:r>
              <a:rPr lang="sr-Latn-RS" altLang="sr-Latn-RS" sz="4400">
                <a:solidFill>
                  <a:schemeClr val="tx2"/>
                </a:solidFill>
              </a:rPr>
              <a:t>Kompozitna metoda trapeza</a:t>
            </a:r>
          </a:p>
        </p:txBody>
      </p:sp>
    </p:spTree>
    <p:extLst>
      <p:ext uri="{BB962C8B-B14F-4D97-AF65-F5344CB8AC3E}">
        <p14:creationId xmlns:p14="http://schemas.microsoft.com/office/powerpoint/2010/main" val="13156802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nodeType="withGroup">
                            <p:stCondLst>
                              <p:cond delay="0"/>
                            </p:stCondLst>
                            <p:childTnLst>
                              <p:par>
                                <p:cTn id="53" presetID="1" presetClass="entr" presetSubtype="0" fill="hold" nodeType="click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3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9"/>
                                        </p:tgtEl>
                                        <p:attrNameLst>
                                          <p:attrName>style.visibility</p:attrName>
                                        </p:attrNameLst>
                                      </p:cBhvr>
                                      <p:to>
                                        <p:strVal val="visible"/>
                                      </p:to>
                                    </p:set>
                                  </p:childTnLst>
                                </p:cTn>
                              </p:par>
                            </p:childTnLst>
                          </p:cTn>
                        </p:par>
                      </p:childTnLst>
                    </p:cTn>
                  </p:par>
                  <p:par>
                    <p:cTn id="77" fill="hold" nodeType="clickPar">
                      <p:stCondLst>
                        <p:cond delay="indefinite"/>
                      </p:stCondLst>
                      <p:childTnLst>
                        <p:par>
                          <p:cTn id="78" fill="hold" nodeType="withGroup">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8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1"/>
                                        </p:tgtEl>
                                        <p:attrNameLst>
                                          <p:attrName>style.visibility</p:attrName>
                                        </p:attrNameLst>
                                      </p:cBhvr>
                                      <p:to>
                                        <p:strVal val="visible"/>
                                      </p:to>
                                    </p:set>
                                  </p:childTnLst>
                                </p:cTn>
                              </p:par>
                            </p:childTnLst>
                          </p:cTn>
                        </p:par>
                      </p:childTnLst>
                    </p:cTn>
                  </p:par>
                  <p:par>
                    <p:cTn id="83" fill="hold" nodeType="clickPar">
                      <p:stCondLst>
                        <p:cond delay="indefinite"/>
                      </p:stCondLst>
                      <p:childTnLst>
                        <p:par>
                          <p:cTn id="84" fill="hold" nodeType="withGroup">
                            <p:stCondLst>
                              <p:cond delay="0"/>
                            </p:stCondLst>
                            <p:childTnLst>
                              <p:par>
                                <p:cTn id="85" presetID="1" presetClass="entr" presetSubtype="0" fill="hold" nodeType="clickEffect">
                                  <p:stCondLst>
                                    <p:cond delay="0"/>
                                  </p:stCondLst>
                                  <p:childTnLst>
                                    <p:set>
                                      <p:cBhvr>
                                        <p:cTn id="86" dur="1" fill="hold">
                                          <p:stCondLst>
                                            <p:cond delay="0"/>
                                          </p:stCondLst>
                                        </p:cTn>
                                        <p:tgtEl>
                                          <p:spTgt spid="78"/>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nodeType="clickEffect">
                                  <p:stCondLst>
                                    <p:cond delay="0"/>
                                  </p:stCondLst>
                                  <p:childTnLst>
                                    <p:set>
                                      <p:cBhvr>
                                        <p:cTn id="90" dur="1" fill="hold">
                                          <p:stCondLst>
                                            <p:cond delay="0"/>
                                          </p:stCondLst>
                                        </p:cTn>
                                        <p:tgtEl>
                                          <p:spTgt spid="74"/>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5" grpId="0" animBg="1"/>
      <p:bldP spid="43" grpId="0" animBg="1"/>
      <p:bldP spid="55" grpId="0" animBg="1"/>
      <p:bldP spid="8" grpId="0"/>
      <p:bldP spid="54" grpId="0"/>
      <p:bldP spid="83" grpId="0"/>
      <p:bldP spid="8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B3C1A-926C-486C-8C8D-EDA874B16753}"/>
              </a:ext>
            </a:extLst>
          </p:cNvPr>
          <p:cNvSpPr>
            <a:spLocks noGrp="1"/>
          </p:cNvSpPr>
          <p:nvPr>
            <p:ph type="title"/>
          </p:nvPr>
        </p:nvSpPr>
        <p:spPr/>
        <p:txBody>
          <a:bodyPr/>
          <a:lstStyle/>
          <a:p>
            <a:r>
              <a:rPr lang="en-US" dirty="0"/>
              <a:t>Python </a:t>
            </a:r>
            <a:r>
              <a:rPr lang="en-US" dirty="0" err="1"/>
              <a:t>kod</a:t>
            </a:r>
            <a:endParaRPr lang="en-US" dirty="0"/>
          </a:p>
        </p:txBody>
      </p:sp>
      <p:sp>
        <p:nvSpPr>
          <p:cNvPr id="3" name="Content Placeholder 2">
            <a:extLst>
              <a:ext uri="{FF2B5EF4-FFF2-40B4-BE49-F238E27FC236}">
                <a16:creationId xmlns:a16="http://schemas.microsoft.com/office/drawing/2014/main" id="{7D61836E-7498-418C-8F53-B057FCBD491E}"/>
              </a:ext>
            </a:extLst>
          </p:cNvPr>
          <p:cNvSpPr>
            <a:spLocks noGrp="1"/>
          </p:cNvSpPr>
          <p:nvPr>
            <p:ph idx="1"/>
          </p:nvPr>
        </p:nvSpPr>
        <p:spPr/>
        <p:txBody>
          <a:bodyPr>
            <a:normAutofit/>
          </a:bodyPr>
          <a:lstStyle/>
          <a:p>
            <a:pPr marL="0" indent="0">
              <a:buNone/>
            </a:pPr>
            <a:r>
              <a:rPr lang="pl-PL" sz="2000" b="0" dirty="0">
                <a:solidFill>
                  <a:srgbClr val="0000FF"/>
                </a:solidFill>
                <a:effectLst/>
                <a:latin typeface="Courier New" panose="02070309020205020404" pitchFamily="49" charset="0"/>
              </a:rPr>
              <a:t>def</a:t>
            </a:r>
            <a:r>
              <a:rPr lang="pl-PL" sz="2000" b="0" dirty="0">
                <a:solidFill>
                  <a:srgbClr val="000000"/>
                </a:solidFill>
                <a:effectLst/>
                <a:latin typeface="Courier New" panose="02070309020205020404" pitchFamily="49" charset="0"/>
              </a:rPr>
              <a:t> </a:t>
            </a:r>
            <a:r>
              <a:rPr lang="pl-PL" sz="2000" b="0" dirty="0">
                <a:solidFill>
                  <a:srgbClr val="795E26"/>
                </a:solidFill>
                <a:effectLst/>
                <a:latin typeface="Courier New" panose="02070309020205020404" pitchFamily="49" charset="0"/>
              </a:rPr>
              <a:t>trapez</a:t>
            </a:r>
            <a:r>
              <a:rPr lang="pl-PL" sz="2000" b="0" dirty="0">
                <a:solidFill>
                  <a:srgbClr val="000000"/>
                </a:solidFill>
                <a:effectLst/>
                <a:latin typeface="Courier New" panose="02070309020205020404" pitchFamily="49" charset="0"/>
              </a:rPr>
              <a:t>(</a:t>
            </a:r>
            <a:r>
              <a:rPr lang="pl-PL" sz="2000" b="0" dirty="0">
                <a:solidFill>
                  <a:srgbClr val="001080"/>
                </a:solidFill>
                <a:effectLst/>
                <a:latin typeface="Courier New" panose="02070309020205020404" pitchFamily="49" charset="0"/>
              </a:rPr>
              <a:t>a</a:t>
            </a:r>
            <a:r>
              <a:rPr lang="pl-PL" sz="2000" b="0" dirty="0">
                <a:solidFill>
                  <a:srgbClr val="000000"/>
                </a:solidFill>
                <a:effectLst/>
                <a:latin typeface="Courier New" panose="02070309020205020404" pitchFamily="49" charset="0"/>
              </a:rPr>
              <a:t>,</a:t>
            </a:r>
            <a:r>
              <a:rPr lang="pl-PL" sz="2000" b="0" dirty="0">
                <a:solidFill>
                  <a:srgbClr val="001080"/>
                </a:solidFill>
                <a:effectLst/>
                <a:latin typeface="Courier New" panose="02070309020205020404" pitchFamily="49" charset="0"/>
              </a:rPr>
              <a:t>b</a:t>
            </a:r>
            <a:r>
              <a:rPr lang="pl-PL" sz="2000" b="0" dirty="0">
                <a:solidFill>
                  <a:srgbClr val="000000"/>
                </a:solidFill>
                <a:effectLst/>
                <a:latin typeface="Courier New" panose="02070309020205020404" pitchFamily="49" charset="0"/>
              </a:rPr>
              <a:t>,</a:t>
            </a:r>
            <a:r>
              <a:rPr lang="pl-PL" sz="2000" b="0" dirty="0">
                <a:solidFill>
                  <a:srgbClr val="001080"/>
                </a:solidFill>
                <a:effectLst/>
                <a:latin typeface="Courier New" panose="02070309020205020404" pitchFamily="49" charset="0"/>
              </a:rPr>
              <a:t>funkcija</a:t>
            </a:r>
            <a:r>
              <a:rPr lang="pl-PL" sz="2000" b="0" dirty="0">
                <a:solidFill>
                  <a:srgbClr val="000000"/>
                </a:solidFill>
                <a:effectLst/>
                <a:latin typeface="Courier New" panose="02070309020205020404" pitchFamily="49" charset="0"/>
              </a:rPr>
              <a:t>):</a:t>
            </a:r>
          </a:p>
          <a:p>
            <a:pPr marL="0" indent="0">
              <a:buNone/>
            </a:pPr>
            <a:r>
              <a:rPr lang="pl-PL" sz="2000" b="0" dirty="0">
                <a:solidFill>
                  <a:srgbClr val="000000"/>
                </a:solidFill>
                <a:effectLst/>
                <a:latin typeface="Courier New" panose="02070309020205020404" pitchFamily="49" charset="0"/>
              </a:rPr>
              <a:t>    </a:t>
            </a:r>
            <a:r>
              <a:rPr lang="pl-PL" sz="2000" b="0" dirty="0">
                <a:solidFill>
                  <a:srgbClr val="AF00DB"/>
                </a:solidFill>
                <a:effectLst/>
                <a:latin typeface="Courier New" panose="02070309020205020404" pitchFamily="49" charset="0"/>
              </a:rPr>
              <a:t>return</a:t>
            </a:r>
            <a:r>
              <a:rPr lang="pl-PL" sz="2000" b="0" dirty="0">
                <a:solidFill>
                  <a:srgbClr val="000000"/>
                </a:solidFill>
                <a:effectLst/>
                <a:latin typeface="Courier New" panose="02070309020205020404" pitchFamily="49" charset="0"/>
              </a:rPr>
              <a:t> (b-a)/</a:t>
            </a:r>
            <a:r>
              <a:rPr lang="pl-PL" sz="2000" b="0" dirty="0">
                <a:solidFill>
                  <a:srgbClr val="09885A"/>
                </a:solidFill>
                <a:effectLst/>
                <a:latin typeface="Courier New" panose="02070309020205020404" pitchFamily="49" charset="0"/>
              </a:rPr>
              <a:t>2</a:t>
            </a:r>
            <a:r>
              <a:rPr lang="pl-PL" sz="2000" b="0" dirty="0">
                <a:solidFill>
                  <a:srgbClr val="000000"/>
                </a:solidFill>
                <a:effectLst/>
                <a:latin typeface="Courier New" panose="02070309020205020404" pitchFamily="49" charset="0"/>
              </a:rPr>
              <a:t>*(funkcija(a)+funkcija(b))</a:t>
            </a:r>
            <a:endParaRPr lang="en-US" sz="2000" b="0" dirty="0">
              <a:solidFill>
                <a:srgbClr val="000000"/>
              </a:solidFill>
              <a:effectLst/>
              <a:latin typeface="Courier New" panose="02070309020205020404" pitchFamily="49" charset="0"/>
            </a:endParaRPr>
          </a:p>
          <a:p>
            <a:pPr marL="0" indent="0">
              <a:buNone/>
            </a:pPr>
            <a:endParaRPr lang="en-US" sz="2000" dirty="0">
              <a:solidFill>
                <a:srgbClr val="000000"/>
              </a:solidFill>
              <a:latin typeface="Courier New" panose="02070309020205020404" pitchFamily="49" charset="0"/>
            </a:endParaRPr>
          </a:p>
          <a:p>
            <a:pPr marL="0" indent="0">
              <a:buNone/>
            </a:pPr>
            <a:r>
              <a:rPr lang="en-US" sz="2000" b="0" dirty="0">
                <a:solidFill>
                  <a:srgbClr val="0000FF"/>
                </a:solidFill>
                <a:effectLst/>
                <a:latin typeface="Courier New" panose="02070309020205020404" pitchFamily="49" charset="0"/>
              </a:rPr>
              <a:t>def</a:t>
            </a:r>
            <a:r>
              <a:rPr lang="en-US" sz="2000" b="0" dirty="0">
                <a:solidFill>
                  <a:srgbClr val="000000"/>
                </a:solidFill>
                <a:effectLst/>
                <a:latin typeface="Courier New" panose="02070309020205020404" pitchFamily="49" charset="0"/>
              </a:rPr>
              <a:t> </a:t>
            </a:r>
            <a:r>
              <a:rPr lang="en-US" sz="2000" b="0" dirty="0" err="1">
                <a:solidFill>
                  <a:srgbClr val="795E26"/>
                </a:solidFill>
                <a:effectLst/>
                <a:latin typeface="Courier New" panose="02070309020205020404" pitchFamily="49" charset="0"/>
              </a:rPr>
              <a:t>trapez_kompozitno</a:t>
            </a:r>
            <a:r>
              <a:rPr lang="en-US" sz="2000" b="0" dirty="0">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a</a:t>
            </a:r>
            <a:r>
              <a:rPr lang="en-US" sz="2000" b="0" dirty="0" err="1">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b</a:t>
            </a:r>
            <a:r>
              <a:rPr lang="en-US" sz="2000" b="0" dirty="0" err="1">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funkcija</a:t>
            </a:r>
            <a:r>
              <a:rPr lang="en-US" sz="2000" b="0" dirty="0" err="1">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n</a:t>
            </a:r>
            <a:r>
              <a:rPr lang="en-US" sz="2000" b="0" dirty="0">
                <a:solidFill>
                  <a:srgbClr val="000000"/>
                </a:solidFill>
                <a:effectLst/>
                <a:latin typeface="Courier New" panose="02070309020205020404" pitchFamily="49" charset="0"/>
              </a:rPr>
              <a:t>):</a:t>
            </a:r>
          </a:p>
          <a:p>
            <a:pPr marL="0" indent="0">
              <a:buNone/>
            </a:pPr>
            <a:r>
              <a:rPr lang="en-US" sz="2000" b="0" dirty="0">
                <a:solidFill>
                  <a:srgbClr val="000000"/>
                </a:solidFill>
                <a:effectLst/>
                <a:latin typeface="Courier New" panose="02070309020205020404" pitchFamily="49" charset="0"/>
              </a:rPr>
              <a:t>    points=</a:t>
            </a:r>
            <a:r>
              <a:rPr lang="en-US" sz="2000" b="0" dirty="0" err="1">
                <a:solidFill>
                  <a:srgbClr val="000000"/>
                </a:solidFill>
                <a:effectLst/>
                <a:latin typeface="Courier New" panose="02070309020205020404" pitchFamily="49" charset="0"/>
              </a:rPr>
              <a:t>np.linspace</a:t>
            </a:r>
            <a:r>
              <a:rPr lang="en-US" sz="2000" b="0" dirty="0">
                <a:solidFill>
                  <a:srgbClr val="000000"/>
                </a:solidFill>
                <a:effectLst/>
                <a:latin typeface="Courier New" panose="02070309020205020404" pitchFamily="49" charset="0"/>
              </a:rPr>
              <a:t>(a,b,n+</a:t>
            </a:r>
            <a:r>
              <a:rPr lang="en-US" sz="2000" b="0" dirty="0">
                <a:solidFill>
                  <a:srgbClr val="09885A"/>
                </a:solidFill>
                <a:effectLst/>
                <a:latin typeface="Courier New" panose="02070309020205020404" pitchFamily="49" charset="0"/>
              </a:rPr>
              <a:t>1</a:t>
            </a:r>
            <a:r>
              <a:rPr lang="en-US" sz="2000" b="0" dirty="0">
                <a:solidFill>
                  <a:srgbClr val="000000"/>
                </a:solidFill>
                <a:effectLst/>
                <a:latin typeface="Courier New" panose="02070309020205020404" pitchFamily="49" charset="0"/>
              </a:rPr>
              <a:t>)</a:t>
            </a:r>
          </a:p>
          <a:p>
            <a:pPr marL="0" indent="0">
              <a:buNone/>
            </a:pPr>
            <a:r>
              <a:rPr lang="en-US" sz="2000" b="0" dirty="0">
                <a:solidFill>
                  <a:srgbClr val="000000"/>
                </a:solidFill>
                <a:effectLst/>
                <a:latin typeface="Courier New" panose="02070309020205020404" pitchFamily="49" charset="0"/>
              </a:rPr>
              <a:t>    I=</a:t>
            </a:r>
            <a:r>
              <a:rPr lang="en-US" sz="2000" b="0" dirty="0">
                <a:solidFill>
                  <a:srgbClr val="09885A"/>
                </a:solidFill>
                <a:effectLst/>
                <a:latin typeface="Courier New" panose="02070309020205020404" pitchFamily="49" charset="0"/>
              </a:rPr>
              <a:t>0</a:t>
            </a:r>
            <a:endParaRPr lang="en-US" sz="2000" b="0" dirty="0">
              <a:solidFill>
                <a:srgbClr val="000000"/>
              </a:solidFill>
              <a:effectLst/>
              <a:latin typeface="Courier New" panose="02070309020205020404" pitchFamily="49" charset="0"/>
            </a:endParaRPr>
          </a:p>
          <a:p>
            <a:pPr marL="0" indent="0">
              <a:buNone/>
            </a:pPr>
            <a:r>
              <a:rPr lang="en-US" sz="2000" b="0" dirty="0">
                <a:solidFill>
                  <a:srgbClr val="000000"/>
                </a:solidFill>
                <a:effectLst/>
                <a:latin typeface="Courier New" panose="02070309020205020404" pitchFamily="49" charset="0"/>
              </a:rPr>
              <a:t>    </a:t>
            </a:r>
            <a:r>
              <a:rPr lang="en-US" sz="2000" b="0" dirty="0">
                <a:solidFill>
                  <a:srgbClr val="AF00DB"/>
                </a:solidFill>
                <a:effectLst/>
                <a:latin typeface="Courier New" panose="02070309020205020404" pitchFamily="49" charset="0"/>
              </a:rPr>
              <a:t>for</a:t>
            </a:r>
            <a:r>
              <a:rPr lang="en-US" sz="2000" b="0" dirty="0">
                <a:solidFill>
                  <a:srgbClr val="000000"/>
                </a:solidFill>
                <a:effectLst/>
                <a:latin typeface="Courier New" panose="02070309020205020404" pitchFamily="49" charset="0"/>
              </a:rPr>
              <a:t> </a:t>
            </a:r>
            <a:r>
              <a:rPr lang="en-US" sz="2000" b="0" dirty="0" err="1">
                <a:solidFill>
                  <a:srgbClr val="000000"/>
                </a:solidFill>
                <a:effectLst/>
                <a:latin typeface="Courier New" panose="02070309020205020404" pitchFamily="49" charset="0"/>
              </a:rPr>
              <a:t>i</a:t>
            </a:r>
            <a:r>
              <a:rPr lang="en-US" sz="2000" b="0" dirty="0">
                <a:solidFill>
                  <a:srgbClr val="000000"/>
                </a:solidFill>
                <a:effectLst/>
                <a:latin typeface="Courier New" panose="02070309020205020404" pitchFamily="49" charset="0"/>
              </a:rPr>
              <a:t> </a:t>
            </a:r>
            <a:r>
              <a:rPr lang="en-US" sz="2000" b="0" dirty="0">
                <a:solidFill>
                  <a:srgbClr val="0000FF"/>
                </a:solidFill>
                <a:effectLst/>
                <a:latin typeface="Courier New" panose="02070309020205020404" pitchFamily="49" charset="0"/>
              </a:rPr>
              <a:t>in</a:t>
            </a:r>
            <a:r>
              <a:rPr lang="en-US" sz="2000" b="0" dirty="0">
                <a:solidFill>
                  <a:srgbClr val="000000"/>
                </a:solidFill>
                <a:effectLst/>
                <a:latin typeface="Courier New" panose="02070309020205020404" pitchFamily="49" charset="0"/>
              </a:rPr>
              <a:t> </a:t>
            </a:r>
            <a:r>
              <a:rPr lang="en-US" sz="2000" b="0" dirty="0">
                <a:solidFill>
                  <a:srgbClr val="795E26"/>
                </a:solidFill>
                <a:effectLst/>
                <a:latin typeface="Courier New" panose="02070309020205020404" pitchFamily="49" charset="0"/>
              </a:rPr>
              <a:t>range</a:t>
            </a:r>
            <a:r>
              <a:rPr lang="en-US" sz="2000" b="0" dirty="0">
                <a:solidFill>
                  <a:srgbClr val="000000"/>
                </a:solidFill>
                <a:effectLst/>
                <a:latin typeface="Courier New" panose="02070309020205020404" pitchFamily="49" charset="0"/>
              </a:rPr>
              <a:t>(</a:t>
            </a:r>
            <a:r>
              <a:rPr lang="en-US" sz="2000" b="0" dirty="0" err="1">
                <a:solidFill>
                  <a:srgbClr val="795E26"/>
                </a:solidFill>
                <a:effectLst/>
                <a:latin typeface="Courier New" panose="02070309020205020404" pitchFamily="49" charset="0"/>
              </a:rPr>
              <a:t>len</a:t>
            </a:r>
            <a:r>
              <a:rPr lang="en-US" sz="2000" b="0" dirty="0">
                <a:solidFill>
                  <a:srgbClr val="000000"/>
                </a:solidFill>
                <a:effectLst/>
                <a:latin typeface="Courier New" panose="02070309020205020404" pitchFamily="49" charset="0"/>
              </a:rPr>
              <a:t>(points)</a:t>
            </a:r>
            <a:r>
              <a:rPr lang="en-US" sz="2000" b="0" dirty="0">
                <a:solidFill>
                  <a:srgbClr val="09885A"/>
                </a:solidFill>
                <a:effectLst/>
                <a:latin typeface="Courier New" panose="02070309020205020404" pitchFamily="49" charset="0"/>
              </a:rPr>
              <a:t>-1</a:t>
            </a:r>
            <a:r>
              <a:rPr lang="en-US" sz="2000" b="0" dirty="0">
                <a:solidFill>
                  <a:srgbClr val="000000"/>
                </a:solidFill>
                <a:effectLst/>
                <a:latin typeface="Courier New" panose="02070309020205020404" pitchFamily="49" charset="0"/>
              </a:rPr>
              <a:t>):</a:t>
            </a:r>
          </a:p>
          <a:p>
            <a:pPr marL="0" indent="0">
              <a:buNone/>
            </a:pPr>
            <a:r>
              <a:rPr lang="en-US" sz="2000" b="0" dirty="0">
                <a:solidFill>
                  <a:srgbClr val="000000"/>
                </a:solidFill>
                <a:effectLst/>
                <a:latin typeface="Courier New" panose="02070309020205020404" pitchFamily="49" charset="0"/>
              </a:rPr>
              <a:t>        I=</a:t>
            </a:r>
            <a:r>
              <a:rPr lang="en-US" sz="2000" b="0" dirty="0" err="1">
                <a:solidFill>
                  <a:srgbClr val="000000"/>
                </a:solidFill>
                <a:effectLst/>
                <a:latin typeface="Courier New" panose="02070309020205020404" pitchFamily="49" charset="0"/>
              </a:rPr>
              <a:t>I+trapez</a:t>
            </a:r>
            <a:r>
              <a:rPr lang="en-US" sz="2000" b="0" dirty="0">
                <a:solidFill>
                  <a:srgbClr val="000000"/>
                </a:solidFill>
                <a:effectLst/>
                <a:latin typeface="Courier New" panose="02070309020205020404" pitchFamily="49" charset="0"/>
              </a:rPr>
              <a:t>(points[</a:t>
            </a:r>
            <a:r>
              <a:rPr lang="en-US" sz="2000" b="0" dirty="0" err="1">
                <a:solidFill>
                  <a:srgbClr val="000000"/>
                </a:solidFill>
                <a:effectLst/>
                <a:latin typeface="Courier New" panose="02070309020205020404" pitchFamily="49" charset="0"/>
              </a:rPr>
              <a:t>i</a:t>
            </a:r>
            <a:r>
              <a:rPr lang="en-US" sz="2000" b="0" dirty="0">
                <a:solidFill>
                  <a:srgbClr val="000000"/>
                </a:solidFill>
                <a:effectLst/>
                <a:latin typeface="Courier New" panose="02070309020205020404" pitchFamily="49" charset="0"/>
              </a:rPr>
              <a:t>],points[i+</a:t>
            </a:r>
            <a:r>
              <a:rPr lang="en-US" sz="2000" b="0" dirty="0">
                <a:solidFill>
                  <a:srgbClr val="09885A"/>
                </a:solidFill>
                <a:effectLst/>
                <a:latin typeface="Courier New" panose="02070309020205020404" pitchFamily="49" charset="0"/>
              </a:rPr>
              <a:t>1</a:t>
            </a:r>
            <a:r>
              <a:rPr lang="en-US" sz="2000" b="0" dirty="0">
                <a:solidFill>
                  <a:srgbClr val="000000"/>
                </a:solidFill>
                <a:effectLst/>
                <a:latin typeface="Courier New" panose="02070309020205020404" pitchFamily="49" charset="0"/>
              </a:rPr>
              <a:t>],</a:t>
            </a:r>
            <a:r>
              <a:rPr lang="en-US" sz="2000" b="0" dirty="0" err="1">
                <a:solidFill>
                  <a:srgbClr val="000000"/>
                </a:solidFill>
                <a:effectLst/>
                <a:latin typeface="Courier New" panose="02070309020205020404" pitchFamily="49" charset="0"/>
              </a:rPr>
              <a:t>funkcija</a:t>
            </a:r>
            <a:r>
              <a:rPr lang="en-US" sz="2000" b="0" dirty="0">
                <a:solidFill>
                  <a:srgbClr val="000000"/>
                </a:solidFill>
                <a:effectLst/>
                <a:latin typeface="Courier New" panose="02070309020205020404" pitchFamily="49" charset="0"/>
              </a:rPr>
              <a:t>)</a:t>
            </a:r>
          </a:p>
          <a:p>
            <a:pPr marL="0" indent="0">
              <a:buNone/>
            </a:pPr>
            <a:r>
              <a:rPr lang="en-US" sz="2000" b="0" dirty="0">
                <a:solidFill>
                  <a:srgbClr val="000000"/>
                </a:solidFill>
                <a:effectLst/>
                <a:latin typeface="Courier New" panose="02070309020205020404" pitchFamily="49" charset="0"/>
              </a:rPr>
              <a:t>    </a:t>
            </a:r>
            <a:r>
              <a:rPr lang="en-US" sz="2000" b="0" dirty="0">
                <a:solidFill>
                  <a:srgbClr val="AF00DB"/>
                </a:solidFill>
                <a:effectLst/>
                <a:latin typeface="Courier New" panose="02070309020205020404" pitchFamily="49" charset="0"/>
              </a:rPr>
              <a:t>return</a:t>
            </a:r>
            <a:r>
              <a:rPr lang="en-US" sz="2000" b="0" dirty="0">
                <a:solidFill>
                  <a:srgbClr val="000000"/>
                </a:solidFill>
                <a:effectLst/>
                <a:latin typeface="Courier New" panose="02070309020205020404" pitchFamily="49" charset="0"/>
              </a:rPr>
              <a:t> I</a:t>
            </a:r>
          </a:p>
          <a:p>
            <a:pPr marL="0" indent="0">
              <a:buNone/>
            </a:pPr>
            <a:endParaRPr lang="pl-PL" sz="2000" b="0" dirty="0">
              <a:solidFill>
                <a:srgbClr val="000000"/>
              </a:solidFill>
              <a:effectLst/>
              <a:latin typeface="Courier New" panose="02070309020205020404" pitchFamily="49" charset="0"/>
            </a:endParaRPr>
          </a:p>
          <a:p>
            <a:pPr marL="0" indent="0">
              <a:buNone/>
            </a:pPr>
            <a:endParaRPr lang="en-US" sz="2000" dirty="0"/>
          </a:p>
        </p:txBody>
      </p:sp>
      <p:pic>
        <p:nvPicPr>
          <p:cNvPr id="19" name="Picture 18">
            <a:extLst>
              <a:ext uri="{FF2B5EF4-FFF2-40B4-BE49-F238E27FC236}">
                <a16:creationId xmlns:a16="http://schemas.microsoft.com/office/drawing/2014/main" id="{D3D309C2-6328-4E6E-A104-A781A4D78350}"/>
              </a:ext>
            </a:extLst>
          </p:cNvPr>
          <p:cNvPicPr>
            <a:picLocks noChangeAspect="1"/>
          </p:cNvPicPr>
          <p:nvPr/>
        </p:nvPicPr>
        <p:blipFill>
          <a:blip r:embed="rId2"/>
          <a:stretch>
            <a:fillRect/>
          </a:stretch>
        </p:blipFill>
        <p:spPr>
          <a:xfrm>
            <a:off x="5571293" y="0"/>
            <a:ext cx="3572707" cy="1752600"/>
          </a:xfrm>
          <a:prstGeom prst="rect">
            <a:avLst/>
          </a:prstGeom>
        </p:spPr>
      </p:pic>
    </p:spTree>
    <p:extLst>
      <p:ext uri="{BB962C8B-B14F-4D97-AF65-F5344CB8AC3E}">
        <p14:creationId xmlns:p14="http://schemas.microsoft.com/office/powerpoint/2010/main" val="3944336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E70F-1B4A-4030-83AE-BEF7181196C4}"/>
              </a:ext>
            </a:extLst>
          </p:cNvPr>
          <p:cNvSpPr>
            <a:spLocks noGrp="1"/>
          </p:cNvSpPr>
          <p:nvPr>
            <p:ph type="title"/>
          </p:nvPr>
        </p:nvSpPr>
        <p:spPr/>
        <p:txBody>
          <a:bodyPr/>
          <a:lstStyle/>
          <a:p>
            <a:r>
              <a:rPr lang="en-US" dirty="0"/>
              <a:t>Python </a:t>
            </a:r>
            <a:r>
              <a:rPr lang="en-US" dirty="0" err="1"/>
              <a:t>kod</a:t>
            </a:r>
            <a:endParaRPr lang="en-US" dirty="0"/>
          </a:p>
        </p:txBody>
      </p:sp>
      <p:pic>
        <p:nvPicPr>
          <p:cNvPr id="5" name="Picture 4">
            <a:extLst>
              <a:ext uri="{FF2B5EF4-FFF2-40B4-BE49-F238E27FC236}">
                <a16:creationId xmlns:a16="http://schemas.microsoft.com/office/drawing/2014/main" id="{5959BACB-29E1-45EC-8032-87F259804485}"/>
              </a:ext>
            </a:extLst>
          </p:cNvPr>
          <p:cNvPicPr>
            <a:picLocks noChangeAspect="1"/>
          </p:cNvPicPr>
          <p:nvPr/>
        </p:nvPicPr>
        <p:blipFill rotWithShape="1">
          <a:blip r:embed="rId2"/>
          <a:srcRect l="5000" t="31177" r="55834" b="43726"/>
          <a:stretch/>
        </p:blipFill>
        <p:spPr>
          <a:xfrm>
            <a:off x="263132" y="1514475"/>
            <a:ext cx="5375668" cy="1830016"/>
          </a:xfrm>
          <a:prstGeom prst="rect">
            <a:avLst/>
          </a:prstGeom>
        </p:spPr>
      </p:pic>
      <p:pic>
        <p:nvPicPr>
          <p:cNvPr id="7" name="Picture 6">
            <a:extLst>
              <a:ext uri="{FF2B5EF4-FFF2-40B4-BE49-F238E27FC236}">
                <a16:creationId xmlns:a16="http://schemas.microsoft.com/office/drawing/2014/main" id="{C277196E-4572-4F7D-8E3A-E439787676D8}"/>
              </a:ext>
            </a:extLst>
          </p:cNvPr>
          <p:cNvPicPr>
            <a:picLocks noChangeAspect="1"/>
          </p:cNvPicPr>
          <p:nvPr/>
        </p:nvPicPr>
        <p:blipFill rotWithShape="1">
          <a:blip r:embed="rId3"/>
          <a:srcRect l="5001" t="30980" r="56666" b="43725"/>
          <a:stretch/>
        </p:blipFill>
        <p:spPr>
          <a:xfrm>
            <a:off x="220269" y="4804905"/>
            <a:ext cx="5418531" cy="1899431"/>
          </a:xfrm>
          <a:prstGeom prst="rect">
            <a:avLst/>
          </a:prstGeom>
        </p:spPr>
      </p:pic>
      <p:pic>
        <p:nvPicPr>
          <p:cNvPr id="9" name="Picture 8">
            <a:extLst>
              <a:ext uri="{FF2B5EF4-FFF2-40B4-BE49-F238E27FC236}">
                <a16:creationId xmlns:a16="http://schemas.microsoft.com/office/drawing/2014/main" id="{30204541-3413-45BD-AC7A-CE32D36AA14C}"/>
              </a:ext>
            </a:extLst>
          </p:cNvPr>
          <p:cNvPicPr>
            <a:picLocks noChangeAspect="1"/>
          </p:cNvPicPr>
          <p:nvPr/>
        </p:nvPicPr>
        <p:blipFill rotWithShape="1">
          <a:blip r:embed="rId4"/>
          <a:srcRect l="5001" t="30980" r="56666" b="43726"/>
          <a:stretch/>
        </p:blipFill>
        <p:spPr>
          <a:xfrm>
            <a:off x="3716916" y="2979690"/>
            <a:ext cx="5206815" cy="1825215"/>
          </a:xfrm>
          <a:prstGeom prst="rect">
            <a:avLst/>
          </a:prstGeom>
        </p:spPr>
      </p:pic>
    </p:spTree>
    <p:extLst>
      <p:ext uri="{BB962C8B-B14F-4D97-AF65-F5344CB8AC3E}">
        <p14:creationId xmlns:p14="http://schemas.microsoft.com/office/powerpoint/2010/main" val="109303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r>
              <a:rPr lang="sr-Latn-RS" altLang="sr-Latn-RS" sz="4000" dirty="0"/>
              <a:t>Metoda trapeza</a:t>
            </a:r>
            <a:r>
              <a:rPr lang="en-US" altLang="sr-Latn-RS" sz="4000" dirty="0"/>
              <a:t> - </a:t>
            </a:r>
            <a:r>
              <a:rPr lang="sr-Latn-RS" altLang="sr-Latn-RS" sz="4000" dirty="0"/>
              <a:t>Greška</a:t>
            </a:r>
          </a:p>
        </p:txBody>
      </p:sp>
      <p:sp>
        <p:nvSpPr>
          <p:cNvPr id="26627" name="Rectangle 3"/>
          <p:cNvSpPr>
            <a:spLocks noGrp="1" noChangeArrowheads="1"/>
          </p:cNvSpPr>
          <p:nvPr>
            <p:ph type="body" idx="1"/>
          </p:nvPr>
        </p:nvSpPr>
        <p:spPr/>
        <p:txBody>
          <a:bodyPr/>
          <a:lstStyle/>
          <a:p>
            <a:r>
              <a:rPr lang="sr-Latn-RS" dirty="0"/>
              <a:t>Greška, odnosno razlika između tačnog rešenja i rezultata kompozitne metode trapeza, se, pod određenim uslovima, može unapred odrediti</a:t>
            </a:r>
          </a:p>
          <a:p>
            <a:endParaRPr lang="en-US" altLang="sr-Latn-RS" dirty="0"/>
          </a:p>
          <a:p>
            <a:endParaRPr lang="en-US" altLang="sr-Latn-RS" dirty="0"/>
          </a:p>
          <a:p>
            <a:r>
              <a:rPr lang="sr-Latn-RS" altLang="sr-Latn-RS" dirty="0" err="1"/>
              <a:t>Pretpostavk</a:t>
            </a:r>
            <a:r>
              <a:rPr lang="en-GB" altLang="sr-Latn-RS" dirty="0"/>
              <a:t>e</a:t>
            </a:r>
            <a:r>
              <a:rPr lang="sr-Latn-RS" altLang="sr-Latn-RS" dirty="0"/>
              <a:t>: drugi izvod f</a:t>
            </a:r>
            <a:r>
              <a:rPr lang="en-GB" altLang="sr-Latn-RS" dirty="0"/>
              <a:t>’’(x) je </a:t>
            </a:r>
            <a:r>
              <a:rPr lang="en-GB" altLang="sr-Latn-RS" dirty="0" err="1"/>
              <a:t>neprekidan</a:t>
            </a:r>
            <a:r>
              <a:rPr lang="en-GB" altLang="sr-Latn-RS" dirty="0"/>
              <a:t> </a:t>
            </a:r>
            <a:r>
              <a:rPr lang="en-GB" altLang="sr-Latn-RS" dirty="0" err="1"/>
              <a:t>na</a:t>
            </a:r>
            <a:r>
              <a:rPr lang="en-GB" altLang="sr-Latn-RS" dirty="0"/>
              <a:t> [</a:t>
            </a:r>
            <a:r>
              <a:rPr lang="en-GB" altLang="sr-Latn-RS" dirty="0" err="1"/>
              <a:t>a,b</a:t>
            </a:r>
            <a:r>
              <a:rPr lang="en-GB" altLang="sr-Latn-RS" dirty="0"/>
              <a:t>]; </a:t>
            </a:r>
            <a:r>
              <a:rPr lang="en-GB" altLang="sr-Latn-RS" dirty="0" err="1"/>
              <a:t>delimo</a:t>
            </a:r>
            <a:r>
              <a:rPr lang="en-GB" altLang="sr-Latn-RS" dirty="0"/>
              <a:t> [</a:t>
            </a:r>
            <a:r>
              <a:rPr lang="en-GB" altLang="sr-Latn-RS" dirty="0" err="1"/>
              <a:t>a,b</a:t>
            </a:r>
            <a:r>
              <a:rPr lang="en-GB" altLang="sr-Latn-RS" dirty="0"/>
              <a:t>] </a:t>
            </a:r>
            <a:r>
              <a:rPr lang="en-GB" altLang="sr-Latn-RS" dirty="0" err="1"/>
              <a:t>na</a:t>
            </a:r>
            <a:r>
              <a:rPr lang="en-GB" altLang="sr-Latn-RS" dirty="0"/>
              <a:t> </a:t>
            </a:r>
            <a:r>
              <a:rPr lang="en-GB" altLang="sr-Latn-RS" dirty="0" err="1"/>
              <a:t>jednake</a:t>
            </a:r>
            <a:r>
              <a:rPr lang="en-GB" altLang="sr-Latn-RS" dirty="0"/>
              <a:t> </a:t>
            </a:r>
            <a:r>
              <a:rPr lang="en-GB" altLang="sr-Latn-RS" dirty="0" err="1"/>
              <a:t>podintervale</a:t>
            </a:r>
            <a:r>
              <a:rPr lang="en-GB" altLang="sr-Latn-RS" dirty="0"/>
              <a:t> (du</a:t>
            </a:r>
            <a:r>
              <a:rPr lang="sr-Latn-RS" altLang="sr-Latn-RS" dirty="0" err="1"/>
              <a:t>žine</a:t>
            </a:r>
            <a:r>
              <a:rPr lang="sr-Latn-RS" altLang="sr-Latn-RS" dirty="0"/>
              <a:t> h)</a:t>
            </a:r>
          </a:p>
        </p:txBody>
      </p:sp>
    </p:spTree>
    <p:extLst>
      <p:ext uri="{BB962C8B-B14F-4D97-AF65-F5344CB8AC3E}">
        <p14:creationId xmlns:p14="http://schemas.microsoft.com/office/powerpoint/2010/main" val="2330500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fade">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627">
                                            <p:txEl>
                                              <p:pRg st="3" end="3"/>
                                            </p:txEl>
                                          </p:spTgt>
                                        </p:tgtEl>
                                        <p:attrNameLst>
                                          <p:attrName>style.visibility</p:attrName>
                                        </p:attrNameLst>
                                      </p:cBhvr>
                                      <p:to>
                                        <p:strVal val="visible"/>
                                      </p:to>
                                    </p:set>
                                    <p:animEffect transition="in" filter="fade">
                                      <p:cBhvr>
                                        <p:cTn id="12" dur="500"/>
                                        <p:tgtEl>
                                          <p:spTgt spid="266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304800" y="381000"/>
            <a:ext cx="7772400" cy="795338"/>
          </a:xfrm>
        </p:spPr>
        <p:txBody>
          <a:bodyPr>
            <a:normAutofit/>
          </a:bodyPr>
          <a:lstStyle/>
          <a:p>
            <a:r>
              <a:rPr lang="sr-Latn-RS" altLang="sr-Latn-RS" sz="4000" dirty="0"/>
              <a:t>Metoda trapeza</a:t>
            </a:r>
            <a:r>
              <a:rPr lang="en-US" altLang="sr-Latn-RS" sz="4000" dirty="0"/>
              <a:t> - </a:t>
            </a:r>
            <a:r>
              <a:rPr lang="sr-Latn-RS" altLang="sr-Latn-RS" sz="4000" dirty="0"/>
              <a:t>Greška</a:t>
            </a:r>
            <a:endParaRPr lang="en-US" altLang="sr-Latn-RS" sz="4000" dirty="0"/>
          </a:p>
        </p:txBody>
      </p:sp>
      <mc:AlternateContent xmlns:mc="http://schemas.openxmlformats.org/markup-compatibility/2006" xmlns:a14="http://schemas.microsoft.com/office/drawing/2010/main">
        <mc:Choice Requires="a14">
          <p:sp>
            <p:nvSpPr>
              <p:cNvPr id="27651" name="Rectangle 3"/>
              <p:cNvSpPr>
                <a:spLocks noGrp="1" noChangeArrowheads="1"/>
              </p:cNvSpPr>
              <p:nvPr>
                <p:ph type="body" idx="1"/>
              </p:nvPr>
            </p:nvSpPr>
            <p:spPr>
              <a:xfrm>
                <a:off x="371475" y="1219200"/>
                <a:ext cx="8772525" cy="5410200"/>
              </a:xfrm>
              <a:solidFill>
                <a:schemeClr val="bg1"/>
              </a:solidFill>
            </p:spPr>
            <p:txBody>
              <a:bodyPr>
                <a:normAutofit/>
              </a:bodyPr>
              <a:lstStyle/>
              <a:p>
                <a:pPr marL="609600" indent="-609600">
                  <a:lnSpc>
                    <a:spcPct val="90000"/>
                  </a:lnSpc>
                  <a:spcAft>
                    <a:spcPts val="1200"/>
                  </a:spcAft>
                </a:pPr>
                <a:r>
                  <a:rPr lang="en-US" altLang="sr-Latn-RS" sz="2600" dirty="0" err="1"/>
                  <a:t>Gre</a:t>
                </a:r>
                <a:r>
                  <a:rPr lang="sr-Latn-RS" altLang="sr-Latn-RS" sz="2600" dirty="0"/>
                  <a:t>ška</a:t>
                </a:r>
                <a:r>
                  <a:rPr lang="en-US" altLang="sr-Latn-RS" sz="2600" dirty="0"/>
                  <a:t> (</a:t>
                </a:r>
                <a:r>
                  <a:rPr lang="en-US" altLang="sr-Latn-RS" sz="2600" i="1" dirty="0"/>
                  <a:t>n</a:t>
                </a:r>
                <a:r>
                  <a:rPr lang="en-US" altLang="sr-Latn-RS" sz="2600" dirty="0"/>
                  <a:t> je </a:t>
                </a:r>
                <a:r>
                  <a:rPr lang="en-US" altLang="sr-Latn-RS" sz="2600" dirty="0" err="1"/>
                  <a:t>broj</a:t>
                </a:r>
                <a:r>
                  <a:rPr lang="en-US" altLang="sr-Latn-RS" sz="2600" dirty="0"/>
                  <a:t> </a:t>
                </a:r>
                <a:r>
                  <a:rPr lang="en-US" altLang="sr-Latn-RS" sz="2600" dirty="0" err="1"/>
                  <a:t>podintervala</a:t>
                </a:r>
                <a:r>
                  <a:rPr lang="en-US" altLang="sr-Latn-RS" sz="2600" dirty="0"/>
                  <a:t>), f’’ je </a:t>
                </a:r>
                <a:r>
                  <a:rPr lang="en-US" altLang="sr-Latn-RS" sz="2600" dirty="0" err="1"/>
                  <a:t>drugi</a:t>
                </a:r>
                <a:r>
                  <a:rPr lang="en-US" altLang="sr-Latn-RS" sz="2600" dirty="0"/>
                  <a:t> </a:t>
                </a:r>
                <a:r>
                  <a:rPr lang="en-US" altLang="sr-Latn-RS" sz="2600" dirty="0" err="1"/>
                  <a:t>izvod</a:t>
                </a:r>
                <a:endParaRPr lang="sr-Latn-RS" altLang="sr-Latn-RS" sz="2600" dirty="0"/>
              </a:p>
              <a:p>
                <a:pPr marL="0" indent="0">
                  <a:lnSpc>
                    <a:spcPct val="90000"/>
                  </a:lnSpc>
                  <a:buNone/>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sr-Latn-CS" sz="2800" i="1">
                                  <a:latin typeface="Cambria Math"/>
                                </a:rPr>
                                <m:t>𝐸</m:t>
                              </m:r>
                            </m:e>
                            <m:sub>
                              <m:r>
                                <a:rPr lang="sr-Latn-CS" sz="2800" i="1">
                                  <a:latin typeface="Cambria Math"/>
                                </a:rPr>
                                <m:t>𝑇</m:t>
                              </m:r>
                            </m:sub>
                          </m:sSub>
                        </m:e>
                      </m:d>
                      <m:r>
                        <a:rPr lang="sr-Latn-CS" sz="2800" i="1">
                          <a:latin typeface="Cambria Math"/>
                        </a:rPr>
                        <m:t>=</m:t>
                      </m:r>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sr-Cyrl-RS" sz="2800" i="1">
                                  <a:latin typeface="Cambria Math"/>
                                </a:rPr>
                                <m:t>𝐼</m:t>
                              </m:r>
                            </m:e>
                            <m:sub>
                              <m:r>
                                <a:rPr lang="sr-Cyrl-RS" sz="2800" i="1">
                                  <a:latin typeface="Cambria Math"/>
                                </a:rPr>
                                <m:t>𝐴</m:t>
                              </m:r>
                            </m:sub>
                          </m:sSub>
                          <m:r>
                            <a:rPr lang="sr-Cyrl-RS" sz="2800" i="1">
                              <a:latin typeface="Cambria Math"/>
                            </a:rPr>
                            <m:t>−</m:t>
                          </m:r>
                          <m:nary>
                            <m:naryPr>
                              <m:limLoc m:val="undOvr"/>
                              <m:ctrlPr>
                                <a:rPr lang="en-US" sz="2800" i="1">
                                  <a:latin typeface="Cambria Math" panose="02040503050406030204" pitchFamily="18" charset="0"/>
                                </a:rPr>
                              </m:ctrlPr>
                            </m:naryPr>
                            <m:sub>
                              <m:r>
                                <a:rPr lang="sr-Cyrl-RS" sz="2800" i="1">
                                  <a:latin typeface="Cambria Math"/>
                                </a:rPr>
                                <m:t>𝑎</m:t>
                              </m:r>
                            </m:sub>
                            <m:sup>
                              <m:r>
                                <a:rPr lang="sr-Cyrl-RS" sz="2800" i="1">
                                  <a:latin typeface="Cambria Math"/>
                                </a:rPr>
                                <m:t>𝑏</m:t>
                              </m:r>
                            </m:sup>
                            <m:e>
                              <m:r>
                                <a:rPr lang="sr-Cyrl-RS" sz="2800" i="1">
                                  <a:latin typeface="Cambria Math"/>
                                </a:rPr>
                                <m:t>𝑓</m:t>
                              </m:r>
                              <m:d>
                                <m:dPr>
                                  <m:ctrlPr>
                                    <a:rPr lang="en-US" sz="2800" i="1">
                                      <a:latin typeface="Cambria Math" panose="02040503050406030204" pitchFamily="18" charset="0"/>
                                    </a:rPr>
                                  </m:ctrlPr>
                                </m:dPr>
                                <m:e>
                                  <m:r>
                                    <a:rPr lang="sr-Cyrl-RS" sz="2800" i="1">
                                      <a:latin typeface="Cambria Math"/>
                                    </a:rPr>
                                    <m:t>𝑥</m:t>
                                  </m:r>
                                </m:e>
                              </m:d>
                              <m:r>
                                <a:rPr lang="sr-Cyrl-RS" sz="2800" i="1">
                                  <a:latin typeface="Cambria Math"/>
                                </a:rPr>
                                <m:t>𝑑𝑥</m:t>
                              </m:r>
                            </m:e>
                          </m:nary>
                        </m:e>
                      </m:d>
                      <m:r>
                        <a:rPr lang="sr-Latn-CS" sz="2800" i="1">
                          <a:latin typeface="Cambria Math"/>
                        </a:rPr>
                        <m:t>≤</m:t>
                      </m:r>
                      <m:f>
                        <m:fPr>
                          <m:ctrlPr>
                            <a:rPr lang="en-US" sz="2800" i="1">
                              <a:latin typeface="Cambria Math" panose="02040503050406030204" pitchFamily="18" charset="0"/>
                            </a:rPr>
                          </m:ctrlPr>
                        </m:fPr>
                        <m:num>
                          <m:r>
                            <a:rPr lang="sr-Cyrl-RS" sz="2800" i="1">
                              <a:latin typeface="Cambria Math"/>
                            </a:rPr>
                            <m:t>𝑛</m:t>
                          </m:r>
                        </m:num>
                        <m:den>
                          <m:r>
                            <a:rPr lang="sr-Cyrl-RS" sz="2800" i="1">
                              <a:latin typeface="Cambria Math"/>
                            </a:rPr>
                            <m:t>12</m:t>
                          </m:r>
                        </m:den>
                      </m:f>
                      <m:sSup>
                        <m:sSupPr>
                          <m:ctrlPr>
                            <a:rPr lang="en-US" sz="2800" i="1">
                              <a:latin typeface="Cambria Math" panose="02040503050406030204" pitchFamily="18" charset="0"/>
                            </a:rPr>
                          </m:ctrlPr>
                        </m:sSupPr>
                        <m:e>
                          <m:r>
                            <a:rPr lang="sr-Cyrl-RS" sz="2800" i="1">
                              <a:latin typeface="Cambria Math"/>
                            </a:rPr>
                            <m:t>h</m:t>
                          </m:r>
                        </m:e>
                        <m:sup>
                          <m:r>
                            <a:rPr lang="sr-Cyrl-RS" sz="2800" i="1">
                              <a:latin typeface="Cambria Math"/>
                            </a:rPr>
                            <m:t>3</m:t>
                          </m:r>
                        </m:sup>
                      </m:sSup>
                      <m:r>
                        <a:rPr lang="sr-Cyrl-RS" sz="2800" i="1">
                          <a:latin typeface="Cambria Math"/>
                        </a:rPr>
                        <m:t>𝑀</m:t>
                      </m:r>
                      <m:r>
                        <a:rPr lang="sr-Cyrl-RS" sz="2800" i="1">
                          <a:latin typeface="Cambria Math"/>
                        </a:rPr>
                        <m:t>=</m:t>
                      </m:r>
                      <m:f>
                        <m:fPr>
                          <m:ctrlPr>
                            <a:rPr lang="en-US" sz="2800" i="1">
                              <a:latin typeface="Cambria Math" panose="02040503050406030204" pitchFamily="18" charset="0"/>
                            </a:rPr>
                          </m:ctrlPr>
                        </m:fPr>
                        <m:num>
                          <m:d>
                            <m:dPr>
                              <m:ctrlPr>
                                <a:rPr lang="en-US" sz="2800" i="1">
                                  <a:latin typeface="Cambria Math" panose="02040503050406030204" pitchFamily="18" charset="0"/>
                                </a:rPr>
                              </m:ctrlPr>
                            </m:dPr>
                            <m:e>
                              <m:r>
                                <a:rPr lang="sr-Cyrl-RS" sz="2800" i="1">
                                  <a:latin typeface="Cambria Math"/>
                                </a:rPr>
                                <m:t>𝑏</m:t>
                              </m:r>
                              <m:r>
                                <a:rPr lang="sr-Cyrl-RS" sz="2800" i="1">
                                  <a:latin typeface="Cambria Math"/>
                                </a:rPr>
                                <m:t>−</m:t>
                              </m:r>
                              <m:r>
                                <a:rPr lang="sr-Cyrl-RS" sz="2800" i="1">
                                  <a:latin typeface="Cambria Math"/>
                                </a:rPr>
                                <m:t>𝑎</m:t>
                              </m:r>
                            </m:e>
                          </m:d>
                        </m:num>
                        <m:den>
                          <m:r>
                            <a:rPr lang="sr-Cyrl-RS" sz="2800" i="1">
                              <a:latin typeface="Cambria Math"/>
                            </a:rPr>
                            <m:t>12</m:t>
                          </m:r>
                        </m:den>
                      </m:f>
                      <m:r>
                        <a:rPr lang="sr-Cyrl-RS" sz="2800" i="1">
                          <a:latin typeface="Cambria Math"/>
                        </a:rPr>
                        <m:t>𝑀</m:t>
                      </m:r>
                      <m:sSup>
                        <m:sSupPr>
                          <m:ctrlPr>
                            <a:rPr lang="en-US" sz="2800" i="1">
                              <a:latin typeface="Cambria Math" panose="02040503050406030204" pitchFamily="18" charset="0"/>
                            </a:rPr>
                          </m:ctrlPr>
                        </m:sSupPr>
                        <m:e>
                          <m:r>
                            <a:rPr lang="sr-Cyrl-RS" sz="2800" i="1">
                              <a:latin typeface="Cambria Math"/>
                            </a:rPr>
                            <m:t>h</m:t>
                          </m:r>
                        </m:e>
                        <m:sup>
                          <m:r>
                            <a:rPr lang="sr-Cyrl-RS" sz="2800" i="1">
                              <a:latin typeface="Cambria Math"/>
                            </a:rPr>
                            <m:t>2</m:t>
                          </m:r>
                        </m:sup>
                      </m:sSup>
                    </m:oMath>
                  </m:oMathPara>
                </a14:m>
                <a:endParaRPr lang="en-US" altLang="sr-Latn-RS" sz="2800" dirty="0"/>
              </a:p>
              <a:p>
                <a:pPr marL="0" indent="0">
                  <a:lnSpc>
                    <a:spcPct val="90000"/>
                  </a:lnSpc>
                  <a:buNone/>
                </a:pPr>
                <a:r>
                  <a:rPr lang="sr-Latn-RS" altLang="sr-Latn-RS" sz="2800" dirty="0"/>
                  <a:t>(</a:t>
                </a:r>
                <a:r>
                  <a:rPr lang="en-US" sz="2800" dirty="0" err="1"/>
                  <a:t>gde</a:t>
                </a:r>
                <a:r>
                  <a:rPr lang="en-US" sz="2800" dirty="0"/>
                  <a:t> je </a:t>
                </a:r>
                <a14:m>
                  <m:oMath xmlns:m="http://schemas.openxmlformats.org/officeDocument/2006/math">
                    <m:sSub>
                      <m:sSubPr>
                        <m:ctrlPr>
                          <a:rPr lang="en-US" sz="2800" i="1">
                            <a:latin typeface="Cambria Math" panose="02040503050406030204" pitchFamily="18" charset="0"/>
                          </a:rPr>
                        </m:ctrlPr>
                      </m:sSubPr>
                      <m:e>
                        <m:r>
                          <a:rPr lang="en-US" sz="2800" i="1">
                            <a:latin typeface="Cambria Math"/>
                          </a:rPr>
                          <m:t>𝐼</m:t>
                        </m:r>
                      </m:e>
                      <m:sub>
                        <m:r>
                          <a:rPr lang="en-US" sz="2800" i="1">
                            <a:latin typeface="Cambria Math"/>
                          </a:rPr>
                          <m:t>𝐴</m:t>
                        </m:r>
                      </m:sub>
                    </m:sSub>
                  </m:oMath>
                </a14:m>
                <a:r>
                  <a:rPr lang="en-US" sz="2800" dirty="0"/>
                  <a:t> </a:t>
                </a:r>
                <a:r>
                  <a:rPr lang="en-US" sz="2800" dirty="0" err="1"/>
                  <a:t>rezultat</a:t>
                </a:r>
                <a:r>
                  <a:rPr lang="en-US" sz="2800" dirty="0"/>
                  <a:t> </a:t>
                </a:r>
                <a:r>
                  <a:rPr lang="en-US" sz="2800" dirty="0" err="1"/>
                  <a:t>kompozitne</a:t>
                </a:r>
                <a:r>
                  <a:rPr lang="en-US" sz="2800" dirty="0"/>
                  <a:t> </a:t>
                </a:r>
                <a:r>
                  <a:rPr lang="en-US" sz="2800" dirty="0" err="1"/>
                  <a:t>metode</a:t>
                </a:r>
                <a:r>
                  <a:rPr lang="en-US" sz="2800" dirty="0"/>
                  <a:t> </a:t>
                </a:r>
                <a:r>
                  <a:rPr lang="en-US" sz="2800" dirty="0" err="1"/>
                  <a:t>trapeza</a:t>
                </a:r>
                <a:r>
                  <a:rPr lang="en-US" sz="2800" dirty="0"/>
                  <a:t>, </a:t>
                </a:r>
                <a14:m>
                  <m:oMath xmlns:m="http://schemas.openxmlformats.org/officeDocument/2006/math">
                    <m:r>
                      <a:rPr lang="en-US" sz="2800" i="1">
                        <a:latin typeface="Cambria Math"/>
                      </a:rPr>
                      <m:t>h</m:t>
                    </m:r>
                  </m:oMath>
                </a14:m>
                <a:r>
                  <a:rPr lang="en-US" sz="2800" i="1" dirty="0"/>
                  <a:t> </a:t>
                </a:r>
                <a:r>
                  <a:rPr lang="en-US" sz="2800" dirty="0" err="1"/>
                  <a:t>veličina</a:t>
                </a:r>
                <a:r>
                  <a:rPr lang="en-US" sz="2800" dirty="0"/>
                  <a:t>, </a:t>
                </a:r>
                <a14:m>
                  <m:oMath xmlns:m="http://schemas.openxmlformats.org/officeDocument/2006/math">
                    <m:r>
                      <a:rPr lang="en-US" sz="2800" i="1">
                        <a:latin typeface="Cambria Math"/>
                      </a:rPr>
                      <m:t>𝑛</m:t>
                    </m:r>
                  </m:oMath>
                </a14:m>
                <a:r>
                  <a:rPr lang="en-US" sz="2800" dirty="0"/>
                  <a:t> </a:t>
                </a:r>
                <a:r>
                  <a:rPr lang="en-US" sz="2800" dirty="0" err="1"/>
                  <a:t>broj</a:t>
                </a:r>
                <a:r>
                  <a:rPr lang="en-US" sz="2800" dirty="0"/>
                  <a:t> </a:t>
                </a:r>
                <a:r>
                  <a:rPr lang="en-US" sz="2800" dirty="0" err="1"/>
                  <a:t>podintervala</a:t>
                </a:r>
                <a:r>
                  <a:rPr lang="sr-Latn-RS" sz="2800" dirty="0"/>
                  <a:t>, </a:t>
                </a:r>
                <a14:m>
                  <m:oMath xmlns:m="http://schemas.openxmlformats.org/officeDocument/2006/math">
                    <m:r>
                      <a:rPr lang="en-US" sz="2800" i="1">
                        <a:latin typeface="Cambria Math"/>
                      </a:rPr>
                      <m:t>𝑀</m:t>
                    </m:r>
                    <m:r>
                      <a:rPr lang="en-US" sz="2800" i="1">
                        <a:latin typeface="Cambria Math"/>
                      </a:rPr>
                      <m:t>=</m:t>
                    </m:r>
                    <m:func>
                      <m:funcPr>
                        <m:ctrlPr>
                          <a:rPr lang="en-US" sz="2800" i="1">
                            <a:latin typeface="Cambria Math" panose="02040503050406030204" pitchFamily="18" charset="0"/>
                          </a:rPr>
                        </m:ctrlPr>
                      </m:funcPr>
                      <m:fName>
                        <m:limLow>
                          <m:limLowPr>
                            <m:ctrlPr>
                              <a:rPr lang="en-US" sz="2800" i="1">
                                <a:latin typeface="Cambria Math" panose="02040503050406030204" pitchFamily="18" charset="0"/>
                              </a:rPr>
                            </m:ctrlPr>
                          </m:limLowPr>
                          <m:e>
                            <m:r>
                              <m:rPr>
                                <m:sty m:val="p"/>
                              </m:rPr>
                              <a:rPr lang="en-US" sz="2800">
                                <a:latin typeface="Cambria Math"/>
                              </a:rPr>
                              <m:t>max</m:t>
                            </m:r>
                          </m:e>
                          <m:lim>
                            <m:r>
                              <a:rPr lang="en-US" sz="2800" i="1">
                                <a:latin typeface="Cambria Math"/>
                              </a:rPr>
                              <m:t>𝑥</m:t>
                            </m:r>
                            <m:r>
                              <a:rPr lang="en-US" sz="2800" i="1">
                                <a:latin typeface="Cambria Math"/>
                              </a:rPr>
                              <m:t>∈</m:t>
                            </m:r>
                            <m:d>
                              <m:dPr>
                                <m:begChr m:val="["/>
                                <m:endChr m:val="]"/>
                                <m:ctrlPr>
                                  <a:rPr lang="en-US" sz="2800" i="1">
                                    <a:latin typeface="Cambria Math" panose="02040503050406030204" pitchFamily="18" charset="0"/>
                                  </a:rPr>
                                </m:ctrlPr>
                              </m:dPr>
                              <m:e>
                                <m:r>
                                  <a:rPr lang="en-US" sz="2800" i="1">
                                    <a:latin typeface="Cambria Math"/>
                                  </a:rPr>
                                  <m:t>𝑎</m:t>
                                </m:r>
                                <m:r>
                                  <a:rPr lang="en-US" sz="2800" i="1">
                                    <a:latin typeface="Cambria Math"/>
                                  </a:rPr>
                                  <m:t>,</m:t>
                                </m:r>
                                <m:r>
                                  <a:rPr lang="en-US" sz="2800" i="1">
                                    <a:latin typeface="Cambria Math"/>
                                  </a:rPr>
                                  <m:t>𝑏</m:t>
                                </m:r>
                              </m:e>
                            </m:d>
                          </m:lim>
                        </m:limLow>
                      </m:fName>
                      <m:e>
                        <m:d>
                          <m:dPr>
                            <m:begChr m:val="|"/>
                            <m:endChr m:val="|"/>
                            <m:ctrlPr>
                              <a:rPr lang="en-US" sz="2800" i="1">
                                <a:latin typeface="Cambria Math" panose="02040503050406030204" pitchFamily="18" charset="0"/>
                              </a:rPr>
                            </m:ctrlPr>
                          </m:dPr>
                          <m:e>
                            <m:sSup>
                              <m:sSupPr>
                                <m:ctrlPr>
                                  <a:rPr lang="en-US" sz="2800" i="1">
                                    <a:latin typeface="Cambria Math" panose="02040503050406030204" pitchFamily="18" charset="0"/>
                                  </a:rPr>
                                </m:ctrlPr>
                              </m:sSupPr>
                              <m:e>
                                <m:r>
                                  <a:rPr lang="en-US" sz="2800" i="1">
                                    <a:latin typeface="Cambria Math"/>
                                  </a:rPr>
                                  <m:t>𝑓</m:t>
                                </m:r>
                              </m:e>
                              <m:sup>
                                <m:r>
                                  <a:rPr lang="en-US" sz="2800" i="1">
                                    <a:latin typeface="Cambria Math"/>
                                  </a:rPr>
                                  <m:t>′′</m:t>
                                </m:r>
                              </m:sup>
                            </m:sSup>
                            <m:d>
                              <m:dPr>
                                <m:ctrlPr>
                                  <a:rPr lang="en-US" sz="2800" i="1">
                                    <a:latin typeface="Cambria Math" panose="02040503050406030204" pitchFamily="18" charset="0"/>
                                  </a:rPr>
                                </m:ctrlPr>
                              </m:dPr>
                              <m:e>
                                <m:r>
                                  <a:rPr lang="en-US" sz="2800" i="1">
                                    <a:latin typeface="Cambria Math"/>
                                  </a:rPr>
                                  <m:t>𝑥</m:t>
                                </m:r>
                              </m:e>
                            </m:d>
                          </m:e>
                        </m:d>
                      </m:e>
                    </m:func>
                  </m:oMath>
                </a14:m>
                <a:r>
                  <a:rPr lang="sr-Latn-RS" altLang="sr-Latn-RS" sz="2800" dirty="0"/>
                  <a:t>)</a:t>
                </a:r>
                <a:endParaRPr lang="en-US" altLang="sr-Latn-RS" sz="2800" dirty="0"/>
              </a:p>
              <a:p>
                <a:pPr marL="609600" indent="-609600">
                  <a:lnSpc>
                    <a:spcPct val="90000"/>
                  </a:lnSpc>
                </a:pPr>
                <a:endParaRPr lang="en-US" altLang="sr-Latn-RS" sz="2600" dirty="0"/>
              </a:p>
              <a:p>
                <a:pPr marL="609600" indent="-609600">
                  <a:lnSpc>
                    <a:spcPct val="90000"/>
                  </a:lnSpc>
                </a:pPr>
                <a:r>
                  <a:rPr lang="en-US" altLang="sr-Latn-RS" sz="2600" dirty="0" err="1"/>
                  <a:t>Jedna</a:t>
                </a:r>
                <a:r>
                  <a:rPr lang="en-US" altLang="sr-Latn-RS" sz="2600" dirty="0"/>
                  <a:t> </a:t>
                </a:r>
                <a:r>
                  <a:rPr lang="en-US" altLang="sr-Latn-RS" sz="2600" dirty="0" err="1"/>
                  <a:t>primena</a:t>
                </a:r>
                <a:r>
                  <a:rPr lang="en-US" altLang="sr-Latn-RS" sz="2600" dirty="0"/>
                  <a:t> (n=1) </a:t>
                </a:r>
                <a:r>
                  <a:rPr lang="en-US" altLang="sr-Latn-RS" sz="2600" dirty="0" err="1"/>
                  <a:t>tj</a:t>
                </a:r>
                <a:r>
                  <a:rPr lang="en-US" altLang="sr-Latn-RS" sz="2600" dirty="0"/>
                  <a:t>. h=(b-a)</a:t>
                </a:r>
              </a:p>
              <a:p>
                <a:pPr marL="609600" indent="-609600">
                  <a:lnSpc>
                    <a:spcPct val="90000"/>
                  </a:lnSpc>
                </a:pPr>
                <a:endParaRPr lang="en-US" altLang="sr-Latn-RS" sz="2800" dirty="0"/>
              </a:p>
              <a:p>
                <a:pPr marL="609600" indent="-609600">
                  <a:lnSpc>
                    <a:spcPct val="90000"/>
                  </a:lnSpc>
                </a:pPr>
                <a:endParaRPr lang="en-US" altLang="sr-Latn-RS" sz="2800" dirty="0">
                  <a:sym typeface="Symbol" pitchFamily="18" charset="2"/>
                </a:endParaRPr>
              </a:p>
              <a:p>
                <a:pPr marL="609600" indent="-609600">
                  <a:lnSpc>
                    <a:spcPct val="90000"/>
                  </a:lnSpc>
                </a:pPr>
                <a:endParaRPr lang="en-US" altLang="sr-Latn-RS" sz="2600" dirty="0">
                  <a:sym typeface="Symbol" pitchFamily="18" charset="2"/>
                </a:endParaRPr>
              </a:p>
            </p:txBody>
          </p:sp>
        </mc:Choice>
        <mc:Fallback xmlns="">
          <p:sp>
            <p:nvSpPr>
              <p:cNvPr id="27651" name="Rectangle 3"/>
              <p:cNvSpPr>
                <a:spLocks noGrp="1" noRot="1" noChangeAspect="1" noMove="1" noResize="1" noEditPoints="1" noAdjustHandles="1" noChangeArrowheads="1" noChangeShapeType="1" noTextEdit="1"/>
              </p:cNvSpPr>
              <p:nvPr>
                <p:ph type="body" idx="1"/>
              </p:nvPr>
            </p:nvSpPr>
            <p:spPr>
              <a:xfrm>
                <a:off x="371475" y="1219200"/>
                <a:ext cx="8772525" cy="5410200"/>
              </a:xfrm>
              <a:blipFill rotWithShape="1">
                <a:blip r:embed="rId4"/>
                <a:stretch>
                  <a:fillRect l="-1459" t="-1802"/>
                </a:stretch>
              </a:blipFill>
            </p:spPr>
            <p:txBody>
              <a:bodyPr/>
              <a:lstStyle/>
              <a:p>
                <a:r>
                  <a:rPr lang="en-US">
                    <a:noFill/>
                  </a:rPr>
                  <a:t> </a:t>
                </a:r>
              </a:p>
            </p:txBody>
          </p:sp>
        </mc:Fallback>
      </mc:AlternateContent>
      <p:graphicFrame>
        <p:nvGraphicFramePr>
          <p:cNvPr id="27653" name="Object 6"/>
          <p:cNvGraphicFramePr>
            <a:graphicFrameLocks noChangeAspect="1"/>
          </p:cNvGraphicFramePr>
          <p:nvPr>
            <p:extLst>
              <p:ext uri="{D42A27DB-BD31-4B8C-83A1-F6EECF244321}">
                <p14:modId xmlns:p14="http://schemas.microsoft.com/office/powerpoint/2010/main" val="592739664"/>
              </p:ext>
            </p:extLst>
          </p:nvPr>
        </p:nvGraphicFramePr>
        <p:xfrm>
          <a:off x="676275" y="5265738"/>
          <a:ext cx="4479925" cy="906462"/>
        </p:xfrm>
        <a:graphic>
          <a:graphicData uri="http://schemas.openxmlformats.org/presentationml/2006/ole">
            <mc:AlternateContent xmlns:mc="http://schemas.openxmlformats.org/markup-compatibility/2006">
              <mc:Choice xmlns:v="urn:schemas-microsoft-com:vml" Requires="v">
                <p:oleObj name="Equation" r:id="rId5" imgW="1942920" imgH="393480" progId="Equation.3">
                  <p:embed/>
                </p:oleObj>
              </mc:Choice>
              <mc:Fallback>
                <p:oleObj name="Equation" r:id="rId5" imgW="1942920" imgH="393480" progId="Equation.3">
                  <p:embed/>
                  <p:pic>
                    <p:nvPicPr>
                      <p:cNvPr id="0" name=""/>
                      <p:cNvPicPr>
                        <a:picLocks noChangeAspect="1" noChangeArrowheads="1"/>
                      </p:cNvPicPr>
                      <p:nvPr/>
                    </p:nvPicPr>
                    <p:blipFill>
                      <a:blip r:embed="rId6"/>
                      <a:srcRect/>
                      <a:stretch>
                        <a:fillRect/>
                      </a:stretch>
                    </p:blipFill>
                    <p:spPr bwMode="auto">
                      <a:xfrm>
                        <a:off x="676275" y="5265738"/>
                        <a:ext cx="4479925" cy="906462"/>
                      </a:xfrm>
                      <a:prstGeom prst="rect">
                        <a:avLst/>
                      </a:prstGeom>
                      <a:solidFill>
                        <a:srgbClr val="C3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5" name="Text Box 13"/>
          <p:cNvSpPr txBox="1">
            <a:spLocks noChangeArrowheads="1"/>
          </p:cNvSpPr>
          <p:nvPr/>
        </p:nvSpPr>
        <p:spPr bwMode="auto">
          <a:xfrm>
            <a:off x="5486400" y="5180012"/>
            <a:ext cx="34290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en-US" altLang="sr-Latn-RS" dirty="0" err="1"/>
              <a:t>va</a:t>
            </a:r>
            <a:r>
              <a:rPr lang="sr-Latn-RS" altLang="sr-Latn-RS" dirty="0"/>
              <a:t>žno je primetiti da je greška reda h</a:t>
            </a:r>
            <a:r>
              <a:rPr lang="sr-Latn-RS" altLang="sr-Latn-RS" baseline="30000" dirty="0"/>
              <a:t>2</a:t>
            </a:r>
            <a:r>
              <a:rPr lang="sr-Latn-RS" altLang="sr-Latn-RS" dirty="0"/>
              <a:t>, gde je h veličina podintervala.</a:t>
            </a:r>
          </a:p>
        </p:txBody>
      </p:sp>
    </p:spTree>
    <p:extLst>
      <p:ext uri="{BB962C8B-B14F-4D97-AF65-F5344CB8AC3E}">
        <p14:creationId xmlns:p14="http://schemas.microsoft.com/office/powerpoint/2010/main" val="3596023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fade">
                                      <p:cBhvr>
                                        <p:cTn id="7" dur="500"/>
                                        <p:tgtEl>
                                          <p:spTgt spid="27651">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7651">
                                            <p:txEl>
                                              <p:pRg st="1" end="1"/>
                                            </p:txEl>
                                          </p:spTgt>
                                        </p:tgtEl>
                                        <p:attrNameLst>
                                          <p:attrName>style.visibility</p:attrName>
                                        </p:attrNameLst>
                                      </p:cBhvr>
                                      <p:to>
                                        <p:strVal val="visible"/>
                                      </p:to>
                                    </p:set>
                                    <p:animEffect transition="in" filter="fade">
                                      <p:cBhvr>
                                        <p:cTn id="10" dur="500"/>
                                        <p:tgtEl>
                                          <p:spTgt spid="27651">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7651">
                                            <p:txEl>
                                              <p:pRg st="2" end="2"/>
                                            </p:txEl>
                                          </p:spTgt>
                                        </p:tgtEl>
                                        <p:attrNameLst>
                                          <p:attrName>style.visibility</p:attrName>
                                        </p:attrNameLst>
                                      </p:cBhvr>
                                      <p:to>
                                        <p:strVal val="visible"/>
                                      </p:to>
                                    </p:set>
                                    <p:animEffect transition="in" filter="fade">
                                      <p:cBhvr>
                                        <p:cTn id="13" dur="500"/>
                                        <p:tgtEl>
                                          <p:spTgt spid="27651">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7651">
                                            <p:txEl>
                                              <p:pRg st="4" end="4"/>
                                            </p:txEl>
                                          </p:spTgt>
                                        </p:tgtEl>
                                        <p:attrNameLst>
                                          <p:attrName>style.visibility</p:attrName>
                                        </p:attrNameLst>
                                      </p:cBhvr>
                                      <p:to>
                                        <p:strVal val="visible"/>
                                      </p:to>
                                    </p:set>
                                    <p:animEffect transition="in" filter="fade">
                                      <p:cBhvr>
                                        <p:cTn id="18" dur="500"/>
                                        <p:tgtEl>
                                          <p:spTgt spid="27651">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7653"/>
                                        </p:tgtEl>
                                        <p:attrNameLst>
                                          <p:attrName>style.visibility</p:attrName>
                                        </p:attrNameLst>
                                      </p:cBhvr>
                                      <p:to>
                                        <p:strVal val="visible"/>
                                      </p:to>
                                    </p:set>
                                    <p:animEffect transition="in" filter="fade">
                                      <p:cBhvr>
                                        <p:cTn id="23" dur="500"/>
                                        <p:tgtEl>
                                          <p:spTgt spid="2765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7655"/>
                                        </p:tgtEl>
                                        <p:attrNameLst>
                                          <p:attrName>style.visibility</p:attrName>
                                        </p:attrNameLst>
                                      </p:cBhvr>
                                      <p:to>
                                        <p:strVal val="visible"/>
                                      </p:to>
                                    </p:set>
                                    <p:animEffect transition="in" filter="fade">
                                      <p:cBhvr>
                                        <p:cTn id="28" dur="500"/>
                                        <p:tgtEl>
                                          <p:spTgt spid="27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28600" y="381000"/>
            <a:ext cx="8229600" cy="609600"/>
          </a:xfrm>
        </p:spPr>
        <p:txBody>
          <a:bodyPr>
            <a:normAutofit fontScale="90000"/>
          </a:bodyPr>
          <a:lstStyle/>
          <a:p>
            <a:r>
              <a:rPr lang="sr-Latn-RS" altLang="sr-Latn-RS" sz="4000" dirty="0"/>
              <a:t>Simpsonova 1/3 metoda</a:t>
            </a:r>
          </a:p>
        </p:txBody>
      </p:sp>
      <mc:AlternateContent xmlns:mc="http://schemas.openxmlformats.org/markup-compatibility/2006" xmlns:a14="http://schemas.microsoft.com/office/drawing/2010/main">
        <mc:Choice Requires="a14">
          <p:sp>
            <p:nvSpPr>
              <p:cNvPr id="28675" name="Rectangle 3"/>
              <p:cNvSpPr>
                <a:spLocks noGrp="1" noChangeArrowheads="1"/>
              </p:cNvSpPr>
              <p:nvPr>
                <p:ph type="body" idx="1"/>
              </p:nvPr>
            </p:nvSpPr>
            <p:spPr>
              <a:xfrm>
                <a:off x="457200" y="1143000"/>
                <a:ext cx="8229600" cy="2233612"/>
              </a:xfrm>
              <a:solidFill>
                <a:schemeClr val="bg1"/>
              </a:solidFill>
            </p:spPr>
            <p:txBody>
              <a:bodyPr>
                <a:normAutofit fontScale="70000" lnSpcReduction="20000"/>
              </a:bodyPr>
              <a:lstStyle/>
              <a:p>
                <a:pPr marL="0" indent="0">
                  <a:lnSpc>
                    <a:spcPct val="120000"/>
                  </a:lnSpc>
                  <a:spcBef>
                    <a:spcPts val="0"/>
                  </a:spcBef>
                  <a:buNone/>
                </a:pPr>
                <a:r>
                  <a:rPr lang="sr-Latn-RS" altLang="sr-Latn-RS" sz="2800" dirty="0"/>
                  <a:t>Funkciju f </a:t>
                </a:r>
                <a:r>
                  <a:rPr lang="sr-Latn-RS" altLang="sr-Latn-RS" sz="2800" dirty="0" err="1"/>
                  <a:t>aproksimiramo</a:t>
                </a:r>
                <a:r>
                  <a:rPr lang="sr-Latn-RS" altLang="sr-Latn-RS" sz="2800" dirty="0"/>
                  <a:t> polinomom drugog stepena na [</a:t>
                </a:r>
                <a:r>
                  <a:rPr lang="sr-Latn-RS" altLang="sr-Latn-RS" sz="2800" dirty="0" err="1"/>
                  <a:t>a,b</a:t>
                </a:r>
                <a:r>
                  <a:rPr lang="sr-Latn-RS" altLang="sr-Latn-RS" sz="2800" dirty="0"/>
                  <a:t>]</a:t>
                </a:r>
                <a:r>
                  <a:rPr lang="en-US" altLang="sr-Latn-RS" sz="2800" dirty="0"/>
                  <a:t>:</a:t>
                </a:r>
                <a:endParaRPr lang="en-US" sz="2800" i="1" dirty="0">
                  <a:solidFill>
                    <a:srgbClr val="000000"/>
                  </a:solidFill>
                  <a:latin typeface="Cambria Math" panose="02040503050406030204" pitchFamily="18" charset="0"/>
                </a:endParaRPr>
              </a:p>
              <a:p>
                <a:pPr marL="0" indent="0">
                  <a:lnSpc>
                    <a:spcPct val="120000"/>
                  </a:lnSpc>
                  <a:spcBef>
                    <a:spcPts val="0"/>
                  </a:spcBef>
                  <a:buNone/>
                </a:pPr>
                <a14:m>
                  <m:oMathPara xmlns:m="http://schemas.openxmlformats.org/officeDocument/2006/math">
                    <m:oMathParaPr>
                      <m:jc m:val="centerGroup"/>
                    </m:oMathParaPr>
                    <m:oMath xmlns:m="http://schemas.openxmlformats.org/officeDocument/2006/math">
                      <m:nary>
                        <m:naryPr>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𝑎</m:t>
                          </m:r>
                        </m:sub>
                        <m:sup>
                          <m:r>
                            <a:rPr lang="en-US" sz="2800" i="1">
                              <a:solidFill>
                                <a:srgbClr val="000000"/>
                              </a:solidFill>
                              <a:latin typeface="Cambria Math" panose="02040503050406030204" pitchFamily="18" charset="0"/>
                            </a:rPr>
                            <m:t>𝑏</m:t>
                          </m:r>
                        </m:sup>
                        <m:e>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𝑥</m:t>
                          </m:r>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𝑑𝑥</m:t>
                          </m:r>
                        </m:e>
                      </m:nary>
                      <m:r>
                        <m:rPr>
                          <m:aln/>
                        </m:rPr>
                        <a:rPr lang="en-US" sz="2800" i="1">
                          <a:solidFill>
                            <a:srgbClr val="000000"/>
                          </a:solidFill>
                          <a:latin typeface="Cambria Math" panose="02040503050406030204" pitchFamily="18" charset="0"/>
                        </a:rPr>
                        <m:t>≈</m:t>
                      </m:r>
                      <m:nary>
                        <m:naryPr>
                          <m:chr m:val="∑"/>
                          <m:ctrlPr>
                            <a:rPr lang="en-US" sz="2800" i="1">
                              <a:solidFill>
                                <a:srgbClr val="000000"/>
                              </a:solidFill>
                              <a:latin typeface="Cambria Math" panose="02040503050406030204" pitchFamily="18" charset="0"/>
                            </a:rPr>
                          </m:ctrlPr>
                        </m:naryPr>
                        <m:sub>
                          <m:r>
                            <a:rPr lang="en-US" sz="2800" i="1">
                              <a:solidFill>
                                <a:srgbClr val="000000"/>
                              </a:solidFill>
                              <a:latin typeface="Cambria Math" panose="02040503050406030204" pitchFamily="18" charset="0"/>
                            </a:rPr>
                            <m:t>𝑖</m:t>
                          </m:r>
                          <m:r>
                            <a:rPr lang="en-US" sz="2800" i="1">
                              <a:solidFill>
                                <a:srgbClr val="000000"/>
                              </a:solidFill>
                              <a:latin typeface="Cambria Math" panose="02040503050406030204" pitchFamily="18" charset="0"/>
                            </a:rPr>
                            <m:t>=0</m:t>
                          </m:r>
                        </m:sub>
                        <m:sup>
                          <m:r>
                            <a:rPr lang="en-US" sz="2800" i="1">
                              <a:solidFill>
                                <a:srgbClr val="000000"/>
                              </a:solidFill>
                              <a:latin typeface="Cambria Math" panose="02040503050406030204" pitchFamily="18" charset="0"/>
                            </a:rPr>
                            <m:t>2</m:t>
                          </m:r>
                        </m:sup>
                        <m:e>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𝑐</m:t>
                              </m:r>
                            </m:e>
                            <m:sub>
                              <m:r>
                                <a:rPr lang="en-US" sz="2800" i="1">
                                  <a:solidFill>
                                    <a:srgbClr val="000000"/>
                                  </a:solidFill>
                                  <a:latin typeface="Cambria Math" panose="02040503050406030204" pitchFamily="18" charset="0"/>
                                </a:rPr>
                                <m:t>𝑖</m:t>
                              </m:r>
                            </m:sub>
                          </m:sSub>
                        </m:e>
                      </m:nary>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𝑖</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𝑐</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𝑐</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𝑐</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oMath>
                    <m:oMath xmlns:m="http://schemas.openxmlformats.org/officeDocument/2006/math">
                      <m:r>
                        <m:rPr>
                          <m:aln/>
                        </m:rPr>
                        <a:rPr lang="en-US" sz="280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i="1">
                              <a:solidFill>
                                <a:srgbClr val="000000"/>
                              </a:solidFill>
                              <a:latin typeface="Cambria Math" panose="02040503050406030204" pitchFamily="18" charset="0"/>
                            </a:rPr>
                            <m:t>h</m:t>
                          </m:r>
                        </m:num>
                        <m:den>
                          <m:r>
                            <a:rPr lang="en-US" sz="2800" i="1">
                              <a:solidFill>
                                <a:srgbClr val="000000"/>
                              </a:solidFill>
                              <a:latin typeface="Cambria Math" panose="02040503050406030204" pitchFamily="18" charset="0"/>
                            </a:rPr>
                            <m:t>3</m:t>
                          </m:r>
                        </m:den>
                      </m:f>
                      <m:d>
                        <m:dPr>
                          <m:begChr m:val="["/>
                          <m:endChr m:val="]"/>
                          <m:ctrlPr>
                            <a:rPr lang="en-US" sz="2800" i="1">
                              <a:solidFill>
                                <a:srgbClr val="000000"/>
                              </a:solidFill>
                              <a:latin typeface="Cambria Math" panose="02040503050406030204" pitchFamily="18" charset="0"/>
                            </a:rPr>
                          </m:ctrlPr>
                        </m:dPr>
                        <m:e>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0</m:t>
                              </m:r>
                            </m:sub>
                          </m:sSub>
                          <m:r>
                            <a:rPr lang="en-US" sz="2800" i="1">
                              <a:solidFill>
                                <a:srgbClr val="000000"/>
                              </a:solidFill>
                              <a:latin typeface="Cambria Math" panose="02040503050406030204" pitchFamily="18" charset="0"/>
                            </a:rPr>
                            <m:t>)+4</m:t>
                          </m:r>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1</m:t>
                              </m:r>
                            </m:sub>
                          </m:sSub>
                          <m:r>
                            <a:rPr lang="en-US" sz="2800" i="1">
                              <a:solidFill>
                                <a:srgbClr val="000000"/>
                              </a:solidFill>
                              <a:latin typeface="Cambria Math" panose="02040503050406030204" pitchFamily="18" charset="0"/>
                            </a:rPr>
                            <m:t>)+</m:t>
                          </m:r>
                          <m:r>
                            <a:rPr lang="en-US" sz="2800" i="1">
                              <a:solidFill>
                                <a:srgbClr val="000000"/>
                              </a:solidFill>
                              <a:latin typeface="Cambria Math" panose="02040503050406030204" pitchFamily="18" charset="0"/>
                            </a:rPr>
                            <m:t>𝑓</m:t>
                          </m:r>
                          <m:r>
                            <a:rPr lang="en-US" sz="280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𝑥</m:t>
                              </m:r>
                            </m:e>
                            <m:sub>
                              <m:r>
                                <a:rPr lang="en-US" sz="2800" i="1">
                                  <a:solidFill>
                                    <a:srgbClr val="000000"/>
                                  </a:solidFill>
                                  <a:latin typeface="Cambria Math" panose="02040503050406030204" pitchFamily="18" charset="0"/>
                                </a:rPr>
                                <m:t>2</m:t>
                              </m:r>
                            </m:sub>
                          </m:sSub>
                          <m:r>
                            <a:rPr lang="en-US" sz="2800" i="1">
                              <a:solidFill>
                                <a:srgbClr val="000000"/>
                              </a:solidFill>
                              <a:latin typeface="Cambria Math" panose="02040503050406030204" pitchFamily="18" charset="0"/>
                            </a:rPr>
                            <m:t>)</m:t>
                          </m:r>
                        </m:e>
                      </m:d>
                    </m:oMath>
                  </m:oMathPara>
                </a14:m>
                <a:endParaRPr lang="en-US" sz="2800" dirty="0"/>
              </a:p>
              <a:p>
                <a:pPr marL="0" indent="0">
                  <a:lnSpc>
                    <a:spcPct val="120000"/>
                  </a:lnSpc>
                  <a:spcBef>
                    <a:spcPts val="0"/>
                  </a:spcBef>
                  <a:buNone/>
                </a:pPr>
                <a:endParaRPr lang="sr-Latn-RS" altLang="sr-Latn-RS" sz="2800" dirty="0"/>
              </a:p>
            </p:txBody>
          </p:sp>
        </mc:Choice>
        <mc:Fallback xmlns="">
          <p:sp>
            <p:nvSpPr>
              <p:cNvPr id="28675" name="Rectangle 3"/>
              <p:cNvSpPr>
                <a:spLocks noGrp="1" noRot="1" noChangeAspect="1" noMove="1" noResize="1" noEditPoints="1" noAdjustHandles="1" noChangeArrowheads="1" noChangeShapeType="1" noTextEdit="1"/>
              </p:cNvSpPr>
              <p:nvPr>
                <p:ph type="body" idx="1"/>
              </p:nvPr>
            </p:nvSpPr>
            <p:spPr>
              <a:xfrm>
                <a:off x="457200" y="1143000"/>
                <a:ext cx="8229600" cy="2233612"/>
              </a:xfrm>
              <a:blipFill>
                <a:blip r:embed="rId3"/>
                <a:stretch>
                  <a:fillRect l="-741" t="-1366"/>
                </a:stretch>
              </a:blipFill>
            </p:spPr>
            <p:txBody>
              <a:bodyPr/>
              <a:lstStyle/>
              <a:p>
                <a:r>
                  <a:rPr lang="en-US">
                    <a:noFill/>
                  </a:rPr>
                  <a:t> </a:t>
                </a:r>
              </a:p>
            </p:txBody>
          </p:sp>
        </mc:Fallback>
      </mc:AlternateContent>
      <p:sp>
        <p:nvSpPr>
          <p:cNvPr id="28676" name="Freeform 4" descr="Dark downward diagonal"/>
          <p:cNvSpPr>
            <a:spLocks/>
          </p:cNvSpPr>
          <p:nvPr/>
        </p:nvSpPr>
        <p:spPr bwMode="auto">
          <a:xfrm>
            <a:off x="1600200" y="3514725"/>
            <a:ext cx="5943600" cy="2895600"/>
          </a:xfrm>
          <a:custGeom>
            <a:avLst/>
            <a:gdLst>
              <a:gd name="T0" fmla="*/ 0 w 3744"/>
              <a:gd name="T1" fmla="*/ 2895600 h 1824"/>
              <a:gd name="T2" fmla="*/ 0 w 3744"/>
              <a:gd name="T3" fmla="*/ 2057400 h 1824"/>
              <a:gd name="T4" fmla="*/ 457200 w 3744"/>
              <a:gd name="T5" fmla="*/ 1752600 h 1824"/>
              <a:gd name="T6" fmla="*/ 1371600 w 3744"/>
              <a:gd name="T7" fmla="*/ 1219200 h 1824"/>
              <a:gd name="T8" fmla="*/ 2514600 w 3744"/>
              <a:gd name="T9" fmla="*/ 685800 h 1824"/>
              <a:gd name="T10" fmla="*/ 3733800 w 3744"/>
              <a:gd name="T11" fmla="*/ 228600 h 1824"/>
              <a:gd name="T12" fmla="*/ 4343400 w 3744"/>
              <a:gd name="T13" fmla="*/ 76200 h 1824"/>
              <a:gd name="T14" fmla="*/ 4800600 w 3744"/>
              <a:gd name="T15" fmla="*/ 0 h 1824"/>
              <a:gd name="T16" fmla="*/ 5181600 w 3744"/>
              <a:gd name="T17" fmla="*/ 0 h 1824"/>
              <a:gd name="T18" fmla="*/ 5943600 w 3744"/>
              <a:gd name="T19" fmla="*/ 152400 h 1824"/>
              <a:gd name="T20" fmla="*/ 5943600 w 3744"/>
              <a:gd name="T21" fmla="*/ 2895600 h 1824"/>
              <a:gd name="T22" fmla="*/ 0 w 3744"/>
              <a:gd name="T23" fmla="*/ 2895600 h 182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744" h="1824">
                <a:moveTo>
                  <a:pt x="0" y="1824"/>
                </a:moveTo>
                <a:lnTo>
                  <a:pt x="0" y="1296"/>
                </a:lnTo>
                <a:lnTo>
                  <a:pt x="288" y="1104"/>
                </a:lnTo>
                <a:lnTo>
                  <a:pt x="864" y="768"/>
                </a:lnTo>
                <a:lnTo>
                  <a:pt x="1584" y="432"/>
                </a:lnTo>
                <a:lnTo>
                  <a:pt x="2352" y="144"/>
                </a:lnTo>
                <a:lnTo>
                  <a:pt x="2736" y="48"/>
                </a:lnTo>
                <a:lnTo>
                  <a:pt x="3024" y="0"/>
                </a:lnTo>
                <a:lnTo>
                  <a:pt x="3264" y="0"/>
                </a:lnTo>
                <a:lnTo>
                  <a:pt x="3744" y="96"/>
                </a:lnTo>
                <a:lnTo>
                  <a:pt x="3744" y="1824"/>
                </a:lnTo>
                <a:lnTo>
                  <a:pt x="0" y="1824"/>
                </a:lnTo>
                <a:close/>
              </a:path>
            </a:pathLst>
          </a:custGeom>
          <a:pattFill prst="dkDnDiag">
            <a:fgClr>
              <a:srgbClr val="3366FF"/>
            </a:fgClr>
            <a:bgClr>
              <a:srgbClr val="FFFFFF"/>
            </a:bgClr>
          </a:patt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78" name="Line 6"/>
          <p:cNvSpPr>
            <a:spLocks noChangeShapeType="1"/>
          </p:cNvSpPr>
          <p:nvPr/>
        </p:nvSpPr>
        <p:spPr bwMode="auto">
          <a:xfrm>
            <a:off x="914400" y="6410325"/>
            <a:ext cx="7010400" cy="15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79" name="Line 7"/>
          <p:cNvSpPr>
            <a:spLocks noChangeShapeType="1"/>
          </p:cNvSpPr>
          <p:nvPr/>
        </p:nvSpPr>
        <p:spPr bwMode="auto">
          <a:xfrm flipV="1">
            <a:off x="914400" y="3352800"/>
            <a:ext cx="1588" cy="305752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80" name="Freeform 8"/>
          <p:cNvSpPr>
            <a:spLocks/>
          </p:cNvSpPr>
          <p:nvPr/>
        </p:nvSpPr>
        <p:spPr bwMode="auto">
          <a:xfrm>
            <a:off x="1600200" y="3667125"/>
            <a:ext cx="5943600" cy="1905000"/>
          </a:xfrm>
          <a:custGeom>
            <a:avLst/>
            <a:gdLst>
              <a:gd name="T0" fmla="*/ 0 w 3648"/>
              <a:gd name="T1" fmla="*/ 1905000 h 1104"/>
              <a:gd name="T2" fmla="*/ 547437 w 3648"/>
              <a:gd name="T3" fmla="*/ 993913 h 1104"/>
              <a:gd name="T4" fmla="*/ 1251284 w 3648"/>
              <a:gd name="T5" fmla="*/ 496957 h 1104"/>
              <a:gd name="T6" fmla="*/ 1955132 w 3648"/>
              <a:gd name="T7" fmla="*/ 248478 h 1104"/>
              <a:gd name="T8" fmla="*/ 2580774 w 3648"/>
              <a:gd name="T9" fmla="*/ 248478 h 1104"/>
              <a:gd name="T10" fmla="*/ 3284621 w 3648"/>
              <a:gd name="T11" fmla="*/ 496957 h 1104"/>
              <a:gd name="T12" fmla="*/ 4144879 w 3648"/>
              <a:gd name="T13" fmla="*/ 828261 h 1104"/>
              <a:gd name="T14" fmla="*/ 5083342 w 3648"/>
              <a:gd name="T15" fmla="*/ 662609 h 1104"/>
              <a:gd name="T16" fmla="*/ 5630779 w 3648"/>
              <a:gd name="T17" fmla="*/ 331304 h 1104"/>
              <a:gd name="T18" fmla="*/ 5943600 w 3648"/>
              <a:gd name="T19" fmla="*/ 0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48" h="1104">
                <a:moveTo>
                  <a:pt x="0" y="1104"/>
                </a:moveTo>
                <a:cubicBezTo>
                  <a:pt x="104" y="908"/>
                  <a:pt x="208" y="712"/>
                  <a:pt x="336" y="576"/>
                </a:cubicBezTo>
                <a:cubicBezTo>
                  <a:pt x="464" y="440"/>
                  <a:pt x="624" y="360"/>
                  <a:pt x="768" y="288"/>
                </a:cubicBezTo>
                <a:cubicBezTo>
                  <a:pt x="912" y="216"/>
                  <a:pt x="1064" y="168"/>
                  <a:pt x="1200" y="144"/>
                </a:cubicBezTo>
                <a:cubicBezTo>
                  <a:pt x="1336" y="120"/>
                  <a:pt x="1448" y="120"/>
                  <a:pt x="1584" y="144"/>
                </a:cubicBezTo>
                <a:cubicBezTo>
                  <a:pt x="1720" y="168"/>
                  <a:pt x="1856" y="232"/>
                  <a:pt x="2016" y="288"/>
                </a:cubicBezTo>
                <a:cubicBezTo>
                  <a:pt x="2176" y="344"/>
                  <a:pt x="2360" y="464"/>
                  <a:pt x="2544" y="480"/>
                </a:cubicBezTo>
                <a:cubicBezTo>
                  <a:pt x="2728" y="496"/>
                  <a:pt x="2968" y="432"/>
                  <a:pt x="3120" y="384"/>
                </a:cubicBezTo>
                <a:cubicBezTo>
                  <a:pt x="3272" y="336"/>
                  <a:pt x="3368" y="256"/>
                  <a:pt x="3456" y="192"/>
                </a:cubicBezTo>
                <a:cubicBezTo>
                  <a:pt x="3544" y="128"/>
                  <a:pt x="3596" y="64"/>
                  <a:pt x="3648" y="0"/>
                </a:cubicBezTo>
              </a:path>
            </a:pathLst>
          </a:custGeom>
          <a:noFill/>
          <a:ln w="381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81" name="Line 9"/>
          <p:cNvSpPr>
            <a:spLocks noChangeShapeType="1"/>
          </p:cNvSpPr>
          <p:nvPr/>
        </p:nvSpPr>
        <p:spPr bwMode="auto">
          <a:xfrm>
            <a:off x="1600200" y="5572125"/>
            <a:ext cx="1588" cy="838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82" name="Line 10"/>
          <p:cNvSpPr>
            <a:spLocks noChangeShapeType="1"/>
          </p:cNvSpPr>
          <p:nvPr/>
        </p:nvSpPr>
        <p:spPr bwMode="auto">
          <a:xfrm flipV="1">
            <a:off x="7543800" y="3667125"/>
            <a:ext cx="1588" cy="2743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83" name="Oval 11"/>
          <p:cNvSpPr>
            <a:spLocks noChangeArrowheads="1"/>
          </p:cNvSpPr>
          <p:nvPr/>
        </p:nvSpPr>
        <p:spPr bwMode="auto">
          <a:xfrm>
            <a:off x="1524000" y="5495925"/>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28684" name="Text Box 12"/>
          <p:cNvSpPr txBox="1">
            <a:spLocks noChangeArrowheads="1"/>
          </p:cNvSpPr>
          <p:nvPr/>
        </p:nvSpPr>
        <p:spPr bwMode="auto">
          <a:xfrm>
            <a:off x="1295400" y="633412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0</a:t>
            </a:r>
            <a:endParaRPr lang="en-US" altLang="sr-Latn-RS" sz="2400">
              <a:latin typeface="Times New Roman" pitchFamily="18" charset="0"/>
            </a:endParaRPr>
          </a:p>
        </p:txBody>
      </p:sp>
      <p:sp>
        <p:nvSpPr>
          <p:cNvPr id="28685" name="Text Box 13"/>
          <p:cNvSpPr txBox="1">
            <a:spLocks noChangeArrowheads="1"/>
          </p:cNvSpPr>
          <p:nvPr/>
        </p:nvSpPr>
        <p:spPr bwMode="auto">
          <a:xfrm>
            <a:off x="4267200" y="633412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1</a:t>
            </a:r>
            <a:endParaRPr lang="en-US" altLang="sr-Latn-RS" sz="2400">
              <a:latin typeface="Times New Roman" pitchFamily="18" charset="0"/>
            </a:endParaRPr>
          </a:p>
        </p:txBody>
      </p:sp>
      <p:sp>
        <p:nvSpPr>
          <p:cNvPr id="28686" name="Text Box 14"/>
          <p:cNvSpPr txBox="1">
            <a:spLocks noChangeArrowheads="1"/>
          </p:cNvSpPr>
          <p:nvPr/>
        </p:nvSpPr>
        <p:spPr bwMode="auto">
          <a:xfrm>
            <a:off x="8001000" y="6257925"/>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0000"/>
                </a:solidFill>
                <a:latin typeface="Times New Roman" pitchFamily="18" charset="0"/>
              </a:rPr>
              <a:t>x</a:t>
            </a:r>
            <a:endParaRPr lang="en-US" altLang="sr-Latn-RS" sz="2400">
              <a:solidFill>
                <a:srgbClr val="FF0000"/>
              </a:solidFill>
              <a:latin typeface="Times New Roman" pitchFamily="18" charset="0"/>
            </a:endParaRPr>
          </a:p>
        </p:txBody>
      </p:sp>
      <p:sp>
        <p:nvSpPr>
          <p:cNvPr id="28687" name="Text Box 15"/>
          <p:cNvSpPr txBox="1">
            <a:spLocks noChangeArrowheads="1"/>
          </p:cNvSpPr>
          <p:nvPr/>
        </p:nvSpPr>
        <p:spPr bwMode="auto">
          <a:xfrm>
            <a:off x="2438400" y="3590925"/>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0000"/>
                </a:solidFill>
                <a:latin typeface="Times New Roman" pitchFamily="18" charset="0"/>
              </a:rPr>
              <a:t>f</a:t>
            </a:r>
            <a:r>
              <a:rPr lang="en-US" altLang="sr-Latn-RS" sz="2400" b="1">
                <a:solidFill>
                  <a:srgbClr val="FF0000"/>
                </a:solidFill>
                <a:latin typeface="Times New Roman" pitchFamily="18" charset="0"/>
              </a:rPr>
              <a:t>(</a:t>
            </a:r>
            <a:r>
              <a:rPr lang="en-US" altLang="sr-Latn-RS" sz="2400" b="1" i="1">
                <a:solidFill>
                  <a:srgbClr val="FF0000"/>
                </a:solidFill>
                <a:latin typeface="Times New Roman" pitchFamily="18" charset="0"/>
              </a:rPr>
              <a:t>x</a:t>
            </a:r>
            <a:r>
              <a:rPr lang="en-US" altLang="sr-Latn-RS" sz="2400" b="1">
                <a:solidFill>
                  <a:srgbClr val="FF0000"/>
                </a:solidFill>
                <a:latin typeface="Times New Roman" pitchFamily="18" charset="0"/>
              </a:rPr>
              <a:t>)</a:t>
            </a:r>
            <a:endParaRPr lang="en-US" altLang="sr-Latn-RS" sz="2400">
              <a:solidFill>
                <a:srgbClr val="FF0000"/>
              </a:solidFill>
              <a:latin typeface="Times New Roman" pitchFamily="18" charset="0"/>
            </a:endParaRPr>
          </a:p>
        </p:txBody>
      </p:sp>
      <p:sp>
        <p:nvSpPr>
          <p:cNvPr id="28688" name="Line 16"/>
          <p:cNvSpPr>
            <a:spLocks noChangeShapeType="1"/>
          </p:cNvSpPr>
          <p:nvPr/>
        </p:nvSpPr>
        <p:spPr bwMode="auto">
          <a:xfrm>
            <a:off x="4495800" y="4048125"/>
            <a:ext cx="1588" cy="2362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89" name="Freeform 17"/>
          <p:cNvSpPr>
            <a:spLocks/>
          </p:cNvSpPr>
          <p:nvPr/>
        </p:nvSpPr>
        <p:spPr bwMode="auto">
          <a:xfrm>
            <a:off x="1676400" y="3502025"/>
            <a:ext cx="5943600" cy="1993900"/>
          </a:xfrm>
          <a:custGeom>
            <a:avLst/>
            <a:gdLst>
              <a:gd name="T0" fmla="*/ 0 w 3744"/>
              <a:gd name="T1" fmla="*/ 1993900 h 1256"/>
              <a:gd name="T2" fmla="*/ 1295400 w 3744"/>
              <a:gd name="T3" fmla="*/ 1231900 h 1256"/>
              <a:gd name="T4" fmla="*/ 2819400 w 3744"/>
              <a:gd name="T5" fmla="*/ 546100 h 1256"/>
              <a:gd name="T6" fmla="*/ 4191000 w 3744"/>
              <a:gd name="T7" fmla="*/ 88900 h 1256"/>
              <a:gd name="T8" fmla="*/ 5029200 w 3744"/>
              <a:gd name="T9" fmla="*/ 12700 h 1256"/>
              <a:gd name="T10" fmla="*/ 5943600 w 3744"/>
              <a:gd name="T11" fmla="*/ 165100 h 125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44" h="1256">
                <a:moveTo>
                  <a:pt x="0" y="1256"/>
                </a:moveTo>
                <a:cubicBezTo>
                  <a:pt x="260" y="1092"/>
                  <a:pt x="520" y="928"/>
                  <a:pt x="816" y="776"/>
                </a:cubicBezTo>
                <a:cubicBezTo>
                  <a:pt x="1112" y="624"/>
                  <a:pt x="1472" y="464"/>
                  <a:pt x="1776" y="344"/>
                </a:cubicBezTo>
                <a:cubicBezTo>
                  <a:pt x="2080" y="224"/>
                  <a:pt x="2408" y="112"/>
                  <a:pt x="2640" y="56"/>
                </a:cubicBezTo>
                <a:cubicBezTo>
                  <a:pt x="2872" y="0"/>
                  <a:pt x="2984" y="0"/>
                  <a:pt x="3168" y="8"/>
                </a:cubicBezTo>
                <a:cubicBezTo>
                  <a:pt x="3352" y="16"/>
                  <a:pt x="3548" y="60"/>
                  <a:pt x="3744" y="104"/>
                </a:cubicBezTo>
              </a:path>
            </a:pathLst>
          </a:custGeom>
          <a:noFill/>
          <a:ln w="38100" cmpd="sng">
            <a:solidFill>
              <a:srgbClr val="33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28690" name="Text Box 18"/>
          <p:cNvSpPr txBox="1">
            <a:spLocks noChangeArrowheads="1"/>
          </p:cNvSpPr>
          <p:nvPr/>
        </p:nvSpPr>
        <p:spPr bwMode="auto">
          <a:xfrm>
            <a:off x="7239000" y="6334125"/>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2</a:t>
            </a:r>
            <a:endParaRPr lang="en-US" altLang="sr-Latn-RS" sz="2400">
              <a:latin typeface="Times New Roman" pitchFamily="18" charset="0"/>
            </a:endParaRPr>
          </a:p>
        </p:txBody>
      </p:sp>
      <p:sp>
        <p:nvSpPr>
          <p:cNvPr id="28691" name="Oval 19"/>
          <p:cNvSpPr>
            <a:spLocks noChangeArrowheads="1"/>
          </p:cNvSpPr>
          <p:nvPr/>
        </p:nvSpPr>
        <p:spPr bwMode="auto">
          <a:xfrm>
            <a:off x="7467600" y="3590925"/>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28692" name="Text Box 20"/>
          <p:cNvSpPr txBox="1">
            <a:spLocks noChangeArrowheads="1"/>
          </p:cNvSpPr>
          <p:nvPr/>
        </p:nvSpPr>
        <p:spPr bwMode="auto">
          <a:xfrm>
            <a:off x="2819400" y="6334125"/>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0000"/>
                </a:solidFill>
                <a:latin typeface="Times New Roman" pitchFamily="18" charset="0"/>
              </a:rPr>
              <a:t>h</a:t>
            </a:r>
            <a:endParaRPr lang="en-US" altLang="sr-Latn-RS" sz="2400">
              <a:solidFill>
                <a:srgbClr val="FF0000"/>
              </a:solidFill>
              <a:latin typeface="Times New Roman" pitchFamily="18" charset="0"/>
            </a:endParaRPr>
          </a:p>
        </p:txBody>
      </p:sp>
      <p:sp>
        <p:nvSpPr>
          <p:cNvPr id="28693" name="Text Box 21"/>
          <p:cNvSpPr txBox="1">
            <a:spLocks noChangeArrowheads="1"/>
          </p:cNvSpPr>
          <p:nvPr/>
        </p:nvSpPr>
        <p:spPr bwMode="auto">
          <a:xfrm>
            <a:off x="5715000" y="6334125"/>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0000"/>
                </a:solidFill>
                <a:latin typeface="Times New Roman" pitchFamily="18" charset="0"/>
              </a:rPr>
              <a:t>h</a:t>
            </a:r>
            <a:endParaRPr lang="en-US" altLang="sr-Latn-RS" sz="2400">
              <a:solidFill>
                <a:srgbClr val="FF0000"/>
              </a:solidFill>
              <a:latin typeface="Times New Roman" pitchFamily="18" charset="0"/>
            </a:endParaRPr>
          </a:p>
        </p:txBody>
      </p:sp>
      <p:sp>
        <p:nvSpPr>
          <p:cNvPr id="28694" name="Text Box 22"/>
          <p:cNvSpPr txBox="1">
            <a:spLocks noChangeArrowheads="1"/>
          </p:cNvSpPr>
          <p:nvPr/>
        </p:nvSpPr>
        <p:spPr bwMode="auto">
          <a:xfrm>
            <a:off x="4516438" y="3378200"/>
            <a:ext cx="838200" cy="4572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0066FF"/>
                </a:solidFill>
                <a:latin typeface="Times New Roman" pitchFamily="18" charset="0"/>
              </a:rPr>
              <a:t>L</a:t>
            </a:r>
            <a:r>
              <a:rPr lang="en-US" altLang="sr-Latn-RS" sz="2400" b="1">
                <a:solidFill>
                  <a:srgbClr val="0066FF"/>
                </a:solidFill>
                <a:latin typeface="Times New Roman" pitchFamily="18" charset="0"/>
              </a:rPr>
              <a:t>(</a:t>
            </a:r>
            <a:r>
              <a:rPr lang="en-US" altLang="sr-Latn-RS" sz="2400" b="1" i="1">
                <a:solidFill>
                  <a:srgbClr val="0066FF"/>
                </a:solidFill>
                <a:latin typeface="Times New Roman" pitchFamily="18" charset="0"/>
              </a:rPr>
              <a:t>x</a:t>
            </a:r>
            <a:r>
              <a:rPr lang="en-US" altLang="sr-Latn-RS" sz="2400" b="1">
                <a:solidFill>
                  <a:srgbClr val="0066FF"/>
                </a:solidFill>
                <a:latin typeface="Times New Roman" pitchFamily="18" charset="0"/>
              </a:rPr>
              <a:t>)</a:t>
            </a:r>
          </a:p>
        </p:txBody>
      </p:sp>
      <p:sp>
        <p:nvSpPr>
          <p:cNvPr id="28695" name="Oval 23"/>
          <p:cNvSpPr>
            <a:spLocks noChangeArrowheads="1"/>
          </p:cNvSpPr>
          <p:nvPr/>
        </p:nvSpPr>
        <p:spPr bwMode="auto">
          <a:xfrm>
            <a:off x="4419600" y="3971925"/>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Tree>
    <p:extLst>
      <p:ext uri="{BB962C8B-B14F-4D97-AF65-F5344CB8AC3E}">
        <p14:creationId xmlns:p14="http://schemas.microsoft.com/office/powerpoint/2010/main" val="2539210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Izvo</a:t>
            </a:r>
            <a:r>
              <a:rPr lang="sr-Latn-RS" dirty="0"/>
              <a:t>đenje formule - </a:t>
            </a:r>
            <a:r>
              <a:rPr lang="sr-Latn-RS" altLang="sr-Latn-RS" dirty="0"/>
              <a:t>Simpsonova 1/3 metoda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marL="457200" indent="-457200">
                  <a:buFont typeface="+mj-lt"/>
                  <a:buAutoNum type="arabicPeriod"/>
                </a:pPr>
                <a:r>
                  <a:rPr lang="en-US" dirty="0"/>
                  <a:t>Lagranžovog </a:t>
                </a:r>
                <a:r>
                  <a:rPr lang="en-US" dirty="0" err="1"/>
                  <a:t>interpolacion</a:t>
                </a:r>
                <a:r>
                  <a:rPr lang="sr-Latn-RS" dirty="0"/>
                  <a:t>i</a:t>
                </a:r>
                <a:r>
                  <a:rPr lang="en-US" dirty="0"/>
                  <a:t> </a:t>
                </a:r>
                <a:r>
                  <a:rPr lang="en-US" dirty="0" err="1"/>
                  <a:t>polinom</a:t>
                </a:r>
                <a:r>
                  <a:rPr lang="en-US" dirty="0"/>
                  <a:t>:</a:t>
                </a:r>
              </a:p>
              <a:p>
                <a:pPr marL="0" indent="0">
                  <a:buNone/>
                </a:pPr>
                <a:endParaRPr lang="sr-Latn-RS" i="1"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sr-Latn-CS" i="1">
                              <a:latin typeface="Cambria Math"/>
                            </a:rPr>
                            <m:t>𝐿</m:t>
                          </m:r>
                        </m:e>
                        <m:sub>
                          <m:r>
                            <a:rPr lang="sr-Latn-CS" i="1">
                              <a:latin typeface="Cambria Math"/>
                            </a:rPr>
                            <m:t>2</m:t>
                          </m:r>
                        </m:sub>
                      </m:sSub>
                      <m:d>
                        <m:dPr>
                          <m:ctrlPr>
                            <a:rPr lang="en-US" i="1">
                              <a:latin typeface="Cambria Math" panose="02040503050406030204" pitchFamily="18" charset="0"/>
                            </a:rPr>
                          </m:ctrlPr>
                        </m:dPr>
                        <m:e>
                          <m:r>
                            <a:rPr lang="sr-Latn-CS" i="1">
                              <a:latin typeface="Cambria Math"/>
                            </a:rPr>
                            <m:t>𝑥</m:t>
                          </m:r>
                        </m:e>
                      </m:d>
                      <m:r>
                        <a:rPr lang="sr-Latn-CS" i="1">
                          <a:latin typeface="Cambria Math"/>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sr-Latn-CS" i="1">
                                  <a:latin typeface="Cambria Math"/>
                                </a:rPr>
                                <m:t>𝑥</m:t>
                              </m:r>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d>
                            <m:dPr>
                              <m:ctrlPr>
                                <a:rPr lang="en-US" i="1">
                                  <a:latin typeface="Cambria Math" panose="02040503050406030204" pitchFamily="18" charset="0"/>
                                </a:rPr>
                              </m:ctrlPr>
                            </m:dPr>
                            <m:e>
                              <m:r>
                                <a:rPr lang="sr-Latn-CS" i="1">
                                  <a:latin typeface="Cambria Math"/>
                                </a:rPr>
                                <m:t>𝑥</m:t>
                              </m:r>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num>
                        <m:den>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den>
                      </m:f>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r>
                        <a:rPr lang="sr-Latn-CS" i="1">
                          <a:latin typeface="Cambria Math"/>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sr-Latn-CS" i="1">
                                  <a:latin typeface="Cambria Math"/>
                                </a:rPr>
                                <m:t>𝑥</m:t>
                              </m:r>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d>
                            <m:dPr>
                              <m:ctrlPr>
                                <a:rPr lang="en-US" i="1">
                                  <a:latin typeface="Cambria Math" panose="02040503050406030204" pitchFamily="18" charset="0"/>
                                </a:rPr>
                              </m:ctrlPr>
                            </m:dPr>
                            <m:e>
                              <m:r>
                                <a:rPr lang="sr-Latn-CS" i="1">
                                  <a:latin typeface="Cambria Math"/>
                                </a:rPr>
                                <m:t>𝑥</m:t>
                              </m:r>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num>
                        <m:den>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den>
                      </m:f>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r>
                        <a:rPr lang="sr-Latn-CS" i="1">
                          <a:latin typeface="Cambria Math"/>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sr-Latn-CS" i="1">
                                  <a:latin typeface="Cambria Math"/>
                                </a:rPr>
                                <m:t>𝑥</m:t>
                              </m:r>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d>
                            <m:dPr>
                              <m:ctrlPr>
                                <a:rPr lang="en-US" i="1">
                                  <a:latin typeface="Cambria Math" panose="02040503050406030204" pitchFamily="18" charset="0"/>
                                </a:rPr>
                              </m:ctrlPr>
                            </m:dPr>
                            <m:e>
                              <m:r>
                                <a:rPr lang="sr-Latn-CS" i="1">
                                  <a:latin typeface="Cambria Math"/>
                                </a:rPr>
                                <m:t>𝑥</m:t>
                              </m:r>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num>
                        <m:den>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r>
                                <a:rPr lang="sr-Latn-CS" i="1">
                                  <a:latin typeface="Cambria Math"/>
                                </a:rPr>
                                <m:t>−</m:t>
                              </m:r>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den>
                      </m:f>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oMath>
                  </m:oMathPara>
                </a14:m>
                <a:endParaRPr lang="sr-Latn-RS" dirty="0"/>
              </a:p>
              <a:p>
                <a:pPr marL="0" indent="0">
                  <a:buNone/>
                </a:pPr>
                <a:endParaRPr lang="sr-Latn-RS" dirty="0"/>
              </a:p>
              <a:p>
                <a:pPr marL="457200" indent="-457200">
                  <a:buFont typeface="+mj-lt"/>
                  <a:buAutoNum type="arabicPeriod" startAt="2"/>
                </a:pPr>
                <a:r>
                  <a:rPr lang="sr-Latn-RS" dirty="0"/>
                  <a:t>Aproksimiramo </a:t>
                </a:r>
                <a14:m>
                  <m:oMath xmlns:m="http://schemas.openxmlformats.org/officeDocument/2006/math">
                    <m:r>
                      <a:rPr lang="sr-Latn-RS" b="0" i="1" smtClean="0">
                        <a:latin typeface="Cambria Math"/>
                      </a:rPr>
                      <m:t>𝑓</m:t>
                    </m:r>
                    <m:d>
                      <m:dPr>
                        <m:ctrlPr>
                          <a:rPr lang="sr-Latn-RS" b="0" i="1" smtClean="0">
                            <a:latin typeface="Cambria Math" panose="02040503050406030204" pitchFamily="18" charset="0"/>
                          </a:rPr>
                        </m:ctrlPr>
                      </m:dPr>
                      <m:e>
                        <m:r>
                          <a:rPr lang="sr-Latn-RS" b="0" i="1" smtClean="0">
                            <a:latin typeface="Cambria Math"/>
                          </a:rPr>
                          <m:t>𝑥</m:t>
                        </m:r>
                      </m:e>
                    </m:d>
                  </m:oMath>
                </a14:m>
                <a:r>
                  <a:rPr lang="sr-Latn-RS" dirty="0"/>
                  <a:t> sa </a:t>
                </a:r>
                <a14:m>
                  <m:oMath xmlns:m="http://schemas.openxmlformats.org/officeDocument/2006/math">
                    <m:sSub>
                      <m:sSubPr>
                        <m:ctrlPr>
                          <a:rPr lang="en-US" b="0" i="1" smtClean="0">
                            <a:latin typeface="Cambria Math" panose="02040503050406030204" pitchFamily="18" charset="0"/>
                          </a:rPr>
                        </m:ctrlPr>
                      </m:sSubPr>
                      <m:e>
                        <m:r>
                          <a:rPr lang="sr-Latn-RS" b="0" i="1" smtClean="0">
                            <a:latin typeface="Cambria Math"/>
                          </a:rPr>
                          <m:t>𝐿</m:t>
                        </m:r>
                      </m:e>
                      <m:sub>
                        <m:r>
                          <a:rPr lang="en-US" b="0" i="1" smtClean="0">
                            <a:latin typeface="Cambria Math"/>
                          </a:rPr>
                          <m:t>2</m:t>
                        </m:r>
                      </m:sub>
                    </m:sSub>
                    <m:d>
                      <m:dPr>
                        <m:ctrlPr>
                          <a:rPr lang="en-US" b="0" i="1" smtClean="0">
                            <a:latin typeface="Cambria Math" panose="02040503050406030204" pitchFamily="18" charset="0"/>
                          </a:rPr>
                        </m:ctrlPr>
                      </m:dPr>
                      <m:e>
                        <m:r>
                          <a:rPr lang="en-US" b="0" i="1" smtClean="0">
                            <a:latin typeface="Cambria Math"/>
                          </a:rPr>
                          <m:t>𝑥</m:t>
                        </m:r>
                      </m:e>
                    </m:d>
                  </m:oMath>
                </a14:m>
                <a:r>
                  <a:rPr lang="en-US" dirty="0"/>
                  <a:t>:</a:t>
                </a:r>
              </a:p>
              <a:p>
                <a:pPr marL="457200" indent="-457200">
                  <a:buFont typeface="+mj-lt"/>
                  <a:buAutoNum type="arabicPeriod" startAt="2"/>
                </a:pPr>
                <a:endParaRPr lang="en-US" dirty="0"/>
              </a:p>
              <a:p>
                <a:pPr marL="0" indent="0">
                  <a:buNone/>
                </a:pPr>
                <a14:m>
                  <m:oMathPara xmlns:m="http://schemas.openxmlformats.org/officeDocument/2006/math">
                    <m:oMathParaPr>
                      <m:jc m:val="centerGroup"/>
                    </m:oMathParaPr>
                    <m:oMath xmlns:m="http://schemas.openxmlformats.org/officeDocument/2006/math">
                      <m:nary>
                        <m:naryPr>
                          <m:limLoc m:val="undOvr"/>
                          <m:ctrlPr>
                            <a:rPr lang="en-US" i="1">
                              <a:latin typeface="Cambria Math" panose="02040503050406030204" pitchFamily="18" charset="0"/>
                            </a:rPr>
                          </m:ctrlPr>
                        </m:naryPr>
                        <m:sub>
                          <m:r>
                            <a:rPr lang="sr-Latn-CS" i="1">
                              <a:latin typeface="Cambria Math"/>
                            </a:rPr>
                            <m:t>𝑎</m:t>
                          </m:r>
                        </m:sub>
                        <m:sup>
                          <m:r>
                            <a:rPr lang="sr-Latn-CS" i="1">
                              <a:latin typeface="Cambria Math"/>
                            </a:rPr>
                            <m:t>𝑏</m:t>
                          </m:r>
                        </m:sup>
                        <m:e>
                          <m:r>
                            <a:rPr lang="sr-Latn-CS" i="1">
                              <a:latin typeface="Cambria Math"/>
                            </a:rPr>
                            <m:t>𝑓</m:t>
                          </m:r>
                          <m:d>
                            <m:dPr>
                              <m:ctrlPr>
                                <a:rPr lang="en-US" i="1">
                                  <a:latin typeface="Cambria Math" panose="02040503050406030204" pitchFamily="18" charset="0"/>
                                </a:rPr>
                              </m:ctrlPr>
                            </m:dPr>
                            <m:e>
                              <m:r>
                                <a:rPr lang="sr-Latn-CS" i="1">
                                  <a:latin typeface="Cambria Math"/>
                                </a:rPr>
                                <m:t>𝑥</m:t>
                              </m:r>
                            </m:e>
                          </m:d>
                          <m:r>
                            <a:rPr lang="sr-Latn-CS" i="1">
                              <a:latin typeface="Cambria Math"/>
                            </a:rPr>
                            <m:t>𝑑𝑥</m:t>
                          </m:r>
                        </m:e>
                      </m:nary>
                      <m:r>
                        <a:rPr lang="sr-Latn-CS" i="1">
                          <a:latin typeface="Cambria Math"/>
                        </a:rPr>
                        <m:t>≈</m:t>
                      </m:r>
                      <m:nary>
                        <m:naryPr>
                          <m:limLoc m:val="undOvr"/>
                          <m:ctrlPr>
                            <a:rPr lang="en-US" i="1">
                              <a:latin typeface="Cambria Math" panose="02040503050406030204" pitchFamily="18" charset="0"/>
                            </a:rPr>
                          </m:ctrlPr>
                        </m:naryPr>
                        <m:sub>
                          <m:r>
                            <a:rPr lang="sr-Latn-CS" i="1">
                              <a:latin typeface="Cambria Math"/>
                            </a:rPr>
                            <m:t>𝑎</m:t>
                          </m:r>
                        </m:sub>
                        <m:sup>
                          <m:r>
                            <a:rPr lang="sr-Latn-CS" i="1">
                              <a:latin typeface="Cambria Math"/>
                            </a:rPr>
                            <m:t>𝑏</m:t>
                          </m:r>
                        </m:sup>
                        <m:e>
                          <m:sSub>
                            <m:sSubPr>
                              <m:ctrlPr>
                                <a:rPr lang="en-US" i="1">
                                  <a:latin typeface="Cambria Math" panose="02040503050406030204" pitchFamily="18" charset="0"/>
                                </a:rPr>
                              </m:ctrlPr>
                            </m:sSubPr>
                            <m:e>
                              <m:r>
                                <a:rPr lang="sr-Latn-CS" i="1">
                                  <a:latin typeface="Cambria Math"/>
                                </a:rPr>
                                <m:t>𝐿</m:t>
                              </m:r>
                            </m:e>
                            <m:sub>
                              <m:r>
                                <a:rPr lang="sr-Latn-CS" i="1">
                                  <a:latin typeface="Cambria Math"/>
                                </a:rPr>
                                <m:t>2</m:t>
                              </m:r>
                            </m:sub>
                          </m:sSub>
                          <m:d>
                            <m:dPr>
                              <m:ctrlPr>
                                <a:rPr lang="en-US" i="1">
                                  <a:latin typeface="Cambria Math" panose="02040503050406030204" pitchFamily="18" charset="0"/>
                                </a:rPr>
                              </m:ctrlPr>
                            </m:dPr>
                            <m:e>
                              <m:r>
                                <a:rPr lang="sr-Latn-CS" i="1">
                                  <a:latin typeface="Cambria Math"/>
                                </a:rPr>
                                <m:t>𝑥</m:t>
                              </m:r>
                            </m:e>
                          </m:d>
                          <m:r>
                            <a:rPr lang="sr-Latn-CS" i="1">
                              <a:latin typeface="Cambria Math"/>
                            </a:rPr>
                            <m:t>𝑑𝑥</m:t>
                          </m:r>
                        </m:e>
                      </m:nary>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19" t="-750"/>
                </a:stretch>
              </a:blipFill>
            </p:spPr>
            <p:txBody>
              <a:bodyPr/>
              <a:lstStyle/>
              <a:p>
                <a:r>
                  <a:rPr lang="en-US">
                    <a:noFill/>
                  </a:rPr>
                  <a:t> </a:t>
                </a:r>
              </a:p>
            </p:txBody>
          </p:sp>
        </mc:Fallback>
      </mc:AlternateContent>
    </p:spTree>
    <p:extLst>
      <p:ext uri="{BB962C8B-B14F-4D97-AF65-F5344CB8AC3E}">
        <p14:creationId xmlns:p14="http://schemas.microsoft.com/office/powerpoint/2010/main" val="2684702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Izvo</a:t>
            </a:r>
            <a:r>
              <a:rPr lang="sr-Latn-RS" dirty="0"/>
              <a:t>đenje formule - </a:t>
            </a:r>
            <a:r>
              <a:rPr lang="sr-Latn-RS" altLang="sr-Latn-RS" dirty="0"/>
              <a:t>Simpsonova 1/3 metoda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sr-Latn-RS" dirty="0"/>
                  <a:t>A</a:t>
                </a:r>
                <a:r>
                  <a:rPr lang="en-US" dirty="0" err="1"/>
                  <a:t>nalitička</a:t>
                </a:r>
                <a:r>
                  <a:rPr lang="en-US" dirty="0"/>
                  <a:t> </a:t>
                </a:r>
                <a:r>
                  <a:rPr lang="en-US" dirty="0" err="1"/>
                  <a:t>itegracija</a:t>
                </a:r>
                <a:r>
                  <a:rPr lang="en-US" dirty="0"/>
                  <a:t> </a:t>
                </a:r>
                <a:r>
                  <a:rPr lang="en-US" dirty="0" err="1"/>
                  <a:t>polinoma</a:t>
                </a:r>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𝐿</m:t>
                        </m:r>
                      </m:e>
                      <m:sub>
                        <m:r>
                          <a:rPr lang="en-US" i="1">
                            <a:latin typeface="Cambria Math"/>
                          </a:rPr>
                          <m:t>2</m:t>
                        </m:r>
                      </m:sub>
                    </m:sSub>
                    <m:d>
                      <m:dPr>
                        <m:ctrlPr>
                          <a:rPr lang="en-US" i="1">
                            <a:latin typeface="Cambria Math" panose="02040503050406030204" pitchFamily="18" charset="0"/>
                          </a:rPr>
                        </m:ctrlPr>
                      </m:dPr>
                      <m:e>
                        <m:r>
                          <a:rPr lang="en-US" i="1">
                            <a:latin typeface="Cambria Math"/>
                          </a:rPr>
                          <m:t>𝑥</m:t>
                        </m:r>
                      </m:e>
                    </m:d>
                  </m:oMath>
                </a14:m>
                <a:r>
                  <a:rPr lang="en-US" dirty="0"/>
                  <a:t> </a:t>
                </a:r>
                <a:r>
                  <a:rPr lang="sr-Latn-RS" dirty="0"/>
                  <a:t>je </a:t>
                </a:r>
                <a:r>
                  <a:rPr lang="en-US" dirty="0"/>
                  <a:t>komplikovana, </a:t>
                </a:r>
                <a:r>
                  <a:rPr lang="en-US" dirty="0" err="1"/>
                  <a:t>pojednostavi</a:t>
                </a:r>
                <a:r>
                  <a:rPr lang="sr-Latn-RS" dirty="0"/>
                  <a:t>ćemo</a:t>
                </a:r>
                <a:r>
                  <a:rPr lang="en-US" dirty="0"/>
                  <a:t> </a:t>
                </a:r>
                <a:r>
                  <a:rPr lang="en-US" dirty="0" err="1"/>
                  <a:t>tako</a:t>
                </a:r>
                <a:r>
                  <a:rPr lang="en-US" dirty="0"/>
                  <a:t> </a:t>
                </a:r>
                <a:r>
                  <a:rPr lang="en-US" dirty="0" err="1"/>
                  <a:t>što</a:t>
                </a:r>
                <a:r>
                  <a:rPr lang="en-US" dirty="0"/>
                  <a:t> </a:t>
                </a:r>
                <a:r>
                  <a:rPr lang="en-US" dirty="0" err="1"/>
                  <a:t>ćemo</a:t>
                </a:r>
                <a:r>
                  <a:rPr lang="en-US" dirty="0"/>
                  <a:t> interval </a:t>
                </a:r>
                <a14:m>
                  <m:oMath xmlns:m="http://schemas.openxmlformats.org/officeDocument/2006/math">
                    <m:d>
                      <m:dPr>
                        <m:begChr m:val="["/>
                        <m:endChr m:val="]"/>
                        <m:ctrlPr>
                          <a:rPr lang="en-US" i="1">
                            <a:latin typeface="Cambria Math" panose="02040503050406030204" pitchFamily="18" charset="0"/>
                          </a:rPr>
                        </m:ctrlPr>
                      </m:dPr>
                      <m:e>
                        <m:r>
                          <a:rPr lang="sr-Latn-RS" i="1">
                            <a:latin typeface="Cambria Math"/>
                          </a:rPr>
                          <m:t>𝑎</m:t>
                        </m:r>
                        <m:r>
                          <a:rPr lang="sr-Latn-RS" i="1">
                            <a:latin typeface="Cambria Math"/>
                          </a:rPr>
                          <m:t>, </m:t>
                        </m:r>
                        <m:r>
                          <a:rPr lang="sr-Latn-RS" i="1">
                            <a:latin typeface="Cambria Math"/>
                          </a:rPr>
                          <m:t>𝑏</m:t>
                        </m:r>
                      </m:e>
                    </m:d>
                  </m:oMath>
                </a14:m>
                <a:r>
                  <a:rPr lang="en-US" dirty="0"/>
                  <a:t> </a:t>
                </a:r>
                <a:r>
                  <a:rPr lang="en-US" dirty="0" err="1"/>
                  <a:t>linearno</a:t>
                </a:r>
                <a:r>
                  <a:rPr lang="en-US" dirty="0"/>
                  <a:t> </a:t>
                </a:r>
                <a:r>
                  <a:rPr lang="en-US" dirty="0" err="1"/>
                  <a:t>mapirati</a:t>
                </a:r>
                <a:r>
                  <a:rPr lang="en-US" dirty="0"/>
                  <a:t> </a:t>
                </a:r>
                <a:r>
                  <a:rPr lang="en-US" dirty="0" err="1"/>
                  <a:t>na</a:t>
                </a:r>
                <a:r>
                  <a:rPr lang="en-US" dirty="0"/>
                  <a:t>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a:rPr>
                          <m:t>−1, 1</m:t>
                        </m:r>
                      </m:e>
                    </m:d>
                  </m:oMath>
                </a14:m>
                <a:endParaRPr lang="sr-Latn-RS" dirty="0"/>
              </a:p>
              <a:p>
                <a:endParaRPr lang="en-US" dirty="0"/>
              </a:p>
              <a:p>
                <a:r>
                  <a:rPr lang="en-US" dirty="0"/>
                  <a:t>To </a:t>
                </a:r>
                <a:r>
                  <a:rPr lang="en-US" dirty="0" err="1"/>
                  <a:t>znači</a:t>
                </a:r>
                <a:r>
                  <a:rPr lang="en-US" dirty="0"/>
                  <a:t> da je </a:t>
                </a:r>
                <a:r>
                  <a:rPr lang="en-US" dirty="0" err="1"/>
                  <a:t>potrebno</a:t>
                </a:r>
                <a:r>
                  <a:rPr lang="en-US" dirty="0"/>
                  <a:t> da </a:t>
                </a:r>
                <a:r>
                  <a:rPr lang="en-US" dirty="0" err="1"/>
                  <a:t>odredimo</a:t>
                </a:r>
                <a:r>
                  <a:rPr lang="en-US" dirty="0"/>
                  <a:t> </a:t>
                </a:r>
                <a:r>
                  <a:rPr lang="en-US" dirty="0" err="1"/>
                  <a:t>jednačinu</a:t>
                </a:r>
                <a:r>
                  <a:rPr lang="en-US" dirty="0"/>
                  <a:t> </a:t>
                </a:r>
                <a:r>
                  <a:rPr lang="en-US" dirty="0" err="1"/>
                  <a:t>prave</a:t>
                </a:r>
                <a:r>
                  <a:rPr lang="en-US" dirty="0"/>
                  <a:t> </a:t>
                </a:r>
                <a:r>
                  <a:rPr lang="en-US" dirty="0" err="1"/>
                  <a:t>kroz</a:t>
                </a:r>
                <a:r>
                  <a:rPr lang="en-US" dirty="0"/>
                  <a:t> </a:t>
                </a:r>
                <a:r>
                  <a:rPr lang="en-US" dirty="0" err="1"/>
                  <a:t>sledeće</a:t>
                </a:r>
                <a:r>
                  <a:rPr lang="en-US" dirty="0"/>
                  <a:t> </a:t>
                </a:r>
                <a:r>
                  <a:rPr lang="en-US" dirty="0" err="1"/>
                  <a:t>dve</a:t>
                </a:r>
                <a:r>
                  <a:rPr lang="en-US" dirty="0"/>
                  <a:t> </a:t>
                </a:r>
                <a:r>
                  <a:rPr lang="en-US" dirty="0" err="1"/>
                  <a:t>tačke</a:t>
                </a:r>
                <a:r>
                  <a:rPr lang="en-US" dirty="0"/>
                  <a:t>: </a:t>
                </a:r>
                <a14:m>
                  <m:oMath xmlns:m="http://schemas.openxmlformats.org/officeDocument/2006/math">
                    <m:d>
                      <m:dPr>
                        <m:ctrlPr>
                          <a:rPr lang="en-US" i="1">
                            <a:latin typeface="Cambria Math" panose="02040503050406030204" pitchFamily="18" charset="0"/>
                          </a:rPr>
                        </m:ctrlPr>
                      </m:dPr>
                      <m:e>
                        <m:r>
                          <a:rPr lang="en-US" i="1">
                            <a:latin typeface="Cambria Math"/>
                          </a:rPr>
                          <m:t>𝑎</m:t>
                        </m:r>
                        <m:r>
                          <a:rPr lang="en-US" i="1">
                            <a:latin typeface="Cambria Math"/>
                          </a:rPr>
                          <m:t>, −1</m:t>
                        </m:r>
                      </m:e>
                    </m:d>
                  </m:oMath>
                </a14:m>
                <a:r>
                  <a:rPr lang="sr-Latn-RS" dirty="0"/>
                  <a:t> i </a:t>
                </a:r>
                <a14:m>
                  <m:oMath xmlns:m="http://schemas.openxmlformats.org/officeDocument/2006/math">
                    <m:d>
                      <m:dPr>
                        <m:ctrlPr>
                          <a:rPr lang="en-US" i="1">
                            <a:latin typeface="Cambria Math" panose="02040503050406030204" pitchFamily="18" charset="0"/>
                          </a:rPr>
                        </m:ctrlPr>
                      </m:dPr>
                      <m:e>
                        <m:r>
                          <a:rPr lang="sr-Latn-RS" i="1">
                            <a:latin typeface="Cambria Math"/>
                          </a:rPr>
                          <m:t>𝑏</m:t>
                        </m:r>
                        <m:r>
                          <a:rPr lang="sr-Latn-RS" i="1">
                            <a:latin typeface="Cambria Math"/>
                          </a:rPr>
                          <m:t>, 1</m:t>
                        </m:r>
                      </m:e>
                    </m:d>
                  </m:oMath>
                </a14:m>
                <a:r>
                  <a:rPr lang="sr-Latn-RS" dirty="0"/>
                  <a:t>. Koeficijenti </a:t>
                </a:r>
                <a14:m>
                  <m:oMath xmlns:m="http://schemas.openxmlformats.org/officeDocument/2006/math">
                    <m:r>
                      <a:rPr lang="sr-Latn-RS" i="1">
                        <a:latin typeface="Cambria Math"/>
                      </a:rPr>
                      <m:t>𝑘</m:t>
                    </m:r>
                  </m:oMath>
                </a14:m>
                <a:r>
                  <a:rPr lang="sr-Latn-RS" dirty="0"/>
                  <a:t> i </a:t>
                </a:r>
                <a14:m>
                  <m:oMath xmlns:m="http://schemas.openxmlformats.org/officeDocument/2006/math">
                    <m:r>
                      <a:rPr lang="sr-Latn-RS" i="1">
                        <a:latin typeface="Cambria Math"/>
                      </a:rPr>
                      <m:t>𝑛</m:t>
                    </m:r>
                  </m:oMath>
                </a14:m>
                <a:r>
                  <a:rPr lang="sr-Latn-RS" dirty="0"/>
                  <a:t> date prave:</a:t>
                </a:r>
              </a:p>
              <a:p>
                <a:pPr marL="0" indent="0">
                  <a:buNone/>
                </a:pPr>
                <a14:m>
                  <m:oMathPara xmlns:m="http://schemas.openxmlformats.org/officeDocument/2006/math">
                    <m:oMathParaPr>
                      <m:jc m:val="centerGroup"/>
                    </m:oMathParaPr>
                    <m:oMath xmlns:m="http://schemas.openxmlformats.org/officeDocument/2006/math">
                      <m:r>
                        <a:rPr lang="sr-Latn-CS" sz="2000" i="1">
                          <a:latin typeface="Cambria Math"/>
                        </a:rPr>
                        <m:t>𝑘</m:t>
                      </m:r>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1+1</m:t>
                          </m:r>
                        </m:num>
                        <m:den>
                          <m:r>
                            <a:rPr lang="sr-Latn-CS" sz="2000" i="1">
                              <a:latin typeface="Cambria Math"/>
                            </a:rPr>
                            <m:t>𝑏</m:t>
                          </m:r>
                          <m:r>
                            <a:rPr lang="sr-Latn-CS" sz="2000" i="1">
                              <a:latin typeface="Cambria Math"/>
                            </a:rPr>
                            <m:t>−</m:t>
                          </m:r>
                          <m:r>
                            <a:rPr lang="sr-Latn-CS" sz="2000" i="1">
                              <a:latin typeface="Cambria Math"/>
                            </a:rPr>
                            <m:t>𝑎</m:t>
                          </m:r>
                        </m:den>
                      </m:f>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2</m:t>
                          </m:r>
                        </m:num>
                        <m:den>
                          <m:r>
                            <a:rPr lang="sr-Latn-CS" sz="2000" i="1">
                              <a:latin typeface="Cambria Math"/>
                            </a:rPr>
                            <m:t>𝑏</m:t>
                          </m:r>
                          <m:r>
                            <a:rPr lang="sr-Latn-CS" sz="2000" i="1">
                              <a:latin typeface="Cambria Math"/>
                            </a:rPr>
                            <m:t>−</m:t>
                          </m:r>
                          <m:r>
                            <a:rPr lang="sr-Latn-CS" sz="2000" i="1">
                              <a:latin typeface="Cambria Math"/>
                            </a:rPr>
                            <m:t>𝑎</m:t>
                          </m:r>
                        </m:den>
                      </m:f>
                      <m:r>
                        <a:rPr lang="sr-Latn-CS" sz="2000" i="1">
                          <a:latin typeface="Cambria Math"/>
                        </a:rPr>
                        <m:t>,  </m:t>
                      </m:r>
                      <m:r>
                        <a:rPr lang="sr-Latn-CS" sz="2000" i="1">
                          <a:latin typeface="Cambria Math"/>
                        </a:rPr>
                        <m:t>𝑛</m:t>
                      </m:r>
                      <m:r>
                        <a:rPr lang="sr-Latn-CS" sz="2000" i="1">
                          <a:latin typeface="Cambria Math"/>
                        </a:rPr>
                        <m:t>=1−</m:t>
                      </m:r>
                      <m:f>
                        <m:fPr>
                          <m:ctrlPr>
                            <a:rPr lang="en-US" sz="2000" i="1">
                              <a:latin typeface="Cambria Math" panose="02040503050406030204" pitchFamily="18" charset="0"/>
                            </a:rPr>
                          </m:ctrlPr>
                        </m:fPr>
                        <m:num>
                          <m:r>
                            <a:rPr lang="sr-Latn-CS" sz="2000" i="1">
                              <a:latin typeface="Cambria Math"/>
                            </a:rPr>
                            <m:t>2</m:t>
                          </m:r>
                        </m:num>
                        <m:den>
                          <m:r>
                            <a:rPr lang="sr-Latn-CS" sz="2000" i="1">
                              <a:latin typeface="Cambria Math"/>
                            </a:rPr>
                            <m:t>𝑏</m:t>
                          </m:r>
                          <m:r>
                            <a:rPr lang="sr-Latn-CS" sz="2000" i="1">
                              <a:latin typeface="Cambria Math"/>
                            </a:rPr>
                            <m:t>−</m:t>
                          </m:r>
                          <m:r>
                            <a:rPr lang="sr-Latn-CS" sz="2000" i="1">
                              <a:latin typeface="Cambria Math"/>
                            </a:rPr>
                            <m:t>𝑎</m:t>
                          </m:r>
                        </m:den>
                      </m:f>
                      <m:r>
                        <a:rPr lang="sr-Latn-CS" sz="2000" i="1">
                          <a:latin typeface="Cambria Math"/>
                        </a:rPr>
                        <m:t>𝑏</m:t>
                      </m:r>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𝑏</m:t>
                          </m:r>
                          <m:r>
                            <a:rPr lang="sr-Latn-CS" sz="2000" i="1">
                              <a:latin typeface="Cambria Math"/>
                            </a:rPr>
                            <m:t>−</m:t>
                          </m:r>
                          <m:r>
                            <a:rPr lang="sr-Latn-CS" sz="2000" i="1">
                              <a:latin typeface="Cambria Math"/>
                            </a:rPr>
                            <m:t>𝑎</m:t>
                          </m:r>
                          <m:r>
                            <a:rPr lang="sr-Latn-CS" sz="2000" i="1">
                              <a:latin typeface="Cambria Math"/>
                            </a:rPr>
                            <m:t>−2</m:t>
                          </m:r>
                          <m:r>
                            <a:rPr lang="sr-Latn-CS" sz="2000" i="1">
                              <a:latin typeface="Cambria Math"/>
                            </a:rPr>
                            <m:t>𝑏</m:t>
                          </m:r>
                        </m:num>
                        <m:den>
                          <m:r>
                            <a:rPr lang="sr-Latn-CS" sz="2000" i="1">
                              <a:latin typeface="Cambria Math"/>
                            </a:rPr>
                            <m:t>𝑏</m:t>
                          </m:r>
                          <m:r>
                            <a:rPr lang="sr-Latn-CS" sz="2000" i="1">
                              <a:latin typeface="Cambria Math"/>
                            </a:rPr>
                            <m:t>−</m:t>
                          </m:r>
                          <m:r>
                            <a:rPr lang="sr-Latn-CS" sz="2000" i="1">
                              <a:latin typeface="Cambria Math"/>
                            </a:rPr>
                            <m:t>𝑎</m:t>
                          </m:r>
                        </m:den>
                      </m:f>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𝑎</m:t>
                          </m:r>
                          <m:r>
                            <a:rPr lang="sr-Latn-CS" sz="2000" i="1">
                              <a:latin typeface="Cambria Math"/>
                            </a:rPr>
                            <m:t>+</m:t>
                          </m:r>
                          <m:r>
                            <a:rPr lang="sr-Latn-CS" sz="2000" i="1">
                              <a:latin typeface="Cambria Math"/>
                            </a:rPr>
                            <m:t>𝑏</m:t>
                          </m:r>
                        </m:num>
                        <m:den>
                          <m:r>
                            <a:rPr lang="sr-Latn-CS" sz="2000" i="1">
                              <a:latin typeface="Cambria Math"/>
                            </a:rPr>
                            <m:t>𝑏</m:t>
                          </m:r>
                          <m:r>
                            <a:rPr lang="sr-Latn-CS" sz="2000" i="1">
                              <a:latin typeface="Cambria Math"/>
                            </a:rPr>
                            <m:t>−</m:t>
                          </m:r>
                          <m:r>
                            <a:rPr lang="sr-Latn-CS" sz="2000" i="1">
                              <a:latin typeface="Cambria Math"/>
                            </a:rPr>
                            <m:t>𝑎</m:t>
                          </m:r>
                        </m:den>
                      </m:f>
                    </m:oMath>
                  </m:oMathPara>
                </a14:m>
                <a:endParaRPr lang="sr-Latn-RS" dirty="0"/>
              </a:p>
              <a:p>
                <a:endParaRPr lang="en-US" dirty="0"/>
              </a:p>
              <a:p>
                <a:r>
                  <a:rPr lang="sr-Latn-RS" dirty="0"/>
                  <a:t>Dakle, uvodimo smenu:</a:t>
                </a:r>
              </a:p>
              <a:p>
                <a:pPr marL="0" indent="0">
                  <a:buNone/>
                </a:pPr>
                <a14:m>
                  <m:oMathPara xmlns:m="http://schemas.openxmlformats.org/officeDocument/2006/math">
                    <m:oMathParaPr>
                      <m:jc m:val="centerGroup"/>
                    </m:oMathParaPr>
                    <m:oMath xmlns:m="http://schemas.openxmlformats.org/officeDocument/2006/math">
                      <m:r>
                        <a:rPr lang="sr-Latn-CS" i="1">
                          <a:latin typeface="Cambria Math"/>
                        </a:rPr>
                        <m:t>𝑡</m:t>
                      </m:r>
                      <m:r>
                        <a:rPr lang="sr-Latn-CS" i="1">
                          <a:latin typeface="Cambria Math"/>
                        </a:rPr>
                        <m:t>=</m:t>
                      </m:r>
                      <m:r>
                        <a:rPr lang="sr-Latn-CS" i="1">
                          <a:latin typeface="Cambria Math"/>
                        </a:rPr>
                        <m:t>𝑘𝑥</m:t>
                      </m:r>
                      <m:r>
                        <a:rPr lang="sr-Latn-CS" i="1">
                          <a:latin typeface="Cambria Math"/>
                        </a:rPr>
                        <m:t>+</m:t>
                      </m:r>
                      <m:r>
                        <a:rPr lang="sr-Latn-CS" i="1">
                          <a:latin typeface="Cambria Math"/>
                        </a:rPr>
                        <m:t>𝑛</m:t>
                      </m:r>
                      <m:r>
                        <a:rPr lang="sr-Latn-CS" i="1">
                          <a:latin typeface="Cambria Math"/>
                        </a:rPr>
                        <m:t>=</m:t>
                      </m:r>
                      <m:f>
                        <m:fPr>
                          <m:ctrlPr>
                            <a:rPr lang="en-US" i="1">
                              <a:latin typeface="Cambria Math" panose="02040503050406030204" pitchFamily="18" charset="0"/>
                            </a:rPr>
                          </m:ctrlPr>
                        </m:fPr>
                        <m:num>
                          <m:r>
                            <a:rPr lang="sr-Latn-CS" i="1">
                              <a:latin typeface="Cambria Math"/>
                            </a:rPr>
                            <m:t>2</m:t>
                          </m:r>
                        </m:num>
                        <m:den>
                          <m:r>
                            <a:rPr lang="sr-Latn-CS" i="1">
                              <a:latin typeface="Cambria Math"/>
                            </a:rPr>
                            <m:t>𝑏</m:t>
                          </m:r>
                          <m:r>
                            <a:rPr lang="sr-Latn-CS" i="1">
                              <a:latin typeface="Cambria Math"/>
                            </a:rPr>
                            <m:t>−</m:t>
                          </m:r>
                          <m:r>
                            <a:rPr lang="sr-Latn-CS" i="1">
                              <a:latin typeface="Cambria Math"/>
                            </a:rPr>
                            <m:t>𝑎</m:t>
                          </m:r>
                        </m:den>
                      </m:f>
                      <m:r>
                        <a:rPr lang="sr-Latn-CS" i="1">
                          <a:latin typeface="Cambria Math"/>
                        </a:rPr>
                        <m:t>𝑥</m:t>
                      </m:r>
                      <m:r>
                        <a:rPr lang="sr-Latn-CS" i="1">
                          <a:latin typeface="Cambria Math"/>
                        </a:rPr>
                        <m:t>−</m:t>
                      </m:r>
                      <m:f>
                        <m:fPr>
                          <m:ctrlPr>
                            <a:rPr lang="en-US" i="1">
                              <a:latin typeface="Cambria Math" panose="02040503050406030204" pitchFamily="18" charset="0"/>
                            </a:rPr>
                          </m:ctrlPr>
                        </m:fPr>
                        <m:num>
                          <m:r>
                            <a:rPr lang="sr-Latn-CS" i="1">
                              <a:latin typeface="Cambria Math"/>
                            </a:rPr>
                            <m:t>𝑎</m:t>
                          </m:r>
                          <m:r>
                            <a:rPr lang="sr-Latn-CS" i="1">
                              <a:latin typeface="Cambria Math"/>
                            </a:rPr>
                            <m:t>+</m:t>
                          </m:r>
                          <m:r>
                            <a:rPr lang="sr-Latn-CS" i="1">
                              <a:latin typeface="Cambria Math"/>
                            </a:rPr>
                            <m:t>𝑏</m:t>
                          </m:r>
                        </m:num>
                        <m:den>
                          <m:r>
                            <a:rPr lang="sr-Latn-CS" i="1">
                              <a:latin typeface="Cambria Math"/>
                            </a:rPr>
                            <m:t>𝑏</m:t>
                          </m:r>
                          <m:r>
                            <a:rPr lang="sr-Latn-CS" i="1">
                              <a:latin typeface="Cambria Math"/>
                            </a:rPr>
                            <m:t>−</m:t>
                          </m:r>
                          <m:r>
                            <a:rPr lang="sr-Latn-CS" i="1">
                              <a:latin typeface="Cambria Math"/>
                            </a:rPr>
                            <m:t>𝑎</m:t>
                          </m:r>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667" t="-1625" r="-815"/>
                </a:stretch>
              </a:blipFill>
            </p:spPr>
            <p:txBody>
              <a:bodyPr/>
              <a:lstStyle/>
              <a:p>
                <a:r>
                  <a:rPr lang="en-US">
                    <a:noFill/>
                  </a:rPr>
                  <a:t> </a:t>
                </a:r>
              </a:p>
            </p:txBody>
          </p:sp>
        </mc:Fallback>
      </mc:AlternateContent>
    </p:spTree>
    <p:extLst>
      <p:ext uri="{BB962C8B-B14F-4D97-AF65-F5344CB8AC3E}">
        <p14:creationId xmlns:p14="http://schemas.microsoft.com/office/powerpoint/2010/main" val="209389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Izvo</a:t>
            </a:r>
            <a:r>
              <a:rPr lang="sr-Latn-RS" dirty="0"/>
              <a:t>đenje formule - </a:t>
            </a:r>
            <a:r>
              <a:rPr lang="sr-Latn-RS" altLang="sr-Latn-RS" dirty="0"/>
              <a:t>Simpsonova 1/3 metoda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sr-Latn-CS" i="1" smtClean="0">
                          <a:latin typeface="Cambria Math"/>
                        </a:rPr>
                        <m:t>𝑡</m:t>
                      </m:r>
                      <m:r>
                        <a:rPr lang="sr-Latn-CS" i="1" smtClean="0">
                          <a:latin typeface="Cambria Math"/>
                        </a:rPr>
                        <m:t>=</m:t>
                      </m:r>
                      <m:r>
                        <a:rPr lang="sr-Latn-CS" i="1" smtClean="0">
                          <a:latin typeface="Cambria Math"/>
                        </a:rPr>
                        <m:t>𝑘𝑥</m:t>
                      </m:r>
                      <m:r>
                        <a:rPr lang="sr-Latn-CS" i="1" smtClean="0">
                          <a:latin typeface="Cambria Math"/>
                        </a:rPr>
                        <m:t>+</m:t>
                      </m:r>
                      <m:r>
                        <a:rPr lang="sr-Latn-CS" i="1" smtClean="0">
                          <a:latin typeface="Cambria Math"/>
                        </a:rPr>
                        <m:t>𝑛</m:t>
                      </m:r>
                      <m:r>
                        <a:rPr lang="sr-Latn-CS" i="1" smtClean="0">
                          <a:latin typeface="Cambria Math"/>
                        </a:rPr>
                        <m:t>=</m:t>
                      </m:r>
                      <m:f>
                        <m:fPr>
                          <m:ctrlPr>
                            <a:rPr lang="en-US" i="1">
                              <a:latin typeface="Cambria Math" panose="02040503050406030204" pitchFamily="18" charset="0"/>
                            </a:rPr>
                          </m:ctrlPr>
                        </m:fPr>
                        <m:num>
                          <m:r>
                            <a:rPr lang="sr-Latn-CS" i="1">
                              <a:latin typeface="Cambria Math"/>
                            </a:rPr>
                            <m:t>2</m:t>
                          </m:r>
                        </m:num>
                        <m:den>
                          <m:r>
                            <a:rPr lang="sr-Latn-CS" i="1">
                              <a:latin typeface="Cambria Math"/>
                            </a:rPr>
                            <m:t>𝑏</m:t>
                          </m:r>
                          <m:r>
                            <a:rPr lang="sr-Latn-CS" i="1">
                              <a:latin typeface="Cambria Math"/>
                            </a:rPr>
                            <m:t>−</m:t>
                          </m:r>
                          <m:r>
                            <a:rPr lang="sr-Latn-CS" i="1">
                              <a:latin typeface="Cambria Math"/>
                            </a:rPr>
                            <m:t>𝑎</m:t>
                          </m:r>
                        </m:den>
                      </m:f>
                      <m:r>
                        <a:rPr lang="sr-Latn-CS" i="1">
                          <a:latin typeface="Cambria Math"/>
                        </a:rPr>
                        <m:t>𝑥</m:t>
                      </m:r>
                      <m:r>
                        <a:rPr lang="sr-Latn-CS" i="1">
                          <a:latin typeface="Cambria Math"/>
                        </a:rPr>
                        <m:t>−</m:t>
                      </m:r>
                      <m:f>
                        <m:fPr>
                          <m:ctrlPr>
                            <a:rPr lang="en-US" i="1">
                              <a:latin typeface="Cambria Math" panose="02040503050406030204" pitchFamily="18" charset="0"/>
                            </a:rPr>
                          </m:ctrlPr>
                        </m:fPr>
                        <m:num>
                          <m:r>
                            <a:rPr lang="sr-Latn-CS" i="1">
                              <a:latin typeface="Cambria Math"/>
                            </a:rPr>
                            <m:t>𝑎</m:t>
                          </m:r>
                          <m:r>
                            <a:rPr lang="sr-Latn-CS" i="1">
                              <a:latin typeface="Cambria Math"/>
                            </a:rPr>
                            <m:t>+</m:t>
                          </m:r>
                          <m:r>
                            <a:rPr lang="sr-Latn-CS" i="1">
                              <a:latin typeface="Cambria Math"/>
                            </a:rPr>
                            <m:t>𝑏</m:t>
                          </m:r>
                        </m:num>
                        <m:den>
                          <m:r>
                            <a:rPr lang="sr-Latn-CS" i="1">
                              <a:latin typeface="Cambria Math"/>
                            </a:rPr>
                            <m:t>𝑏</m:t>
                          </m:r>
                          <m:r>
                            <a:rPr lang="sr-Latn-CS" i="1">
                              <a:latin typeface="Cambria Math"/>
                            </a:rPr>
                            <m:t>−</m:t>
                          </m:r>
                          <m:r>
                            <a:rPr lang="sr-Latn-CS" i="1">
                              <a:latin typeface="Cambria Math"/>
                            </a:rPr>
                            <m:t>𝑎</m:t>
                          </m:r>
                        </m:den>
                      </m:f>
                    </m:oMath>
                  </m:oMathPara>
                </a14:m>
                <a:endParaRPr lang="sr-Latn-RS" dirty="0"/>
              </a:p>
              <a:p>
                <a:pPr marL="0" indent="0">
                  <a:buNone/>
                </a:pPr>
                <a:r>
                  <a:rPr lang="sr-Latn-RS" dirty="0"/>
                  <a:t>gde je: </a:t>
                </a:r>
              </a:p>
              <a:p>
                <a:pPr marL="0" indent="0">
                  <a:buNone/>
                </a:pPr>
                <a:endParaRPr lang="sr-Latn-RS" dirty="0"/>
              </a:p>
              <a:p>
                <a:pPr marL="0"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0</m:t>
                          </m:r>
                        </m:sub>
                      </m:sSub>
                      <m:r>
                        <a:rPr lang="sr-Latn-CS" sz="2000" i="1">
                          <a:latin typeface="Cambria Math"/>
                        </a:rPr>
                        <m:t>=</m:t>
                      </m:r>
                      <m:r>
                        <a:rPr lang="sr-Latn-CS" sz="2000" i="1">
                          <a:latin typeface="Cambria Math"/>
                        </a:rPr>
                        <m:t>𝑎</m:t>
                      </m:r>
                      <m:r>
                        <a:rPr lang="sr-Latn-CS" sz="2000" i="1">
                          <a:latin typeface="Cambria Math"/>
                        </a:rPr>
                        <m:t>,  </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1</m:t>
                          </m:r>
                        </m:sub>
                      </m:sSub>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𝑎</m:t>
                          </m:r>
                          <m:r>
                            <a:rPr lang="sr-Latn-CS" sz="2000" i="1">
                              <a:latin typeface="Cambria Math"/>
                            </a:rPr>
                            <m:t>+</m:t>
                          </m:r>
                          <m:r>
                            <a:rPr lang="sr-Latn-CS" sz="2000" i="1">
                              <a:latin typeface="Cambria Math"/>
                            </a:rPr>
                            <m:t>𝑏</m:t>
                          </m:r>
                        </m:num>
                        <m:den>
                          <m:r>
                            <a:rPr lang="sr-Latn-CS" sz="2000" i="1">
                              <a:latin typeface="Cambria Math"/>
                            </a:rPr>
                            <m:t>2</m:t>
                          </m:r>
                        </m:den>
                      </m:f>
                      <m:r>
                        <a:rPr lang="sr-Latn-CS" sz="2000" i="1">
                          <a:latin typeface="Cambria Math"/>
                        </a:rPr>
                        <m:t>,  </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2</m:t>
                          </m:r>
                        </m:sub>
                      </m:sSub>
                      <m:r>
                        <a:rPr lang="sr-Latn-CS" sz="2000" i="1">
                          <a:latin typeface="Cambria Math"/>
                        </a:rPr>
                        <m:t>=</m:t>
                      </m:r>
                      <m:r>
                        <a:rPr lang="sr-Latn-CS" sz="2000" i="1">
                          <a:latin typeface="Cambria Math"/>
                        </a:rPr>
                        <m:t>𝑏</m:t>
                      </m:r>
                      <m:r>
                        <a:rPr lang="sr-Latn-CS" sz="2000" i="1">
                          <a:latin typeface="Cambria Math"/>
                        </a:rPr>
                        <m:t>     </m:t>
                      </m:r>
                      <m:r>
                        <a:rPr lang="sr-Latn-CS" sz="2000" i="1">
                          <a:latin typeface="Cambria Math"/>
                        </a:rPr>
                        <m:t>𝑖</m:t>
                      </m:r>
                      <m:r>
                        <a:rPr lang="sr-Latn-CS" sz="2000" i="1">
                          <a:latin typeface="Cambria Math"/>
                        </a:rPr>
                        <m:t>     2</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1</m:t>
                          </m:r>
                        </m:sub>
                      </m:sSub>
                      <m:r>
                        <a:rPr lang="sr-Latn-CS" sz="2000" i="1">
                          <a:latin typeface="Cambria Math"/>
                        </a:rPr>
                        <m:t>=2</m:t>
                      </m:r>
                      <m:f>
                        <m:fPr>
                          <m:ctrlPr>
                            <a:rPr lang="en-US" sz="2000" i="1">
                              <a:latin typeface="Cambria Math" panose="02040503050406030204" pitchFamily="18" charset="0"/>
                            </a:rPr>
                          </m:ctrlPr>
                        </m:fPr>
                        <m:num>
                          <m:r>
                            <a:rPr lang="sr-Latn-CS" sz="2000" i="1">
                              <a:latin typeface="Cambria Math"/>
                            </a:rPr>
                            <m:t>𝑎</m:t>
                          </m:r>
                          <m:r>
                            <a:rPr lang="sr-Latn-CS" sz="2000" i="1">
                              <a:latin typeface="Cambria Math"/>
                            </a:rPr>
                            <m:t>+</m:t>
                          </m:r>
                          <m:r>
                            <a:rPr lang="sr-Latn-CS" sz="2000" i="1">
                              <a:latin typeface="Cambria Math"/>
                            </a:rPr>
                            <m:t>𝑏</m:t>
                          </m:r>
                        </m:num>
                        <m:den>
                          <m:r>
                            <a:rPr lang="sr-Latn-CS" sz="2000" i="1">
                              <a:latin typeface="Cambria Math"/>
                            </a:rPr>
                            <m:t>2</m:t>
                          </m:r>
                        </m:den>
                      </m:f>
                      <m:r>
                        <a:rPr lang="sr-Latn-CS" sz="2000" i="1">
                          <a:latin typeface="Cambria Math"/>
                        </a:rPr>
                        <m:t>=</m:t>
                      </m:r>
                      <m:r>
                        <a:rPr lang="sr-Latn-CS" sz="2000" i="1">
                          <a:latin typeface="Cambria Math"/>
                        </a:rPr>
                        <m:t>𝑎</m:t>
                      </m:r>
                      <m:r>
                        <a:rPr lang="sr-Latn-CS" sz="2000" i="1">
                          <a:latin typeface="Cambria Math"/>
                        </a:rPr>
                        <m:t>+</m:t>
                      </m:r>
                      <m:r>
                        <a:rPr lang="sr-Latn-CS" sz="2000" i="1">
                          <a:latin typeface="Cambria Math"/>
                        </a:rPr>
                        <m:t>𝑏</m:t>
                      </m:r>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0</m:t>
                          </m:r>
                        </m:sub>
                      </m:sSub>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2</m:t>
                          </m:r>
                        </m:sub>
                      </m:sSub>
                      <m:r>
                        <a:rPr lang="sr-Latn-CS" sz="2000" i="1">
                          <a:latin typeface="Cambria Math"/>
                        </a:rPr>
                        <m:t>,</m:t>
                      </m:r>
                    </m:oMath>
                  </m:oMathPara>
                </a14:m>
                <a:endParaRPr lang="sr-Latn-RS" sz="2000" dirty="0"/>
              </a:p>
              <a:p>
                <a:pPr marL="0" indent="0">
                  <a:buNone/>
                </a:pPr>
                <a:endParaRPr lang="sr-Latn-RS" sz="2000" dirty="0"/>
              </a:p>
              <a:p>
                <a:pPr marL="0" indent="0">
                  <a:buNone/>
                </a:pPr>
                <a:r>
                  <a:rPr lang="sr-Latn-RS" sz="2000" dirty="0"/>
                  <a:t>Tako da je smena:</a:t>
                </a:r>
              </a:p>
              <a:p>
                <a:pPr marL="0" indent="0">
                  <a:buNone/>
                </a:pPr>
                <a14:m>
                  <m:oMathPara xmlns:m="http://schemas.openxmlformats.org/officeDocument/2006/math">
                    <m:oMathParaPr>
                      <m:jc m:val="centerGroup"/>
                    </m:oMathParaPr>
                    <m:oMath xmlns:m="http://schemas.openxmlformats.org/officeDocument/2006/math">
                      <m:r>
                        <a:rPr lang="sr-Latn-CS" sz="2000" i="1">
                          <a:latin typeface="Cambria Math"/>
                        </a:rPr>
                        <m:t>𝑡</m:t>
                      </m:r>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2</m:t>
                          </m:r>
                        </m:num>
                        <m:den>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2</m:t>
                              </m:r>
                            </m:sub>
                          </m:sSub>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0</m:t>
                              </m:r>
                            </m:sub>
                          </m:sSub>
                        </m:den>
                      </m:f>
                      <m:r>
                        <a:rPr lang="sr-Latn-CS" sz="2000" i="1">
                          <a:latin typeface="Cambria Math"/>
                        </a:rPr>
                        <m:t>𝑥</m:t>
                      </m:r>
                      <m:r>
                        <a:rPr lang="sr-Latn-CS" sz="2000" i="1">
                          <a:latin typeface="Cambria Math"/>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0</m:t>
                              </m:r>
                            </m:sub>
                          </m:sSub>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2</m:t>
                              </m:r>
                            </m:sub>
                          </m:sSub>
                        </m:num>
                        <m:den>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2</m:t>
                              </m:r>
                            </m:sub>
                          </m:sSub>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0</m:t>
                              </m:r>
                            </m:sub>
                          </m:sSub>
                        </m:den>
                      </m:f>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2</m:t>
                          </m:r>
                        </m:num>
                        <m:den>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2</m:t>
                              </m:r>
                            </m:sub>
                          </m:sSub>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0</m:t>
                              </m:r>
                            </m:sub>
                          </m:sSub>
                        </m:den>
                      </m:f>
                      <m:r>
                        <a:rPr lang="sr-Latn-CS" sz="2000" i="1">
                          <a:latin typeface="Cambria Math"/>
                        </a:rPr>
                        <m:t>𝑥</m:t>
                      </m:r>
                      <m:r>
                        <a:rPr lang="sr-Latn-CS" sz="2000" i="1">
                          <a:latin typeface="Cambria Math"/>
                        </a:rPr>
                        <m:t>−</m:t>
                      </m:r>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sr-Latn-CS" sz="2000" i="1">
                                  <a:latin typeface="Cambria Math"/>
                                </a:rPr>
                                <m:t>2</m:t>
                              </m:r>
                              <m:r>
                                <a:rPr lang="sr-Latn-CS" sz="2000" i="1">
                                  <a:latin typeface="Cambria Math"/>
                                </a:rPr>
                                <m:t>𝑥</m:t>
                              </m:r>
                            </m:e>
                            <m:sub>
                              <m:r>
                                <a:rPr lang="sr-Latn-CS" sz="2000" i="1">
                                  <a:latin typeface="Cambria Math"/>
                                </a:rPr>
                                <m:t>1</m:t>
                              </m:r>
                            </m:sub>
                          </m:sSub>
                        </m:num>
                        <m:den>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2</m:t>
                              </m:r>
                            </m:sub>
                          </m:sSub>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0</m:t>
                              </m:r>
                            </m:sub>
                          </m:sSub>
                        </m:den>
                      </m:f>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2</m:t>
                          </m:r>
                          <m:d>
                            <m:dPr>
                              <m:ctrlPr>
                                <a:rPr lang="en-US" sz="2000" i="1">
                                  <a:latin typeface="Cambria Math" panose="02040503050406030204" pitchFamily="18" charset="0"/>
                                </a:rPr>
                              </m:ctrlPr>
                            </m:dPr>
                            <m:e>
                              <m:r>
                                <a:rPr lang="sr-Latn-CS" sz="2000" i="1">
                                  <a:latin typeface="Cambria Math"/>
                                </a:rPr>
                                <m:t>𝑥</m:t>
                              </m:r>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1</m:t>
                                  </m:r>
                                </m:sub>
                              </m:sSub>
                            </m:e>
                          </m:d>
                        </m:num>
                        <m:den>
                          <m:r>
                            <a:rPr lang="sr-Latn-CS" sz="2000" i="1">
                              <a:latin typeface="Cambria Math"/>
                            </a:rPr>
                            <m:t>2</m:t>
                          </m:r>
                          <m:r>
                            <a:rPr lang="sr-Latn-CS" sz="2000" i="1">
                              <a:latin typeface="Cambria Math"/>
                            </a:rPr>
                            <m:t>h</m:t>
                          </m:r>
                        </m:den>
                      </m:f>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𝑥</m:t>
                          </m:r>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1</m:t>
                              </m:r>
                            </m:sub>
                          </m:sSub>
                        </m:num>
                        <m:den>
                          <m:r>
                            <a:rPr lang="sr-Latn-CS" sz="2000" i="1">
                              <a:latin typeface="Cambria Math"/>
                            </a:rPr>
                            <m:t>h</m:t>
                          </m:r>
                        </m:den>
                      </m:f>
                    </m:oMath>
                  </m:oMathPara>
                </a14:m>
                <a:endParaRPr lang="sr-Latn-RS" sz="2000" dirty="0"/>
              </a:p>
              <a:p>
                <a:pPr marL="0" indent="0">
                  <a:buNone/>
                </a:pPr>
                <a:endParaRPr lang="sr-Latn-RS" sz="2000" dirty="0"/>
              </a:p>
              <a:p>
                <a:pPr marL="0" indent="0">
                  <a:buNone/>
                </a:pPr>
                <a14:m>
                  <m:oMathPara xmlns:m="http://schemas.openxmlformats.org/officeDocument/2006/math">
                    <m:oMathParaPr>
                      <m:jc m:val="centerGroup"/>
                    </m:oMathParaPr>
                    <m:oMath xmlns:m="http://schemas.openxmlformats.org/officeDocument/2006/math">
                      <m:r>
                        <a:rPr lang="sr-Latn-CS" sz="2000" i="1">
                          <a:latin typeface="Cambria Math"/>
                        </a:rPr>
                        <m:t>𝑡</m:t>
                      </m:r>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𝑥</m:t>
                          </m:r>
                          <m:r>
                            <a:rPr lang="sr-Latn-CS" sz="2000" i="1">
                              <a:latin typeface="Cambria Math"/>
                            </a:rPr>
                            <m:t>−</m:t>
                          </m:r>
                          <m:sSub>
                            <m:sSubPr>
                              <m:ctrlPr>
                                <a:rPr lang="en-US" sz="2000" i="1">
                                  <a:latin typeface="Cambria Math" panose="02040503050406030204" pitchFamily="18" charset="0"/>
                                </a:rPr>
                              </m:ctrlPr>
                            </m:sSubPr>
                            <m:e>
                              <m:r>
                                <a:rPr lang="sr-Latn-CS" sz="2000" i="1">
                                  <a:latin typeface="Cambria Math"/>
                                </a:rPr>
                                <m:t>𝑥</m:t>
                              </m:r>
                            </m:e>
                            <m:sub>
                              <m:r>
                                <a:rPr lang="sr-Latn-CS" sz="2000" i="1">
                                  <a:latin typeface="Cambria Math"/>
                                </a:rPr>
                                <m:t>1</m:t>
                              </m:r>
                            </m:sub>
                          </m:sSub>
                        </m:num>
                        <m:den>
                          <m:r>
                            <a:rPr lang="sr-Latn-CS" sz="2000" i="1">
                              <a:latin typeface="Cambria Math"/>
                            </a:rPr>
                            <m:t>h</m:t>
                          </m:r>
                        </m:den>
                      </m:f>
                      <m:r>
                        <a:rPr lang="sr-Latn-CS" sz="2000" i="1">
                          <a:latin typeface="Cambria Math"/>
                        </a:rPr>
                        <m:t>⇒</m:t>
                      </m:r>
                      <m:r>
                        <a:rPr lang="sr-Latn-CS" sz="2000" i="1">
                          <a:latin typeface="Cambria Math"/>
                        </a:rPr>
                        <m:t>𝑑𝑡</m:t>
                      </m:r>
                      <m:r>
                        <a:rPr lang="sr-Latn-CS" sz="2000" i="1">
                          <a:latin typeface="Cambria Math"/>
                        </a:rPr>
                        <m:t>=</m:t>
                      </m:r>
                      <m:f>
                        <m:fPr>
                          <m:ctrlPr>
                            <a:rPr lang="en-US" sz="2000" i="1">
                              <a:latin typeface="Cambria Math" panose="02040503050406030204" pitchFamily="18" charset="0"/>
                            </a:rPr>
                          </m:ctrlPr>
                        </m:fPr>
                        <m:num>
                          <m:r>
                            <a:rPr lang="sr-Latn-CS" sz="2000" i="1">
                              <a:latin typeface="Cambria Math"/>
                            </a:rPr>
                            <m:t>𝑑𝑥</m:t>
                          </m:r>
                        </m:num>
                        <m:den>
                          <m:r>
                            <a:rPr lang="sr-Latn-CS" sz="2000" i="1">
                              <a:latin typeface="Cambria Math"/>
                            </a:rPr>
                            <m:t>h</m:t>
                          </m:r>
                        </m:den>
                      </m:f>
                    </m:oMath>
                  </m:oMathPara>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111"/>
                </a:stretch>
              </a:blipFill>
            </p:spPr>
            <p:txBody>
              <a:bodyPr/>
              <a:lstStyle/>
              <a:p>
                <a:r>
                  <a:rPr lang="en-US">
                    <a:noFill/>
                  </a:rPr>
                  <a:t> </a:t>
                </a:r>
              </a:p>
            </p:txBody>
          </p:sp>
        </mc:Fallback>
      </mc:AlternateContent>
    </p:spTree>
    <p:extLst>
      <p:ext uri="{BB962C8B-B14F-4D97-AF65-F5344CB8AC3E}">
        <p14:creationId xmlns:p14="http://schemas.microsoft.com/office/powerpoint/2010/main" val="349380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Effect transition="in" filter="fade">
                                      <p:cBhvr>
                                        <p:cTn id="1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Izvo</a:t>
            </a:r>
            <a:r>
              <a:rPr lang="sr-Latn-RS" dirty="0"/>
              <a:t>đenje formule - </a:t>
            </a:r>
            <a:r>
              <a:rPr lang="sr-Latn-RS" altLang="sr-Latn-RS" dirty="0"/>
              <a:t>Simpsonova 1/3 metoda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Primenjujemo </a:t>
                </a:r>
                <a:r>
                  <a:rPr lang="en-US" dirty="0" err="1"/>
                  <a:t>smenu</a:t>
                </a:r>
                <a:r>
                  <a:rPr lang="en-US" dirty="0"/>
                  <a:t> </a:t>
                </a:r>
                <a:r>
                  <a:rPr lang="en-US" dirty="0" err="1"/>
                  <a:t>na</a:t>
                </a:r>
                <a:r>
                  <a:rPr lang="en-US" dirty="0"/>
                  <a:t> </a:t>
                </a:r>
                <a:r>
                  <a:rPr lang="en-US" dirty="0" err="1"/>
                  <a:t>svaki</a:t>
                </a:r>
                <a:r>
                  <a:rPr lang="en-US" dirty="0"/>
                  <a:t> od </a:t>
                </a:r>
                <a:r>
                  <a:rPr lang="en-US" dirty="0" err="1"/>
                  <a:t>sabiraka</a:t>
                </a:r>
                <a:r>
                  <a:rPr lang="en-US" dirty="0"/>
                  <a:t> </a:t>
                </a:r>
                <a:r>
                  <a:rPr lang="en-US" dirty="0" err="1"/>
                  <a:t>polinoma</a:t>
                </a: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a:rPr>
                          <m:t>𝐿</m:t>
                        </m:r>
                      </m:e>
                      <m:sub>
                        <m:r>
                          <a:rPr lang="en-US" b="0" i="1" smtClean="0">
                            <a:latin typeface="Cambria Math"/>
                          </a:rPr>
                          <m:t>2</m:t>
                        </m:r>
                      </m:sub>
                    </m:sSub>
                    <m:d>
                      <m:dPr>
                        <m:ctrlPr>
                          <a:rPr lang="en-US" b="0" i="1" smtClean="0">
                            <a:latin typeface="Cambria Math" panose="02040503050406030204" pitchFamily="18" charset="0"/>
                          </a:rPr>
                        </m:ctrlPr>
                      </m:dPr>
                      <m:e>
                        <m:r>
                          <a:rPr lang="en-US" b="0" i="1" smtClean="0">
                            <a:latin typeface="Cambria Math"/>
                          </a:rPr>
                          <m:t>𝑥</m:t>
                        </m:r>
                      </m:e>
                    </m:d>
                  </m:oMath>
                </a14:m>
                <a:r>
                  <a:rPr lang="en-US" dirty="0"/>
                  <a:t>:</a:t>
                </a:r>
              </a:p>
              <a:p>
                <a:endParaRPr lang="en-US" dirty="0"/>
              </a:p>
              <a:p>
                <a:pPr marL="0" indent="0">
                  <a:buNone/>
                </a:pPr>
                <a14:m>
                  <m:oMathPara xmlns:m="http://schemas.openxmlformats.org/officeDocument/2006/math">
                    <m:oMathParaPr>
                      <m:jc m:val="centerGroup"/>
                    </m:oMathParaPr>
                    <m:oMath xmlns:m="http://schemas.openxmlformats.org/officeDocument/2006/math">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e>
                          </m:d>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2</m:t>
                                  </m:r>
                                </m:sub>
                              </m:sSub>
                            </m:e>
                          </m:d>
                        </m:num>
                        <m:den>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0</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e>
                          </m:d>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0</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2</m:t>
                                  </m:r>
                                </m:sub>
                              </m:sSub>
                            </m:e>
                          </m:d>
                        </m:den>
                      </m:f>
                      <m:r>
                        <m:rPr>
                          <m:aln/>
                        </m:rPr>
                        <a:rPr lang="sr-Latn-RS" sz="1800">
                          <a:latin typeface="Cambria Math"/>
                        </a:rPr>
                        <m:t>=</m:t>
                      </m:r>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e>
                          </m:d>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r>
                                <a:rPr lang="sr-Latn-RS" sz="1800">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r>
                                <a:rPr lang="sr-Latn-RS" sz="1800">
                                  <a:latin typeface="Cambria Math"/>
                                </a:rPr>
                                <m:t>+</m:t>
                              </m:r>
                              <m:r>
                                <a:rPr lang="sr-Latn-RS" sz="1800" i="1">
                                  <a:latin typeface="Cambria Math"/>
                                </a:rPr>
                                <m:t>h</m:t>
                              </m:r>
                              <m:r>
                                <a:rPr lang="sr-Latn-RS" sz="1800">
                                  <a:latin typeface="Cambria Math"/>
                                </a:rPr>
                                <m:t>)</m:t>
                              </m:r>
                            </m:e>
                          </m:d>
                        </m:num>
                        <m:den>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0</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e>
                          </m:d>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0</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2</m:t>
                                  </m:r>
                                </m:sub>
                              </m:sSub>
                            </m:e>
                          </m:d>
                        </m:den>
                      </m:f>
                      <m:r>
                        <a:rPr lang="sr-Latn-RS" sz="1800">
                          <a:latin typeface="Cambria Math"/>
                        </a:rPr>
                        <m:t>=</m:t>
                      </m:r>
                      <m:f>
                        <m:fPr>
                          <m:ctrlPr>
                            <a:rPr lang="en-US" sz="1800" i="1">
                              <a:latin typeface="Cambria Math" panose="02040503050406030204" pitchFamily="18" charset="0"/>
                            </a:rPr>
                          </m:ctrlPr>
                        </m:fPr>
                        <m:num>
                          <m:r>
                            <a:rPr lang="sr-Latn-RS" sz="1800" i="1">
                              <a:latin typeface="Cambria Math"/>
                            </a:rPr>
                            <m:t>𝑡h</m:t>
                          </m:r>
                          <m:d>
                            <m:dPr>
                              <m:ctrlPr>
                                <a:rPr lang="en-US" sz="1800" i="1">
                                  <a:latin typeface="Cambria Math" panose="02040503050406030204" pitchFamily="18" charset="0"/>
                                </a:rPr>
                              </m:ctrlPr>
                            </m:dPr>
                            <m:e>
                              <m:r>
                                <a:rPr lang="sr-Latn-RS" sz="1800" i="1">
                                  <a:latin typeface="Cambria Math"/>
                                </a:rPr>
                                <m:t>𝑡h</m:t>
                              </m:r>
                              <m:r>
                                <a:rPr lang="sr-Latn-RS" sz="1800" i="1">
                                  <a:latin typeface="Cambria Math"/>
                                </a:rPr>
                                <m:t>−</m:t>
                              </m:r>
                              <m:r>
                                <a:rPr lang="sr-Latn-RS" sz="1800" i="1">
                                  <a:latin typeface="Cambria Math"/>
                                </a:rPr>
                                <m:t>h</m:t>
                              </m:r>
                            </m:e>
                          </m:d>
                        </m:num>
                        <m:den>
                          <m:d>
                            <m:dPr>
                              <m:ctrlPr>
                                <a:rPr lang="en-US" sz="1800" i="1">
                                  <a:latin typeface="Cambria Math" panose="02040503050406030204" pitchFamily="18" charset="0"/>
                                </a:rPr>
                              </m:ctrlPr>
                            </m:dPr>
                            <m:e>
                              <m:r>
                                <a:rPr lang="sr-Latn-RS" sz="1800" i="1">
                                  <a:latin typeface="Cambria Math"/>
                                </a:rPr>
                                <m:t>−</m:t>
                              </m:r>
                              <m:r>
                                <a:rPr lang="sr-Latn-RS" sz="1800" i="1">
                                  <a:latin typeface="Cambria Math"/>
                                </a:rPr>
                                <m:t>h</m:t>
                              </m:r>
                            </m:e>
                          </m:d>
                          <m:d>
                            <m:dPr>
                              <m:ctrlPr>
                                <a:rPr lang="en-US" sz="1800" i="1">
                                  <a:latin typeface="Cambria Math" panose="02040503050406030204" pitchFamily="18" charset="0"/>
                                </a:rPr>
                              </m:ctrlPr>
                            </m:dPr>
                            <m:e>
                              <m:r>
                                <a:rPr lang="sr-Latn-RS" sz="1800" i="1">
                                  <a:latin typeface="Cambria Math"/>
                                </a:rPr>
                                <m:t>−</m:t>
                              </m:r>
                              <m:r>
                                <a:rPr lang="sr-Latn-RS" sz="1800">
                                  <a:latin typeface="Cambria Math"/>
                                </a:rPr>
                                <m:t>2</m:t>
                              </m:r>
                              <m:r>
                                <a:rPr lang="sr-Latn-RS" sz="1800" i="1">
                                  <a:latin typeface="Cambria Math"/>
                                </a:rPr>
                                <m:t>h</m:t>
                              </m:r>
                            </m:e>
                          </m:d>
                        </m:den>
                      </m:f>
                      <m:r>
                        <a:rPr lang="sr-Latn-RS" sz="1800">
                          <a:latin typeface="Cambria Math"/>
                        </a:rPr>
                        <m:t>=</m:t>
                      </m:r>
                      <m:f>
                        <m:fPr>
                          <m:ctrlPr>
                            <a:rPr lang="en-US" sz="1800" i="1">
                              <a:latin typeface="Cambria Math" panose="02040503050406030204" pitchFamily="18" charset="0"/>
                            </a:rPr>
                          </m:ctrlPr>
                        </m:fPr>
                        <m:num>
                          <m:r>
                            <a:rPr lang="sr-Latn-RS" sz="1800" i="1">
                              <a:latin typeface="Cambria Math"/>
                            </a:rPr>
                            <m:t>𝑡</m:t>
                          </m:r>
                          <m:d>
                            <m:dPr>
                              <m:ctrlPr>
                                <a:rPr lang="en-US" sz="1800" i="1">
                                  <a:latin typeface="Cambria Math" panose="02040503050406030204" pitchFamily="18" charset="0"/>
                                </a:rPr>
                              </m:ctrlPr>
                            </m:dPr>
                            <m:e>
                              <m:r>
                                <a:rPr lang="sr-Latn-RS" sz="1800" i="1">
                                  <a:latin typeface="Cambria Math"/>
                                </a:rPr>
                                <m:t>𝑡</m:t>
                              </m:r>
                              <m:r>
                                <a:rPr lang="sr-Latn-RS" sz="1800" i="1">
                                  <a:latin typeface="Cambria Math"/>
                                </a:rPr>
                                <m:t>−</m:t>
                              </m:r>
                              <m:r>
                                <a:rPr lang="sr-Latn-RS" sz="1800">
                                  <a:latin typeface="Cambria Math"/>
                                </a:rPr>
                                <m:t>1</m:t>
                              </m:r>
                            </m:e>
                          </m:d>
                        </m:num>
                        <m:den>
                          <m:r>
                            <a:rPr lang="sr-Latn-RS" sz="1800">
                              <a:latin typeface="Cambria Math"/>
                            </a:rPr>
                            <m:t>2</m:t>
                          </m:r>
                        </m:den>
                      </m:f>
                      <m:r>
                        <a:rPr lang="sr-Latn-RS" sz="1800">
                          <a:latin typeface="Cambria Math"/>
                        </a:rPr>
                        <m:t>,</m:t>
                      </m:r>
                    </m:oMath>
                  </m:oMathPara>
                </a14:m>
                <a:endParaRPr lang="en-US" sz="1800" dirty="0">
                  <a:effectLst/>
                </a:endParaRPr>
              </a:p>
              <a:p>
                <a:pPr marL="0" indent="0">
                  <a:buNone/>
                </a:pPr>
                <a:endParaRPr lang="sr-Latn-RS" sz="1800" i="1" dirty="0"/>
              </a:p>
              <a:p>
                <a:pPr marL="0" indent="0">
                  <a:buNone/>
                </a:pPr>
                <a14:m>
                  <m:oMathPara xmlns:m="http://schemas.openxmlformats.org/officeDocument/2006/math">
                    <m:oMathParaPr>
                      <m:jc m:val="centerGroup"/>
                    </m:oMathParaPr>
                    <m:oMath xmlns:m="http://schemas.openxmlformats.org/officeDocument/2006/math">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0</m:t>
                                  </m:r>
                                </m:sub>
                              </m:sSub>
                            </m:e>
                          </m:d>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2</m:t>
                                  </m:r>
                                </m:sub>
                              </m:sSub>
                            </m:e>
                          </m:d>
                        </m:num>
                        <m:den>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0</m:t>
                                  </m:r>
                                </m:sub>
                              </m:sSub>
                            </m:e>
                          </m:d>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2</m:t>
                                  </m:r>
                                </m:sub>
                              </m:sSub>
                            </m:e>
                          </m:d>
                        </m:den>
                      </m:f>
                      <m:r>
                        <m:rPr>
                          <m:aln/>
                        </m:rPr>
                        <a:rPr lang="sr-Latn-RS" sz="1800">
                          <a:latin typeface="Cambria Math"/>
                        </a:rPr>
                        <m:t>=</m:t>
                      </m:r>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r>
                                <a:rPr lang="sr-Latn-RS" sz="1800">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r>
                                <a:rPr lang="sr-Latn-RS" sz="1800" i="1">
                                  <a:latin typeface="Cambria Math"/>
                                </a:rPr>
                                <m:t>−</m:t>
                              </m:r>
                              <m:r>
                                <a:rPr lang="sr-Latn-RS" sz="1800" i="1">
                                  <a:latin typeface="Cambria Math"/>
                                </a:rPr>
                                <m:t>h</m:t>
                              </m:r>
                              <m:r>
                                <a:rPr lang="sr-Latn-RS" sz="1800">
                                  <a:latin typeface="Cambria Math"/>
                                </a:rPr>
                                <m:t>)</m:t>
                              </m:r>
                            </m:e>
                          </m:d>
                          <m:d>
                            <m:dPr>
                              <m:ctrlPr>
                                <a:rPr lang="en-US" sz="1800" i="1">
                                  <a:latin typeface="Cambria Math" panose="02040503050406030204" pitchFamily="18" charset="0"/>
                                </a:rPr>
                              </m:ctrlPr>
                            </m:dPr>
                            <m:e>
                              <m:r>
                                <a:rPr lang="sr-Latn-RS" sz="1800" i="1">
                                  <a:latin typeface="Cambria Math"/>
                                </a:rPr>
                                <m:t>𝑥</m:t>
                              </m:r>
                              <m:r>
                                <a:rPr lang="sr-Latn-RS" sz="1800" i="1">
                                  <a:latin typeface="Cambria Math"/>
                                </a:rPr>
                                <m:t>−</m:t>
                              </m:r>
                              <m:r>
                                <a:rPr lang="sr-Latn-RS" sz="1800">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r>
                                <a:rPr lang="sr-Latn-RS" sz="1800">
                                  <a:latin typeface="Cambria Math"/>
                                </a:rPr>
                                <m:t>+</m:t>
                              </m:r>
                              <m:r>
                                <a:rPr lang="sr-Latn-RS" sz="1800" i="1">
                                  <a:latin typeface="Cambria Math"/>
                                </a:rPr>
                                <m:t>h</m:t>
                              </m:r>
                              <m:r>
                                <a:rPr lang="sr-Latn-RS" sz="1800">
                                  <a:latin typeface="Cambria Math"/>
                                </a:rPr>
                                <m:t>)</m:t>
                              </m:r>
                            </m:e>
                          </m:d>
                        </m:num>
                        <m:den>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0</m:t>
                                  </m:r>
                                </m:sub>
                              </m:sSub>
                            </m:e>
                          </m:d>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1</m:t>
                                  </m:r>
                                </m:sub>
                              </m:sSub>
                              <m:r>
                                <a:rPr lang="sr-Latn-RS" sz="1800" i="1">
                                  <a:latin typeface="Cambria Math"/>
                                </a:rPr>
                                <m:t>−</m:t>
                              </m:r>
                              <m:sSub>
                                <m:sSubPr>
                                  <m:ctrlPr>
                                    <a:rPr lang="en-US" sz="1800" i="1">
                                      <a:latin typeface="Cambria Math" panose="02040503050406030204" pitchFamily="18" charset="0"/>
                                    </a:rPr>
                                  </m:ctrlPr>
                                </m:sSubPr>
                                <m:e>
                                  <m:r>
                                    <a:rPr lang="sr-Latn-RS" sz="1800" i="1">
                                      <a:latin typeface="Cambria Math"/>
                                    </a:rPr>
                                    <m:t>𝑥</m:t>
                                  </m:r>
                                </m:e>
                                <m:sub>
                                  <m:r>
                                    <a:rPr lang="sr-Latn-RS" sz="1800">
                                      <a:latin typeface="Cambria Math"/>
                                    </a:rPr>
                                    <m:t>2</m:t>
                                  </m:r>
                                </m:sub>
                              </m:sSub>
                            </m:e>
                          </m:d>
                        </m:den>
                      </m:f>
                      <m:r>
                        <a:rPr lang="sr-Latn-RS" sz="1800">
                          <a:latin typeface="Cambria Math"/>
                        </a:rPr>
                        <m:t>=</m:t>
                      </m:r>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sr-Latn-RS" sz="1800" i="1">
                                  <a:latin typeface="Cambria Math"/>
                                </a:rPr>
                                <m:t>𝑡h</m:t>
                              </m:r>
                              <m:r>
                                <a:rPr lang="sr-Latn-RS" sz="1800">
                                  <a:latin typeface="Cambria Math"/>
                                </a:rPr>
                                <m:t>+</m:t>
                              </m:r>
                              <m:r>
                                <a:rPr lang="sr-Latn-RS" sz="1800" i="1">
                                  <a:latin typeface="Cambria Math"/>
                                </a:rPr>
                                <m:t>h</m:t>
                              </m:r>
                            </m:e>
                          </m:d>
                          <m:d>
                            <m:dPr>
                              <m:ctrlPr>
                                <a:rPr lang="en-US" sz="1800" i="1">
                                  <a:latin typeface="Cambria Math" panose="02040503050406030204" pitchFamily="18" charset="0"/>
                                </a:rPr>
                              </m:ctrlPr>
                            </m:dPr>
                            <m:e>
                              <m:r>
                                <a:rPr lang="sr-Latn-RS" sz="1800" i="1">
                                  <a:latin typeface="Cambria Math"/>
                                </a:rPr>
                                <m:t>𝑡h</m:t>
                              </m:r>
                              <m:r>
                                <a:rPr lang="sr-Latn-RS" sz="1800" i="1">
                                  <a:latin typeface="Cambria Math"/>
                                </a:rPr>
                                <m:t>−</m:t>
                              </m:r>
                              <m:r>
                                <a:rPr lang="sr-Latn-RS" sz="1800" i="1">
                                  <a:latin typeface="Cambria Math"/>
                                </a:rPr>
                                <m:t>h</m:t>
                              </m:r>
                            </m:e>
                          </m:d>
                        </m:num>
                        <m:den>
                          <m:r>
                            <a:rPr lang="sr-Latn-RS" sz="1800" i="1">
                              <a:latin typeface="Cambria Math"/>
                            </a:rPr>
                            <m:t>−</m:t>
                          </m:r>
                          <m:r>
                            <a:rPr lang="sr-Latn-RS" sz="1800" i="1">
                              <a:latin typeface="Cambria Math"/>
                            </a:rPr>
                            <m:t>hh</m:t>
                          </m:r>
                        </m:den>
                      </m:f>
                      <m:r>
                        <a:rPr lang="sr-Latn-RS" sz="1800">
                          <a:latin typeface="Cambria Math"/>
                        </a:rPr>
                        <m:t>=1</m:t>
                      </m:r>
                      <m:r>
                        <a:rPr lang="sr-Latn-RS" sz="1800" i="1">
                          <a:latin typeface="Cambria Math"/>
                        </a:rPr>
                        <m:t>−</m:t>
                      </m:r>
                      <m:sSup>
                        <m:sSupPr>
                          <m:ctrlPr>
                            <a:rPr lang="en-US" sz="1800" i="1">
                              <a:latin typeface="Cambria Math" panose="02040503050406030204" pitchFamily="18" charset="0"/>
                            </a:rPr>
                          </m:ctrlPr>
                        </m:sSupPr>
                        <m:e>
                          <m:r>
                            <a:rPr lang="sr-Latn-RS" sz="1800" i="1">
                              <a:latin typeface="Cambria Math"/>
                            </a:rPr>
                            <m:t>𝑡</m:t>
                          </m:r>
                        </m:e>
                        <m:sup>
                          <m:r>
                            <a:rPr lang="sr-Latn-RS" sz="1800">
                              <a:latin typeface="Cambria Math"/>
                            </a:rPr>
                            <m:t>2</m:t>
                          </m:r>
                        </m:sup>
                      </m:sSup>
                      <m:r>
                        <a:rPr lang="sr-Latn-RS" sz="1800">
                          <a:latin typeface="Cambria Math"/>
                        </a:rPr>
                        <m:t>,</m:t>
                      </m:r>
                    </m:oMath>
                  </m:oMathPara>
                </a14:m>
                <a:endParaRPr lang="en-US" sz="1800" dirty="0">
                  <a:effectLst/>
                </a:endParaRPr>
              </a:p>
              <a:p>
                <a:pPr marL="0" indent="0">
                  <a:buNone/>
                </a:pPr>
                <a:endParaRPr lang="sr-Latn-RS" sz="1800" i="1" dirty="0"/>
              </a:p>
              <a:p>
                <a:pPr marL="0" indent="0">
                  <a:buNone/>
                </a:pPr>
                <a14:m>
                  <m:oMathPara xmlns:m="http://schemas.openxmlformats.org/officeDocument/2006/math">
                    <m:oMathParaPr>
                      <m:jc m:val="centerGroup"/>
                    </m:oMathParaPr>
                    <m:oMath xmlns:m="http://schemas.openxmlformats.org/officeDocument/2006/math">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sr-Latn-CS" sz="1800" i="1">
                                  <a:latin typeface="Cambria Math"/>
                                </a:rPr>
                                <m:t>𝑥</m:t>
                              </m:r>
                              <m:r>
                                <a:rPr lang="sr-Latn-CS" sz="1800" i="1">
                                  <a:latin typeface="Cambria Math"/>
                                </a:rPr>
                                <m:t>−</m:t>
                              </m:r>
                              <m:sSub>
                                <m:sSubPr>
                                  <m:ctrlPr>
                                    <a:rPr lang="en-US" sz="1800" i="1">
                                      <a:latin typeface="Cambria Math" panose="02040503050406030204" pitchFamily="18" charset="0"/>
                                    </a:rPr>
                                  </m:ctrlPr>
                                </m:sSubPr>
                                <m:e>
                                  <m:r>
                                    <a:rPr lang="sr-Latn-CS" sz="1800" i="1">
                                      <a:latin typeface="Cambria Math"/>
                                    </a:rPr>
                                    <m:t>𝑥</m:t>
                                  </m:r>
                                </m:e>
                                <m:sub>
                                  <m:r>
                                    <a:rPr lang="sr-Latn-CS" sz="1800" i="1">
                                      <a:latin typeface="Cambria Math"/>
                                    </a:rPr>
                                    <m:t>0</m:t>
                                  </m:r>
                                </m:sub>
                              </m:sSub>
                            </m:e>
                          </m:d>
                          <m:d>
                            <m:dPr>
                              <m:ctrlPr>
                                <a:rPr lang="en-US" sz="1800" i="1">
                                  <a:latin typeface="Cambria Math" panose="02040503050406030204" pitchFamily="18" charset="0"/>
                                </a:rPr>
                              </m:ctrlPr>
                            </m:dPr>
                            <m:e>
                              <m:r>
                                <a:rPr lang="sr-Latn-CS" sz="1800" i="1">
                                  <a:latin typeface="Cambria Math"/>
                                </a:rPr>
                                <m:t>𝑥</m:t>
                              </m:r>
                              <m:r>
                                <a:rPr lang="sr-Latn-CS" sz="1800" i="1">
                                  <a:latin typeface="Cambria Math"/>
                                </a:rPr>
                                <m:t>−</m:t>
                              </m:r>
                              <m:sSub>
                                <m:sSubPr>
                                  <m:ctrlPr>
                                    <a:rPr lang="en-US" sz="1800" i="1">
                                      <a:latin typeface="Cambria Math" panose="02040503050406030204" pitchFamily="18" charset="0"/>
                                    </a:rPr>
                                  </m:ctrlPr>
                                </m:sSubPr>
                                <m:e>
                                  <m:r>
                                    <a:rPr lang="sr-Latn-CS" sz="1800" i="1">
                                      <a:latin typeface="Cambria Math"/>
                                    </a:rPr>
                                    <m:t>𝑥</m:t>
                                  </m:r>
                                </m:e>
                                <m:sub>
                                  <m:r>
                                    <a:rPr lang="sr-Latn-CS" sz="1800" i="1">
                                      <a:latin typeface="Cambria Math"/>
                                    </a:rPr>
                                    <m:t>1</m:t>
                                  </m:r>
                                </m:sub>
                              </m:sSub>
                            </m:e>
                          </m:d>
                        </m:num>
                        <m:den>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CS" sz="1800" i="1">
                                      <a:latin typeface="Cambria Math"/>
                                    </a:rPr>
                                    <m:t>𝑥</m:t>
                                  </m:r>
                                </m:e>
                                <m:sub>
                                  <m:r>
                                    <a:rPr lang="sr-Latn-CS" sz="1800" i="1">
                                      <a:latin typeface="Cambria Math"/>
                                    </a:rPr>
                                    <m:t>2</m:t>
                                  </m:r>
                                </m:sub>
                              </m:sSub>
                              <m:r>
                                <a:rPr lang="sr-Latn-CS" sz="1800" i="1">
                                  <a:latin typeface="Cambria Math"/>
                                </a:rPr>
                                <m:t>−</m:t>
                              </m:r>
                              <m:sSub>
                                <m:sSubPr>
                                  <m:ctrlPr>
                                    <a:rPr lang="en-US" sz="1800" i="1">
                                      <a:latin typeface="Cambria Math" panose="02040503050406030204" pitchFamily="18" charset="0"/>
                                    </a:rPr>
                                  </m:ctrlPr>
                                </m:sSubPr>
                                <m:e>
                                  <m:r>
                                    <a:rPr lang="sr-Latn-CS" sz="1800" i="1">
                                      <a:latin typeface="Cambria Math"/>
                                    </a:rPr>
                                    <m:t>𝑥</m:t>
                                  </m:r>
                                </m:e>
                                <m:sub>
                                  <m:r>
                                    <a:rPr lang="sr-Latn-CS" sz="1800" i="1">
                                      <a:latin typeface="Cambria Math"/>
                                    </a:rPr>
                                    <m:t>0</m:t>
                                  </m:r>
                                </m:sub>
                              </m:sSub>
                            </m:e>
                          </m:d>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sr-Latn-CS" sz="1800" i="1">
                                      <a:latin typeface="Cambria Math"/>
                                    </a:rPr>
                                    <m:t>𝑥</m:t>
                                  </m:r>
                                </m:e>
                                <m:sub>
                                  <m:r>
                                    <a:rPr lang="sr-Latn-CS" sz="1800" i="1">
                                      <a:latin typeface="Cambria Math"/>
                                    </a:rPr>
                                    <m:t>2</m:t>
                                  </m:r>
                                </m:sub>
                              </m:sSub>
                              <m:r>
                                <a:rPr lang="sr-Latn-CS" sz="1800" i="1">
                                  <a:latin typeface="Cambria Math"/>
                                </a:rPr>
                                <m:t>−</m:t>
                              </m:r>
                              <m:sSub>
                                <m:sSubPr>
                                  <m:ctrlPr>
                                    <a:rPr lang="en-US" sz="1800" i="1">
                                      <a:latin typeface="Cambria Math" panose="02040503050406030204" pitchFamily="18" charset="0"/>
                                    </a:rPr>
                                  </m:ctrlPr>
                                </m:sSubPr>
                                <m:e>
                                  <m:r>
                                    <a:rPr lang="sr-Latn-CS" sz="1800" i="1">
                                      <a:latin typeface="Cambria Math"/>
                                    </a:rPr>
                                    <m:t>𝑥</m:t>
                                  </m:r>
                                </m:e>
                                <m:sub>
                                  <m:r>
                                    <a:rPr lang="sr-Latn-CS" sz="1800" i="1">
                                      <a:latin typeface="Cambria Math"/>
                                    </a:rPr>
                                    <m:t>1</m:t>
                                  </m:r>
                                </m:sub>
                              </m:sSub>
                            </m:e>
                          </m:d>
                        </m:den>
                      </m:f>
                      <m:r>
                        <m:rPr>
                          <m:aln/>
                        </m:rPr>
                        <a:rPr lang="sr-Latn-CS" sz="1800" i="1">
                          <a:latin typeface="Cambria Math"/>
                        </a:rPr>
                        <m:t>=</m:t>
                      </m:r>
                      <m:f>
                        <m:fPr>
                          <m:ctrlPr>
                            <a:rPr lang="en-US" sz="1800" i="1">
                              <a:latin typeface="Cambria Math" panose="02040503050406030204" pitchFamily="18" charset="0"/>
                            </a:rPr>
                          </m:ctrlPr>
                        </m:fPr>
                        <m:num>
                          <m:d>
                            <m:dPr>
                              <m:ctrlPr>
                                <a:rPr lang="en-US" sz="1800" i="1">
                                  <a:latin typeface="Cambria Math" panose="02040503050406030204" pitchFamily="18" charset="0"/>
                                </a:rPr>
                              </m:ctrlPr>
                            </m:dPr>
                            <m:e>
                              <m:r>
                                <a:rPr lang="sr-Latn-CS" sz="1800" i="1">
                                  <a:latin typeface="Cambria Math"/>
                                </a:rPr>
                                <m:t>𝑡h</m:t>
                              </m:r>
                              <m:r>
                                <a:rPr lang="sr-Latn-CS" sz="1800" i="1">
                                  <a:latin typeface="Cambria Math"/>
                                </a:rPr>
                                <m:t>+</m:t>
                              </m:r>
                              <m:r>
                                <a:rPr lang="sr-Latn-CS" sz="1800" i="1">
                                  <a:latin typeface="Cambria Math"/>
                                </a:rPr>
                                <m:t>h</m:t>
                              </m:r>
                            </m:e>
                          </m:d>
                          <m:r>
                            <a:rPr lang="sr-Latn-CS" sz="1800" i="1">
                              <a:latin typeface="Cambria Math"/>
                            </a:rPr>
                            <m:t>𝑡h</m:t>
                          </m:r>
                        </m:num>
                        <m:den>
                          <m:r>
                            <a:rPr lang="sr-Latn-CS" sz="1800" i="1">
                              <a:latin typeface="Cambria Math"/>
                            </a:rPr>
                            <m:t>2</m:t>
                          </m:r>
                          <m:r>
                            <a:rPr lang="sr-Latn-CS" sz="1800" i="1">
                              <a:latin typeface="Cambria Math"/>
                            </a:rPr>
                            <m:t>hh</m:t>
                          </m:r>
                        </m:den>
                      </m:f>
                      <m:r>
                        <a:rPr lang="sr-Latn-CS" sz="1800" i="1">
                          <a:latin typeface="Cambria Math"/>
                        </a:rPr>
                        <m:t>=</m:t>
                      </m:r>
                      <m:f>
                        <m:fPr>
                          <m:ctrlPr>
                            <a:rPr lang="en-US" sz="1800" i="1">
                              <a:latin typeface="Cambria Math" panose="02040503050406030204" pitchFamily="18" charset="0"/>
                            </a:rPr>
                          </m:ctrlPr>
                        </m:fPr>
                        <m:num>
                          <m:r>
                            <a:rPr lang="sr-Latn-CS" sz="1800" i="1">
                              <a:latin typeface="Cambria Math"/>
                            </a:rPr>
                            <m:t>𝑡</m:t>
                          </m:r>
                          <m:d>
                            <m:dPr>
                              <m:ctrlPr>
                                <a:rPr lang="en-US" sz="1800" i="1">
                                  <a:latin typeface="Cambria Math" panose="02040503050406030204" pitchFamily="18" charset="0"/>
                                </a:rPr>
                              </m:ctrlPr>
                            </m:dPr>
                            <m:e>
                              <m:r>
                                <a:rPr lang="sr-Latn-CS" sz="1800" i="1">
                                  <a:latin typeface="Cambria Math"/>
                                </a:rPr>
                                <m:t>𝑡</m:t>
                              </m:r>
                              <m:r>
                                <a:rPr lang="sr-Latn-CS" sz="1800" i="1">
                                  <a:latin typeface="Cambria Math"/>
                                </a:rPr>
                                <m:t>+1</m:t>
                              </m:r>
                            </m:e>
                          </m:d>
                        </m:num>
                        <m:den>
                          <m:r>
                            <a:rPr lang="sr-Latn-CS" sz="1800" i="1">
                              <a:latin typeface="Cambria Math"/>
                            </a:rPr>
                            <m:t>2</m:t>
                          </m:r>
                        </m:den>
                      </m:f>
                    </m:oMath>
                  </m:oMathPara>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593" t="-875"/>
                </a:stretch>
              </a:blipFill>
            </p:spPr>
            <p:txBody>
              <a:bodyPr/>
              <a:lstStyle/>
              <a:p>
                <a:r>
                  <a:rPr lang="en-US">
                    <a:noFill/>
                  </a:rPr>
                  <a:t> </a:t>
                </a:r>
              </a:p>
            </p:txBody>
          </p:sp>
        </mc:Fallback>
      </mc:AlternateContent>
    </p:spTree>
    <p:extLst>
      <p:ext uri="{BB962C8B-B14F-4D97-AF65-F5344CB8AC3E}">
        <p14:creationId xmlns:p14="http://schemas.microsoft.com/office/powerpoint/2010/main" val="3581616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Izvo</a:t>
            </a:r>
            <a:r>
              <a:rPr lang="sr-Latn-RS" dirty="0"/>
              <a:t>đenje formule - </a:t>
            </a:r>
            <a:r>
              <a:rPr lang="sr-Latn-RS" altLang="sr-Latn-RS" dirty="0"/>
              <a:t>Simpsonova 1/3 metoda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sr-Latn-RS" dirty="0"/>
                  <a:t>Nakon uvođenja smene:</a:t>
                </a:r>
              </a:p>
              <a:p>
                <a:pPr marL="0" indent="0">
                  <a:buNone/>
                </a:pPr>
                <a:endParaRPr lang="sr-Latn-RS" dirty="0"/>
              </a:p>
              <a:p>
                <a:pPr marL="0" indent="0">
                  <a:buNone/>
                </a:pPr>
                <a14:m>
                  <m:oMathPara xmlns:m="http://schemas.openxmlformats.org/officeDocument/2006/math">
                    <m:oMathParaPr>
                      <m:jc m:val="centerGroup"/>
                    </m:oMathParaPr>
                    <m:oMath xmlns:m="http://schemas.openxmlformats.org/officeDocument/2006/math">
                      <m:nary>
                        <m:naryPr>
                          <m:limLoc m:val="undOvr"/>
                          <m:ctrlPr>
                            <a:rPr lang="en-US" sz="1800" i="1">
                              <a:latin typeface="Cambria Math" panose="02040503050406030204" pitchFamily="18" charset="0"/>
                            </a:rPr>
                          </m:ctrlPr>
                        </m:naryPr>
                        <m:sub>
                          <m:r>
                            <a:rPr lang="sr-Latn-CS" sz="1800" i="1">
                              <a:latin typeface="Cambria Math"/>
                            </a:rPr>
                            <m:t>𝑎</m:t>
                          </m:r>
                        </m:sub>
                        <m:sup>
                          <m:r>
                            <a:rPr lang="sr-Latn-CS" sz="1800" i="1">
                              <a:latin typeface="Cambria Math"/>
                            </a:rPr>
                            <m:t>𝑏</m:t>
                          </m:r>
                        </m:sup>
                        <m:e>
                          <m:sSub>
                            <m:sSubPr>
                              <m:ctrlPr>
                                <a:rPr lang="en-US" sz="1800" i="1">
                                  <a:latin typeface="Cambria Math" panose="02040503050406030204" pitchFamily="18" charset="0"/>
                                </a:rPr>
                              </m:ctrlPr>
                            </m:sSubPr>
                            <m:e>
                              <m:r>
                                <a:rPr lang="sr-Latn-CS" sz="1800" i="1">
                                  <a:latin typeface="Cambria Math"/>
                                </a:rPr>
                                <m:t>𝐿</m:t>
                              </m:r>
                            </m:e>
                            <m:sub>
                              <m:r>
                                <a:rPr lang="sr-Latn-CS" sz="1800" i="1">
                                  <a:latin typeface="Cambria Math"/>
                                </a:rPr>
                                <m:t>2</m:t>
                              </m:r>
                            </m:sub>
                          </m:sSub>
                          <m:d>
                            <m:dPr>
                              <m:ctrlPr>
                                <a:rPr lang="en-US" sz="1800" i="1">
                                  <a:latin typeface="Cambria Math" panose="02040503050406030204" pitchFamily="18" charset="0"/>
                                </a:rPr>
                              </m:ctrlPr>
                            </m:dPr>
                            <m:e>
                              <m:r>
                                <a:rPr lang="sr-Latn-CS" sz="1800" i="1">
                                  <a:latin typeface="Cambria Math"/>
                                </a:rPr>
                                <m:t>𝑥</m:t>
                              </m:r>
                            </m:e>
                          </m:d>
                          <m:r>
                            <a:rPr lang="sr-Latn-CS" sz="1800" i="1">
                              <a:latin typeface="Cambria Math"/>
                            </a:rPr>
                            <m:t>𝑑𝑥</m:t>
                          </m:r>
                          <m:r>
                            <a:rPr lang="sr-Latn-CS" sz="1800" i="1">
                              <a:latin typeface="Cambria Math"/>
                            </a:rPr>
                            <m:t>=</m:t>
                          </m:r>
                          <m:f>
                            <m:fPr>
                              <m:ctrlPr>
                                <a:rPr lang="en-US" sz="1800" i="1">
                                  <a:latin typeface="Cambria Math" panose="02040503050406030204" pitchFamily="18" charset="0"/>
                                </a:rPr>
                              </m:ctrlPr>
                            </m:fPr>
                            <m:num>
                              <m:r>
                                <a:rPr lang="sr-Latn-CS" sz="1800" i="1">
                                  <a:latin typeface="Cambria Math"/>
                                </a:rPr>
                                <m:t>h</m:t>
                              </m:r>
                            </m:num>
                            <m:den>
                              <m:r>
                                <a:rPr lang="sr-Latn-CS" sz="1800" i="1">
                                  <a:latin typeface="Cambria Math"/>
                                </a:rPr>
                                <m:t>2</m:t>
                              </m:r>
                            </m:den>
                          </m:f>
                          <m:nary>
                            <m:naryPr>
                              <m:limLoc m:val="undOvr"/>
                              <m:ctrlPr>
                                <a:rPr lang="en-US" sz="1800" i="1">
                                  <a:latin typeface="Cambria Math" panose="02040503050406030204" pitchFamily="18" charset="0"/>
                                </a:rPr>
                              </m:ctrlPr>
                            </m:naryPr>
                            <m:sub>
                              <m:r>
                                <a:rPr lang="sr-Latn-CS" sz="1800" i="1">
                                  <a:latin typeface="Cambria Math"/>
                                </a:rPr>
                                <m:t>−1</m:t>
                              </m:r>
                            </m:sub>
                            <m:sup>
                              <m:r>
                                <a:rPr lang="sr-Latn-CS" sz="1800" i="1">
                                  <a:latin typeface="Cambria Math"/>
                                </a:rPr>
                                <m:t>1</m:t>
                              </m:r>
                            </m:sup>
                            <m:e>
                              <m:r>
                                <a:rPr lang="en-US" sz="1800" i="1">
                                  <a:latin typeface="Cambria Math"/>
                                </a:rPr>
                                <m:t>𝑡</m:t>
                              </m:r>
                              <m:d>
                                <m:dPr>
                                  <m:ctrlPr>
                                    <a:rPr lang="en-US" sz="1800" i="1">
                                      <a:latin typeface="Cambria Math" panose="02040503050406030204" pitchFamily="18" charset="0"/>
                                    </a:rPr>
                                  </m:ctrlPr>
                                </m:dPr>
                                <m:e>
                                  <m:r>
                                    <a:rPr lang="en-US" sz="1800" i="1">
                                      <a:latin typeface="Cambria Math"/>
                                    </a:rPr>
                                    <m:t>𝑡</m:t>
                                  </m:r>
                                  <m:r>
                                    <a:rPr lang="en-US" sz="1800" i="1">
                                      <a:latin typeface="Cambria Math"/>
                                    </a:rPr>
                                    <m:t>−1</m:t>
                                  </m:r>
                                </m:e>
                              </m:d>
                              <m:r>
                                <a:rPr lang="en-US" sz="1800" i="1">
                                  <a:latin typeface="Cambria Math"/>
                                </a:rPr>
                                <m:t>𝑓</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a:rPr>
                                        <m:t>0</m:t>
                                      </m:r>
                                    </m:sub>
                                  </m:sSub>
                                </m:e>
                              </m:d>
                              <m:r>
                                <a:rPr lang="sr-Latn-CS" sz="1800" i="1">
                                  <a:latin typeface="Cambria Math"/>
                                </a:rPr>
                                <m:t>𝑑𝑡</m:t>
                              </m:r>
                            </m:e>
                          </m:nary>
                        </m:e>
                      </m:nary>
                      <m:r>
                        <a:rPr lang="sr-Latn-CS" sz="1800" i="1">
                          <a:latin typeface="Cambria Math"/>
                        </a:rPr>
                        <m:t>+</m:t>
                      </m:r>
                      <m:r>
                        <a:rPr lang="sr-Latn-CS" sz="1800" i="1">
                          <a:latin typeface="Cambria Math"/>
                        </a:rPr>
                        <m:t>h</m:t>
                      </m:r>
                      <m:nary>
                        <m:naryPr>
                          <m:limLoc m:val="undOvr"/>
                          <m:ctrlPr>
                            <a:rPr lang="en-US" sz="1800" i="1">
                              <a:latin typeface="Cambria Math" panose="02040503050406030204" pitchFamily="18" charset="0"/>
                            </a:rPr>
                          </m:ctrlPr>
                        </m:naryPr>
                        <m:sub>
                          <m:r>
                            <a:rPr lang="sr-Latn-CS" sz="1800" i="1">
                              <a:latin typeface="Cambria Math"/>
                            </a:rPr>
                            <m:t>−1</m:t>
                          </m:r>
                        </m:sub>
                        <m:sup>
                          <m:r>
                            <a:rPr lang="sr-Latn-CS" sz="1800" i="1">
                              <a:latin typeface="Cambria Math"/>
                            </a:rPr>
                            <m:t>1</m:t>
                          </m:r>
                        </m:sup>
                        <m:e>
                          <m:r>
                            <a:rPr lang="en-US" sz="1800" i="1">
                              <a:latin typeface="Cambria Math"/>
                            </a:rPr>
                            <m:t>(1−</m:t>
                          </m:r>
                          <m:sSup>
                            <m:sSupPr>
                              <m:ctrlPr>
                                <a:rPr lang="en-US" sz="1800" i="1">
                                  <a:latin typeface="Cambria Math" panose="02040503050406030204" pitchFamily="18" charset="0"/>
                                </a:rPr>
                              </m:ctrlPr>
                            </m:sSupPr>
                            <m:e>
                              <m:r>
                                <a:rPr lang="en-US" sz="1800" i="1">
                                  <a:latin typeface="Cambria Math"/>
                                </a:rPr>
                                <m:t>𝑡</m:t>
                              </m:r>
                            </m:e>
                            <m:sup>
                              <m:r>
                                <a:rPr lang="en-US" sz="1800" i="1">
                                  <a:latin typeface="Cambria Math"/>
                                </a:rPr>
                                <m:t>2</m:t>
                              </m:r>
                            </m:sup>
                          </m:sSup>
                          <m:r>
                            <a:rPr lang="en-US" sz="1800" i="1">
                              <a:latin typeface="Cambria Math"/>
                            </a:rPr>
                            <m:t>)</m:t>
                          </m:r>
                          <m:r>
                            <a:rPr lang="en-US" sz="1800" i="1">
                              <a:latin typeface="Cambria Math"/>
                            </a:rPr>
                            <m:t>𝑓</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a:rPr>
                                    <m:t>1</m:t>
                                  </m:r>
                                </m:sub>
                              </m:sSub>
                            </m:e>
                          </m:d>
                          <m:r>
                            <a:rPr lang="sr-Latn-CS" sz="1800" i="1">
                              <a:latin typeface="Cambria Math"/>
                            </a:rPr>
                            <m:t>𝑑𝑡</m:t>
                          </m:r>
                        </m:e>
                      </m:nary>
                      <m:r>
                        <a:rPr lang="sr-Latn-CS" sz="1800" i="1">
                          <a:latin typeface="Cambria Math"/>
                        </a:rPr>
                        <m:t>+</m:t>
                      </m:r>
                      <m:f>
                        <m:fPr>
                          <m:ctrlPr>
                            <a:rPr lang="en-US" sz="1800" i="1">
                              <a:latin typeface="Cambria Math" panose="02040503050406030204" pitchFamily="18" charset="0"/>
                            </a:rPr>
                          </m:ctrlPr>
                        </m:fPr>
                        <m:num>
                          <m:r>
                            <a:rPr lang="sr-Latn-CS" sz="1800" i="1">
                              <a:latin typeface="Cambria Math"/>
                            </a:rPr>
                            <m:t>h</m:t>
                          </m:r>
                        </m:num>
                        <m:den>
                          <m:r>
                            <a:rPr lang="sr-Latn-CS" sz="1800" i="1">
                              <a:latin typeface="Cambria Math"/>
                            </a:rPr>
                            <m:t>2</m:t>
                          </m:r>
                        </m:den>
                      </m:f>
                      <m:nary>
                        <m:naryPr>
                          <m:limLoc m:val="undOvr"/>
                          <m:ctrlPr>
                            <a:rPr lang="en-US" sz="1800" i="1">
                              <a:latin typeface="Cambria Math" panose="02040503050406030204" pitchFamily="18" charset="0"/>
                            </a:rPr>
                          </m:ctrlPr>
                        </m:naryPr>
                        <m:sub>
                          <m:r>
                            <a:rPr lang="sr-Latn-CS" sz="1800" i="1">
                              <a:latin typeface="Cambria Math"/>
                            </a:rPr>
                            <m:t>−1</m:t>
                          </m:r>
                        </m:sub>
                        <m:sup>
                          <m:r>
                            <a:rPr lang="sr-Latn-CS" sz="1800" i="1">
                              <a:latin typeface="Cambria Math"/>
                            </a:rPr>
                            <m:t>1</m:t>
                          </m:r>
                        </m:sup>
                        <m:e>
                          <m:r>
                            <a:rPr lang="en-US" sz="1800" i="1">
                              <a:latin typeface="Cambria Math"/>
                            </a:rPr>
                            <m:t>𝑡</m:t>
                          </m:r>
                          <m:d>
                            <m:dPr>
                              <m:ctrlPr>
                                <a:rPr lang="en-US" sz="1800" i="1">
                                  <a:latin typeface="Cambria Math" panose="02040503050406030204" pitchFamily="18" charset="0"/>
                                </a:rPr>
                              </m:ctrlPr>
                            </m:dPr>
                            <m:e>
                              <m:r>
                                <a:rPr lang="en-US" sz="1800" i="1">
                                  <a:latin typeface="Cambria Math"/>
                                </a:rPr>
                                <m:t>𝑡</m:t>
                              </m:r>
                              <m:r>
                                <a:rPr lang="en-US" sz="1800" i="1">
                                  <a:latin typeface="Cambria Math"/>
                                </a:rPr>
                                <m:t>+1</m:t>
                              </m:r>
                            </m:e>
                          </m:d>
                          <m:r>
                            <a:rPr lang="en-US" sz="1800" i="1">
                              <a:latin typeface="Cambria Math"/>
                            </a:rPr>
                            <m:t>𝑓</m:t>
                          </m:r>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a:rPr>
                                    <m:t>𝑥</m:t>
                                  </m:r>
                                </m:e>
                                <m:sub>
                                  <m:r>
                                    <a:rPr lang="en-US" sz="1800" i="1">
                                      <a:latin typeface="Cambria Math"/>
                                    </a:rPr>
                                    <m:t>2</m:t>
                                  </m:r>
                                </m:sub>
                              </m:sSub>
                            </m:e>
                          </m:d>
                          <m:r>
                            <a:rPr lang="sr-Latn-CS" sz="1800" i="1">
                              <a:latin typeface="Cambria Math"/>
                            </a:rPr>
                            <m:t>𝑑𝑡</m:t>
                          </m:r>
                        </m:e>
                      </m:nary>
                    </m:oMath>
                  </m:oMathPara>
                </a14:m>
                <a:endParaRPr lang="sr-Latn-RS" dirty="0"/>
              </a:p>
              <a:p>
                <a:pPr marL="0" indent="0">
                  <a:buNone/>
                </a:pPr>
                <a:endParaRPr lang="sr-Latn-RS" dirty="0"/>
              </a:p>
              <a:p>
                <a:pPr marL="0" indent="0">
                  <a:buNone/>
                </a:pPr>
                <a14:m>
                  <m:oMathPara xmlns:m="http://schemas.openxmlformats.org/officeDocument/2006/math">
                    <m:oMathParaPr>
                      <m:jc m:val="centerGroup"/>
                    </m:oMathParaPr>
                    <m:oMath xmlns:m="http://schemas.openxmlformats.org/officeDocument/2006/math">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r>
                            <a:rPr lang="en-US" sz="1900" i="1">
                              <a:latin typeface="Cambria Math"/>
                            </a:rPr>
                            <m:t>𝑡</m:t>
                          </m:r>
                          <m:d>
                            <m:dPr>
                              <m:ctrlPr>
                                <a:rPr lang="en-US" sz="1900" i="1">
                                  <a:latin typeface="Cambria Math" panose="02040503050406030204" pitchFamily="18" charset="0"/>
                                </a:rPr>
                              </m:ctrlPr>
                            </m:dPr>
                            <m:e>
                              <m:r>
                                <a:rPr lang="en-US" sz="1900" i="1">
                                  <a:latin typeface="Cambria Math"/>
                                </a:rPr>
                                <m:t>𝑡</m:t>
                              </m:r>
                              <m:r>
                                <a:rPr lang="en-US" sz="1900" i="1">
                                  <a:latin typeface="Cambria Math"/>
                                </a:rPr>
                                <m:t>−1</m:t>
                              </m:r>
                            </m:e>
                          </m:d>
                          <m:r>
                            <a:rPr lang="sr-Latn-CS" sz="1900" i="1">
                              <a:latin typeface="Cambria Math"/>
                            </a:rPr>
                            <m:t>𝑑𝑡</m:t>
                          </m:r>
                        </m:e>
                      </m:nary>
                      <m:r>
                        <m:rPr>
                          <m:aln/>
                        </m:rPr>
                        <a:rPr lang="en-US" sz="1900" i="1">
                          <a:latin typeface="Cambria Math"/>
                        </a:rPr>
                        <m:t>=</m:t>
                      </m:r>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sSup>
                            <m:sSupPr>
                              <m:ctrlPr>
                                <a:rPr lang="en-US" sz="1900" i="1">
                                  <a:latin typeface="Cambria Math" panose="02040503050406030204" pitchFamily="18" charset="0"/>
                                </a:rPr>
                              </m:ctrlPr>
                            </m:sSupPr>
                            <m:e>
                              <m:r>
                                <a:rPr lang="en-US" sz="1900" i="1">
                                  <a:latin typeface="Cambria Math"/>
                                </a:rPr>
                                <m:t>𝑡</m:t>
                              </m:r>
                            </m:e>
                            <m:sup>
                              <m:r>
                                <a:rPr lang="en-US" sz="1900" i="1">
                                  <a:latin typeface="Cambria Math"/>
                                </a:rPr>
                                <m:t>2</m:t>
                              </m:r>
                            </m:sup>
                          </m:sSup>
                          <m:r>
                            <a:rPr lang="sr-Latn-CS" sz="1900" i="1">
                              <a:latin typeface="Cambria Math"/>
                            </a:rPr>
                            <m:t>𝑑𝑡</m:t>
                          </m:r>
                        </m:e>
                      </m:nary>
                      <m:r>
                        <a:rPr lang="sr-Latn-CS" sz="1900" i="1">
                          <a:latin typeface="Cambria Math"/>
                        </a:rPr>
                        <m:t>−</m:t>
                      </m:r>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r>
                            <a:rPr lang="en-US" sz="1900" i="1">
                              <a:latin typeface="Cambria Math"/>
                            </a:rPr>
                            <m:t>𝑡</m:t>
                          </m:r>
                          <m:r>
                            <a:rPr lang="sr-Latn-CS" sz="1900" i="1">
                              <a:latin typeface="Cambria Math"/>
                            </a:rPr>
                            <m:t>𝑑𝑡</m:t>
                          </m:r>
                        </m:e>
                      </m:nary>
                      <m:r>
                        <a:rPr lang="en-US" sz="1900" i="1">
                          <a:latin typeface="Cambria Math"/>
                        </a:rPr>
                        <m:t>=</m:t>
                      </m:r>
                      <m:f>
                        <m:fPr>
                          <m:ctrlPr>
                            <a:rPr lang="en-US" sz="1900" i="1">
                              <a:latin typeface="Cambria Math" panose="02040503050406030204" pitchFamily="18" charset="0"/>
                            </a:rPr>
                          </m:ctrlPr>
                        </m:fPr>
                        <m:num>
                          <m:sSup>
                            <m:sSupPr>
                              <m:ctrlPr>
                                <a:rPr lang="en-US" sz="1900" i="1">
                                  <a:latin typeface="Cambria Math" panose="02040503050406030204" pitchFamily="18" charset="0"/>
                                </a:rPr>
                              </m:ctrlPr>
                            </m:sSupPr>
                            <m:e>
                              <m:r>
                                <a:rPr lang="sr-Latn-CS" sz="1900" i="1">
                                  <a:latin typeface="Cambria Math"/>
                                </a:rPr>
                                <m:t>𝑡</m:t>
                              </m:r>
                            </m:e>
                            <m:sup>
                              <m:r>
                                <a:rPr lang="sr-Latn-CS" sz="1900" i="1">
                                  <a:latin typeface="Cambria Math"/>
                                </a:rPr>
                                <m:t>3</m:t>
                              </m:r>
                            </m:sup>
                          </m:sSup>
                        </m:num>
                        <m:den>
                          <m:r>
                            <a:rPr lang="sr-Latn-CS" sz="1900" i="1">
                              <a:latin typeface="Cambria Math"/>
                            </a:rPr>
                            <m:t>3</m:t>
                          </m:r>
                        </m:den>
                      </m:f>
                      <m:d>
                        <m:dPr>
                          <m:begChr m:val="|"/>
                          <m:endChr m:val=""/>
                          <m:ctrlPr>
                            <a:rPr lang="en-US" sz="1900" i="1">
                              <a:latin typeface="Cambria Math" panose="02040503050406030204" pitchFamily="18" charset="0"/>
                            </a:rPr>
                          </m:ctrlPr>
                        </m:dPr>
                        <m:e>
                          <m:f>
                            <m:fPr>
                              <m:type m:val="noBar"/>
                              <m:ctrlPr>
                                <a:rPr lang="en-US" sz="1900" i="1">
                                  <a:latin typeface="Cambria Math" panose="02040503050406030204" pitchFamily="18" charset="0"/>
                                </a:rPr>
                              </m:ctrlPr>
                            </m:fPr>
                            <m:num>
                              <m:r>
                                <a:rPr lang="sr-Latn-CS" sz="1900" i="1">
                                  <a:latin typeface="Cambria Math"/>
                                </a:rPr>
                                <m:t>1</m:t>
                              </m:r>
                            </m:num>
                            <m:den>
                              <m:r>
                                <a:rPr lang="sr-Latn-CS" sz="1900" i="1">
                                  <a:latin typeface="Cambria Math"/>
                                </a:rPr>
                                <m:t>−1</m:t>
                              </m:r>
                            </m:den>
                          </m:f>
                        </m:e>
                      </m:d>
                      <m:r>
                        <a:rPr lang="sr-Latn-CS" sz="1900" i="1">
                          <a:latin typeface="Cambria Math"/>
                        </a:rPr>
                        <m:t>−</m:t>
                      </m:r>
                      <m:f>
                        <m:fPr>
                          <m:ctrlPr>
                            <a:rPr lang="en-US" sz="1900" i="1">
                              <a:latin typeface="Cambria Math" panose="02040503050406030204" pitchFamily="18" charset="0"/>
                            </a:rPr>
                          </m:ctrlPr>
                        </m:fPr>
                        <m:num>
                          <m:sSup>
                            <m:sSupPr>
                              <m:ctrlPr>
                                <a:rPr lang="en-US" sz="1900" i="1">
                                  <a:latin typeface="Cambria Math" panose="02040503050406030204" pitchFamily="18" charset="0"/>
                                </a:rPr>
                              </m:ctrlPr>
                            </m:sSupPr>
                            <m:e>
                              <m:r>
                                <a:rPr lang="sr-Latn-CS" sz="1900" i="1">
                                  <a:latin typeface="Cambria Math"/>
                                </a:rPr>
                                <m:t>𝑡</m:t>
                              </m:r>
                            </m:e>
                            <m:sup>
                              <m:r>
                                <a:rPr lang="sr-Latn-CS" sz="1900" i="1">
                                  <a:latin typeface="Cambria Math"/>
                                </a:rPr>
                                <m:t>2</m:t>
                              </m:r>
                            </m:sup>
                          </m:sSup>
                        </m:num>
                        <m:den>
                          <m:r>
                            <a:rPr lang="sr-Latn-CS" sz="1900" i="1">
                              <a:latin typeface="Cambria Math"/>
                            </a:rPr>
                            <m:t>2</m:t>
                          </m:r>
                        </m:den>
                      </m:f>
                      <m:d>
                        <m:dPr>
                          <m:begChr m:val="|"/>
                          <m:endChr m:val=""/>
                          <m:ctrlPr>
                            <a:rPr lang="en-US" sz="1900" i="1">
                              <a:latin typeface="Cambria Math" panose="02040503050406030204" pitchFamily="18" charset="0"/>
                            </a:rPr>
                          </m:ctrlPr>
                        </m:dPr>
                        <m:e>
                          <m:f>
                            <m:fPr>
                              <m:type m:val="noBar"/>
                              <m:ctrlPr>
                                <a:rPr lang="en-US" sz="1900" i="1">
                                  <a:latin typeface="Cambria Math" panose="02040503050406030204" pitchFamily="18" charset="0"/>
                                </a:rPr>
                              </m:ctrlPr>
                            </m:fPr>
                            <m:num>
                              <m:r>
                                <a:rPr lang="sr-Latn-CS" sz="1900" i="1">
                                  <a:latin typeface="Cambria Math"/>
                                </a:rPr>
                                <m:t>1</m:t>
                              </m:r>
                            </m:num>
                            <m:den>
                              <m:r>
                                <a:rPr lang="sr-Latn-CS" sz="1900" i="1">
                                  <a:latin typeface="Cambria Math"/>
                                </a:rPr>
                                <m:t>−1</m:t>
                              </m:r>
                            </m:den>
                          </m:f>
                        </m:e>
                      </m:d>
                      <m:r>
                        <a:rPr lang="sr-Latn-CS" sz="1900" i="1">
                          <a:latin typeface="Cambria Math"/>
                        </a:rPr>
                        <m:t>=</m:t>
                      </m:r>
                      <m:f>
                        <m:fPr>
                          <m:ctrlPr>
                            <a:rPr lang="en-US" sz="1900" i="1">
                              <a:latin typeface="Cambria Math" panose="02040503050406030204" pitchFamily="18" charset="0"/>
                            </a:rPr>
                          </m:ctrlPr>
                        </m:fPr>
                        <m:num>
                          <m:r>
                            <a:rPr lang="sr-Latn-CS" sz="1900" i="1">
                              <a:latin typeface="Cambria Math"/>
                            </a:rPr>
                            <m:t>2</m:t>
                          </m:r>
                        </m:num>
                        <m:den>
                          <m:r>
                            <a:rPr lang="sr-Latn-CS" sz="1900" i="1">
                              <a:latin typeface="Cambria Math"/>
                            </a:rPr>
                            <m:t>3</m:t>
                          </m:r>
                        </m:den>
                      </m:f>
                      <m:r>
                        <a:rPr lang="en-US" sz="1900" i="1">
                          <a:latin typeface="Cambria Math"/>
                        </a:rPr>
                        <m:t>,</m:t>
                      </m:r>
                    </m:oMath>
                    <m:oMath xmlns:m="http://schemas.openxmlformats.org/officeDocument/2006/math">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r>
                            <a:rPr lang="en-US" sz="1900" i="1">
                              <a:latin typeface="Cambria Math"/>
                            </a:rPr>
                            <m:t>(1−</m:t>
                          </m:r>
                          <m:sSup>
                            <m:sSupPr>
                              <m:ctrlPr>
                                <a:rPr lang="en-US" sz="1900" i="1">
                                  <a:latin typeface="Cambria Math" panose="02040503050406030204" pitchFamily="18" charset="0"/>
                                </a:rPr>
                              </m:ctrlPr>
                            </m:sSupPr>
                            <m:e>
                              <m:r>
                                <a:rPr lang="en-US" sz="1900" i="1">
                                  <a:latin typeface="Cambria Math"/>
                                </a:rPr>
                                <m:t>𝑡</m:t>
                              </m:r>
                            </m:e>
                            <m:sup>
                              <m:r>
                                <a:rPr lang="en-US" sz="1900" i="1">
                                  <a:latin typeface="Cambria Math"/>
                                </a:rPr>
                                <m:t>2</m:t>
                              </m:r>
                            </m:sup>
                          </m:sSup>
                          <m:r>
                            <a:rPr lang="en-US" sz="1900" i="1">
                              <a:latin typeface="Cambria Math"/>
                            </a:rPr>
                            <m:t>)</m:t>
                          </m:r>
                          <m:r>
                            <a:rPr lang="sr-Latn-CS" sz="1900" i="1">
                              <a:latin typeface="Cambria Math"/>
                            </a:rPr>
                            <m:t>𝑑𝑡</m:t>
                          </m:r>
                        </m:e>
                      </m:nary>
                      <m:r>
                        <m:rPr>
                          <m:aln/>
                        </m:rPr>
                        <a:rPr lang="en-US" sz="1900" i="1">
                          <a:latin typeface="Cambria Math"/>
                        </a:rPr>
                        <m:t>=</m:t>
                      </m:r>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r>
                            <a:rPr lang="sr-Latn-CS" sz="1900" i="1">
                              <a:latin typeface="Cambria Math"/>
                            </a:rPr>
                            <m:t>𝑑𝑡</m:t>
                          </m:r>
                        </m:e>
                      </m:nary>
                      <m:r>
                        <a:rPr lang="sr-Latn-CS" sz="1900" i="1">
                          <a:latin typeface="Cambria Math"/>
                        </a:rPr>
                        <m:t>−</m:t>
                      </m:r>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sSup>
                            <m:sSupPr>
                              <m:ctrlPr>
                                <a:rPr lang="en-US" sz="1900" i="1">
                                  <a:latin typeface="Cambria Math" panose="02040503050406030204" pitchFamily="18" charset="0"/>
                                </a:rPr>
                              </m:ctrlPr>
                            </m:sSupPr>
                            <m:e>
                              <m:r>
                                <a:rPr lang="en-US" sz="1900" i="1">
                                  <a:latin typeface="Cambria Math"/>
                                </a:rPr>
                                <m:t>𝑡</m:t>
                              </m:r>
                            </m:e>
                            <m:sup>
                              <m:r>
                                <a:rPr lang="en-US" sz="1900" i="1">
                                  <a:latin typeface="Cambria Math"/>
                                </a:rPr>
                                <m:t>2</m:t>
                              </m:r>
                            </m:sup>
                          </m:sSup>
                          <m:r>
                            <a:rPr lang="sr-Latn-CS" sz="1900" i="1">
                              <a:latin typeface="Cambria Math"/>
                            </a:rPr>
                            <m:t>𝑑𝑡</m:t>
                          </m:r>
                        </m:e>
                      </m:nary>
                      <m:r>
                        <a:rPr lang="en-US" sz="1900" i="1">
                          <a:latin typeface="Cambria Math"/>
                        </a:rPr>
                        <m:t>=</m:t>
                      </m:r>
                      <m:r>
                        <a:rPr lang="en-US" sz="1900" i="1">
                          <a:latin typeface="Cambria Math"/>
                        </a:rPr>
                        <m:t>𝑡</m:t>
                      </m:r>
                      <m:d>
                        <m:dPr>
                          <m:begChr m:val="|"/>
                          <m:endChr m:val=""/>
                          <m:ctrlPr>
                            <a:rPr lang="en-US" sz="1900" i="1">
                              <a:latin typeface="Cambria Math" panose="02040503050406030204" pitchFamily="18" charset="0"/>
                            </a:rPr>
                          </m:ctrlPr>
                        </m:dPr>
                        <m:e>
                          <m:f>
                            <m:fPr>
                              <m:type m:val="noBar"/>
                              <m:ctrlPr>
                                <a:rPr lang="en-US" sz="1900" i="1">
                                  <a:latin typeface="Cambria Math" panose="02040503050406030204" pitchFamily="18" charset="0"/>
                                </a:rPr>
                              </m:ctrlPr>
                            </m:fPr>
                            <m:num>
                              <m:r>
                                <a:rPr lang="sr-Latn-CS" sz="1900" i="1">
                                  <a:latin typeface="Cambria Math"/>
                                </a:rPr>
                                <m:t>1</m:t>
                              </m:r>
                            </m:num>
                            <m:den>
                              <m:r>
                                <a:rPr lang="sr-Latn-CS" sz="1900" i="1">
                                  <a:latin typeface="Cambria Math"/>
                                </a:rPr>
                                <m:t>−1</m:t>
                              </m:r>
                            </m:den>
                          </m:f>
                        </m:e>
                      </m:d>
                      <m:r>
                        <a:rPr lang="sr-Latn-CS" sz="1900" i="1">
                          <a:latin typeface="Cambria Math"/>
                        </a:rPr>
                        <m:t>−</m:t>
                      </m:r>
                      <m:f>
                        <m:fPr>
                          <m:ctrlPr>
                            <a:rPr lang="en-US" sz="1900" i="1">
                              <a:latin typeface="Cambria Math" panose="02040503050406030204" pitchFamily="18" charset="0"/>
                            </a:rPr>
                          </m:ctrlPr>
                        </m:fPr>
                        <m:num>
                          <m:sSup>
                            <m:sSupPr>
                              <m:ctrlPr>
                                <a:rPr lang="en-US" sz="1900" i="1">
                                  <a:latin typeface="Cambria Math" panose="02040503050406030204" pitchFamily="18" charset="0"/>
                                </a:rPr>
                              </m:ctrlPr>
                            </m:sSupPr>
                            <m:e>
                              <m:r>
                                <a:rPr lang="sr-Latn-CS" sz="1900" i="1">
                                  <a:latin typeface="Cambria Math"/>
                                </a:rPr>
                                <m:t>𝑡</m:t>
                              </m:r>
                            </m:e>
                            <m:sup>
                              <m:r>
                                <a:rPr lang="sr-Latn-CS" sz="1900" i="1">
                                  <a:latin typeface="Cambria Math"/>
                                </a:rPr>
                                <m:t>3</m:t>
                              </m:r>
                            </m:sup>
                          </m:sSup>
                        </m:num>
                        <m:den>
                          <m:r>
                            <a:rPr lang="sr-Latn-CS" sz="1900" i="1">
                              <a:latin typeface="Cambria Math"/>
                            </a:rPr>
                            <m:t>3</m:t>
                          </m:r>
                        </m:den>
                      </m:f>
                      <m:d>
                        <m:dPr>
                          <m:begChr m:val="|"/>
                          <m:endChr m:val=""/>
                          <m:ctrlPr>
                            <a:rPr lang="en-US" sz="1900" i="1">
                              <a:latin typeface="Cambria Math" panose="02040503050406030204" pitchFamily="18" charset="0"/>
                            </a:rPr>
                          </m:ctrlPr>
                        </m:dPr>
                        <m:e>
                          <m:f>
                            <m:fPr>
                              <m:type m:val="noBar"/>
                              <m:ctrlPr>
                                <a:rPr lang="en-US" sz="1900" i="1">
                                  <a:latin typeface="Cambria Math" panose="02040503050406030204" pitchFamily="18" charset="0"/>
                                </a:rPr>
                              </m:ctrlPr>
                            </m:fPr>
                            <m:num>
                              <m:r>
                                <a:rPr lang="sr-Latn-CS" sz="1900" i="1">
                                  <a:latin typeface="Cambria Math"/>
                                </a:rPr>
                                <m:t>1</m:t>
                              </m:r>
                            </m:num>
                            <m:den>
                              <m:r>
                                <a:rPr lang="sr-Latn-CS" sz="1900" i="1">
                                  <a:latin typeface="Cambria Math"/>
                                </a:rPr>
                                <m:t>−1</m:t>
                              </m:r>
                            </m:den>
                          </m:f>
                        </m:e>
                      </m:d>
                      <m:r>
                        <a:rPr lang="sr-Latn-CS" sz="1900" i="1">
                          <a:latin typeface="Cambria Math"/>
                        </a:rPr>
                        <m:t>=2−</m:t>
                      </m:r>
                      <m:f>
                        <m:fPr>
                          <m:ctrlPr>
                            <a:rPr lang="en-US" sz="1900" i="1">
                              <a:latin typeface="Cambria Math" panose="02040503050406030204" pitchFamily="18" charset="0"/>
                            </a:rPr>
                          </m:ctrlPr>
                        </m:fPr>
                        <m:num>
                          <m:r>
                            <a:rPr lang="sr-Latn-CS" sz="1900" i="1">
                              <a:latin typeface="Cambria Math"/>
                            </a:rPr>
                            <m:t>2</m:t>
                          </m:r>
                        </m:num>
                        <m:den>
                          <m:r>
                            <a:rPr lang="sr-Latn-CS" sz="1900" i="1">
                              <a:latin typeface="Cambria Math"/>
                            </a:rPr>
                            <m:t>3</m:t>
                          </m:r>
                        </m:den>
                      </m:f>
                      <m:r>
                        <a:rPr lang="sr-Latn-CS" sz="1900" i="1">
                          <a:latin typeface="Cambria Math"/>
                        </a:rPr>
                        <m:t>=</m:t>
                      </m:r>
                      <m:f>
                        <m:fPr>
                          <m:ctrlPr>
                            <a:rPr lang="en-US" sz="1900" i="1">
                              <a:latin typeface="Cambria Math" panose="02040503050406030204" pitchFamily="18" charset="0"/>
                            </a:rPr>
                          </m:ctrlPr>
                        </m:fPr>
                        <m:num>
                          <m:r>
                            <a:rPr lang="sr-Latn-CS" sz="1900" i="1">
                              <a:latin typeface="Cambria Math"/>
                            </a:rPr>
                            <m:t>4</m:t>
                          </m:r>
                        </m:num>
                        <m:den>
                          <m:r>
                            <a:rPr lang="sr-Latn-CS" sz="1900" i="1">
                              <a:latin typeface="Cambria Math"/>
                            </a:rPr>
                            <m:t>3</m:t>
                          </m:r>
                        </m:den>
                      </m:f>
                      <m:r>
                        <a:rPr lang="sr-Latn-CS" sz="1900" i="1">
                          <a:latin typeface="Cambria Math"/>
                        </a:rPr>
                        <m:t>,</m:t>
                      </m:r>
                    </m:oMath>
                    <m:oMath xmlns:m="http://schemas.openxmlformats.org/officeDocument/2006/math">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r>
                            <a:rPr lang="en-US" sz="1900" i="1">
                              <a:latin typeface="Cambria Math"/>
                            </a:rPr>
                            <m:t>𝑡</m:t>
                          </m:r>
                          <m:d>
                            <m:dPr>
                              <m:ctrlPr>
                                <a:rPr lang="en-US" sz="1900" i="1">
                                  <a:latin typeface="Cambria Math" panose="02040503050406030204" pitchFamily="18" charset="0"/>
                                </a:rPr>
                              </m:ctrlPr>
                            </m:dPr>
                            <m:e>
                              <m:r>
                                <a:rPr lang="en-US" sz="1900" i="1">
                                  <a:latin typeface="Cambria Math"/>
                                </a:rPr>
                                <m:t>𝑡</m:t>
                              </m:r>
                              <m:r>
                                <a:rPr lang="en-US" sz="1900" i="1">
                                  <a:latin typeface="Cambria Math"/>
                                </a:rPr>
                                <m:t>+1</m:t>
                              </m:r>
                            </m:e>
                          </m:d>
                          <m:r>
                            <a:rPr lang="sr-Latn-CS" sz="1900" i="1">
                              <a:latin typeface="Cambria Math"/>
                            </a:rPr>
                            <m:t>𝑑𝑡</m:t>
                          </m:r>
                        </m:e>
                      </m:nary>
                      <m:r>
                        <m:rPr>
                          <m:aln/>
                        </m:rPr>
                        <a:rPr lang="en-US" sz="1900" i="1">
                          <a:latin typeface="Cambria Math"/>
                        </a:rPr>
                        <m:t>=</m:t>
                      </m:r>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sSup>
                            <m:sSupPr>
                              <m:ctrlPr>
                                <a:rPr lang="en-US" sz="1900" i="1">
                                  <a:latin typeface="Cambria Math" panose="02040503050406030204" pitchFamily="18" charset="0"/>
                                </a:rPr>
                              </m:ctrlPr>
                            </m:sSupPr>
                            <m:e>
                              <m:r>
                                <a:rPr lang="en-US" sz="1900" i="1">
                                  <a:latin typeface="Cambria Math"/>
                                </a:rPr>
                                <m:t>𝑡</m:t>
                              </m:r>
                            </m:e>
                            <m:sup>
                              <m:r>
                                <a:rPr lang="en-US" sz="1900" i="1">
                                  <a:latin typeface="Cambria Math"/>
                                </a:rPr>
                                <m:t>2</m:t>
                              </m:r>
                            </m:sup>
                          </m:sSup>
                          <m:r>
                            <a:rPr lang="sr-Latn-CS" sz="1900" i="1">
                              <a:latin typeface="Cambria Math"/>
                            </a:rPr>
                            <m:t>𝑑𝑡</m:t>
                          </m:r>
                        </m:e>
                      </m:nary>
                      <m:r>
                        <a:rPr lang="sr-Latn-CS" sz="1900" i="1">
                          <a:latin typeface="Cambria Math"/>
                        </a:rPr>
                        <m:t>+</m:t>
                      </m:r>
                      <m:nary>
                        <m:naryPr>
                          <m:limLoc m:val="undOvr"/>
                          <m:ctrlPr>
                            <a:rPr lang="en-US" sz="1900" i="1">
                              <a:latin typeface="Cambria Math" panose="02040503050406030204" pitchFamily="18" charset="0"/>
                            </a:rPr>
                          </m:ctrlPr>
                        </m:naryPr>
                        <m:sub>
                          <m:r>
                            <a:rPr lang="sr-Latn-CS" sz="1900" i="1">
                              <a:latin typeface="Cambria Math"/>
                            </a:rPr>
                            <m:t>−1</m:t>
                          </m:r>
                        </m:sub>
                        <m:sup>
                          <m:r>
                            <a:rPr lang="sr-Latn-CS" sz="1900" i="1">
                              <a:latin typeface="Cambria Math"/>
                            </a:rPr>
                            <m:t>1</m:t>
                          </m:r>
                        </m:sup>
                        <m:e>
                          <m:r>
                            <a:rPr lang="en-US" sz="1900" i="1">
                              <a:latin typeface="Cambria Math"/>
                            </a:rPr>
                            <m:t>𝑡</m:t>
                          </m:r>
                          <m:r>
                            <a:rPr lang="sr-Latn-CS" sz="1900" i="1">
                              <a:latin typeface="Cambria Math"/>
                            </a:rPr>
                            <m:t>𝑑𝑡</m:t>
                          </m:r>
                        </m:e>
                      </m:nary>
                      <m:r>
                        <a:rPr lang="en-US" sz="1900" i="1">
                          <a:latin typeface="Cambria Math"/>
                        </a:rPr>
                        <m:t>=</m:t>
                      </m:r>
                      <m:f>
                        <m:fPr>
                          <m:ctrlPr>
                            <a:rPr lang="en-US" sz="1900" i="1">
                              <a:latin typeface="Cambria Math" panose="02040503050406030204" pitchFamily="18" charset="0"/>
                            </a:rPr>
                          </m:ctrlPr>
                        </m:fPr>
                        <m:num>
                          <m:sSup>
                            <m:sSupPr>
                              <m:ctrlPr>
                                <a:rPr lang="en-US" sz="1900" i="1">
                                  <a:latin typeface="Cambria Math" panose="02040503050406030204" pitchFamily="18" charset="0"/>
                                </a:rPr>
                              </m:ctrlPr>
                            </m:sSupPr>
                            <m:e>
                              <m:r>
                                <a:rPr lang="sr-Latn-CS" sz="1900" i="1">
                                  <a:latin typeface="Cambria Math"/>
                                </a:rPr>
                                <m:t>𝑡</m:t>
                              </m:r>
                            </m:e>
                            <m:sup>
                              <m:r>
                                <a:rPr lang="sr-Latn-CS" sz="1900" i="1">
                                  <a:latin typeface="Cambria Math"/>
                                </a:rPr>
                                <m:t>3</m:t>
                              </m:r>
                            </m:sup>
                          </m:sSup>
                        </m:num>
                        <m:den>
                          <m:r>
                            <a:rPr lang="sr-Latn-CS" sz="1900" i="1">
                              <a:latin typeface="Cambria Math"/>
                            </a:rPr>
                            <m:t>3</m:t>
                          </m:r>
                        </m:den>
                      </m:f>
                      <m:d>
                        <m:dPr>
                          <m:begChr m:val="|"/>
                          <m:endChr m:val=""/>
                          <m:ctrlPr>
                            <a:rPr lang="en-US" sz="1900" i="1">
                              <a:latin typeface="Cambria Math" panose="02040503050406030204" pitchFamily="18" charset="0"/>
                            </a:rPr>
                          </m:ctrlPr>
                        </m:dPr>
                        <m:e>
                          <m:f>
                            <m:fPr>
                              <m:type m:val="noBar"/>
                              <m:ctrlPr>
                                <a:rPr lang="en-US" sz="1900" i="1">
                                  <a:latin typeface="Cambria Math" panose="02040503050406030204" pitchFamily="18" charset="0"/>
                                </a:rPr>
                              </m:ctrlPr>
                            </m:fPr>
                            <m:num>
                              <m:r>
                                <a:rPr lang="sr-Latn-CS" sz="1900" i="1">
                                  <a:latin typeface="Cambria Math"/>
                                </a:rPr>
                                <m:t>1</m:t>
                              </m:r>
                            </m:num>
                            <m:den>
                              <m:r>
                                <a:rPr lang="sr-Latn-CS" sz="1900" i="1">
                                  <a:latin typeface="Cambria Math"/>
                                </a:rPr>
                                <m:t>−1</m:t>
                              </m:r>
                            </m:den>
                          </m:f>
                        </m:e>
                      </m:d>
                      <m:r>
                        <a:rPr lang="sr-Latn-CS" sz="1900" i="1">
                          <a:latin typeface="Cambria Math"/>
                        </a:rPr>
                        <m:t>+</m:t>
                      </m:r>
                      <m:f>
                        <m:fPr>
                          <m:ctrlPr>
                            <a:rPr lang="en-US" sz="1900" i="1">
                              <a:latin typeface="Cambria Math" panose="02040503050406030204" pitchFamily="18" charset="0"/>
                            </a:rPr>
                          </m:ctrlPr>
                        </m:fPr>
                        <m:num>
                          <m:sSup>
                            <m:sSupPr>
                              <m:ctrlPr>
                                <a:rPr lang="en-US" sz="1900" i="1">
                                  <a:latin typeface="Cambria Math" panose="02040503050406030204" pitchFamily="18" charset="0"/>
                                </a:rPr>
                              </m:ctrlPr>
                            </m:sSupPr>
                            <m:e>
                              <m:r>
                                <a:rPr lang="sr-Latn-CS" sz="1900" i="1">
                                  <a:latin typeface="Cambria Math"/>
                                </a:rPr>
                                <m:t>𝑡</m:t>
                              </m:r>
                            </m:e>
                            <m:sup>
                              <m:r>
                                <a:rPr lang="sr-Latn-CS" sz="1900" i="1">
                                  <a:latin typeface="Cambria Math"/>
                                </a:rPr>
                                <m:t>2</m:t>
                              </m:r>
                            </m:sup>
                          </m:sSup>
                        </m:num>
                        <m:den>
                          <m:r>
                            <a:rPr lang="sr-Latn-CS" sz="1900" i="1">
                              <a:latin typeface="Cambria Math"/>
                            </a:rPr>
                            <m:t>2</m:t>
                          </m:r>
                        </m:den>
                      </m:f>
                      <m:d>
                        <m:dPr>
                          <m:begChr m:val="|"/>
                          <m:endChr m:val=""/>
                          <m:ctrlPr>
                            <a:rPr lang="en-US" sz="1900" i="1">
                              <a:latin typeface="Cambria Math" panose="02040503050406030204" pitchFamily="18" charset="0"/>
                            </a:rPr>
                          </m:ctrlPr>
                        </m:dPr>
                        <m:e>
                          <m:f>
                            <m:fPr>
                              <m:type m:val="noBar"/>
                              <m:ctrlPr>
                                <a:rPr lang="en-US" sz="1900" i="1">
                                  <a:latin typeface="Cambria Math" panose="02040503050406030204" pitchFamily="18" charset="0"/>
                                </a:rPr>
                              </m:ctrlPr>
                            </m:fPr>
                            <m:num>
                              <m:r>
                                <a:rPr lang="sr-Latn-CS" sz="1900" i="1">
                                  <a:latin typeface="Cambria Math"/>
                                </a:rPr>
                                <m:t>1</m:t>
                              </m:r>
                            </m:num>
                            <m:den>
                              <m:r>
                                <a:rPr lang="sr-Latn-CS" sz="1900" i="1">
                                  <a:latin typeface="Cambria Math"/>
                                </a:rPr>
                                <m:t>−1</m:t>
                              </m:r>
                            </m:den>
                          </m:f>
                        </m:e>
                      </m:d>
                      <m:r>
                        <a:rPr lang="sr-Latn-CS" sz="1900" i="1">
                          <a:latin typeface="Cambria Math"/>
                        </a:rPr>
                        <m:t>=</m:t>
                      </m:r>
                      <m:f>
                        <m:fPr>
                          <m:ctrlPr>
                            <a:rPr lang="en-US" sz="1900" i="1">
                              <a:latin typeface="Cambria Math" panose="02040503050406030204" pitchFamily="18" charset="0"/>
                            </a:rPr>
                          </m:ctrlPr>
                        </m:fPr>
                        <m:num>
                          <m:r>
                            <a:rPr lang="sr-Latn-CS" sz="1900" i="1">
                              <a:latin typeface="Cambria Math"/>
                            </a:rPr>
                            <m:t>2</m:t>
                          </m:r>
                        </m:num>
                        <m:den>
                          <m:r>
                            <a:rPr lang="sr-Latn-CS" sz="1900" i="1">
                              <a:latin typeface="Cambria Math"/>
                            </a:rPr>
                            <m:t>3</m:t>
                          </m:r>
                        </m:den>
                      </m:f>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444" t="-625"/>
                </a:stretch>
              </a:blipFill>
            </p:spPr>
            <p:txBody>
              <a:bodyPr/>
              <a:lstStyle/>
              <a:p>
                <a:r>
                  <a:rPr lang="en-US">
                    <a:noFill/>
                  </a:rPr>
                  <a:t> </a:t>
                </a:r>
              </a:p>
            </p:txBody>
          </p:sp>
        </mc:Fallback>
      </mc:AlternateContent>
    </p:spTree>
    <p:extLst>
      <p:ext uri="{BB962C8B-B14F-4D97-AF65-F5344CB8AC3E}">
        <p14:creationId xmlns:p14="http://schemas.microsoft.com/office/powerpoint/2010/main" val="4080448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Izvo</a:t>
            </a:r>
            <a:r>
              <a:rPr lang="sr-Latn-RS" dirty="0"/>
              <a:t>đenje formule - </a:t>
            </a:r>
            <a:r>
              <a:rPr lang="sr-Latn-RS" altLang="sr-Latn-RS" dirty="0"/>
              <a:t>Simpsonova 1/3 metoda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sr-Latn-CS" i="1" smtClean="0">
                          <a:latin typeface="Cambria Math"/>
                        </a:rPr>
                        <m:t>𝐼</m:t>
                      </m:r>
                      <m:r>
                        <a:rPr lang="sr-Latn-CS" i="1" smtClean="0">
                          <a:latin typeface="Cambria Math"/>
                        </a:rPr>
                        <m:t>=</m:t>
                      </m:r>
                      <m:nary>
                        <m:naryPr>
                          <m:limLoc m:val="undOvr"/>
                          <m:ctrlPr>
                            <a:rPr lang="en-US" i="1">
                              <a:latin typeface="Cambria Math" panose="02040503050406030204" pitchFamily="18" charset="0"/>
                            </a:rPr>
                          </m:ctrlPr>
                        </m:naryPr>
                        <m:sub>
                          <m:r>
                            <a:rPr lang="sr-Latn-CS" i="1">
                              <a:latin typeface="Cambria Math"/>
                            </a:rPr>
                            <m:t>𝑎</m:t>
                          </m:r>
                        </m:sub>
                        <m:sup>
                          <m:r>
                            <a:rPr lang="sr-Latn-CS" i="1">
                              <a:latin typeface="Cambria Math"/>
                            </a:rPr>
                            <m:t>𝑏</m:t>
                          </m:r>
                        </m:sup>
                        <m:e>
                          <m:r>
                            <a:rPr lang="sr-Latn-CS" i="1">
                              <a:latin typeface="Cambria Math"/>
                            </a:rPr>
                            <m:t>𝑓</m:t>
                          </m:r>
                          <m:d>
                            <m:dPr>
                              <m:ctrlPr>
                                <a:rPr lang="en-US" i="1">
                                  <a:latin typeface="Cambria Math" panose="02040503050406030204" pitchFamily="18" charset="0"/>
                                </a:rPr>
                              </m:ctrlPr>
                            </m:dPr>
                            <m:e>
                              <m:r>
                                <a:rPr lang="sr-Latn-CS" i="1">
                                  <a:latin typeface="Cambria Math"/>
                                </a:rPr>
                                <m:t>𝑥</m:t>
                              </m:r>
                            </m:e>
                          </m:d>
                          <m:r>
                            <a:rPr lang="sr-Latn-CS" i="1">
                              <a:latin typeface="Cambria Math"/>
                            </a:rPr>
                            <m:t>𝑑𝑥</m:t>
                          </m:r>
                        </m:e>
                      </m:nary>
                      <m:r>
                        <a:rPr lang="sr-Latn-CS" i="1">
                          <a:latin typeface="Cambria Math"/>
                        </a:rPr>
                        <m:t>≈</m:t>
                      </m:r>
                      <m:nary>
                        <m:naryPr>
                          <m:limLoc m:val="undOvr"/>
                          <m:ctrlPr>
                            <a:rPr lang="en-US" i="1">
                              <a:latin typeface="Cambria Math" panose="02040503050406030204" pitchFamily="18" charset="0"/>
                            </a:rPr>
                          </m:ctrlPr>
                        </m:naryPr>
                        <m:sub>
                          <m:r>
                            <a:rPr lang="sr-Latn-CS" i="1">
                              <a:latin typeface="Cambria Math"/>
                            </a:rPr>
                            <m:t>𝑎</m:t>
                          </m:r>
                        </m:sub>
                        <m:sup>
                          <m:r>
                            <a:rPr lang="sr-Latn-CS" i="1">
                              <a:latin typeface="Cambria Math"/>
                            </a:rPr>
                            <m:t>𝑏</m:t>
                          </m:r>
                        </m:sup>
                        <m:e>
                          <m:sSub>
                            <m:sSubPr>
                              <m:ctrlPr>
                                <a:rPr lang="en-US" i="1">
                                  <a:latin typeface="Cambria Math" panose="02040503050406030204" pitchFamily="18" charset="0"/>
                                </a:rPr>
                              </m:ctrlPr>
                            </m:sSubPr>
                            <m:e>
                              <m:r>
                                <a:rPr lang="sr-Latn-CS" i="1">
                                  <a:latin typeface="Cambria Math"/>
                                </a:rPr>
                                <m:t>𝐿</m:t>
                              </m:r>
                            </m:e>
                            <m:sub>
                              <m:r>
                                <a:rPr lang="sr-Latn-CS" i="1">
                                  <a:latin typeface="Cambria Math"/>
                                </a:rPr>
                                <m:t>2</m:t>
                              </m:r>
                            </m:sub>
                          </m:sSub>
                          <m:d>
                            <m:dPr>
                              <m:ctrlPr>
                                <a:rPr lang="en-US" i="1">
                                  <a:latin typeface="Cambria Math" panose="02040503050406030204" pitchFamily="18" charset="0"/>
                                </a:rPr>
                              </m:ctrlPr>
                            </m:dPr>
                            <m:e>
                              <m:r>
                                <a:rPr lang="sr-Latn-CS" i="1">
                                  <a:latin typeface="Cambria Math"/>
                                </a:rPr>
                                <m:t>𝑥</m:t>
                              </m:r>
                            </m:e>
                          </m:d>
                          <m:r>
                            <a:rPr lang="sr-Latn-CS" i="1">
                              <a:latin typeface="Cambria Math"/>
                            </a:rPr>
                            <m:t>𝑑𝑥</m:t>
                          </m:r>
                          <m:r>
                            <a:rPr lang="sr-Latn-CS" i="1">
                              <a:latin typeface="Cambria Math"/>
                            </a:rPr>
                            <m:t>=</m:t>
                          </m:r>
                          <m:f>
                            <m:fPr>
                              <m:ctrlPr>
                                <a:rPr lang="en-US" i="1">
                                  <a:latin typeface="Cambria Math" panose="02040503050406030204" pitchFamily="18" charset="0"/>
                                </a:rPr>
                              </m:ctrlPr>
                            </m:fPr>
                            <m:num>
                              <m:r>
                                <a:rPr lang="sr-Latn-CS" i="1">
                                  <a:latin typeface="Cambria Math"/>
                                </a:rPr>
                                <m:t>h</m:t>
                              </m:r>
                            </m:num>
                            <m:den>
                              <m:r>
                                <a:rPr lang="sr-Latn-CS" i="1">
                                  <a:latin typeface="Cambria Math"/>
                                </a:rPr>
                                <m:t>2</m:t>
                              </m:r>
                            </m:den>
                          </m:f>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sr-Latn-CS" i="1">
                                      <a:latin typeface="Cambria Math"/>
                                    </a:rPr>
                                    <m:t>2</m:t>
                                  </m:r>
                                </m:num>
                                <m:den>
                                  <m:r>
                                    <a:rPr lang="sr-Latn-CS" i="1">
                                      <a:latin typeface="Cambria Math"/>
                                    </a:rPr>
                                    <m:t>3</m:t>
                                  </m:r>
                                </m:den>
                              </m:f>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r>
                                <a:rPr lang="sr-Latn-CS" i="1">
                                  <a:latin typeface="Cambria Math"/>
                                </a:rPr>
                                <m:t>+</m:t>
                              </m:r>
                              <m:f>
                                <m:fPr>
                                  <m:ctrlPr>
                                    <a:rPr lang="en-US" i="1">
                                      <a:latin typeface="Cambria Math" panose="02040503050406030204" pitchFamily="18" charset="0"/>
                                    </a:rPr>
                                  </m:ctrlPr>
                                </m:fPr>
                                <m:num>
                                  <m:r>
                                    <a:rPr lang="sr-Latn-CS" i="1">
                                      <a:latin typeface="Cambria Math"/>
                                    </a:rPr>
                                    <m:t>4</m:t>
                                  </m:r>
                                </m:num>
                                <m:den>
                                  <m:r>
                                    <a:rPr lang="sr-Latn-CS" i="1">
                                      <a:latin typeface="Cambria Math"/>
                                    </a:rPr>
                                    <m:t>3</m:t>
                                  </m:r>
                                </m:den>
                              </m:f>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r>
                                <a:rPr lang="sr-Latn-CS" i="1">
                                  <a:latin typeface="Cambria Math"/>
                                </a:rPr>
                                <m:t>+</m:t>
                              </m:r>
                              <m:f>
                                <m:fPr>
                                  <m:ctrlPr>
                                    <a:rPr lang="en-US" i="1">
                                      <a:latin typeface="Cambria Math" panose="02040503050406030204" pitchFamily="18" charset="0"/>
                                    </a:rPr>
                                  </m:ctrlPr>
                                </m:fPr>
                                <m:num>
                                  <m:r>
                                    <a:rPr lang="sr-Latn-CS" i="1">
                                      <a:latin typeface="Cambria Math"/>
                                    </a:rPr>
                                    <m:t>2</m:t>
                                  </m:r>
                                </m:num>
                                <m:den>
                                  <m:r>
                                    <a:rPr lang="sr-Latn-CS" i="1">
                                      <a:latin typeface="Cambria Math"/>
                                    </a:rPr>
                                    <m:t>3</m:t>
                                  </m:r>
                                </m:den>
                              </m:f>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e>
                          </m:d>
                        </m:e>
                      </m:nary>
                    </m:oMath>
                  </m:oMathPara>
                </a14:m>
                <a:endParaRPr lang="sr-Latn-RS" dirty="0"/>
              </a:p>
              <a:p>
                <a:pPr marL="0" indent="0">
                  <a:buNone/>
                </a:pPr>
                <a:endParaRPr lang="sr-Latn-RS" dirty="0"/>
              </a:p>
              <a:p>
                <a:pPr marL="0" indent="0">
                  <a:buNone/>
                </a:pPr>
                <a14:m>
                  <m:oMathPara xmlns:m="http://schemas.openxmlformats.org/officeDocument/2006/math">
                    <m:oMathParaPr>
                      <m:jc m:val="centerGroup"/>
                    </m:oMathParaPr>
                    <m:oMath xmlns:m="http://schemas.openxmlformats.org/officeDocument/2006/math">
                      <m:r>
                        <a:rPr lang="sr-Latn-RS" b="0" i="1" smtClean="0">
                          <a:latin typeface="Cambria Math"/>
                        </a:rPr>
                        <m:t>𝐼</m:t>
                      </m:r>
                      <m:r>
                        <a:rPr lang="en-US" b="0" i="1" smtClean="0">
                          <a:latin typeface="Cambria Math"/>
                        </a:rPr>
                        <m:t>=</m:t>
                      </m:r>
                      <m:f>
                        <m:fPr>
                          <m:ctrlPr>
                            <a:rPr lang="en-US" i="1">
                              <a:latin typeface="Cambria Math" panose="02040503050406030204" pitchFamily="18" charset="0"/>
                            </a:rPr>
                          </m:ctrlPr>
                        </m:fPr>
                        <m:num>
                          <m:r>
                            <a:rPr lang="sr-Latn-CS" i="1">
                              <a:latin typeface="Cambria Math"/>
                            </a:rPr>
                            <m:t>h</m:t>
                          </m:r>
                        </m:num>
                        <m:den>
                          <m:r>
                            <a:rPr lang="sr-Latn-CS" i="1">
                              <a:latin typeface="Cambria Math"/>
                            </a:rPr>
                            <m:t>3</m:t>
                          </m:r>
                        </m:den>
                      </m:f>
                      <m:d>
                        <m:dPr>
                          <m:begChr m:val="["/>
                          <m:endChr m:val="]"/>
                          <m:ctrlPr>
                            <a:rPr lang="en-US" i="1">
                              <a:latin typeface="Cambria Math" panose="02040503050406030204" pitchFamily="18" charset="0"/>
                            </a:rPr>
                          </m:ctrlPr>
                        </m:dPr>
                        <m:e>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r>
                            <a:rPr lang="sr-Latn-CS" i="1">
                              <a:latin typeface="Cambria Math"/>
                            </a:rPr>
                            <m:t>+4</m:t>
                          </m:r>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r>
                            <a:rPr lang="sr-Latn-CS" i="1">
                              <a:latin typeface="Cambria Math"/>
                            </a:rPr>
                            <m:t>+</m:t>
                          </m:r>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en-US">
                    <a:noFill/>
                  </a:rPr>
                  <a:t> </a:t>
                </a:r>
              </a:p>
            </p:txBody>
          </p:sp>
        </mc:Fallback>
      </mc:AlternateContent>
      <p:sp>
        <p:nvSpPr>
          <p:cNvPr id="4" name="Rectangle 3"/>
          <p:cNvSpPr/>
          <p:nvPr/>
        </p:nvSpPr>
        <p:spPr>
          <a:xfrm>
            <a:off x="2400300" y="3048000"/>
            <a:ext cx="4343400" cy="10668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2774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85800" y="228600"/>
            <a:ext cx="8229600" cy="1143000"/>
          </a:xfrm>
        </p:spPr>
        <p:txBody>
          <a:bodyPr/>
          <a:lstStyle/>
          <a:p>
            <a:r>
              <a:rPr lang="en-US" altLang="sr-Latn-RS" sz="4000"/>
              <a:t>Komopzitna Simpsonova 1/3 metoda </a:t>
            </a:r>
            <a:endParaRPr lang="sr-Latn-RS" altLang="sr-Latn-RS" sz="4000"/>
          </a:p>
        </p:txBody>
      </p:sp>
      <p:sp>
        <p:nvSpPr>
          <p:cNvPr id="31747" name="Freeform 25" descr="Dark downward diagonal"/>
          <p:cNvSpPr>
            <a:spLocks/>
          </p:cNvSpPr>
          <p:nvPr/>
        </p:nvSpPr>
        <p:spPr bwMode="auto">
          <a:xfrm>
            <a:off x="6321425" y="3752850"/>
            <a:ext cx="1374775" cy="2722563"/>
          </a:xfrm>
          <a:custGeom>
            <a:avLst/>
            <a:gdLst>
              <a:gd name="T0" fmla="*/ 0 w 866"/>
              <a:gd name="T1" fmla="*/ 2722563 h 1715"/>
              <a:gd name="T2" fmla="*/ 0 w 866"/>
              <a:gd name="T3" fmla="*/ 771525 h 1715"/>
              <a:gd name="T4" fmla="*/ 338138 w 866"/>
              <a:gd name="T5" fmla="*/ 777875 h 1715"/>
              <a:gd name="T6" fmla="*/ 568325 w 866"/>
              <a:gd name="T7" fmla="*/ 706438 h 1715"/>
              <a:gd name="T8" fmla="*/ 827088 w 866"/>
              <a:gd name="T9" fmla="*/ 519113 h 1715"/>
              <a:gd name="T10" fmla="*/ 1101725 w 866"/>
              <a:gd name="T11" fmla="*/ 260350 h 1715"/>
              <a:gd name="T12" fmla="*/ 1374775 w 866"/>
              <a:gd name="T13" fmla="*/ 0 h 1715"/>
              <a:gd name="T14" fmla="*/ 1366838 w 866"/>
              <a:gd name="T15" fmla="*/ 2722563 h 1715"/>
              <a:gd name="T16" fmla="*/ 0 w 866"/>
              <a:gd name="T17" fmla="*/ 2722563 h 171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66" h="1715">
                <a:moveTo>
                  <a:pt x="0" y="1715"/>
                </a:moveTo>
                <a:lnTo>
                  <a:pt x="0" y="486"/>
                </a:lnTo>
                <a:lnTo>
                  <a:pt x="213" y="490"/>
                </a:lnTo>
                <a:lnTo>
                  <a:pt x="358" y="445"/>
                </a:lnTo>
                <a:lnTo>
                  <a:pt x="521" y="327"/>
                </a:lnTo>
                <a:lnTo>
                  <a:pt x="694" y="164"/>
                </a:lnTo>
                <a:lnTo>
                  <a:pt x="866" y="0"/>
                </a:lnTo>
                <a:lnTo>
                  <a:pt x="861" y="1715"/>
                </a:lnTo>
                <a:lnTo>
                  <a:pt x="0" y="1715"/>
                </a:lnTo>
                <a:close/>
              </a:path>
            </a:pathLst>
          </a:custGeom>
          <a:pattFill prst="dkDnDiag">
            <a:fgClr>
              <a:srgbClr val="0099FF"/>
            </a:fgClr>
            <a:bgClr>
              <a:srgbClr val="FFFFFF"/>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
        <p:nvSpPr>
          <p:cNvPr id="31748" name="Freeform 26"/>
          <p:cNvSpPr>
            <a:spLocks/>
          </p:cNvSpPr>
          <p:nvPr/>
        </p:nvSpPr>
        <p:spPr bwMode="auto">
          <a:xfrm>
            <a:off x="6307138" y="3760788"/>
            <a:ext cx="1397000" cy="784225"/>
          </a:xfrm>
          <a:custGeom>
            <a:avLst/>
            <a:gdLst>
              <a:gd name="T0" fmla="*/ 0 w 880"/>
              <a:gd name="T1" fmla="*/ 769938 h 494"/>
              <a:gd name="T2" fmla="*/ 423863 w 880"/>
              <a:gd name="T3" fmla="*/ 755650 h 494"/>
              <a:gd name="T4" fmla="*/ 719138 w 880"/>
              <a:gd name="T5" fmla="*/ 596900 h 494"/>
              <a:gd name="T6" fmla="*/ 1397000 w 880"/>
              <a:gd name="T7" fmla="*/ 0 h 49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80" h="494">
                <a:moveTo>
                  <a:pt x="0" y="485"/>
                </a:moveTo>
                <a:cubicBezTo>
                  <a:pt x="96" y="489"/>
                  <a:pt x="192" y="494"/>
                  <a:pt x="267" y="476"/>
                </a:cubicBezTo>
                <a:cubicBezTo>
                  <a:pt x="342" y="458"/>
                  <a:pt x="351" y="455"/>
                  <a:pt x="453" y="376"/>
                </a:cubicBezTo>
                <a:cubicBezTo>
                  <a:pt x="555" y="297"/>
                  <a:pt x="717" y="148"/>
                  <a:pt x="880" y="0"/>
                </a:cubicBezTo>
              </a:path>
            </a:pathLst>
          </a:custGeom>
          <a:noFill/>
          <a:ln w="38100" cmpd="sng">
            <a:solidFill>
              <a:srgbClr val="00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
        <p:nvSpPr>
          <p:cNvPr id="31749" name="Freeform 27" descr="Dark downward diagonal"/>
          <p:cNvSpPr>
            <a:spLocks/>
          </p:cNvSpPr>
          <p:nvPr/>
        </p:nvSpPr>
        <p:spPr bwMode="auto">
          <a:xfrm>
            <a:off x="1741488" y="4106863"/>
            <a:ext cx="1527175" cy="2360612"/>
          </a:xfrm>
          <a:custGeom>
            <a:avLst/>
            <a:gdLst>
              <a:gd name="T0" fmla="*/ 0 w 962"/>
              <a:gd name="T1" fmla="*/ 2360612 h 1487"/>
              <a:gd name="T2" fmla="*/ 7938 w 962"/>
              <a:gd name="T3" fmla="*/ 1562100 h 1487"/>
              <a:gd name="T4" fmla="*/ 547688 w 962"/>
              <a:gd name="T5" fmla="*/ 661987 h 1487"/>
              <a:gd name="T6" fmla="*/ 879475 w 962"/>
              <a:gd name="T7" fmla="*/ 287337 h 1487"/>
              <a:gd name="T8" fmla="*/ 1217613 w 962"/>
              <a:gd name="T9" fmla="*/ 107950 h 1487"/>
              <a:gd name="T10" fmla="*/ 1360488 w 962"/>
              <a:gd name="T11" fmla="*/ 34925 h 1487"/>
              <a:gd name="T12" fmla="*/ 1527175 w 962"/>
              <a:gd name="T13" fmla="*/ 0 h 1487"/>
              <a:gd name="T14" fmla="*/ 1527175 w 962"/>
              <a:gd name="T15" fmla="*/ 2354262 h 1487"/>
              <a:gd name="T16" fmla="*/ 0 w 962"/>
              <a:gd name="T17" fmla="*/ 2360612 h 148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62" h="1487">
                <a:moveTo>
                  <a:pt x="0" y="1487"/>
                </a:moveTo>
                <a:lnTo>
                  <a:pt x="5" y="984"/>
                </a:lnTo>
                <a:lnTo>
                  <a:pt x="345" y="417"/>
                </a:lnTo>
                <a:lnTo>
                  <a:pt x="554" y="181"/>
                </a:lnTo>
                <a:lnTo>
                  <a:pt x="767" y="68"/>
                </a:lnTo>
                <a:lnTo>
                  <a:pt x="857" y="22"/>
                </a:lnTo>
                <a:lnTo>
                  <a:pt x="962" y="0"/>
                </a:lnTo>
                <a:lnTo>
                  <a:pt x="962" y="1483"/>
                </a:lnTo>
                <a:lnTo>
                  <a:pt x="0" y="1487"/>
                </a:lnTo>
                <a:close/>
              </a:path>
            </a:pathLst>
          </a:custGeom>
          <a:pattFill prst="dkDnDiag">
            <a:fgClr>
              <a:srgbClr val="0099FF"/>
            </a:fgClr>
            <a:bgClr>
              <a:srgbClr val="FFFFFF"/>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
        <p:nvSpPr>
          <p:cNvPr id="31750" name="Freeform 28" descr="Dark upward diagonal"/>
          <p:cNvSpPr>
            <a:spLocks/>
          </p:cNvSpPr>
          <p:nvPr/>
        </p:nvSpPr>
        <p:spPr bwMode="auto">
          <a:xfrm>
            <a:off x="3276600" y="3962400"/>
            <a:ext cx="1600200" cy="2514600"/>
          </a:xfrm>
          <a:custGeom>
            <a:avLst/>
            <a:gdLst>
              <a:gd name="T0" fmla="*/ 0 w 1008"/>
              <a:gd name="T1" fmla="*/ 2514600 h 1584"/>
              <a:gd name="T2" fmla="*/ 0 w 1008"/>
              <a:gd name="T3" fmla="*/ 152400 h 1584"/>
              <a:gd name="T4" fmla="*/ 457200 w 1008"/>
              <a:gd name="T5" fmla="*/ 0 h 1584"/>
              <a:gd name="T6" fmla="*/ 762000 w 1008"/>
              <a:gd name="T7" fmla="*/ 0 h 1584"/>
              <a:gd name="T8" fmla="*/ 1219200 w 1008"/>
              <a:gd name="T9" fmla="*/ 76200 h 1584"/>
              <a:gd name="T10" fmla="*/ 1600200 w 1008"/>
              <a:gd name="T11" fmla="*/ 228600 h 1584"/>
              <a:gd name="T12" fmla="*/ 1600200 w 1008"/>
              <a:gd name="T13" fmla="*/ 2514600 h 1584"/>
              <a:gd name="T14" fmla="*/ 0 w 1008"/>
              <a:gd name="T15" fmla="*/ 2514600 h 158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08" h="1584">
                <a:moveTo>
                  <a:pt x="0" y="1584"/>
                </a:moveTo>
                <a:lnTo>
                  <a:pt x="0" y="96"/>
                </a:lnTo>
                <a:lnTo>
                  <a:pt x="288" y="0"/>
                </a:lnTo>
                <a:lnTo>
                  <a:pt x="480" y="0"/>
                </a:lnTo>
                <a:lnTo>
                  <a:pt x="768" y="48"/>
                </a:lnTo>
                <a:lnTo>
                  <a:pt x="1008" y="144"/>
                </a:lnTo>
                <a:lnTo>
                  <a:pt x="1008" y="1584"/>
                </a:lnTo>
                <a:lnTo>
                  <a:pt x="0" y="1584"/>
                </a:lnTo>
                <a:close/>
              </a:path>
            </a:pathLst>
          </a:custGeom>
          <a:pattFill prst="dkUpDiag">
            <a:fgClr>
              <a:srgbClr val="0099FF"/>
            </a:fgClr>
            <a:bgClr>
              <a:srgbClr val="FFFFFF"/>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51" name="Line 29"/>
          <p:cNvSpPr>
            <a:spLocks noChangeShapeType="1"/>
          </p:cNvSpPr>
          <p:nvPr/>
        </p:nvSpPr>
        <p:spPr bwMode="auto">
          <a:xfrm>
            <a:off x="1066800" y="6477000"/>
            <a:ext cx="7010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52" name="Line 30"/>
          <p:cNvSpPr>
            <a:spLocks noChangeShapeType="1"/>
          </p:cNvSpPr>
          <p:nvPr/>
        </p:nvSpPr>
        <p:spPr bwMode="auto">
          <a:xfrm flipV="1">
            <a:off x="1066800" y="2819400"/>
            <a:ext cx="0" cy="3657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53" name="Freeform 31"/>
          <p:cNvSpPr>
            <a:spLocks/>
          </p:cNvSpPr>
          <p:nvPr/>
        </p:nvSpPr>
        <p:spPr bwMode="auto">
          <a:xfrm>
            <a:off x="1752600" y="3733800"/>
            <a:ext cx="5943600" cy="1905000"/>
          </a:xfrm>
          <a:custGeom>
            <a:avLst/>
            <a:gdLst>
              <a:gd name="T0" fmla="*/ 0 w 3648"/>
              <a:gd name="T1" fmla="*/ 1905000 h 1104"/>
              <a:gd name="T2" fmla="*/ 547437 w 3648"/>
              <a:gd name="T3" fmla="*/ 993913 h 1104"/>
              <a:gd name="T4" fmla="*/ 1251284 w 3648"/>
              <a:gd name="T5" fmla="*/ 496957 h 1104"/>
              <a:gd name="T6" fmla="*/ 1955132 w 3648"/>
              <a:gd name="T7" fmla="*/ 248478 h 1104"/>
              <a:gd name="T8" fmla="*/ 2580774 w 3648"/>
              <a:gd name="T9" fmla="*/ 248478 h 1104"/>
              <a:gd name="T10" fmla="*/ 3284621 w 3648"/>
              <a:gd name="T11" fmla="*/ 496957 h 1104"/>
              <a:gd name="T12" fmla="*/ 4144879 w 3648"/>
              <a:gd name="T13" fmla="*/ 828261 h 1104"/>
              <a:gd name="T14" fmla="*/ 5083342 w 3648"/>
              <a:gd name="T15" fmla="*/ 662609 h 1104"/>
              <a:gd name="T16" fmla="*/ 5630779 w 3648"/>
              <a:gd name="T17" fmla="*/ 331304 h 1104"/>
              <a:gd name="T18" fmla="*/ 5943600 w 3648"/>
              <a:gd name="T19" fmla="*/ 0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48" h="1104">
                <a:moveTo>
                  <a:pt x="0" y="1104"/>
                </a:moveTo>
                <a:cubicBezTo>
                  <a:pt x="104" y="908"/>
                  <a:pt x="208" y="712"/>
                  <a:pt x="336" y="576"/>
                </a:cubicBezTo>
                <a:cubicBezTo>
                  <a:pt x="464" y="440"/>
                  <a:pt x="624" y="360"/>
                  <a:pt x="768" y="288"/>
                </a:cubicBezTo>
                <a:cubicBezTo>
                  <a:pt x="912" y="216"/>
                  <a:pt x="1064" y="168"/>
                  <a:pt x="1200" y="144"/>
                </a:cubicBezTo>
                <a:cubicBezTo>
                  <a:pt x="1336" y="120"/>
                  <a:pt x="1448" y="120"/>
                  <a:pt x="1584" y="144"/>
                </a:cubicBezTo>
                <a:cubicBezTo>
                  <a:pt x="1720" y="168"/>
                  <a:pt x="1856" y="232"/>
                  <a:pt x="2016" y="288"/>
                </a:cubicBezTo>
                <a:cubicBezTo>
                  <a:pt x="2176" y="344"/>
                  <a:pt x="2360" y="464"/>
                  <a:pt x="2544" y="480"/>
                </a:cubicBezTo>
                <a:cubicBezTo>
                  <a:pt x="2728" y="496"/>
                  <a:pt x="2968" y="432"/>
                  <a:pt x="3120" y="384"/>
                </a:cubicBezTo>
                <a:cubicBezTo>
                  <a:pt x="3272" y="336"/>
                  <a:pt x="3368" y="256"/>
                  <a:pt x="3456" y="192"/>
                </a:cubicBezTo>
                <a:cubicBezTo>
                  <a:pt x="3544" y="128"/>
                  <a:pt x="3596" y="64"/>
                  <a:pt x="3648" y="0"/>
                </a:cubicBezTo>
              </a:path>
            </a:pathLst>
          </a:custGeom>
          <a:noFill/>
          <a:ln w="38100"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54" name="Line 32"/>
          <p:cNvSpPr>
            <a:spLocks noChangeShapeType="1"/>
          </p:cNvSpPr>
          <p:nvPr/>
        </p:nvSpPr>
        <p:spPr bwMode="auto">
          <a:xfrm>
            <a:off x="1752600" y="5638800"/>
            <a:ext cx="0" cy="838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55" name="Line 33"/>
          <p:cNvSpPr>
            <a:spLocks noChangeShapeType="1"/>
          </p:cNvSpPr>
          <p:nvPr/>
        </p:nvSpPr>
        <p:spPr bwMode="auto">
          <a:xfrm flipV="1">
            <a:off x="7696200" y="3733800"/>
            <a:ext cx="0" cy="2743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56" name="Text Box 34"/>
          <p:cNvSpPr txBox="1">
            <a:spLocks noChangeArrowheads="1"/>
          </p:cNvSpPr>
          <p:nvPr/>
        </p:nvSpPr>
        <p:spPr bwMode="auto">
          <a:xfrm>
            <a:off x="1447800" y="640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0</a:t>
            </a:r>
            <a:endParaRPr lang="en-US" altLang="sr-Latn-RS" sz="2400">
              <a:latin typeface="Times New Roman" pitchFamily="18" charset="0"/>
            </a:endParaRPr>
          </a:p>
        </p:txBody>
      </p:sp>
      <p:sp>
        <p:nvSpPr>
          <p:cNvPr id="31757" name="Text Box 35"/>
          <p:cNvSpPr txBox="1">
            <a:spLocks noChangeArrowheads="1"/>
          </p:cNvSpPr>
          <p:nvPr/>
        </p:nvSpPr>
        <p:spPr bwMode="auto">
          <a:xfrm>
            <a:off x="2971800" y="640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2</a:t>
            </a:r>
            <a:endParaRPr lang="en-US" altLang="sr-Latn-RS" sz="2400">
              <a:latin typeface="Times New Roman" pitchFamily="18" charset="0"/>
            </a:endParaRPr>
          </a:p>
        </p:txBody>
      </p:sp>
      <p:sp>
        <p:nvSpPr>
          <p:cNvPr id="31758" name="Text Box 36"/>
          <p:cNvSpPr txBox="1">
            <a:spLocks noChangeArrowheads="1"/>
          </p:cNvSpPr>
          <p:nvPr/>
        </p:nvSpPr>
        <p:spPr bwMode="auto">
          <a:xfrm>
            <a:off x="8153400" y="63246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x</a:t>
            </a:r>
            <a:endParaRPr lang="en-US" altLang="sr-Latn-RS" sz="2400">
              <a:latin typeface="Times New Roman" pitchFamily="18" charset="0"/>
            </a:endParaRPr>
          </a:p>
        </p:txBody>
      </p:sp>
      <p:sp>
        <p:nvSpPr>
          <p:cNvPr id="31759" name="Text Box 37"/>
          <p:cNvSpPr txBox="1">
            <a:spLocks noChangeArrowheads="1"/>
          </p:cNvSpPr>
          <p:nvPr/>
        </p:nvSpPr>
        <p:spPr bwMode="auto">
          <a:xfrm>
            <a:off x="4572000" y="36576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0000"/>
                </a:solidFill>
                <a:latin typeface="Times New Roman" pitchFamily="18" charset="0"/>
              </a:rPr>
              <a:t>f</a:t>
            </a:r>
            <a:r>
              <a:rPr lang="en-US" altLang="sr-Latn-RS" sz="2400" b="1">
                <a:solidFill>
                  <a:srgbClr val="FF0000"/>
                </a:solidFill>
                <a:latin typeface="Times New Roman" pitchFamily="18" charset="0"/>
              </a:rPr>
              <a:t>(</a:t>
            </a:r>
            <a:r>
              <a:rPr lang="en-US" altLang="sr-Latn-RS" sz="2400" b="1" i="1">
                <a:solidFill>
                  <a:srgbClr val="FF0000"/>
                </a:solidFill>
                <a:latin typeface="Times New Roman" pitchFamily="18" charset="0"/>
              </a:rPr>
              <a:t>x</a:t>
            </a:r>
            <a:r>
              <a:rPr lang="en-US" altLang="sr-Latn-RS" sz="2400" b="1">
                <a:solidFill>
                  <a:srgbClr val="FF0000"/>
                </a:solidFill>
                <a:latin typeface="Times New Roman" pitchFamily="18" charset="0"/>
              </a:rPr>
              <a:t>)</a:t>
            </a:r>
            <a:endParaRPr lang="en-US" altLang="sr-Latn-RS" sz="2400">
              <a:solidFill>
                <a:srgbClr val="FF0000"/>
              </a:solidFill>
              <a:latin typeface="Times New Roman" pitchFamily="18" charset="0"/>
            </a:endParaRPr>
          </a:p>
        </p:txBody>
      </p:sp>
      <p:sp>
        <p:nvSpPr>
          <p:cNvPr id="31760" name="Line 38"/>
          <p:cNvSpPr>
            <a:spLocks noChangeShapeType="1"/>
          </p:cNvSpPr>
          <p:nvPr/>
        </p:nvSpPr>
        <p:spPr bwMode="auto">
          <a:xfrm>
            <a:off x="4876800" y="4191000"/>
            <a:ext cx="0" cy="22860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61" name="Text Box 39"/>
          <p:cNvSpPr txBox="1">
            <a:spLocks noChangeArrowheads="1"/>
          </p:cNvSpPr>
          <p:nvPr/>
        </p:nvSpPr>
        <p:spPr bwMode="auto">
          <a:xfrm>
            <a:off x="46482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4</a:t>
            </a:r>
            <a:endParaRPr lang="en-US" altLang="sr-Latn-RS" sz="2400">
              <a:latin typeface="Times New Roman" pitchFamily="18" charset="0"/>
            </a:endParaRPr>
          </a:p>
        </p:txBody>
      </p:sp>
      <p:sp>
        <p:nvSpPr>
          <p:cNvPr id="31762" name="Text Box 40"/>
          <p:cNvSpPr txBox="1">
            <a:spLocks noChangeArrowheads="1"/>
          </p:cNvSpPr>
          <p:nvPr/>
        </p:nvSpPr>
        <p:spPr bwMode="auto">
          <a:xfrm>
            <a:off x="1905000" y="640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h</a:t>
            </a:r>
            <a:endParaRPr lang="en-US" altLang="sr-Latn-RS" sz="2400">
              <a:latin typeface="Times New Roman" pitchFamily="18" charset="0"/>
            </a:endParaRPr>
          </a:p>
        </p:txBody>
      </p:sp>
      <p:sp>
        <p:nvSpPr>
          <p:cNvPr id="31763" name="Text Box 41"/>
          <p:cNvSpPr txBox="1">
            <a:spLocks noChangeArrowheads="1"/>
          </p:cNvSpPr>
          <p:nvPr/>
        </p:nvSpPr>
        <p:spPr bwMode="auto">
          <a:xfrm>
            <a:off x="33528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h</a:t>
            </a:r>
            <a:endParaRPr lang="en-US" altLang="sr-Latn-RS" sz="2400">
              <a:latin typeface="Times New Roman" pitchFamily="18" charset="0"/>
            </a:endParaRPr>
          </a:p>
        </p:txBody>
      </p:sp>
      <p:sp>
        <p:nvSpPr>
          <p:cNvPr id="31764" name="Line 42"/>
          <p:cNvSpPr>
            <a:spLocks noChangeShapeType="1"/>
          </p:cNvSpPr>
          <p:nvPr/>
        </p:nvSpPr>
        <p:spPr bwMode="auto">
          <a:xfrm>
            <a:off x="6324600" y="4572000"/>
            <a:ext cx="0" cy="19050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65" name="Text Box 43"/>
          <p:cNvSpPr txBox="1">
            <a:spLocks noChangeArrowheads="1"/>
          </p:cNvSpPr>
          <p:nvPr/>
        </p:nvSpPr>
        <p:spPr bwMode="auto">
          <a:xfrm>
            <a:off x="5943600" y="6400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n-2</a:t>
            </a:r>
            <a:endParaRPr lang="en-US" altLang="sr-Latn-RS" sz="2400" b="1" i="1">
              <a:latin typeface="Times New Roman" pitchFamily="18" charset="0"/>
            </a:endParaRPr>
          </a:p>
        </p:txBody>
      </p:sp>
      <p:sp>
        <p:nvSpPr>
          <p:cNvPr id="31766" name="Text Box 44"/>
          <p:cNvSpPr txBox="1">
            <a:spLocks noChangeArrowheads="1"/>
          </p:cNvSpPr>
          <p:nvPr/>
        </p:nvSpPr>
        <p:spPr bwMode="auto">
          <a:xfrm>
            <a:off x="25146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h</a:t>
            </a:r>
          </a:p>
        </p:txBody>
      </p:sp>
      <p:sp>
        <p:nvSpPr>
          <p:cNvPr id="31767" name="Line 45"/>
          <p:cNvSpPr>
            <a:spLocks noChangeShapeType="1"/>
          </p:cNvSpPr>
          <p:nvPr/>
        </p:nvSpPr>
        <p:spPr bwMode="auto">
          <a:xfrm flipV="1">
            <a:off x="3276600" y="4114800"/>
            <a:ext cx="0" cy="2362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68" name="Text Box 46"/>
          <p:cNvSpPr txBox="1">
            <a:spLocks noChangeArrowheads="1"/>
          </p:cNvSpPr>
          <p:nvPr/>
        </p:nvSpPr>
        <p:spPr bwMode="auto">
          <a:xfrm>
            <a:off x="74676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n</a:t>
            </a:r>
            <a:endParaRPr lang="en-US" altLang="sr-Latn-RS" sz="2400">
              <a:latin typeface="Times New Roman" pitchFamily="18" charset="0"/>
            </a:endParaRPr>
          </a:p>
        </p:txBody>
      </p:sp>
      <p:graphicFrame>
        <p:nvGraphicFramePr>
          <p:cNvPr id="31769" name="Object 47"/>
          <p:cNvGraphicFramePr>
            <a:graphicFrameLocks noChangeAspect="1"/>
          </p:cNvGraphicFramePr>
          <p:nvPr/>
        </p:nvGraphicFramePr>
        <p:xfrm>
          <a:off x="3276600" y="2514600"/>
          <a:ext cx="1447800" cy="915988"/>
        </p:xfrm>
        <a:graphic>
          <a:graphicData uri="http://schemas.openxmlformats.org/presentationml/2006/ole">
            <mc:AlternateContent xmlns:mc="http://schemas.openxmlformats.org/markup-compatibility/2006">
              <mc:Choice xmlns:v="urn:schemas-microsoft-com:vml" Requires="v">
                <p:oleObj name="Equation" r:id="rId2" imgW="622030" imgH="393529" progId="Equation.3">
                  <p:embed/>
                </p:oleObj>
              </mc:Choice>
              <mc:Fallback>
                <p:oleObj name="Equation" r:id="rId2" imgW="622030" imgH="393529"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514600"/>
                        <a:ext cx="1447800" cy="915988"/>
                      </a:xfrm>
                      <a:prstGeom prst="rect">
                        <a:avLst/>
                      </a:prstGeom>
                      <a:solidFill>
                        <a:srgbClr val="FFCC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70" name="Line 48"/>
          <p:cNvSpPr>
            <a:spLocks noChangeShapeType="1"/>
          </p:cNvSpPr>
          <p:nvPr/>
        </p:nvSpPr>
        <p:spPr bwMode="auto">
          <a:xfrm flipV="1">
            <a:off x="2514600" y="4495800"/>
            <a:ext cx="0" cy="1981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71" name="Line 49"/>
          <p:cNvSpPr>
            <a:spLocks noChangeShapeType="1"/>
          </p:cNvSpPr>
          <p:nvPr/>
        </p:nvSpPr>
        <p:spPr bwMode="auto">
          <a:xfrm flipV="1">
            <a:off x="4038600" y="3962400"/>
            <a:ext cx="0" cy="25146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72" name="Line 50"/>
          <p:cNvSpPr>
            <a:spLocks noChangeShapeType="1"/>
          </p:cNvSpPr>
          <p:nvPr/>
        </p:nvSpPr>
        <p:spPr bwMode="auto">
          <a:xfrm flipV="1">
            <a:off x="7010400" y="4343400"/>
            <a:ext cx="0" cy="21336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73" name="Text Box 51"/>
          <p:cNvSpPr txBox="1">
            <a:spLocks noChangeArrowheads="1"/>
          </p:cNvSpPr>
          <p:nvPr/>
        </p:nvSpPr>
        <p:spPr bwMode="auto">
          <a:xfrm>
            <a:off x="5029200" y="5105400"/>
            <a:ext cx="1066800" cy="641350"/>
          </a:xfrm>
          <a:prstGeom prst="rect">
            <a:avLst/>
          </a:prstGeom>
          <a:noFill/>
          <a:ln>
            <a:noFill/>
          </a:ln>
          <a:effectLst/>
          <a:extLst>
            <a:ext uri="{909E8E84-426E-40DD-AFC4-6F175D3DCCD1}">
              <a14:hiddenFill xmlns:a14="http://schemas.microsoft.com/office/drawing/2010/main">
                <a:solidFill>
                  <a:srgbClr val="0099FF"/>
                </a:solidFill>
              </a14:hiddenFill>
            </a:ext>
            <a:ext uri="{91240B29-F687-4F45-9708-019B960494DF}">
              <a14:hiddenLine xmlns:a14="http://schemas.microsoft.com/office/drawing/2010/main" w="9525">
                <a:solidFill>
                  <a:srgbClr val="00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3600" b="1">
                <a:solidFill>
                  <a:srgbClr val="0099FF"/>
                </a:solidFill>
                <a:latin typeface="Times New Roman" pitchFamily="18" charset="0"/>
              </a:rPr>
              <a:t>…...</a:t>
            </a:r>
            <a:endParaRPr lang="en-US" altLang="sr-Latn-RS" sz="3600" b="1">
              <a:latin typeface="Times New Roman" pitchFamily="18" charset="0"/>
            </a:endParaRPr>
          </a:p>
        </p:txBody>
      </p:sp>
      <p:sp>
        <p:nvSpPr>
          <p:cNvPr id="31774" name="Text Box 52"/>
          <p:cNvSpPr txBox="1">
            <a:spLocks noChangeArrowheads="1"/>
          </p:cNvSpPr>
          <p:nvPr/>
        </p:nvSpPr>
        <p:spPr bwMode="auto">
          <a:xfrm>
            <a:off x="914400" y="1524000"/>
            <a:ext cx="7010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buFontTx/>
              <a:buChar char="•"/>
            </a:pPr>
            <a:r>
              <a:rPr lang="en-US" altLang="sr-Latn-RS" sz="3200">
                <a:cs typeface="Arial" charset="0"/>
              </a:rPr>
              <a:t> Delimo [a,b] na podintervale.</a:t>
            </a:r>
          </a:p>
        </p:txBody>
      </p:sp>
      <p:sp>
        <p:nvSpPr>
          <p:cNvPr id="31775" name="Text Box 53"/>
          <p:cNvSpPr txBox="1">
            <a:spLocks noChangeArrowheads="1"/>
          </p:cNvSpPr>
          <p:nvPr/>
        </p:nvSpPr>
        <p:spPr bwMode="auto">
          <a:xfrm>
            <a:off x="4114800" y="64008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h</a:t>
            </a:r>
            <a:endParaRPr lang="en-US" altLang="sr-Latn-RS" sz="2400">
              <a:latin typeface="Times New Roman" pitchFamily="18" charset="0"/>
            </a:endParaRPr>
          </a:p>
        </p:txBody>
      </p:sp>
      <p:sp>
        <p:nvSpPr>
          <p:cNvPr id="31776" name="Text Box 54"/>
          <p:cNvSpPr txBox="1">
            <a:spLocks noChangeArrowheads="1"/>
          </p:cNvSpPr>
          <p:nvPr/>
        </p:nvSpPr>
        <p:spPr bwMode="auto">
          <a:xfrm>
            <a:off x="3733800" y="640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3</a:t>
            </a:r>
            <a:endParaRPr lang="en-US" altLang="sr-Latn-RS" sz="2400">
              <a:latin typeface="Times New Roman" pitchFamily="18" charset="0"/>
            </a:endParaRPr>
          </a:p>
        </p:txBody>
      </p:sp>
      <p:sp>
        <p:nvSpPr>
          <p:cNvPr id="31777" name="Text Box 55"/>
          <p:cNvSpPr txBox="1">
            <a:spLocks noChangeArrowheads="1"/>
          </p:cNvSpPr>
          <p:nvPr/>
        </p:nvSpPr>
        <p:spPr bwMode="auto">
          <a:xfrm>
            <a:off x="2286000" y="64008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1</a:t>
            </a:r>
            <a:endParaRPr lang="en-US" altLang="sr-Latn-RS" sz="2400">
              <a:latin typeface="Times New Roman" pitchFamily="18" charset="0"/>
            </a:endParaRPr>
          </a:p>
        </p:txBody>
      </p:sp>
      <p:sp>
        <p:nvSpPr>
          <p:cNvPr id="31778" name="Text Box 56"/>
          <p:cNvSpPr txBox="1">
            <a:spLocks noChangeArrowheads="1"/>
          </p:cNvSpPr>
          <p:nvPr/>
        </p:nvSpPr>
        <p:spPr bwMode="auto">
          <a:xfrm>
            <a:off x="6629400" y="64008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n-1</a:t>
            </a:r>
            <a:endParaRPr lang="en-US" altLang="sr-Latn-RS" sz="2400" b="1" i="1">
              <a:latin typeface="Times New Roman" pitchFamily="18" charset="0"/>
            </a:endParaRPr>
          </a:p>
        </p:txBody>
      </p:sp>
      <p:sp>
        <p:nvSpPr>
          <p:cNvPr id="31779" name="Freeform 57"/>
          <p:cNvSpPr>
            <a:spLocks/>
          </p:cNvSpPr>
          <p:nvPr/>
        </p:nvSpPr>
        <p:spPr bwMode="auto">
          <a:xfrm>
            <a:off x="1752600" y="4114800"/>
            <a:ext cx="1524000" cy="1524000"/>
          </a:xfrm>
          <a:custGeom>
            <a:avLst/>
            <a:gdLst>
              <a:gd name="T0" fmla="*/ 0 w 960"/>
              <a:gd name="T1" fmla="*/ 1524000 h 960"/>
              <a:gd name="T2" fmla="*/ 381000 w 960"/>
              <a:gd name="T3" fmla="*/ 914400 h 960"/>
              <a:gd name="T4" fmla="*/ 762000 w 960"/>
              <a:gd name="T5" fmla="*/ 381000 h 960"/>
              <a:gd name="T6" fmla="*/ 1219200 w 960"/>
              <a:gd name="T7" fmla="*/ 76200 h 960"/>
              <a:gd name="T8" fmla="*/ 1524000 w 960"/>
              <a:gd name="T9" fmla="*/ 0 h 96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0" h="960">
                <a:moveTo>
                  <a:pt x="0" y="960"/>
                </a:moveTo>
                <a:cubicBezTo>
                  <a:pt x="80" y="828"/>
                  <a:pt x="160" y="696"/>
                  <a:pt x="240" y="576"/>
                </a:cubicBezTo>
                <a:cubicBezTo>
                  <a:pt x="320" y="456"/>
                  <a:pt x="392" y="328"/>
                  <a:pt x="480" y="240"/>
                </a:cubicBezTo>
                <a:cubicBezTo>
                  <a:pt x="568" y="152"/>
                  <a:pt x="688" y="88"/>
                  <a:pt x="768" y="48"/>
                </a:cubicBezTo>
                <a:cubicBezTo>
                  <a:pt x="848" y="8"/>
                  <a:pt x="904" y="4"/>
                  <a:pt x="960" y="0"/>
                </a:cubicBezTo>
              </a:path>
            </a:pathLst>
          </a:custGeom>
          <a:noFill/>
          <a:ln w="38100" cmpd="sng">
            <a:solidFill>
              <a:srgbClr val="0099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80" name="Freeform 58"/>
          <p:cNvSpPr>
            <a:spLocks/>
          </p:cNvSpPr>
          <p:nvPr/>
        </p:nvSpPr>
        <p:spPr bwMode="auto">
          <a:xfrm>
            <a:off x="3276600" y="3937000"/>
            <a:ext cx="1600200" cy="254000"/>
          </a:xfrm>
          <a:custGeom>
            <a:avLst/>
            <a:gdLst>
              <a:gd name="T0" fmla="*/ 0 w 1008"/>
              <a:gd name="T1" fmla="*/ 177800 h 160"/>
              <a:gd name="T2" fmla="*/ 152400 w 1008"/>
              <a:gd name="T3" fmla="*/ 101600 h 160"/>
              <a:gd name="T4" fmla="*/ 762000 w 1008"/>
              <a:gd name="T5" fmla="*/ 25400 h 160"/>
              <a:gd name="T6" fmla="*/ 1600200 w 1008"/>
              <a:gd name="T7" fmla="*/ 254000 h 1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08" h="160">
                <a:moveTo>
                  <a:pt x="0" y="112"/>
                </a:moveTo>
                <a:cubicBezTo>
                  <a:pt x="8" y="96"/>
                  <a:pt x="16" y="80"/>
                  <a:pt x="96" y="64"/>
                </a:cubicBezTo>
                <a:cubicBezTo>
                  <a:pt x="176" y="48"/>
                  <a:pt x="328" y="0"/>
                  <a:pt x="480" y="16"/>
                </a:cubicBezTo>
                <a:cubicBezTo>
                  <a:pt x="632" y="32"/>
                  <a:pt x="920" y="136"/>
                  <a:pt x="1008" y="160"/>
                </a:cubicBezTo>
              </a:path>
            </a:pathLst>
          </a:custGeom>
          <a:noFill/>
          <a:ln w="38100" cmpd="sng">
            <a:solidFill>
              <a:srgbClr val="0099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1781" name="Oval 59"/>
          <p:cNvSpPr>
            <a:spLocks noChangeArrowheads="1"/>
          </p:cNvSpPr>
          <p:nvPr/>
        </p:nvSpPr>
        <p:spPr bwMode="auto">
          <a:xfrm>
            <a:off x="2438400" y="4419600"/>
            <a:ext cx="152400" cy="1524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1782" name="Oval 60"/>
          <p:cNvSpPr>
            <a:spLocks noChangeArrowheads="1"/>
          </p:cNvSpPr>
          <p:nvPr/>
        </p:nvSpPr>
        <p:spPr bwMode="auto">
          <a:xfrm>
            <a:off x="1676400" y="55626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1783" name="Oval 61"/>
          <p:cNvSpPr>
            <a:spLocks noChangeArrowheads="1"/>
          </p:cNvSpPr>
          <p:nvPr/>
        </p:nvSpPr>
        <p:spPr bwMode="auto">
          <a:xfrm>
            <a:off x="3200400" y="40386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1784" name="Oval 62"/>
          <p:cNvSpPr>
            <a:spLocks noChangeArrowheads="1"/>
          </p:cNvSpPr>
          <p:nvPr/>
        </p:nvSpPr>
        <p:spPr bwMode="auto">
          <a:xfrm>
            <a:off x="3962400" y="3886200"/>
            <a:ext cx="152400" cy="1524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1785" name="Oval 63"/>
          <p:cNvSpPr>
            <a:spLocks noChangeArrowheads="1"/>
          </p:cNvSpPr>
          <p:nvPr/>
        </p:nvSpPr>
        <p:spPr bwMode="auto">
          <a:xfrm>
            <a:off x="4800600" y="41148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1786" name="Oval 64"/>
          <p:cNvSpPr>
            <a:spLocks noChangeArrowheads="1"/>
          </p:cNvSpPr>
          <p:nvPr/>
        </p:nvSpPr>
        <p:spPr bwMode="auto">
          <a:xfrm>
            <a:off x="6248400" y="44196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1787" name="Oval 65"/>
          <p:cNvSpPr>
            <a:spLocks noChangeArrowheads="1"/>
          </p:cNvSpPr>
          <p:nvPr/>
        </p:nvSpPr>
        <p:spPr bwMode="auto">
          <a:xfrm>
            <a:off x="6934200" y="4267200"/>
            <a:ext cx="152400" cy="152400"/>
          </a:xfrm>
          <a:prstGeom prst="ellipse">
            <a:avLst/>
          </a:prstGeom>
          <a:solidFill>
            <a:schemeClr val="fo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1788" name="Oval 66"/>
          <p:cNvSpPr>
            <a:spLocks noChangeArrowheads="1"/>
          </p:cNvSpPr>
          <p:nvPr/>
        </p:nvSpPr>
        <p:spPr bwMode="auto">
          <a:xfrm>
            <a:off x="7620000" y="36576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Tree>
    <p:extLst>
      <p:ext uri="{BB962C8B-B14F-4D97-AF65-F5344CB8AC3E}">
        <p14:creationId xmlns:p14="http://schemas.microsoft.com/office/powerpoint/2010/main" val="32903879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143000" y="304800"/>
            <a:ext cx="7772400" cy="754063"/>
          </a:xfrm>
        </p:spPr>
        <p:txBody>
          <a:bodyPr>
            <a:normAutofit fontScale="90000"/>
          </a:bodyPr>
          <a:lstStyle/>
          <a:p>
            <a:r>
              <a:rPr lang="en-US" altLang="sr-Latn-RS"/>
              <a:t>Komopzitna Simpsonova 1/3 metoda</a:t>
            </a:r>
          </a:p>
        </p:txBody>
      </p:sp>
      <p:pic>
        <p:nvPicPr>
          <p:cNvPr id="32771" name="Picture 4" descr="cha92657_16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562" y="1984375"/>
            <a:ext cx="5791200" cy="4532313"/>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772" name="Text Box 5"/>
          <p:cNvSpPr txBox="1">
            <a:spLocks noChangeArrowheads="1"/>
          </p:cNvSpPr>
          <p:nvPr/>
        </p:nvSpPr>
        <p:spPr bwMode="auto">
          <a:xfrm>
            <a:off x="304800" y="1371600"/>
            <a:ext cx="8839200" cy="5794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buFontTx/>
              <a:buChar char="•"/>
            </a:pPr>
            <a:r>
              <a:rPr lang="en-US" altLang="sr-Latn-RS" sz="3200">
                <a:cs typeface="Arial" charset="0"/>
              </a:rPr>
              <a:t> </a:t>
            </a:r>
            <a:r>
              <a:rPr lang="en-US" altLang="sr-Latn-RS" sz="2400">
                <a:cs typeface="Arial" charset="0"/>
              </a:rPr>
              <a:t>Primenljivo samo ako je broj podintervala</a:t>
            </a:r>
            <a:r>
              <a:rPr lang="sr-Latn-RS" altLang="sr-Latn-RS" sz="2400">
                <a:cs typeface="Arial" charset="0"/>
              </a:rPr>
              <a:t> (ne tačaka)</a:t>
            </a:r>
            <a:r>
              <a:rPr lang="en-US" altLang="sr-Latn-RS" sz="2400">
                <a:cs typeface="Arial" charset="0"/>
              </a:rPr>
              <a:t> paran.</a:t>
            </a:r>
          </a:p>
        </p:txBody>
      </p:sp>
      <mc:AlternateContent xmlns:mc="http://schemas.openxmlformats.org/markup-compatibility/2006" xmlns:a14="http://schemas.microsoft.com/office/drawing/2010/main">
        <mc:Choice Requires="a14">
          <p:sp>
            <p:nvSpPr>
              <p:cNvPr id="2" name="Rectangle 1"/>
              <p:cNvSpPr/>
              <p:nvPr/>
            </p:nvSpPr>
            <p:spPr>
              <a:xfrm>
                <a:off x="5715000" y="1984374"/>
                <a:ext cx="3276600" cy="618246"/>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sr-Latn-RS" i="1">
                          <a:latin typeface="Cambria Math"/>
                        </a:rPr>
                        <m:t>𝐼</m:t>
                      </m:r>
                      <m:r>
                        <a:rPr lang="en-US" i="1">
                          <a:latin typeface="Cambria Math"/>
                        </a:rPr>
                        <m:t>=</m:t>
                      </m:r>
                      <m:f>
                        <m:fPr>
                          <m:ctrlPr>
                            <a:rPr lang="en-US" i="1">
                              <a:latin typeface="Cambria Math" panose="02040503050406030204" pitchFamily="18" charset="0"/>
                            </a:rPr>
                          </m:ctrlPr>
                        </m:fPr>
                        <m:num>
                          <m:r>
                            <a:rPr lang="sr-Latn-CS" i="1">
                              <a:latin typeface="Cambria Math"/>
                            </a:rPr>
                            <m:t>h</m:t>
                          </m:r>
                        </m:num>
                        <m:den>
                          <m:r>
                            <a:rPr lang="sr-Latn-CS" i="1">
                              <a:latin typeface="Cambria Math"/>
                            </a:rPr>
                            <m:t>3</m:t>
                          </m:r>
                        </m:den>
                      </m:f>
                      <m:d>
                        <m:dPr>
                          <m:begChr m:val="["/>
                          <m:endChr m:val="]"/>
                          <m:ctrlPr>
                            <a:rPr lang="en-US" i="1">
                              <a:latin typeface="Cambria Math" panose="02040503050406030204" pitchFamily="18" charset="0"/>
                            </a:rPr>
                          </m:ctrlPr>
                        </m:dPr>
                        <m:e>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r>
                            <a:rPr lang="sr-Latn-CS" i="1">
                              <a:latin typeface="Cambria Math"/>
                            </a:rPr>
                            <m:t>+4</m:t>
                          </m:r>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r>
                            <a:rPr lang="sr-Latn-CS" i="1">
                              <a:latin typeface="Cambria Math"/>
                            </a:rPr>
                            <m:t>+</m:t>
                          </m:r>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e>
                      </m:d>
                    </m:oMath>
                  </m:oMathPara>
                </a14:m>
                <a:endParaRPr lang="en-US" dirty="0"/>
              </a:p>
            </p:txBody>
          </p:sp>
        </mc:Choice>
        <mc:Fallback xmlns="">
          <p:sp>
            <p:nvSpPr>
              <p:cNvPr id="2" name="Rectangle 1"/>
              <p:cNvSpPr>
                <a:spLocks noRot="1" noChangeAspect="1" noMove="1" noResize="1" noEditPoints="1" noAdjustHandles="1" noChangeArrowheads="1" noChangeShapeType="1" noTextEdit="1"/>
              </p:cNvSpPr>
              <p:nvPr/>
            </p:nvSpPr>
            <p:spPr>
              <a:xfrm>
                <a:off x="5715000" y="1984374"/>
                <a:ext cx="3276600" cy="618246"/>
              </a:xfrm>
              <a:prstGeom prst="rect">
                <a:avLst/>
              </a:prstGeom>
              <a:blipFill rotWithShape="1">
                <a:blip r:embed="rId4"/>
                <a:stretch>
                  <a:fillRect/>
                </a:stretch>
              </a:blipFill>
            </p:spPr>
            <p:txBody>
              <a:bodyPr/>
              <a:lstStyle/>
              <a:p>
                <a:r>
                  <a:rPr lang="en-US">
                    <a:noFill/>
                  </a:rPr>
                  <a:t> </a:t>
                </a:r>
              </a:p>
            </p:txBody>
          </p:sp>
        </mc:Fallback>
      </mc:AlternateContent>
      <p:sp>
        <p:nvSpPr>
          <p:cNvPr id="3" name="Speech Bubble: Rectangle with Corners Rounded 2">
            <a:extLst>
              <a:ext uri="{FF2B5EF4-FFF2-40B4-BE49-F238E27FC236}">
                <a16:creationId xmlns:a16="http://schemas.microsoft.com/office/drawing/2014/main" id="{C85A13E7-B2CB-43F2-A911-B52E39681BED}"/>
              </a:ext>
            </a:extLst>
          </p:cNvPr>
          <p:cNvSpPr/>
          <p:nvPr/>
        </p:nvSpPr>
        <p:spPr>
          <a:xfrm>
            <a:off x="5105400" y="4906963"/>
            <a:ext cx="3810000" cy="1371600"/>
          </a:xfrm>
          <a:prstGeom prst="wedgeRoundRectCallout">
            <a:avLst>
              <a:gd name="adj1" fmla="val -35790"/>
              <a:gd name="adj2" fmla="val -205133"/>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Za </a:t>
            </a:r>
            <a:r>
              <a:rPr lang="en-US" sz="2000" dirty="0" err="1">
                <a:solidFill>
                  <a:schemeClr val="tx1"/>
                </a:solidFill>
              </a:rPr>
              <a:t>jednu</a:t>
            </a:r>
            <a:r>
              <a:rPr lang="en-US" sz="2000" dirty="0">
                <a:solidFill>
                  <a:schemeClr val="tx1"/>
                </a:solidFill>
              </a:rPr>
              <a:t> </a:t>
            </a:r>
            <a:r>
              <a:rPr lang="en-US" sz="2000" dirty="0" err="1">
                <a:solidFill>
                  <a:schemeClr val="tx1"/>
                </a:solidFill>
              </a:rPr>
              <a:t>primenu</a:t>
            </a:r>
            <a:r>
              <a:rPr lang="en-US" sz="2000" dirty="0">
                <a:solidFill>
                  <a:schemeClr val="tx1"/>
                </a:solidFill>
              </a:rPr>
              <a:t> </a:t>
            </a:r>
            <a:r>
              <a:rPr lang="en-US" sz="2000" dirty="0" err="1">
                <a:solidFill>
                  <a:schemeClr val="tx1"/>
                </a:solidFill>
              </a:rPr>
              <a:t>Simpsonove</a:t>
            </a:r>
            <a:r>
              <a:rPr lang="en-US" sz="2000" dirty="0">
                <a:solidFill>
                  <a:schemeClr val="tx1"/>
                </a:solidFill>
              </a:rPr>
              <a:t> 1/3 </a:t>
            </a:r>
            <a:r>
              <a:rPr lang="en-US" sz="2000" dirty="0" err="1">
                <a:solidFill>
                  <a:schemeClr val="tx1"/>
                </a:solidFill>
              </a:rPr>
              <a:t>metode</a:t>
            </a:r>
            <a:r>
              <a:rPr lang="en-US" sz="2000" dirty="0">
                <a:solidFill>
                  <a:schemeClr val="tx1"/>
                </a:solidFill>
              </a:rPr>
              <a:t> </a:t>
            </a:r>
            <a:r>
              <a:rPr lang="en-US" sz="2000" dirty="0" err="1">
                <a:solidFill>
                  <a:schemeClr val="tx1"/>
                </a:solidFill>
              </a:rPr>
              <a:t>potrebno</a:t>
            </a:r>
            <a:r>
              <a:rPr lang="en-US" sz="2000" dirty="0">
                <a:solidFill>
                  <a:schemeClr val="tx1"/>
                </a:solidFill>
              </a:rPr>
              <a:t> tri </a:t>
            </a:r>
            <a:r>
              <a:rPr lang="en-US" sz="2000" dirty="0" err="1">
                <a:solidFill>
                  <a:schemeClr val="tx1"/>
                </a:solidFill>
              </a:rPr>
              <a:t>tačke</a:t>
            </a:r>
            <a:r>
              <a:rPr lang="en-US" sz="2000" dirty="0">
                <a:solidFill>
                  <a:schemeClr val="tx1"/>
                </a:solidFill>
              </a:rPr>
              <a:t> (</a:t>
            </a:r>
            <a:r>
              <a:rPr lang="en-US" sz="2000" dirty="0" err="1">
                <a:solidFill>
                  <a:schemeClr val="tx1"/>
                </a:solidFill>
              </a:rPr>
              <a:t>dva</a:t>
            </a:r>
            <a:r>
              <a:rPr lang="en-US" sz="2000" dirty="0">
                <a:solidFill>
                  <a:schemeClr val="tx1"/>
                </a:solidFill>
              </a:rPr>
              <a:t> </a:t>
            </a:r>
            <a:r>
              <a:rPr lang="en-US" sz="2000" dirty="0" err="1">
                <a:solidFill>
                  <a:schemeClr val="tx1"/>
                </a:solidFill>
              </a:rPr>
              <a:t>podintervala</a:t>
            </a:r>
            <a:r>
              <a:rPr lang="en-US" sz="2000" dirty="0">
                <a:solidFill>
                  <a:schemeClr val="tx1"/>
                </a:solidFill>
              </a:rPr>
              <a:t>)</a:t>
            </a:r>
          </a:p>
        </p:txBody>
      </p:sp>
      <p:sp>
        <p:nvSpPr>
          <p:cNvPr id="7" name="Speech Bubble: Rectangle with Corners Rounded 6">
            <a:extLst>
              <a:ext uri="{FF2B5EF4-FFF2-40B4-BE49-F238E27FC236}">
                <a16:creationId xmlns:a16="http://schemas.microsoft.com/office/drawing/2014/main" id="{6286A6F1-B4F9-4826-A041-3772092490CF}"/>
              </a:ext>
            </a:extLst>
          </p:cNvPr>
          <p:cNvSpPr/>
          <p:nvPr/>
        </p:nvSpPr>
        <p:spPr>
          <a:xfrm>
            <a:off x="609600" y="4906963"/>
            <a:ext cx="3200400" cy="944563"/>
          </a:xfrm>
          <a:prstGeom prst="wedgeRoundRectCallout">
            <a:avLst>
              <a:gd name="adj1" fmla="val -4218"/>
              <a:gd name="adj2" fmla="val -189700"/>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Tačke</a:t>
            </a:r>
            <a:r>
              <a:rPr lang="en-US" dirty="0">
                <a:solidFill>
                  <a:schemeClr val="tx1"/>
                </a:solidFill>
              </a:rPr>
              <a:t> </a:t>
            </a:r>
            <a:r>
              <a:rPr lang="en-US" dirty="0" err="1">
                <a:solidFill>
                  <a:schemeClr val="tx1"/>
                </a:solidFill>
              </a:rPr>
              <a:t>koje</a:t>
            </a:r>
            <a:r>
              <a:rPr lang="en-US" dirty="0">
                <a:solidFill>
                  <a:schemeClr val="tx1"/>
                </a:solidFill>
              </a:rPr>
              <a:t> </a:t>
            </a:r>
            <a:r>
              <a:rPr lang="en-US" dirty="0" err="1">
                <a:solidFill>
                  <a:schemeClr val="tx1"/>
                </a:solidFill>
              </a:rPr>
              <a:t>su</a:t>
            </a:r>
            <a:r>
              <a:rPr lang="en-US" dirty="0">
                <a:solidFill>
                  <a:schemeClr val="tx1"/>
                </a:solidFill>
              </a:rPr>
              <a:t> nep</a:t>
            </a:r>
            <a:r>
              <a:rPr lang="sr-Latn-RS" dirty="0">
                <a:solidFill>
                  <a:schemeClr val="tx1"/>
                </a:solidFill>
              </a:rPr>
              <a:t>a</a:t>
            </a:r>
            <a:r>
              <a:rPr lang="en-US" dirty="0">
                <a:solidFill>
                  <a:schemeClr val="tx1"/>
                </a:solidFill>
              </a:rPr>
              <a:t>ran </a:t>
            </a:r>
            <a:r>
              <a:rPr lang="en-US" dirty="0" err="1">
                <a:solidFill>
                  <a:schemeClr val="tx1"/>
                </a:solidFill>
              </a:rPr>
              <a:t>broj</a:t>
            </a:r>
            <a:r>
              <a:rPr lang="en-US" dirty="0">
                <a:solidFill>
                  <a:schemeClr val="tx1"/>
                </a:solidFill>
              </a:rPr>
              <a:t> </a:t>
            </a:r>
            <a:r>
              <a:rPr lang="en-US" dirty="0" err="1">
                <a:solidFill>
                  <a:schemeClr val="tx1"/>
                </a:solidFill>
              </a:rPr>
              <a:t>podintervala</a:t>
            </a:r>
            <a:r>
              <a:rPr lang="en-US" dirty="0">
                <a:solidFill>
                  <a:schemeClr val="tx1"/>
                </a:solidFill>
              </a:rPr>
              <a:t> </a:t>
            </a:r>
            <a:r>
              <a:rPr lang="en-US" dirty="0" err="1">
                <a:solidFill>
                  <a:schemeClr val="tx1"/>
                </a:solidFill>
              </a:rPr>
              <a:t>udaljene</a:t>
            </a:r>
            <a:r>
              <a:rPr lang="en-US" dirty="0">
                <a:solidFill>
                  <a:schemeClr val="tx1"/>
                </a:solidFill>
              </a:rPr>
              <a:t> od </a:t>
            </a:r>
            <a:r>
              <a:rPr lang="en-US" dirty="0" err="1">
                <a:solidFill>
                  <a:schemeClr val="tx1"/>
                </a:solidFill>
              </a:rPr>
              <a:t>prve</a:t>
            </a:r>
            <a:r>
              <a:rPr lang="en-US" dirty="0">
                <a:solidFill>
                  <a:schemeClr val="tx1"/>
                </a:solidFill>
              </a:rPr>
              <a:t> </a:t>
            </a:r>
            <a:r>
              <a:rPr lang="en-US" dirty="0" err="1">
                <a:solidFill>
                  <a:schemeClr val="tx1"/>
                </a:solidFill>
              </a:rPr>
              <a:t>tačke</a:t>
            </a:r>
            <a:r>
              <a:rPr lang="en-US" dirty="0">
                <a:solidFill>
                  <a:schemeClr val="tx1"/>
                </a:solidFill>
              </a:rPr>
              <a:t> </a:t>
            </a:r>
            <a:r>
              <a:rPr lang="en-US" dirty="0" err="1">
                <a:solidFill>
                  <a:schemeClr val="tx1"/>
                </a:solidFill>
              </a:rPr>
              <a:t>množe</a:t>
            </a:r>
            <a:r>
              <a:rPr lang="en-US" dirty="0">
                <a:solidFill>
                  <a:schemeClr val="tx1"/>
                </a:solidFill>
              </a:rPr>
              <a:t> se </a:t>
            </a:r>
            <a:r>
              <a:rPr lang="en-US" dirty="0" err="1">
                <a:solidFill>
                  <a:schemeClr val="tx1"/>
                </a:solidFill>
              </a:rPr>
              <a:t>sa</a:t>
            </a:r>
            <a:r>
              <a:rPr lang="en-US" dirty="0">
                <a:solidFill>
                  <a:schemeClr val="tx1"/>
                </a:solidFill>
              </a:rPr>
              <a:t> 4</a:t>
            </a:r>
          </a:p>
        </p:txBody>
      </p:sp>
      <p:sp>
        <p:nvSpPr>
          <p:cNvPr id="8" name="Speech Bubble: Rectangle with Corners Rounded 7">
            <a:extLst>
              <a:ext uri="{FF2B5EF4-FFF2-40B4-BE49-F238E27FC236}">
                <a16:creationId xmlns:a16="http://schemas.microsoft.com/office/drawing/2014/main" id="{520334CE-BE0C-48BF-880C-89F8CA584CA1}"/>
              </a:ext>
            </a:extLst>
          </p:cNvPr>
          <p:cNvSpPr/>
          <p:nvPr/>
        </p:nvSpPr>
        <p:spPr>
          <a:xfrm>
            <a:off x="2070340" y="4541837"/>
            <a:ext cx="2971800" cy="944563"/>
          </a:xfrm>
          <a:prstGeom prst="wedgeRoundRectCallout">
            <a:avLst>
              <a:gd name="adj1" fmla="val -38108"/>
              <a:gd name="adj2" fmla="val -175670"/>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Tačke</a:t>
            </a:r>
            <a:r>
              <a:rPr lang="en-US" dirty="0">
                <a:solidFill>
                  <a:schemeClr val="tx1"/>
                </a:solidFill>
              </a:rPr>
              <a:t> </a:t>
            </a:r>
            <a:r>
              <a:rPr lang="en-US" dirty="0" err="1">
                <a:solidFill>
                  <a:schemeClr val="tx1"/>
                </a:solidFill>
              </a:rPr>
              <a:t>koje</a:t>
            </a:r>
            <a:r>
              <a:rPr lang="en-US" dirty="0">
                <a:solidFill>
                  <a:schemeClr val="tx1"/>
                </a:solidFill>
              </a:rPr>
              <a:t> </a:t>
            </a:r>
            <a:r>
              <a:rPr lang="en-US" dirty="0" err="1">
                <a:solidFill>
                  <a:schemeClr val="tx1"/>
                </a:solidFill>
              </a:rPr>
              <a:t>su</a:t>
            </a:r>
            <a:r>
              <a:rPr lang="en-US" dirty="0">
                <a:solidFill>
                  <a:schemeClr val="tx1"/>
                </a:solidFill>
              </a:rPr>
              <a:t> p</a:t>
            </a:r>
            <a:r>
              <a:rPr lang="sr-Latn-RS" dirty="0">
                <a:solidFill>
                  <a:schemeClr val="tx1"/>
                </a:solidFill>
              </a:rPr>
              <a:t>a</a:t>
            </a:r>
            <a:r>
              <a:rPr lang="en-US" dirty="0">
                <a:solidFill>
                  <a:schemeClr val="tx1"/>
                </a:solidFill>
              </a:rPr>
              <a:t>ran </a:t>
            </a:r>
            <a:r>
              <a:rPr lang="en-US" dirty="0" err="1">
                <a:solidFill>
                  <a:schemeClr val="tx1"/>
                </a:solidFill>
              </a:rPr>
              <a:t>broj</a:t>
            </a:r>
            <a:r>
              <a:rPr lang="en-US" dirty="0">
                <a:solidFill>
                  <a:schemeClr val="tx1"/>
                </a:solidFill>
              </a:rPr>
              <a:t> </a:t>
            </a:r>
            <a:r>
              <a:rPr lang="en-US" dirty="0" err="1">
                <a:solidFill>
                  <a:schemeClr val="tx1"/>
                </a:solidFill>
              </a:rPr>
              <a:t>podintervala</a:t>
            </a:r>
            <a:r>
              <a:rPr lang="en-US" dirty="0">
                <a:solidFill>
                  <a:schemeClr val="tx1"/>
                </a:solidFill>
              </a:rPr>
              <a:t> </a:t>
            </a:r>
            <a:r>
              <a:rPr lang="en-US" dirty="0" err="1">
                <a:solidFill>
                  <a:schemeClr val="tx1"/>
                </a:solidFill>
              </a:rPr>
              <a:t>udaljene</a:t>
            </a:r>
            <a:r>
              <a:rPr lang="en-US" dirty="0">
                <a:solidFill>
                  <a:schemeClr val="tx1"/>
                </a:solidFill>
              </a:rPr>
              <a:t> od </a:t>
            </a:r>
            <a:r>
              <a:rPr lang="en-US" dirty="0" err="1">
                <a:solidFill>
                  <a:schemeClr val="tx1"/>
                </a:solidFill>
              </a:rPr>
              <a:t>prve</a:t>
            </a:r>
            <a:r>
              <a:rPr lang="en-US" dirty="0">
                <a:solidFill>
                  <a:schemeClr val="tx1"/>
                </a:solidFill>
              </a:rPr>
              <a:t> </a:t>
            </a:r>
            <a:r>
              <a:rPr lang="en-US" dirty="0" err="1">
                <a:solidFill>
                  <a:schemeClr val="tx1"/>
                </a:solidFill>
              </a:rPr>
              <a:t>tačke</a:t>
            </a:r>
            <a:r>
              <a:rPr lang="en-US" dirty="0">
                <a:solidFill>
                  <a:schemeClr val="tx1"/>
                </a:solidFill>
              </a:rPr>
              <a:t> </a:t>
            </a:r>
            <a:r>
              <a:rPr lang="en-US" dirty="0" err="1">
                <a:solidFill>
                  <a:schemeClr val="tx1"/>
                </a:solidFill>
              </a:rPr>
              <a:t>množe</a:t>
            </a:r>
            <a:r>
              <a:rPr lang="en-US" dirty="0">
                <a:solidFill>
                  <a:schemeClr val="tx1"/>
                </a:solidFill>
              </a:rPr>
              <a:t> se </a:t>
            </a:r>
            <a:r>
              <a:rPr lang="en-US" dirty="0" err="1">
                <a:solidFill>
                  <a:schemeClr val="tx1"/>
                </a:solidFill>
              </a:rPr>
              <a:t>sa</a:t>
            </a:r>
            <a:r>
              <a:rPr lang="en-US" dirty="0">
                <a:solidFill>
                  <a:schemeClr val="tx1"/>
                </a:solidFill>
              </a:rPr>
              <a:t> 2</a:t>
            </a:r>
          </a:p>
        </p:txBody>
      </p:sp>
      <p:sp>
        <p:nvSpPr>
          <p:cNvPr id="9" name="Speech Bubble: Rectangle with Corners Rounded 8">
            <a:extLst>
              <a:ext uri="{FF2B5EF4-FFF2-40B4-BE49-F238E27FC236}">
                <a16:creationId xmlns:a16="http://schemas.microsoft.com/office/drawing/2014/main" id="{779C46EE-E5CA-479C-9D90-439513075959}"/>
              </a:ext>
            </a:extLst>
          </p:cNvPr>
          <p:cNvSpPr/>
          <p:nvPr/>
        </p:nvSpPr>
        <p:spPr>
          <a:xfrm>
            <a:off x="304800" y="2028825"/>
            <a:ext cx="1905000" cy="944563"/>
          </a:xfrm>
          <a:prstGeom prst="wedgeRoundRectCallout">
            <a:avLst>
              <a:gd name="adj1" fmla="val 16849"/>
              <a:gd name="adj2" fmla="val 102123"/>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Prva </a:t>
            </a:r>
            <a:r>
              <a:rPr lang="en-US" dirty="0" err="1">
                <a:solidFill>
                  <a:schemeClr val="tx1"/>
                </a:solidFill>
              </a:rPr>
              <a:t>i</a:t>
            </a:r>
            <a:r>
              <a:rPr lang="en-US" dirty="0">
                <a:solidFill>
                  <a:schemeClr val="tx1"/>
                </a:solidFill>
              </a:rPr>
              <a:t> </a:t>
            </a:r>
            <a:r>
              <a:rPr lang="en-US" dirty="0" err="1">
                <a:solidFill>
                  <a:schemeClr val="tx1"/>
                </a:solidFill>
              </a:rPr>
              <a:t>poslednja</a:t>
            </a:r>
            <a:r>
              <a:rPr lang="en-US" dirty="0">
                <a:solidFill>
                  <a:schemeClr val="tx1"/>
                </a:solidFill>
              </a:rPr>
              <a:t> </a:t>
            </a:r>
            <a:r>
              <a:rPr lang="en-US" dirty="0" err="1">
                <a:solidFill>
                  <a:schemeClr val="tx1"/>
                </a:solidFill>
              </a:rPr>
              <a:t>tačka</a:t>
            </a:r>
            <a:r>
              <a:rPr lang="en-US" dirty="0">
                <a:solidFill>
                  <a:schemeClr val="tx1"/>
                </a:solidFill>
              </a:rPr>
              <a:t> </a:t>
            </a:r>
            <a:r>
              <a:rPr lang="en-US" dirty="0" err="1">
                <a:solidFill>
                  <a:schemeClr val="tx1"/>
                </a:solidFill>
              </a:rPr>
              <a:t>koriste</a:t>
            </a:r>
            <a:r>
              <a:rPr lang="en-US" dirty="0">
                <a:solidFill>
                  <a:schemeClr val="tx1"/>
                </a:solidFill>
              </a:rPr>
              <a:t> se </a:t>
            </a:r>
            <a:r>
              <a:rPr lang="en-US" dirty="0" err="1">
                <a:solidFill>
                  <a:schemeClr val="tx1"/>
                </a:solidFill>
              </a:rPr>
              <a:t>samo</a:t>
            </a:r>
            <a:r>
              <a:rPr lang="en-US" dirty="0">
                <a:solidFill>
                  <a:schemeClr val="tx1"/>
                </a:solidFill>
              </a:rPr>
              <a:t> </a:t>
            </a:r>
            <a:r>
              <a:rPr lang="en-US" dirty="0" err="1">
                <a:solidFill>
                  <a:schemeClr val="tx1"/>
                </a:solidFill>
              </a:rPr>
              <a:t>jednom</a:t>
            </a:r>
            <a:endParaRPr lang="en-US" dirty="0">
              <a:solidFill>
                <a:schemeClr val="tx1"/>
              </a:solidFill>
            </a:endParaRPr>
          </a:p>
        </p:txBody>
      </p:sp>
    </p:spTree>
    <p:extLst>
      <p:ext uri="{BB962C8B-B14F-4D97-AF65-F5344CB8AC3E}">
        <p14:creationId xmlns:p14="http://schemas.microsoft.com/office/powerpoint/2010/main" val="413993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219200" y="236537"/>
            <a:ext cx="7772400" cy="754063"/>
          </a:xfrm>
        </p:spPr>
        <p:txBody>
          <a:bodyPr/>
          <a:lstStyle/>
          <a:p>
            <a:r>
              <a:rPr lang="en-US" altLang="sr-Latn-RS" sz="3600" dirty="0" err="1"/>
              <a:t>Komopzitna</a:t>
            </a:r>
            <a:r>
              <a:rPr lang="en-US" altLang="sr-Latn-RS" sz="3600" dirty="0"/>
              <a:t> </a:t>
            </a:r>
            <a:r>
              <a:rPr lang="en-US" altLang="sr-Latn-RS" sz="3600" dirty="0" err="1"/>
              <a:t>Simpsonova</a:t>
            </a:r>
            <a:r>
              <a:rPr lang="en-US" altLang="sr-Latn-RS" sz="3600" dirty="0"/>
              <a:t> 1/3 </a:t>
            </a:r>
            <a:r>
              <a:rPr lang="en-US" altLang="sr-Latn-RS" sz="3600" dirty="0" err="1"/>
              <a:t>metoda</a:t>
            </a:r>
            <a:endParaRPr lang="en-US" altLang="sr-Latn-RS" sz="3600" dirty="0"/>
          </a:p>
        </p:txBody>
      </p:sp>
      <p:sp>
        <p:nvSpPr>
          <p:cNvPr id="33795" name="Text Box 3"/>
          <p:cNvSpPr txBox="1">
            <a:spLocks noChangeArrowheads="1"/>
          </p:cNvSpPr>
          <p:nvPr/>
        </p:nvSpPr>
        <p:spPr bwMode="auto">
          <a:xfrm>
            <a:off x="1219200" y="1027113"/>
            <a:ext cx="7524750" cy="46561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spcBef>
                <a:spcPct val="20000"/>
              </a:spcBef>
              <a:buChar char="•"/>
              <a:defRPr sz="3200">
                <a:solidFill>
                  <a:schemeClr val="tx1"/>
                </a:solidFill>
                <a:latin typeface="Arial" charset="0"/>
              </a:defRPr>
            </a:lvl1pPr>
            <a:lvl2pPr marL="914400" indent="-457200" eaLnBrk="0" hangingPunct="0">
              <a:spcBef>
                <a:spcPct val="20000"/>
              </a:spcBef>
              <a:buChar char="–"/>
              <a:defRPr sz="2800">
                <a:solidFill>
                  <a:schemeClr val="tx1"/>
                </a:solidFill>
                <a:latin typeface="Arial" charset="0"/>
              </a:defRPr>
            </a:lvl2pPr>
            <a:lvl3pPr marL="1371600" indent="-457200" eaLnBrk="0" hangingPunct="0">
              <a:spcBef>
                <a:spcPct val="20000"/>
              </a:spcBef>
              <a:buChar char="•"/>
              <a:defRPr sz="2400">
                <a:solidFill>
                  <a:schemeClr val="tx1"/>
                </a:solidFill>
                <a:latin typeface="Arial" charset="0"/>
              </a:defRPr>
            </a:lvl3pPr>
            <a:lvl4pPr marL="1828800" indent="-457200" eaLnBrk="0" hangingPunct="0">
              <a:spcBef>
                <a:spcPct val="20000"/>
              </a:spcBef>
              <a:buChar char="–"/>
              <a:defRPr sz="2000">
                <a:solidFill>
                  <a:schemeClr val="tx1"/>
                </a:solidFill>
                <a:latin typeface="Arial" charset="0"/>
              </a:defRPr>
            </a:lvl4pPr>
            <a:lvl5pPr marL="2286000" indent="-457200" eaLnBrk="0" hangingPunct="0">
              <a:spcBef>
                <a:spcPct val="20000"/>
              </a:spcBef>
              <a:buChar char="»"/>
              <a:defRPr sz="2000">
                <a:solidFill>
                  <a:schemeClr val="tx1"/>
                </a:solidFill>
                <a:latin typeface="Arial" charset="0"/>
              </a:defRPr>
            </a:lvl5pPr>
            <a:lvl6pPr marL="2743200" indent="-457200" eaLnBrk="0" fontAlgn="base" hangingPunct="0">
              <a:spcBef>
                <a:spcPct val="20000"/>
              </a:spcBef>
              <a:spcAft>
                <a:spcPct val="0"/>
              </a:spcAft>
              <a:buChar char="»"/>
              <a:defRPr sz="2000">
                <a:solidFill>
                  <a:schemeClr val="tx1"/>
                </a:solidFill>
                <a:latin typeface="Arial" charset="0"/>
              </a:defRPr>
            </a:lvl6pPr>
            <a:lvl7pPr marL="3200400" indent="-457200" eaLnBrk="0" fontAlgn="base" hangingPunct="0">
              <a:spcBef>
                <a:spcPct val="20000"/>
              </a:spcBef>
              <a:spcAft>
                <a:spcPct val="0"/>
              </a:spcAft>
              <a:buChar char="»"/>
              <a:defRPr sz="2000">
                <a:solidFill>
                  <a:schemeClr val="tx1"/>
                </a:solidFill>
                <a:latin typeface="Arial" charset="0"/>
              </a:defRPr>
            </a:lvl7pPr>
            <a:lvl8pPr marL="3657600" indent="-457200" eaLnBrk="0" fontAlgn="base" hangingPunct="0">
              <a:spcBef>
                <a:spcPct val="20000"/>
              </a:spcBef>
              <a:spcAft>
                <a:spcPct val="0"/>
              </a:spcAft>
              <a:buChar char="»"/>
              <a:defRPr sz="2000">
                <a:solidFill>
                  <a:schemeClr val="tx1"/>
                </a:solidFill>
                <a:latin typeface="Arial" charset="0"/>
              </a:defRPr>
            </a:lvl8pPr>
            <a:lvl9pPr marL="4114800" indent="-457200" eaLnBrk="0" fontAlgn="base" hangingPunct="0">
              <a:spcBef>
                <a:spcPct val="20000"/>
              </a:spcBef>
              <a:spcAft>
                <a:spcPct val="0"/>
              </a:spcAft>
              <a:buChar char="»"/>
              <a:defRPr sz="2000">
                <a:solidFill>
                  <a:schemeClr val="tx1"/>
                </a:solidFill>
                <a:latin typeface="Arial" charset="0"/>
              </a:defRPr>
            </a:lvl9pPr>
          </a:lstStyle>
          <a:p>
            <a:pPr>
              <a:spcBef>
                <a:spcPct val="50000"/>
              </a:spcBef>
            </a:pPr>
            <a:r>
              <a:rPr lang="en-US" altLang="sr-Latn-RS" sz="2400">
                <a:cs typeface="Arial" charset="0"/>
              </a:rPr>
              <a:t>Ako je broj podintervala paran</a:t>
            </a:r>
          </a:p>
          <a:p>
            <a:pPr algn="ctr">
              <a:spcBef>
                <a:spcPct val="50000"/>
              </a:spcBef>
            </a:pPr>
            <a:endParaRPr lang="en-US" altLang="sr-Latn-RS" sz="2400">
              <a:cs typeface="Arial" charset="0"/>
            </a:endParaRPr>
          </a:p>
          <a:p>
            <a:pPr algn="ctr">
              <a:spcBef>
                <a:spcPct val="50000"/>
              </a:spcBef>
            </a:pPr>
            <a:endParaRPr lang="en-US" altLang="sr-Latn-RS" sz="2400">
              <a:cs typeface="Arial" charset="0"/>
            </a:endParaRPr>
          </a:p>
          <a:p>
            <a:pPr>
              <a:spcBef>
                <a:spcPct val="50000"/>
              </a:spcBef>
            </a:pPr>
            <a:r>
              <a:rPr lang="en-US" altLang="sr-Latn-RS" sz="2400">
                <a:cs typeface="Arial" charset="0"/>
              </a:rPr>
              <a:t>Koristimo Simpsonovu 1/3 metodu za svaki podinterval</a:t>
            </a:r>
          </a:p>
          <a:p>
            <a:pPr>
              <a:spcBef>
                <a:spcPct val="50000"/>
              </a:spcBef>
            </a:pPr>
            <a:endParaRPr lang="en-US" altLang="sr-Latn-RS" sz="2400">
              <a:cs typeface="Arial" charset="0"/>
            </a:endParaRPr>
          </a:p>
          <a:p>
            <a:pPr>
              <a:spcBef>
                <a:spcPct val="50000"/>
              </a:spcBef>
            </a:pPr>
            <a:endParaRPr lang="en-US" altLang="sr-Latn-RS" sz="2400">
              <a:cs typeface="Arial" charset="0"/>
            </a:endParaRPr>
          </a:p>
          <a:p>
            <a:pPr>
              <a:spcBef>
                <a:spcPct val="50000"/>
              </a:spcBef>
            </a:pPr>
            <a:r>
              <a:rPr lang="en-US" altLang="sr-Latn-RS" sz="2400">
                <a:cs typeface="Arial" charset="0"/>
              </a:rPr>
              <a:t>Za podintervale jednakih du</a:t>
            </a:r>
            <a:r>
              <a:rPr lang="sr-Latn-RS" altLang="sr-Latn-RS" sz="2400">
                <a:cs typeface="Arial" charset="0"/>
              </a:rPr>
              <a:t>žina imamo:</a:t>
            </a:r>
            <a:endParaRPr lang="en-US" altLang="sr-Latn-RS" sz="2400">
              <a:cs typeface="Arial" charset="0"/>
            </a:endParaRPr>
          </a:p>
          <a:p>
            <a:pPr>
              <a:spcBef>
                <a:spcPct val="50000"/>
              </a:spcBef>
            </a:pPr>
            <a:endParaRPr lang="en-US" altLang="sr-Latn-RS" sz="2400">
              <a:cs typeface="Arial" charset="0"/>
            </a:endParaRPr>
          </a:p>
        </p:txBody>
      </p:sp>
      <p:graphicFrame>
        <p:nvGraphicFramePr>
          <p:cNvPr id="33796" name="Object 4"/>
          <p:cNvGraphicFramePr>
            <a:graphicFrameLocks noChangeAspect="1"/>
          </p:cNvGraphicFramePr>
          <p:nvPr/>
        </p:nvGraphicFramePr>
        <p:xfrm>
          <a:off x="1600200" y="1676400"/>
          <a:ext cx="6400800" cy="788988"/>
        </p:xfrm>
        <a:graphic>
          <a:graphicData uri="http://schemas.openxmlformats.org/presentationml/2006/ole">
            <mc:AlternateContent xmlns:mc="http://schemas.openxmlformats.org/markup-compatibility/2006">
              <mc:Choice xmlns:v="urn:schemas-microsoft-com:vml" Requires="v">
                <p:oleObj name="Equation" r:id="rId3" imgW="2882900" imgH="355600" progId="Equation.3">
                  <p:embed/>
                </p:oleObj>
              </mc:Choice>
              <mc:Fallback>
                <p:oleObj name="Equation" r:id="rId3" imgW="2882900" imgH="355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1676400"/>
                        <a:ext cx="6400800" cy="788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7" name="Object 5"/>
          <p:cNvGraphicFramePr>
            <a:graphicFrameLocks noChangeAspect="1"/>
          </p:cNvGraphicFramePr>
          <p:nvPr>
            <p:extLst>
              <p:ext uri="{D42A27DB-BD31-4B8C-83A1-F6EECF244321}">
                <p14:modId xmlns:p14="http://schemas.microsoft.com/office/powerpoint/2010/main" val="4190528436"/>
              </p:ext>
            </p:extLst>
          </p:nvPr>
        </p:nvGraphicFramePr>
        <p:xfrm>
          <a:off x="533400" y="3505200"/>
          <a:ext cx="8153400" cy="1265238"/>
        </p:xfrm>
        <a:graphic>
          <a:graphicData uri="http://schemas.openxmlformats.org/presentationml/2006/ole">
            <mc:AlternateContent xmlns:mc="http://schemas.openxmlformats.org/markup-compatibility/2006">
              <mc:Choice xmlns:v="urn:schemas-microsoft-com:vml" Requires="v">
                <p:oleObj name="Equation" r:id="rId5" imgW="3441600" imgH="812520" progId="Equation.3">
                  <p:embed/>
                </p:oleObj>
              </mc:Choice>
              <mc:Fallback>
                <p:oleObj name="Equation" r:id="rId5" imgW="3441600" imgH="812520" progId="Equation.3">
                  <p:embed/>
                  <p:pic>
                    <p:nvPicPr>
                      <p:cNvPr id="0" name=""/>
                      <p:cNvPicPr>
                        <a:picLocks noChangeAspect="1" noChangeArrowheads="1"/>
                      </p:cNvPicPr>
                      <p:nvPr/>
                    </p:nvPicPr>
                    <p:blipFill>
                      <a:blip r:embed="rId6"/>
                      <a:srcRect/>
                      <a:stretch>
                        <a:fillRect/>
                      </a:stretch>
                    </p:blipFill>
                    <p:spPr bwMode="auto">
                      <a:xfrm>
                        <a:off x="533400" y="3505200"/>
                        <a:ext cx="8153400" cy="1265238"/>
                      </a:xfrm>
                      <a:prstGeom prst="rect">
                        <a:avLst/>
                      </a:prstGeom>
                      <a:noFill/>
                      <a:ln>
                        <a:noFill/>
                      </a:ln>
                      <a:effectLst/>
                    </p:spPr>
                  </p:pic>
                </p:oleObj>
              </mc:Fallback>
            </mc:AlternateContent>
          </a:graphicData>
        </a:graphic>
      </p:graphicFrame>
      <p:graphicFrame>
        <p:nvGraphicFramePr>
          <p:cNvPr id="33798" name="Object 6"/>
          <p:cNvGraphicFramePr>
            <a:graphicFrameLocks noChangeAspect="1"/>
          </p:cNvGraphicFramePr>
          <p:nvPr/>
        </p:nvGraphicFramePr>
        <p:xfrm>
          <a:off x="1219200" y="5257800"/>
          <a:ext cx="7010400" cy="1114425"/>
        </p:xfrm>
        <a:graphic>
          <a:graphicData uri="http://schemas.openxmlformats.org/presentationml/2006/ole">
            <mc:AlternateContent xmlns:mc="http://schemas.openxmlformats.org/markup-compatibility/2006">
              <mc:Choice xmlns:v="urn:schemas-microsoft-com:vml" Requires="v">
                <p:oleObj name="Equation" r:id="rId7" imgW="3035300" imgH="482600" progId="Equation.3">
                  <p:embed/>
                </p:oleObj>
              </mc:Choice>
              <mc:Fallback>
                <p:oleObj name="Equation" r:id="rId7" imgW="3035300" imgH="482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5257800"/>
                        <a:ext cx="7010400" cy="1114425"/>
                      </a:xfrm>
                      <a:prstGeom prst="rect">
                        <a:avLst/>
                      </a:prstGeom>
                      <a:solidFill>
                        <a:srgbClr val="C9FFFF"/>
                      </a:solidFill>
                      <a:ln w="127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6514751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295400" y="228600"/>
            <a:ext cx="7772400" cy="533400"/>
          </a:xfrm>
        </p:spPr>
        <p:txBody>
          <a:bodyPr>
            <a:normAutofit fontScale="90000"/>
          </a:bodyPr>
          <a:lstStyle/>
          <a:p>
            <a:r>
              <a:rPr lang="en-US" altLang="sr-Latn-RS" sz="3600"/>
              <a:t>Komopzitna Simpsonova 1/3 metoda</a:t>
            </a:r>
          </a:p>
        </p:txBody>
      </p:sp>
      <p:sp>
        <p:nvSpPr>
          <p:cNvPr id="34819" name="Rectangle 3"/>
          <p:cNvSpPr>
            <a:spLocks noGrp="1" noChangeArrowheads="1"/>
          </p:cNvSpPr>
          <p:nvPr>
            <p:ph type="body" idx="1"/>
          </p:nvPr>
        </p:nvSpPr>
        <p:spPr>
          <a:xfrm>
            <a:off x="381000" y="990600"/>
            <a:ext cx="7772400" cy="4114800"/>
          </a:xfrm>
          <a:solidFill>
            <a:schemeClr val="bg1"/>
          </a:solidFill>
        </p:spPr>
        <p:txBody>
          <a:bodyPr/>
          <a:lstStyle/>
          <a:p>
            <a:r>
              <a:rPr lang="sr-Latn-RS" altLang="sr-Latn-RS" dirty="0"/>
              <a:t>Izračunavamo integral:</a:t>
            </a:r>
            <a:endParaRPr lang="en-US" altLang="sr-Latn-RS" dirty="0"/>
          </a:p>
          <a:p>
            <a:r>
              <a:rPr lang="en-US" altLang="sr-Latn-RS" b="1" i="1" dirty="0">
                <a:solidFill>
                  <a:srgbClr val="FF0000"/>
                </a:solidFill>
              </a:rPr>
              <a:t>n = 2, h = 2</a:t>
            </a:r>
          </a:p>
          <a:p>
            <a:endParaRPr lang="en-US" altLang="sr-Latn-RS" b="1" i="1" dirty="0">
              <a:solidFill>
                <a:srgbClr val="FF0000"/>
              </a:solidFill>
            </a:endParaRPr>
          </a:p>
          <a:p>
            <a:endParaRPr lang="en-US" altLang="sr-Latn-RS" b="1" dirty="0">
              <a:solidFill>
                <a:srgbClr val="000099"/>
              </a:solidFill>
            </a:endParaRPr>
          </a:p>
          <a:p>
            <a:endParaRPr lang="en-US" altLang="sr-Latn-RS" b="1" dirty="0">
              <a:solidFill>
                <a:srgbClr val="000099"/>
              </a:solidFill>
            </a:endParaRPr>
          </a:p>
          <a:p>
            <a:endParaRPr lang="en-US" altLang="sr-Latn-RS" b="1" dirty="0">
              <a:solidFill>
                <a:srgbClr val="000099"/>
              </a:solidFill>
            </a:endParaRPr>
          </a:p>
          <a:p>
            <a:endParaRPr lang="en-US" altLang="sr-Latn-RS" b="1" dirty="0">
              <a:solidFill>
                <a:srgbClr val="000099"/>
              </a:solidFill>
            </a:endParaRPr>
          </a:p>
          <a:p>
            <a:r>
              <a:rPr lang="en-US" altLang="sr-Latn-RS" b="1" i="1" dirty="0">
                <a:solidFill>
                  <a:srgbClr val="FF0000"/>
                </a:solidFill>
              </a:rPr>
              <a:t>n = 4, h = 1</a:t>
            </a:r>
            <a:r>
              <a:rPr lang="en-US" altLang="sr-Latn-RS" i="1" dirty="0">
                <a:solidFill>
                  <a:srgbClr val="FF0000"/>
                </a:solidFill>
              </a:rPr>
              <a:t> </a:t>
            </a:r>
          </a:p>
        </p:txBody>
      </p:sp>
      <p:graphicFrame>
        <p:nvGraphicFramePr>
          <p:cNvPr id="34820" name="Object 4"/>
          <p:cNvGraphicFramePr>
            <a:graphicFrameLocks noChangeAspect="1"/>
          </p:cNvGraphicFramePr>
          <p:nvPr>
            <p:extLst>
              <p:ext uri="{D42A27DB-BD31-4B8C-83A1-F6EECF244321}">
                <p14:modId xmlns:p14="http://schemas.microsoft.com/office/powerpoint/2010/main" val="208314172"/>
              </p:ext>
            </p:extLst>
          </p:nvPr>
        </p:nvGraphicFramePr>
        <p:xfrm>
          <a:off x="3810000" y="818666"/>
          <a:ext cx="1985963" cy="738188"/>
        </p:xfrm>
        <a:graphic>
          <a:graphicData uri="http://schemas.openxmlformats.org/presentationml/2006/ole">
            <mc:AlternateContent xmlns:mc="http://schemas.openxmlformats.org/markup-compatibility/2006">
              <mc:Choice xmlns:v="urn:schemas-microsoft-com:vml" Requires="v">
                <p:oleObj name="Equation" r:id="rId2" imgW="889000" imgH="330200" progId="Equation.3">
                  <p:embed/>
                </p:oleObj>
              </mc:Choice>
              <mc:Fallback>
                <p:oleObj name="Equation" r:id="rId2" imgW="8890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818666"/>
                        <a:ext cx="1985963" cy="7381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1" name="Object 5"/>
          <p:cNvGraphicFramePr>
            <a:graphicFrameLocks noChangeAspect="1"/>
          </p:cNvGraphicFramePr>
          <p:nvPr/>
        </p:nvGraphicFramePr>
        <p:xfrm>
          <a:off x="1604963" y="4659313"/>
          <a:ext cx="5137150" cy="1939925"/>
        </p:xfrm>
        <a:graphic>
          <a:graphicData uri="http://schemas.openxmlformats.org/presentationml/2006/ole">
            <mc:AlternateContent xmlns:mc="http://schemas.openxmlformats.org/markup-compatibility/2006">
              <mc:Choice xmlns:v="urn:schemas-microsoft-com:vml" Requires="v">
                <p:oleObj name="Equation" r:id="rId4" imgW="2654300" imgH="1003300" progId="Equation.3">
                  <p:embed/>
                </p:oleObj>
              </mc:Choice>
              <mc:Fallback>
                <p:oleObj name="Equation" r:id="rId4" imgW="2654300" imgH="1003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4963" y="4659313"/>
                        <a:ext cx="5137150" cy="1939925"/>
                      </a:xfrm>
                      <a:prstGeom prst="rect">
                        <a:avLst/>
                      </a:prstGeom>
                      <a:solidFill>
                        <a:srgbClr val="FFFFCC"/>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2" name="Object 6"/>
          <p:cNvGraphicFramePr>
            <a:graphicFrameLocks noChangeAspect="1"/>
          </p:cNvGraphicFramePr>
          <p:nvPr/>
        </p:nvGraphicFramePr>
        <p:xfrm>
          <a:off x="782638" y="2286000"/>
          <a:ext cx="6750050" cy="1531938"/>
        </p:xfrm>
        <a:graphic>
          <a:graphicData uri="http://schemas.openxmlformats.org/presentationml/2006/ole">
            <mc:AlternateContent xmlns:mc="http://schemas.openxmlformats.org/markup-compatibility/2006">
              <mc:Choice xmlns:v="urn:schemas-microsoft-com:vml" Requires="v">
                <p:oleObj name="Equation" r:id="rId6" imgW="3581400" imgH="812800" progId="Equation.3">
                  <p:embed/>
                </p:oleObj>
              </mc:Choice>
              <mc:Fallback>
                <p:oleObj name="Equation" r:id="rId6" imgW="3581400" imgH="8128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2638" y="2286000"/>
                        <a:ext cx="6750050" cy="1531938"/>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3" name="Object 7"/>
          <p:cNvGraphicFramePr>
            <a:graphicFrameLocks noChangeAspect="1"/>
          </p:cNvGraphicFramePr>
          <p:nvPr/>
        </p:nvGraphicFramePr>
        <p:xfrm>
          <a:off x="3810000" y="1600200"/>
          <a:ext cx="4348163" cy="479425"/>
        </p:xfrm>
        <a:graphic>
          <a:graphicData uri="http://schemas.openxmlformats.org/presentationml/2006/ole">
            <mc:AlternateContent xmlns:mc="http://schemas.openxmlformats.org/markup-compatibility/2006">
              <mc:Choice xmlns:v="urn:schemas-microsoft-com:vml" Requires="v">
                <p:oleObj name="Equation" r:id="rId8" imgW="1841500" imgH="203200" progId="Equation.3">
                  <p:embed/>
                </p:oleObj>
              </mc:Choice>
              <mc:Fallback>
                <p:oleObj name="Equation" r:id="rId8" imgW="1841500" imgH="203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10000" y="1600200"/>
                        <a:ext cx="4348163" cy="479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4179795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819">
                                            <p:txEl>
                                              <p:pRg st="1" end="1"/>
                                            </p:txEl>
                                          </p:spTgt>
                                        </p:tgtEl>
                                        <p:attrNameLst>
                                          <p:attrName>style.visibility</p:attrName>
                                        </p:attrNameLst>
                                      </p:cBhvr>
                                      <p:to>
                                        <p:strVal val="visible"/>
                                      </p:to>
                                    </p:set>
                                    <p:animEffect transition="in" filter="fade">
                                      <p:cBhvr>
                                        <p:cTn id="7" dur="500"/>
                                        <p:tgtEl>
                                          <p:spTgt spid="3481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822"/>
                                        </p:tgtEl>
                                        <p:attrNameLst>
                                          <p:attrName>style.visibility</p:attrName>
                                        </p:attrNameLst>
                                      </p:cBhvr>
                                      <p:to>
                                        <p:strVal val="visible"/>
                                      </p:to>
                                    </p:set>
                                    <p:animEffect transition="in" filter="fade">
                                      <p:cBhvr>
                                        <p:cTn id="12" dur="500"/>
                                        <p:tgtEl>
                                          <p:spTgt spid="348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819">
                                            <p:txEl>
                                              <p:pRg st="7" end="7"/>
                                            </p:txEl>
                                          </p:spTgt>
                                        </p:tgtEl>
                                        <p:attrNameLst>
                                          <p:attrName>style.visibility</p:attrName>
                                        </p:attrNameLst>
                                      </p:cBhvr>
                                      <p:to>
                                        <p:strVal val="visible"/>
                                      </p:to>
                                    </p:set>
                                    <p:animEffect transition="in" filter="fade">
                                      <p:cBhvr>
                                        <p:cTn id="17" dur="500"/>
                                        <p:tgtEl>
                                          <p:spTgt spid="34819">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821"/>
                                        </p:tgtEl>
                                        <p:attrNameLst>
                                          <p:attrName>style.visibility</p:attrName>
                                        </p:attrNameLst>
                                      </p:cBhvr>
                                      <p:to>
                                        <p:strVal val="visible"/>
                                      </p:to>
                                    </p:set>
                                    <p:animEffect transition="in" filter="fade">
                                      <p:cBhvr>
                                        <p:cTn id="22" dur="500"/>
                                        <p:tgtEl>
                                          <p:spTgt spid="348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00D08-F53B-47D8-9EF6-CAD2856C871A}"/>
              </a:ext>
            </a:extLst>
          </p:cNvPr>
          <p:cNvSpPr>
            <a:spLocks noGrp="1"/>
          </p:cNvSpPr>
          <p:nvPr>
            <p:ph type="title"/>
          </p:nvPr>
        </p:nvSpPr>
        <p:spPr/>
        <p:txBody>
          <a:bodyPr/>
          <a:lstStyle/>
          <a:p>
            <a:r>
              <a:rPr lang="en-US" dirty="0"/>
              <a:t>Python </a:t>
            </a:r>
            <a:r>
              <a:rPr lang="en-US" dirty="0" err="1"/>
              <a:t>kod</a:t>
            </a:r>
            <a:endParaRPr lang="en-US" dirty="0"/>
          </a:p>
        </p:txBody>
      </p:sp>
      <p:sp>
        <p:nvSpPr>
          <p:cNvPr id="3" name="Content Placeholder 2">
            <a:extLst>
              <a:ext uri="{FF2B5EF4-FFF2-40B4-BE49-F238E27FC236}">
                <a16:creationId xmlns:a16="http://schemas.microsoft.com/office/drawing/2014/main" id="{0BF4EC1B-EFA4-4851-9B28-E8620D0A9826}"/>
              </a:ext>
            </a:extLst>
          </p:cNvPr>
          <p:cNvSpPr>
            <a:spLocks noGrp="1"/>
          </p:cNvSpPr>
          <p:nvPr>
            <p:ph idx="1"/>
          </p:nvPr>
        </p:nvSpPr>
        <p:spPr/>
        <p:txBody>
          <a:bodyPr>
            <a:normAutofit/>
          </a:bodyPr>
          <a:lstStyle/>
          <a:p>
            <a:pPr marL="0" indent="0">
              <a:buNone/>
            </a:pPr>
            <a:r>
              <a:rPr lang="pl-PL" sz="1800" b="0" dirty="0">
                <a:solidFill>
                  <a:srgbClr val="0000FF"/>
                </a:solidFill>
                <a:effectLst/>
                <a:latin typeface="Courier New" panose="02070309020205020404" pitchFamily="49" charset="0"/>
              </a:rPr>
              <a:t>def</a:t>
            </a:r>
            <a:r>
              <a:rPr lang="pl-PL" sz="1800" b="0" dirty="0">
                <a:solidFill>
                  <a:srgbClr val="000000"/>
                </a:solidFill>
                <a:effectLst/>
                <a:latin typeface="Courier New" panose="02070309020205020404" pitchFamily="49" charset="0"/>
              </a:rPr>
              <a:t> </a:t>
            </a:r>
            <a:r>
              <a:rPr lang="pl-PL" sz="1800" b="0" dirty="0">
                <a:solidFill>
                  <a:srgbClr val="795E26"/>
                </a:solidFill>
                <a:effectLst/>
                <a:latin typeface="Courier New" panose="02070309020205020404" pitchFamily="49" charset="0"/>
              </a:rPr>
              <a:t>simpson</a:t>
            </a:r>
            <a:r>
              <a:rPr lang="pl-PL" sz="1800" b="0" dirty="0">
                <a:solidFill>
                  <a:srgbClr val="000000"/>
                </a:solidFill>
                <a:effectLst/>
                <a:latin typeface="Courier New" panose="02070309020205020404" pitchFamily="49" charset="0"/>
              </a:rPr>
              <a:t>(</a:t>
            </a:r>
            <a:r>
              <a:rPr lang="pl-PL" sz="1800" b="0" dirty="0">
                <a:solidFill>
                  <a:srgbClr val="001080"/>
                </a:solidFill>
                <a:effectLst/>
                <a:latin typeface="Courier New" panose="02070309020205020404" pitchFamily="49" charset="0"/>
              </a:rPr>
              <a:t>a</a:t>
            </a:r>
            <a:r>
              <a:rPr lang="pl-PL" sz="1800" b="0" dirty="0">
                <a:solidFill>
                  <a:srgbClr val="000000"/>
                </a:solidFill>
                <a:effectLst/>
                <a:latin typeface="Courier New" panose="02070309020205020404" pitchFamily="49" charset="0"/>
              </a:rPr>
              <a:t>,</a:t>
            </a:r>
            <a:r>
              <a:rPr lang="pl-PL" sz="1800" b="0" dirty="0">
                <a:solidFill>
                  <a:srgbClr val="001080"/>
                </a:solidFill>
                <a:effectLst/>
                <a:latin typeface="Courier New" panose="02070309020205020404" pitchFamily="49" charset="0"/>
              </a:rPr>
              <a:t>b</a:t>
            </a:r>
            <a:r>
              <a:rPr lang="pl-PL" sz="1800" b="0" dirty="0">
                <a:solidFill>
                  <a:srgbClr val="000000"/>
                </a:solidFill>
                <a:effectLst/>
                <a:latin typeface="Courier New" panose="02070309020205020404" pitchFamily="49" charset="0"/>
              </a:rPr>
              <a:t>,</a:t>
            </a:r>
            <a:r>
              <a:rPr lang="pl-PL" sz="1800" b="0" dirty="0">
                <a:solidFill>
                  <a:srgbClr val="001080"/>
                </a:solidFill>
                <a:effectLst/>
                <a:latin typeface="Courier New" panose="02070309020205020404" pitchFamily="49" charset="0"/>
              </a:rPr>
              <a:t>funkcija</a:t>
            </a:r>
            <a:r>
              <a:rPr lang="pl-PL" sz="1800" b="0" dirty="0">
                <a:solidFill>
                  <a:srgbClr val="000000"/>
                </a:solidFill>
                <a:effectLst/>
                <a:latin typeface="Courier New" panose="02070309020205020404" pitchFamily="49" charset="0"/>
              </a:rPr>
              <a:t>):</a:t>
            </a:r>
          </a:p>
          <a:p>
            <a:pPr marL="0" indent="0">
              <a:buNone/>
            </a:pPr>
            <a:r>
              <a:rPr lang="pl-PL" sz="1800" b="0" dirty="0">
                <a:solidFill>
                  <a:srgbClr val="000000"/>
                </a:solidFill>
                <a:effectLst/>
                <a:latin typeface="Courier New" panose="02070309020205020404" pitchFamily="49" charset="0"/>
              </a:rPr>
              <a:t>    c=(a+b)/</a:t>
            </a:r>
            <a:r>
              <a:rPr lang="pl-PL" sz="1800" b="0" dirty="0">
                <a:solidFill>
                  <a:srgbClr val="09885A"/>
                </a:solidFill>
                <a:effectLst/>
                <a:latin typeface="Courier New" panose="02070309020205020404" pitchFamily="49" charset="0"/>
              </a:rPr>
              <a:t>2</a:t>
            </a:r>
            <a:endParaRPr lang="pl-PL" sz="1800" b="0" dirty="0">
              <a:solidFill>
                <a:srgbClr val="000000"/>
              </a:solidFill>
              <a:effectLst/>
              <a:latin typeface="Courier New" panose="02070309020205020404" pitchFamily="49" charset="0"/>
            </a:endParaRPr>
          </a:p>
          <a:p>
            <a:pPr marL="0" indent="0">
              <a:buNone/>
            </a:pPr>
            <a:r>
              <a:rPr lang="pl-PL" sz="1800" b="0" dirty="0">
                <a:solidFill>
                  <a:srgbClr val="000000"/>
                </a:solidFill>
                <a:effectLst/>
                <a:latin typeface="Courier New" panose="02070309020205020404" pitchFamily="49" charset="0"/>
              </a:rPr>
              <a:t>    I=(b-a)/</a:t>
            </a:r>
            <a:r>
              <a:rPr lang="pl-PL" sz="1800" b="0" dirty="0">
                <a:solidFill>
                  <a:srgbClr val="09885A"/>
                </a:solidFill>
                <a:effectLst/>
                <a:latin typeface="Courier New" panose="02070309020205020404" pitchFamily="49" charset="0"/>
              </a:rPr>
              <a:t>6</a:t>
            </a:r>
            <a:r>
              <a:rPr lang="pl-PL" sz="1800" b="0" dirty="0">
                <a:solidFill>
                  <a:srgbClr val="000000"/>
                </a:solidFill>
                <a:effectLst/>
                <a:latin typeface="Courier New" panose="02070309020205020404" pitchFamily="49" charset="0"/>
              </a:rPr>
              <a:t>*(funkcija(a)+</a:t>
            </a:r>
            <a:r>
              <a:rPr lang="pl-PL" sz="1800" b="0" dirty="0">
                <a:solidFill>
                  <a:srgbClr val="09885A"/>
                </a:solidFill>
                <a:effectLst/>
                <a:latin typeface="Courier New" panose="02070309020205020404" pitchFamily="49" charset="0"/>
              </a:rPr>
              <a:t>4</a:t>
            </a:r>
            <a:r>
              <a:rPr lang="pl-PL" sz="1800" b="0" dirty="0">
                <a:solidFill>
                  <a:srgbClr val="000000"/>
                </a:solidFill>
                <a:effectLst/>
                <a:latin typeface="Courier New" panose="02070309020205020404" pitchFamily="49" charset="0"/>
              </a:rPr>
              <a:t>*funkcija(c)+funkcija(b))</a:t>
            </a:r>
          </a:p>
          <a:p>
            <a:pPr marL="0" indent="0">
              <a:buNone/>
            </a:pPr>
            <a:r>
              <a:rPr lang="pl-PL" sz="1800" b="0" dirty="0">
                <a:solidFill>
                  <a:srgbClr val="000000"/>
                </a:solidFill>
                <a:effectLst/>
                <a:latin typeface="Courier New" panose="02070309020205020404" pitchFamily="49" charset="0"/>
              </a:rPr>
              <a:t>    </a:t>
            </a:r>
            <a:r>
              <a:rPr lang="pl-PL" sz="1800" b="0" dirty="0">
                <a:solidFill>
                  <a:srgbClr val="AF00DB"/>
                </a:solidFill>
                <a:effectLst/>
                <a:latin typeface="Courier New" panose="02070309020205020404" pitchFamily="49" charset="0"/>
              </a:rPr>
              <a:t>return</a:t>
            </a:r>
            <a:r>
              <a:rPr lang="pl-PL" sz="1800" b="0" dirty="0">
                <a:solidFill>
                  <a:srgbClr val="000000"/>
                </a:solidFill>
                <a:effectLst/>
                <a:latin typeface="Courier New" panose="02070309020205020404" pitchFamily="49" charset="0"/>
              </a:rPr>
              <a:t> I</a:t>
            </a:r>
            <a:endParaRPr lang="en-US" sz="1800" b="0" dirty="0">
              <a:solidFill>
                <a:srgbClr val="000000"/>
              </a:solidFill>
              <a:effectLst/>
              <a:latin typeface="Courier New" panose="02070309020205020404" pitchFamily="49" charset="0"/>
            </a:endParaRPr>
          </a:p>
          <a:p>
            <a:pPr marL="0" indent="0">
              <a:buNone/>
            </a:pPr>
            <a:endParaRPr lang="en-US" sz="1800" dirty="0">
              <a:solidFill>
                <a:srgbClr val="000000"/>
              </a:solidFill>
              <a:latin typeface="Courier New" panose="02070309020205020404" pitchFamily="49" charset="0"/>
            </a:endParaRPr>
          </a:p>
          <a:p>
            <a:pPr marL="0" indent="0">
              <a:buNone/>
            </a:pPr>
            <a:r>
              <a:rPr lang="en-US" sz="1800" b="0" dirty="0">
                <a:solidFill>
                  <a:srgbClr val="0000FF"/>
                </a:solidFill>
                <a:effectLst/>
                <a:latin typeface="Courier New" panose="02070309020205020404" pitchFamily="49" charset="0"/>
              </a:rPr>
              <a:t>def</a:t>
            </a:r>
            <a:r>
              <a:rPr lang="en-US" sz="1800" b="0" dirty="0">
                <a:solidFill>
                  <a:srgbClr val="000000"/>
                </a:solidFill>
                <a:effectLst/>
                <a:latin typeface="Courier New" panose="02070309020205020404" pitchFamily="49" charset="0"/>
              </a:rPr>
              <a:t> </a:t>
            </a:r>
            <a:r>
              <a:rPr lang="en-US" sz="1800" b="0" dirty="0" err="1">
                <a:solidFill>
                  <a:srgbClr val="795E26"/>
                </a:solidFill>
                <a:effectLst/>
                <a:latin typeface="Courier New" panose="02070309020205020404" pitchFamily="49" charset="0"/>
              </a:rPr>
              <a:t>simpson_kompozitno</a:t>
            </a:r>
            <a:r>
              <a:rPr lang="en-US" sz="1800" b="0" dirty="0">
                <a:solidFill>
                  <a:srgbClr val="000000"/>
                </a:solidFill>
                <a:effectLst/>
                <a:latin typeface="Courier New" panose="02070309020205020404" pitchFamily="49" charset="0"/>
              </a:rPr>
              <a:t>(</a:t>
            </a:r>
            <a:r>
              <a:rPr lang="en-US" sz="1800" b="0" dirty="0" err="1">
                <a:solidFill>
                  <a:srgbClr val="001080"/>
                </a:solidFill>
                <a:effectLst/>
                <a:latin typeface="Courier New" panose="02070309020205020404" pitchFamily="49" charset="0"/>
              </a:rPr>
              <a:t>a</a:t>
            </a:r>
            <a:r>
              <a:rPr lang="en-US" sz="1800" b="0" dirty="0" err="1">
                <a:solidFill>
                  <a:srgbClr val="000000"/>
                </a:solidFill>
                <a:effectLst/>
                <a:latin typeface="Courier New" panose="02070309020205020404" pitchFamily="49" charset="0"/>
              </a:rPr>
              <a:t>,</a:t>
            </a:r>
            <a:r>
              <a:rPr lang="en-US" sz="1800" b="0" dirty="0" err="1">
                <a:solidFill>
                  <a:srgbClr val="001080"/>
                </a:solidFill>
                <a:effectLst/>
                <a:latin typeface="Courier New" panose="02070309020205020404" pitchFamily="49" charset="0"/>
              </a:rPr>
              <a:t>b</a:t>
            </a:r>
            <a:r>
              <a:rPr lang="en-US" sz="1800" b="0" dirty="0" err="1">
                <a:solidFill>
                  <a:srgbClr val="000000"/>
                </a:solidFill>
                <a:effectLst/>
                <a:latin typeface="Courier New" panose="02070309020205020404" pitchFamily="49" charset="0"/>
              </a:rPr>
              <a:t>,</a:t>
            </a:r>
            <a:r>
              <a:rPr lang="en-US" sz="1800" b="0" dirty="0" err="1">
                <a:solidFill>
                  <a:srgbClr val="001080"/>
                </a:solidFill>
                <a:effectLst/>
                <a:latin typeface="Courier New" panose="02070309020205020404" pitchFamily="49" charset="0"/>
              </a:rPr>
              <a:t>funkcija</a:t>
            </a:r>
            <a:r>
              <a:rPr lang="en-US" sz="1800" b="0" dirty="0" err="1">
                <a:solidFill>
                  <a:srgbClr val="000000"/>
                </a:solidFill>
                <a:effectLst/>
                <a:latin typeface="Courier New" panose="02070309020205020404" pitchFamily="49" charset="0"/>
              </a:rPr>
              <a:t>,</a:t>
            </a:r>
            <a:r>
              <a:rPr lang="en-US" sz="1800" b="0" dirty="0" err="1">
                <a:solidFill>
                  <a:srgbClr val="001080"/>
                </a:solidFill>
                <a:effectLst/>
                <a:latin typeface="Courier New" panose="02070309020205020404" pitchFamily="49" charset="0"/>
              </a:rPr>
              <a:t>n</a:t>
            </a:r>
            <a:r>
              <a:rPr lang="en-US" sz="1800" b="0" dirty="0">
                <a:solidFill>
                  <a:srgbClr val="000000"/>
                </a:solidFill>
                <a:effectLst/>
                <a:latin typeface="Courier New" panose="02070309020205020404" pitchFamily="49" charset="0"/>
              </a:rPr>
              <a:t>):</a:t>
            </a:r>
          </a:p>
          <a:p>
            <a:pPr marL="0" indent="0">
              <a:buNone/>
            </a:pPr>
            <a:r>
              <a:rPr lang="en-US" sz="1800" b="0" dirty="0">
                <a:solidFill>
                  <a:srgbClr val="000000"/>
                </a:solidFill>
                <a:effectLst/>
                <a:latin typeface="Courier New" panose="02070309020205020404" pitchFamily="49" charset="0"/>
              </a:rPr>
              <a:t>    parts=</a:t>
            </a:r>
            <a:r>
              <a:rPr lang="en-US" sz="1800" b="0" dirty="0" err="1">
                <a:solidFill>
                  <a:srgbClr val="000000"/>
                </a:solidFill>
                <a:effectLst/>
                <a:latin typeface="Courier New" panose="02070309020205020404" pitchFamily="49" charset="0"/>
              </a:rPr>
              <a:t>np.linspace</a:t>
            </a:r>
            <a:r>
              <a:rPr lang="en-US" sz="1800" b="0" dirty="0">
                <a:solidFill>
                  <a:srgbClr val="000000"/>
                </a:solidFill>
                <a:effectLst/>
                <a:latin typeface="Courier New" panose="02070309020205020404" pitchFamily="49" charset="0"/>
              </a:rPr>
              <a:t>(a,b,n+</a:t>
            </a:r>
            <a:r>
              <a:rPr lang="en-US" sz="1800" b="0" dirty="0">
                <a:solidFill>
                  <a:srgbClr val="09885A"/>
                </a:solidFill>
                <a:effectLst/>
                <a:latin typeface="Courier New" panose="02070309020205020404" pitchFamily="49" charset="0"/>
              </a:rPr>
              <a:t>1</a:t>
            </a:r>
            <a:r>
              <a:rPr lang="en-US" sz="1800" b="0" dirty="0">
                <a:solidFill>
                  <a:srgbClr val="000000"/>
                </a:solidFill>
                <a:effectLst/>
                <a:latin typeface="Courier New" panose="02070309020205020404" pitchFamily="49" charset="0"/>
              </a:rPr>
              <a:t>)</a:t>
            </a:r>
          </a:p>
          <a:p>
            <a:pPr marL="0" indent="0">
              <a:buNone/>
            </a:pPr>
            <a:r>
              <a:rPr lang="en-US" sz="1800" b="0" dirty="0">
                <a:solidFill>
                  <a:srgbClr val="000000"/>
                </a:solidFill>
                <a:effectLst/>
                <a:latin typeface="Courier New" panose="02070309020205020404" pitchFamily="49" charset="0"/>
              </a:rPr>
              <a:t>    I=</a:t>
            </a:r>
            <a:r>
              <a:rPr lang="en-US" sz="1800" b="0" dirty="0">
                <a:solidFill>
                  <a:srgbClr val="09885A"/>
                </a:solidFill>
                <a:effectLst/>
                <a:latin typeface="Courier New" panose="02070309020205020404" pitchFamily="49" charset="0"/>
              </a:rPr>
              <a:t>0</a:t>
            </a:r>
            <a:endParaRPr lang="en-US" sz="1800" b="0" dirty="0">
              <a:solidFill>
                <a:srgbClr val="000000"/>
              </a:solidFill>
              <a:effectLst/>
              <a:latin typeface="Courier New" panose="02070309020205020404" pitchFamily="49" charset="0"/>
            </a:endParaRPr>
          </a:p>
          <a:p>
            <a:pPr marL="0" indent="0">
              <a:buNone/>
            </a:pPr>
            <a:r>
              <a:rPr lang="en-US" sz="1800" b="0" dirty="0">
                <a:solidFill>
                  <a:srgbClr val="000000"/>
                </a:solidFill>
                <a:effectLst/>
                <a:latin typeface="Courier New" panose="02070309020205020404" pitchFamily="49" charset="0"/>
              </a:rPr>
              <a:t>    </a:t>
            </a:r>
            <a:r>
              <a:rPr lang="en-US" sz="1800" b="0" dirty="0">
                <a:solidFill>
                  <a:srgbClr val="AF00DB"/>
                </a:solidFill>
                <a:effectLst/>
                <a:latin typeface="Courier New" panose="02070309020205020404" pitchFamily="49" charset="0"/>
              </a:rPr>
              <a:t>for</a:t>
            </a:r>
            <a:r>
              <a:rPr lang="en-US" sz="1800" b="0" dirty="0">
                <a:solidFill>
                  <a:srgbClr val="000000"/>
                </a:solidFill>
                <a:effectLst/>
                <a:latin typeface="Courier New" panose="02070309020205020404" pitchFamily="49" charset="0"/>
              </a:rPr>
              <a:t> </a:t>
            </a:r>
            <a:r>
              <a:rPr lang="en-US" sz="1800" b="0" dirty="0" err="1">
                <a:solidFill>
                  <a:srgbClr val="000000"/>
                </a:solidFill>
                <a:effectLst/>
                <a:latin typeface="Courier New" panose="02070309020205020404" pitchFamily="49" charset="0"/>
              </a:rPr>
              <a:t>i</a:t>
            </a:r>
            <a:r>
              <a:rPr lang="en-US" sz="1800" b="0" dirty="0">
                <a:solidFill>
                  <a:srgbClr val="000000"/>
                </a:solidFill>
                <a:effectLst/>
                <a:latin typeface="Courier New" panose="02070309020205020404" pitchFamily="49" charset="0"/>
              </a:rPr>
              <a:t> </a:t>
            </a:r>
            <a:r>
              <a:rPr lang="en-US" sz="1800" b="0" dirty="0">
                <a:solidFill>
                  <a:srgbClr val="0000FF"/>
                </a:solidFill>
                <a:effectLst/>
                <a:latin typeface="Courier New" panose="02070309020205020404" pitchFamily="49" charset="0"/>
              </a:rPr>
              <a:t>in</a:t>
            </a:r>
            <a:r>
              <a:rPr lang="en-US" sz="1800" b="0" dirty="0">
                <a:solidFill>
                  <a:srgbClr val="000000"/>
                </a:solidFill>
                <a:effectLst/>
                <a:latin typeface="Courier New" panose="02070309020205020404" pitchFamily="49" charset="0"/>
              </a:rPr>
              <a:t> </a:t>
            </a:r>
            <a:r>
              <a:rPr lang="en-US" sz="1800" b="0" dirty="0">
                <a:solidFill>
                  <a:srgbClr val="795E26"/>
                </a:solidFill>
                <a:effectLst/>
                <a:latin typeface="Courier New" panose="02070309020205020404" pitchFamily="49" charset="0"/>
              </a:rPr>
              <a:t>range</a:t>
            </a:r>
            <a:r>
              <a:rPr lang="en-US" sz="1800" b="0" dirty="0">
                <a:solidFill>
                  <a:srgbClr val="000000"/>
                </a:solidFill>
                <a:effectLst/>
                <a:latin typeface="Courier New" panose="02070309020205020404" pitchFamily="49" charset="0"/>
              </a:rPr>
              <a:t>(</a:t>
            </a:r>
            <a:r>
              <a:rPr lang="en-US" sz="1800" b="0" dirty="0" err="1">
                <a:solidFill>
                  <a:srgbClr val="795E26"/>
                </a:solidFill>
                <a:effectLst/>
                <a:latin typeface="Courier New" panose="02070309020205020404" pitchFamily="49" charset="0"/>
              </a:rPr>
              <a:t>len</a:t>
            </a:r>
            <a:r>
              <a:rPr lang="en-US" sz="1800" b="0" dirty="0">
                <a:solidFill>
                  <a:srgbClr val="000000"/>
                </a:solidFill>
                <a:effectLst/>
                <a:latin typeface="Courier New" panose="02070309020205020404" pitchFamily="49" charset="0"/>
              </a:rPr>
              <a:t>(parts)</a:t>
            </a:r>
            <a:r>
              <a:rPr lang="en-US" sz="1800" b="0" dirty="0">
                <a:solidFill>
                  <a:srgbClr val="09885A"/>
                </a:solidFill>
                <a:effectLst/>
                <a:latin typeface="Courier New" panose="02070309020205020404" pitchFamily="49" charset="0"/>
              </a:rPr>
              <a:t>-1</a:t>
            </a:r>
            <a:r>
              <a:rPr lang="en-US" sz="1800" b="0" dirty="0">
                <a:solidFill>
                  <a:srgbClr val="000000"/>
                </a:solidFill>
                <a:effectLst/>
                <a:latin typeface="Courier New" panose="02070309020205020404" pitchFamily="49" charset="0"/>
              </a:rPr>
              <a:t>):</a:t>
            </a:r>
          </a:p>
          <a:p>
            <a:pPr marL="0" indent="0">
              <a:buNone/>
            </a:pPr>
            <a:r>
              <a:rPr lang="en-US" sz="1800" b="0" dirty="0">
                <a:solidFill>
                  <a:srgbClr val="000000"/>
                </a:solidFill>
                <a:effectLst/>
                <a:latin typeface="Courier New" panose="02070309020205020404" pitchFamily="49" charset="0"/>
              </a:rPr>
              <a:t>        I = I + </a:t>
            </a:r>
            <a:r>
              <a:rPr lang="en-US" sz="1800" b="0" dirty="0" err="1">
                <a:solidFill>
                  <a:srgbClr val="000000"/>
                </a:solidFill>
                <a:effectLst/>
                <a:latin typeface="Courier New" panose="02070309020205020404" pitchFamily="49" charset="0"/>
              </a:rPr>
              <a:t>simpson</a:t>
            </a:r>
            <a:r>
              <a:rPr lang="en-US" sz="1800" b="0" dirty="0">
                <a:solidFill>
                  <a:srgbClr val="000000"/>
                </a:solidFill>
                <a:effectLst/>
                <a:latin typeface="Courier New" panose="02070309020205020404" pitchFamily="49" charset="0"/>
              </a:rPr>
              <a:t>(parts[</a:t>
            </a:r>
            <a:r>
              <a:rPr lang="en-US" sz="1800" b="0" dirty="0" err="1">
                <a:solidFill>
                  <a:srgbClr val="000000"/>
                </a:solidFill>
                <a:effectLst/>
                <a:latin typeface="Courier New" panose="02070309020205020404" pitchFamily="49" charset="0"/>
              </a:rPr>
              <a:t>i</a:t>
            </a:r>
            <a:r>
              <a:rPr lang="en-US" sz="1800" b="0" dirty="0">
                <a:solidFill>
                  <a:srgbClr val="000000"/>
                </a:solidFill>
                <a:effectLst/>
                <a:latin typeface="Courier New" panose="02070309020205020404" pitchFamily="49" charset="0"/>
              </a:rPr>
              <a:t>], parts[i+</a:t>
            </a:r>
            <a:r>
              <a:rPr lang="en-US" sz="1800" b="0" dirty="0">
                <a:solidFill>
                  <a:srgbClr val="09885A"/>
                </a:solidFill>
                <a:effectLst/>
                <a:latin typeface="Courier New" panose="02070309020205020404" pitchFamily="49" charset="0"/>
              </a:rPr>
              <a:t>1</a:t>
            </a:r>
            <a:r>
              <a:rPr lang="en-US" sz="1800" b="0" dirty="0">
                <a:solidFill>
                  <a:srgbClr val="000000"/>
                </a:solidFill>
                <a:effectLst/>
                <a:latin typeface="Courier New" panose="02070309020205020404" pitchFamily="49" charset="0"/>
              </a:rPr>
              <a:t>], </a:t>
            </a:r>
            <a:r>
              <a:rPr lang="en-US" sz="1800" b="0" dirty="0" err="1">
                <a:solidFill>
                  <a:srgbClr val="000000"/>
                </a:solidFill>
                <a:effectLst/>
                <a:latin typeface="Courier New" panose="02070309020205020404" pitchFamily="49" charset="0"/>
              </a:rPr>
              <a:t>funkcija</a:t>
            </a:r>
            <a:r>
              <a:rPr lang="en-US" sz="1800" b="0" dirty="0">
                <a:solidFill>
                  <a:srgbClr val="000000"/>
                </a:solidFill>
                <a:effectLst/>
                <a:latin typeface="Courier New" panose="02070309020205020404" pitchFamily="49" charset="0"/>
              </a:rPr>
              <a:t>)</a:t>
            </a:r>
          </a:p>
          <a:p>
            <a:pPr marL="0" indent="0">
              <a:buNone/>
            </a:pPr>
            <a:r>
              <a:rPr lang="en-US" sz="1800" b="0" dirty="0">
                <a:solidFill>
                  <a:srgbClr val="000000"/>
                </a:solidFill>
                <a:effectLst/>
                <a:latin typeface="Courier New" panose="02070309020205020404" pitchFamily="49" charset="0"/>
              </a:rPr>
              <a:t>    </a:t>
            </a:r>
          </a:p>
          <a:p>
            <a:pPr marL="0" indent="0">
              <a:buNone/>
            </a:pPr>
            <a:r>
              <a:rPr lang="en-US" sz="1800" b="0" dirty="0">
                <a:solidFill>
                  <a:srgbClr val="000000"/>
                </a:solidFill>
                <a:effectLst/>
                <a:latin typeface="Courier New" panose="02070309020205020404" pitchFamily="49" charset="0"/>
              </a:rPr>
              <a:t>    </a:t>
            </a:r>
            <a:r>
              <a:rPr lang="en-US" sz="1800" b="0" dirty="0">
                <a:solidFill>
                  <a:srgbClr val="AF00DB"/>
                </a:solidFill>
                <a:effectLst/>
                <a:latin typeface="Courier New" panose="02070309020205020404" pitchFamily="49" charset="0"/>
              </a:rPr>
              <a:t>return</a:t>
            </a:r>
            <a:r>
              <a:rPr lang="en-US" sz="1800" b="0" dirty="0">
                <a:solidFill>
                  <a:srgbClr val="000000"/>
                </a:solidFill>
                <a:effectLst/>
                <a:latin typeface="Courier New" panose="02070309020205020404" pitchFamily="49" charset="0"/>
              </a:rPr>
              <a:t> I</a:t>
            </a:r>
          </a:p>
          <a:p>
            <a:pPr marL="0" indent="0">
              <a:buNone/>
            </a:pPr>
            <a:endParaRPr lang="pl-PL" sz="1800" b="0" dirty="0">
              <a:solidFill>
                <a:srgbClr val="000000"/>
              </a:solidFill>
              <a:effectLst/>
              <a:latin typeface="Courier New" panose="02070309020205020404" pitchFamily="49" charset="0"/>
            </a:endParaRPr>
          </a:p>
          <a:p>
            <a:pPr marL="0" indent="0">
              <a:buNone/>
            </a:pPr>
            <a:endParaRPr lang="en-US" sz="18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7EAB395-2558-4CEC-B319-3BB011E2E2C3}"/>
                  </a:ext>
                </a:extLst>
              </p:cNvPr>
              <p:cNvSpPr txBox="1"/>
              <p:nvPr/>
            </p:nvSpPr>
            <p:spPr>
              <a:xfrm>
                <a:off x="3581400" y="1471612"/>
                <a:ext cx="4572000" cy="6182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sr-Latn-RS" b="0" i="1" smtClean="0">
                          <a:latin typeface="Cambria Math"/>
                        </a:rPr>
                        <m:t>𝐼</m:t>
                      </m:r>
                      <m:r>
                        <a:rPr lang="en-US" b="0" i="1" smtClean="0">
                          <a:latin typeface="Cambria Math"/>
                        </a:rPr>
                        <m:t>=</m:t>
                      </m:r>
                      <m:f>
                        <m:fPr>
                          <m:ctrlPr>
                            <a:rPr lang="en-US" i="1">
                              <a:latin typeface="Cambria Math" panose="02040503050406030204" pitchFamily="18" charset="0"/>
                            </a:rPr>
                          </m:ctrlPr>
                        </m:fPr>
                        <m:num>
                          <m:r>
                            <a:rPr lang="sr-Latn-CS" i="1">
                              <a:latin typeface="Cambria Math"/>
                            </a:rPr>
                            <m:t>h</m:t>
                          </m:r>
                        </m:num>
                        <m:den>
                          <m:r>
                            <a:rPr lang="sr-Latn-CS" i="1">
                              <a:latin typeface="Cambria Math"/>
                            </a:rPr>
                            <m:t>3</m:t>
                          </m:r>
                        </m:den>
                      </m:f>
                      <m:d>
                        <m:dPr>
                          <m:begChr m:val="["/>
                          <m:endChr m:val="]"/>
                          <m:ctrlPr>
                            <a:rPr lang="en-US" i="1">
                              <a:latin typeface="Cambria Math" panose="02040503050406030204" pitchFamily="18" charset="0"/>
                            </a:rPr>
                          </m:ctrlPr>
                        </m:dPr>
                        <m:e>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0</m:t>
                                  </m:r>
                                </m:sub>
                              </m:sSub>
                            </m:e>
                          </m:d>
                          <m:r>
                            <a:rPr lang="sr-Latn-CS" i="1">
                              <a:latin typeface="Cambria Math"/>
                            </a:rPr>
                            <m:t>+4</m:t>
                          </m:r>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1</m:t>
                                  </m:r>
                                </m:sub>
                              </m:sSub>
                            </m:e>
                          </m:d>
                          <m:r>
                            <a:rPr lang="sr-Latn-CS" i="1">
                              <a:latin typeface="Cambria Math"/>
                            </a:rPr>
                            <m:t>+</m:t>
                          </m:r>
                          <m:r>
                            <a:rPr lang="sr-Latn-CS" i="1">
                              <a:latin typeface="Cambria Math"/>
                            </a:rPr>
                            <m:t>𝑓</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𝑥</m:t>
                                  </m:r>
                                </m:e>
                                <m:sub>
                                  <m:r>
                                    <a:rPr lang="sr-Latn-CS" i="1">
                                      <a:latin typeface="Cambria Math"/>
                                    </a:rPr>
                                    <m:t>2</m:t>
                                  </m:r>
                                </m:sub>
                              </m:sSub>
                            </m:e>
                          </m:d>
                        </m:e>
                      </m:d>
                    </m:oMath>
                  </m:oMathPara>
                </a14:m>
                <a:endParaRPr lang="en-US" dirty="0"/>
              </a:p>
            </p:txBody>
          </p:sp>
        </mc:Choice>
        <mc:Fallback xmlns="">
          <p:sp>
            <p:nvSpPr>
              <p:cNvPr id="6" name="TextBox 5">
                <a:extLst>
                  <a:ext uri="{FF2B5EF4-FFF2-40B4-BE49-F238E27FC236}">
                    <a16:creationId xmlns:a16="http://schemas.microsoft.com/office/drawing/2014/main" id="{07EAB395-2558-4CEC-B319-3BB011E2E2C3}"/>
                  </a:ext>
                </a:extLst>
              </p:cNvPr>
              <p:cNvSpPr txBox="1">
                <a:spLocks noRot="1" noChangeAspect="1" noMove="1" noResize="1" noEditPoints="1" noAdjustHandles="1" noChangeArrowheads="1" noChangeShapeType="1" noTextEdit="1"/>
              </p:cNvSpPr>
              <p:nvPr/>
            </p:nvSpPr>
            <p:spPr>
              <a:xfrm>
                <a:off x="3581400" y="1471612"/>
                <a:ext cx="4572000" cy="618246"/>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8571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fade">
                                      <p:cBhvr>
                                        <p:cTn id="16" dur="500"/>
                                        <p:tgtEl>
                                          <p:spTgt spid="3">
                                            <p:txEl>
                                              <p:pRg st="8" end="8"/>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Effect transition="in" filter="fade">
                                      <p:cBhvr>
                                        <p:cTn id="19" dur="500"/>
                                        <p:tgtEl>
                                          <p:spTgt spid="3">
                                            <p:txEl>
                                              <p:pRg st="9" end="9"/>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10" end="10"/>
                                            </p:txEl>
                                          </p:spTgt>
                                        </p:tgtEl>
                                        <p:attrNameLst>
                                          <p:attrName>style.visibility</p:attrName>
                                        </p:attrNameLst>
                                      </p:cBhvr>
                                      <p:to>
                                        <p:strVal val="visible"/>
                                      </p:to>
                                    </p:set>
                                    <p:animEffect transition="in" filter="fade">
                                      <p:cBhvr>
                                        <p:cTn id="22" dur="500"/>
                                        <p:tgtEl>
                                          <p:spTgt spid="3">
                                            <p:txEl>
                                              <p:pRg st="10" end="10"/>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animEffect transition="in" filter="fade">
                                      <p:cBhvr>
                                        <p:cTn id="2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45AC4-61F1-444D-9FA4-39A3F36C3CDA}"/>
              </a:ext>
            </a:extLst>
          </p:cNvPr>
          <p:cNvSpPr>
            <a:spLocks noGrp="1"/>
          </p:cNvSpPr>
          <p:nvPr>
            <p:ph type="title"/>
          </p:nvPr>
        </p:nvSpPr>
        <p:spPr/>
        <p:txBody>
          <a:bodyPr/>
          <a:lstStyle/>
          <a:p>
            <a:r>
              <a:rPr lang="en-US" dirty="0"/>
              <a:t>Python </a:t>
            </a:r>
            <a:r>
              <a:rPr lang="en-US" dirty="0" err="1"/>
              <a:t>kod</a:t>
            </a:r>
            <a:r>
              <a:rPr lang="en-US" dirty="0"/>
              <a:t> (Simpson 1/3)</a:t>
            </a:r>
          </a:p>
        </p:txBody>
      </p:sp>
      <p:pic>
        <p:nvPicPr>
          <p:cNvPr id="5" name="Picture 4">
            <a:extLst>
              <a:ext uri="{FF2B5EF4-FFF2-40B4-BE49-F238E27FC236}">
                <a16:creationId xmlns:a16="http://schemas.microsoft.com/office/drawing/2014/main" id="{F9E90C7E-EB25-40E6-A59A-B3EDBD41302E}"/>
              </a:ext>
            </a:extLst>
          </p:cNvPr>
          <p:cNvPicPr>
            <a:picLocks noChangeAspect="1"/>
          </p:cNvPicPr>
          <p:nvPr/>
        </p:nvPicPr>
        <p:blipFill rotWithShape="1">
          <a:blip r:embed="rId2"/>
          <a:srcRect l="5000" t="35883" r="30833" b="28039"/>
          <a:stretch/>
        </p:blipFill>
        <p:spPr>
          <a:xfrm>
            <a:off x="152400" y="1524000"/>
            <a:ext cx="7653126" cy="2286000"/>
          </a:xfrm>
          <a:prstGeom prst="rect">
            <a:avLst/>
          </a:prstGeom>
        </p:spPr>
      </p:pic>
      <p:pic>
        <p:nvPicPr>
          <p:cNvPr id="7" name="Picture 6">
            <a:extLst>
              <a:ext uri="{FF2B5EF4-FFF2-40B4-BE49-F238E27FC236}">
                <a16:creationId xmlns:a16="http://schemas.microsoft.com/office/drawing/2014/main" id="{FD6A5662-8815-4937-A0FB-33CA382EA5AD}"/>
              </a:ext>
            </a:extLst>
          </p:cNvPr>
          <p:cNvPicPr>
            <a:picLocks noChangeAspect="1"/>
          </p:cNvPicPr>
          <p:nvPr/>
        </p:nvPicPr>
        <p:blipFill rotWithShape="1">
          <a:blip r:embed="rId3"/>
          <a:srcRect l="5000" t="35883" r="30000" b="28039"/>
          <a:stretch/>
        </p:blipFill>
        <p:spPr>
          <a:xfrm>
            <a:off x="152400" y="4038600"/>
            <a:ext cx="7752517" cy="2286000"/>
          </a:xfrm>
          <a:prstGeom prst="rect">
            <a:avLst/>
          </a:prstGeom>
        </p:spPr>
      </p:pic>
    </p:spTree>
    <p:extLst>
      <p:ext uri="{BB962C8B-B14F-4D97-AF65-F5344CB8AC3E}">
        <p14:creationId xmlns:p14="http://schemas.microsoft.com/office/powerpoint/2010/main" val="3571863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sr-Latn-RS" dirty="0" err="1"/>
              <a:t>Simpsonova</a:t>
            </a:r>
            <a:r>
              <a:rPr lang="en-US" altLang="sr-Latn-RS" dirty="0"/>
              <a:t> 1/3 </a:t>
            </a:r>
            <a:r>
              <a:rPr lang="en-US" altLang="sr-Latn-RS" dirty="0" err="1"/>
              <a:t>metoda</a:t>
            </a:r>
            <a:r>
              <a:rPr lang="en-US" altLang="sr-Latn-RS" dirty="0"/>
              <a:t> - </a:t>
            </a:r>
            <a:r>
              <a:rPr lang="sr-Latn-RS" altLang="sr-Latn-RS" dirty="0"/>
              <a:t>Greška</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Latn-CS" i="1">
                                  <a:latin typeface="Cambria Math"/>
                                </a:rPr>
                                <m:t>𝐸</m:t>
                              </m:r>
                            </m:e>
                            <m:sub>
                              <m:r>
                                <a:rPr lang="sr-Latn-CS" i="1">
                                  <a:latin typeface="Cambria Math"/>
                                </a:rPr>
                                <m:t>𝑆</m:t>
                              </m:r>
                            </m:sub>
                          </m:sSub>
                        </m:e>
                      </m:d>
                      <m:r>
                        <a:rPr lang="sr-Latn-CS" i="1">
                          <a:latin typeface="Cambria Math"/>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sr-Cyrl-RS" i="1">
                                  <a:latin typeface="Cambria Math"/>
                                </a:rPr>
                                <m:t>𝐼</m:t>
                              </m:r>
                            </m:e>
                            <m:sub>
                              <m:r>
                                <a:rPr lang="sr-Cyrl-RS" i="1">
                                  <a:latin typeface="Cambria Math"/>
                                </a:rPr>
                                <m:t>𝑆</m:t>
                              </m:r>
                            </m:sub>
                          </m:sSub>
                          <m:r>
                            <a:rPr lang="sr-Cyrl-RS" i="1">
                              <a:latin typeface="Cambria Math"/>
                            </a:rPr>
                            <m:t>−</m:t>
                          </m:r>
                          <m:nary>
                            <m:naryPr>
                              <m:limLoc m:val="undOvr"/>
                              <m:ctrlPr>
                                <a:rPr lang="en-US" i="1">
                                  <a:latin typeface="Cambria Math" panose="02040503050406030204" pitchFamily="18" charset="0"/>
                                </a:rPr>
                              </m:ctrlPr>
                            </m:naryPr>
                            <m:sub>
                              <m:r>
                                <a:rPr lang="sr-Cyrl-RS" i="1">
                                  <a:latin typeface="Cambria Math"/>
                                </a:rPr>
                                <m:t>𝑎</m:t>
                              </m:r>
                            </m:sub>
                            <m:sup>
                              <m:r>
                                <a:rPr lang="sr-Cyrl-RS" i="1">
                                  <a:latin typeface="Cambria Math"/>
                                </a:rPr>
                                <m:t>𝑏</m:t>
                              </m:r>
                            </m:sup>
                            <m:e>
                              <m:r>
                                <a:rPr lang="sr-Cyrl-RS" i="1">
                                  <a:latin typeface="Cambria Math"/>
                                </a:rPr>
                                <m:t>𝑓</m:t>
                              </m:r>
                              <m:d>
                                <m:dPr>
                                  <m:ctrlPr>
                                    <a:rPr lang="en-US" i="1">
                                      <a:latin typeface="Cambria Math" panose="02040503050406030204" pitchFamily="18" charset="0"/>
                                    </a:rPr>
                                  </m:ctrlPr>
                                </m:dPr>
                                <m:e>
                                  <m:r>
                                    <a:rPr lang="sr-Cyrl-RS" i="1">
                                      <a:latin typeface="Cambria Math"/>
                                    </a:rPr>
                                    <m:t>𝑥</m:t>
                                  </m:r>
                                </m:e>
                              </m:d>
                              <m:r>
                                <a:rPr lang="sr-Cyrl-RS" i="1">
                                  <a:latin typeface="Cambria Math"/>
                                </a:rPr>
                                <m:t>𝑑𝑥</m:t>
                              </m:r>
                            </m:e>
                          </m:nary>
                        </m:e>
                      </m:d>
                      <m:r>
                        <a:rPr lang="sr-Latn-CS" i="1">
                          <a:latin typeface="Cambria Math"/>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sr-Cyrl-RS" i="1">
                                      <a:latin typeface="Cambria Math"/>
                                    </a:rPr>
                                    <m:t>𝑏</m:t>
                                  </m:r>
                                  <m:r>
                                    <a:rPr lang="sr-Cyrl-RS" i="1">
                                      <a:latin typeface="Cambria Math"/>
                                    </a:rPr>
                                    <m:t>−</m:t>
                                  </m:r>
                                  <m:r>
                                    <a:rPr lang="sr-Cyrl-RS" i="1">
                                      <a:latin typeface="Cambria Math"/>
                                    </a:rPr>
                                    <m:t>𝑎</m:t>
                                  </m:r>
                                </m:e>
                              </m:d>
                            </m:e>
                            <m:sup>
                              <m:r>
                                <a:rPr lang="sr-Cyrl-RS" i="1">
                                  <a:latin typeface="Cambria Math"/>
                                </a:rPr>
                                <m:t>5</m:t>
                              </m:r>
                            </m:sup>
                          </m:sSup>
                        </m:num>
                        <m:den>
                          <m:r>
                            <a:rPr lang="sr-Cyrl-RS" i="1">
                              <a:latin typeface="Cambria Math"/>
                            </a:rPr>
                            <m:t>180</m:t>
                          </m:r>
                          <m:sSup>
                            <m:sSupPr>
                              <m:ctrlPr>
                                <a:rPr lang="en-US" i="1">
                                  <a:latin typeface="Cambria Math" panose="02040503050406030204" pitchFamily="18" charset="0"/>
                                </a:rPr>
                              </m:ctrlPr>
                            </m:sSupPr>
                            <m:e>
                              <m:r>
                                <a:rPr lang="sr-Cyrl-RS" i="1">
                                  <a:latin typeface="Cambria Math"/>
                                </a:rPr>
                                <m:t>𝑛</m:t>
                              </m:r>
                            </m:e>
                            <m:sup>
                              <m:r>
                                <a:rPr lang="sr-Cyrl-RS" i="1">
                                  <a:latin typeface="Cambria Math"/>
                                </a:rPr>
                                <m:t>4</m:t>
                              </m:r>
                            </m:sup>
                          </m:sSup>
                        </m:den>
                      </m:f>
                      <m:r>
                        <a:rPr lang="sr-Cyrl-RS" i="1">
                          <a:latin typeface="Cambria Math"/>
                        </a:rPr>
                        <m:t>𝑀</m:t>
                      </m:r>
                      <m:r>
                        <a:rPr lang="sr-Cyrl-RS" i="1">
                          <a:latin typeface="Cambria Math"/>
                        </a:rPr>
                        <m:t>=</m:t>
                      </m:r>
                      <m:f>
                        <m:fPr>
                          <m:ctrlPr>
                            <a:rPr lang="en-US" i="1">
                              <a:latin typeface="Cambria Math" panose="02040503050406030204" pitchFamily="18" charset="0"/>
                            </a:rPr>
                          </m:ctrlPr>
                        </m:fPr>
                        <m:num>
                          <m:d>
                            <m:dPr>
                              <m:ctrlPr>
                                <a:rPr lang="en-US" i="1">
                                  <a:latin typeface="Cambria Math" panose="02040503050406030204" pitchFamily="18" charset="0"/>
                                </a:rPr>
                              </m:ctrlPr>
                            </m:dPr>
                            <m:e>
                              <m:r>
                                <a:rPr lang="sr-Cyrl-RS" i="1">
                                  <a:latin typeface="Cambria Math"/>
                                </a:rPr>
                                <m:t>𝑏</m:t>
                              </m:r>
                              <m:r>
                                <a:rPr lang="sr-Cyrl-RS" i="1">
                                  <a:latin typeface="Cambria Math"/>
                                </a:rPr>
                                <m:t>−</m:t>
                              </m:r>
                              <m:r>
                                <a:rPr lang="sr-Cyrl-RS" i="1">
                                  <a:latin typeface="Cambria Math"/>
                                </a:rPr>
                                <m:t>𝑎</m:t>
                              </m:r>
                            </m:e>
                          </m:d>
                        </m:num>
                        <m:den>
                          <m:r>
                            <a:rPr lang="sr-Cyrl-RS" i="1">
                              <a:latin typeface="Cambria Math"/>
                            </a:rPr>
                            <m:t>180</m:t>
                          </m:r>
                        </m:den>
                      </m:f>
                      <m:sSup>
                        <m:sSupPr>
                          <m:ctrlPr>
                            <a:rPr lang="en-US" i="1">
                              <a:latin typeface="Cambria Math" panose="02040503050406030204" pitchFamily="18" charset="0"/>
                            </a:rPr>
                          </m:ctrlPr>
                        </m:sSupPr>
                        <m:e>
                          <m:r>
                            <a:rPr lang="sr-Cyrl-RS" i="1">
                              <a:latin typeface="Cambria Math"/>
                            </a:rPr>
                            <m:t>h</m:t>
                          </m:r>
                        </m:e>
                        <m:sup>
                          <m:r>
                            <a:rPr lang="sr-Cyrl-RS" i="1">
                              <a:latin typeface="Cambria Math"/>
                            </a:rPr>
                            <m:t>4</m:t>
                          </m:r>
                        </m:sup>
                      </m:sSup>
                      <m:r>
                        <a:rPr lang="sr-Cyrl-RS" i="1">
                          <a:latin typeface="Cambria Math"/>
                        </a:rPr>
                        <m:t>𝑀</m:t>
                      </m:r>
                    </m:oMath>
                  </m:oMathPara>
                </a14:m>
                <a:endParaRPr lang="en-US" dirty="0"/>
              </a:p>
              <a:p>
                <a:pPr marL="0" indent="0">
                  <a:buNone/>
                </a:pPr>
                <a:endParaRPr lang="en-US" dirty="0"/>
              </a:p>
              <a:p>
                <a:pPr marL="0" indent="0">
                  <a:buNone/>
                </a:pPr>
                <a:r>
                  <a:rPr lang="en-US" dirty="0"/>
                  <a:t>(</a:t>
                </a:r>
                <a14:m>
                  <m:oMath xmlns:m="http://schemas.openxmlformats.org/officeDocument/2006/math">
                    <m:sSub>
                      <m:sSubPr>
                        <m:ctrlPr>
                          <a:rPr lang="en-US" i="1">
                            <a:latin typeface="Cambria Math" panose="02040503050406030204" pitchFamily="18" charset="0"/>
                          </a:rPr>
                        </m:ctrlPr>
                      </m:sSubPr>
                      <m:e>
                        <m:r>
                          <a:rPr lang="en-US" i="1">
                            <a:latin typeface="Cambria Math"/>
                          </a:rPr>
                          <m:t>𝐼</m:t>
                        </m:r>
                      </m:e>
                      <m:sub>
                        <m:r>
                          <a:rPr lang="en-US" i="1">
                            <a:latin typeface="Cambria Math"/>
                          </a:rPr>
                          <m:t>𝑆</m:t>
                        </m:r>
                      </m:sub>
                    </m:sSub>
                  </m:oMath>
                </a14:m>
                <a:r>
                  <a:rPr lang="en-US" dirty="0"/>
                  <a:t> je rezultat </a:t>
                </a:r>
                <a:r>
                  <a:rPr lang="en-US" dirty="0" err="1"/>
                  <a:t>kompozitne</a:t>
                </a:r>
                <a:r>
                  <a:rPr lang="en-US" dirty="0"/>
                  <a:t> </a:t>
                </a:r>
                <a:r>
                  <a:rPr lang="sr-Latn-RS" dirty="0"/>
                  <a:t>Simpsonove 1/3 metoda</a:t>
                </a:r>
                <a:r>
                  <a:rPr lang="en-US" dirty="0"/>
                  <a:t>, </a:t>
                </a:r>
                <a14:m>
                  <m:oMath xmlns:m="http://schemas.openxmlformats.org/officeDocument/2006/math">
                    <m:r>
                      <a:rPr lang="en-US" i="1">
                        <a:latin typeface="Cambria Math"/>
                      </a:rPr>
                      <m:t>h</m:t>
                    </m:r>
                  </m:oMath>
                </a14:m>
                <a:r>
                  <a:rPr lang="en-US" dirty="0"/>
                  <a:t> </a:t>
                </a:r>
                <a:r>
                  <a:rPr lang="en-US" dirty="0" err="1"/>
                  <a:t>veličina</a:t>
                </a:r>
                <a:r>
                  <a:rPr lang="en-US" dirty="0"/>
                  <a:t>, a </a:t>
                </a:r>
                <a14:m>
                  <m:oMath xmlns:m="http://schemas.openxmlformats.org/officeDocument/2006/math">
                    <m:r>
                      <a:rPr lang="en-US" i="1">
                        <a:latin typeface="Cambria Math"/>
                      </a:rPr>
                      <m:t>𝑛</m:t>
                    </m:r>
                  </m:oMath>
                </a14:m>
                <a:r>
                  <a:rPr lang="en-US" dirty="0"/>
                  <a:t> </a:t>
                </a:r>
                <a:r>
                  <a:rPr lang="en-US" dirty="0" err="1"/>
                  <a:t>broj</a:t>
                </a:r>
                <a:r>
                  <a:rPr lang="en-US" dirty="0"/>
                  <a:t> </a:t>
                </a:r>
                <a:r>
                  <a:rPr lang="en-US" dirty="0" err="1"/>
                  <a:t>podintervala</a:t>
                </a:r>
                <a:r>
                  <a:rPr lang="en-US" dirty="0"/>
                  <a:t> </a:t>
                </a:r>
                <a:r>
                  <a:rPr lang="en-US" dirty="0" err="1"/>
                  <a:t>na</a:t>
                </a:r>
                <a:r>
                  <a:rPr lang="en-US" dirty="0"/>
                  <a:t> </a:t>
                </a:r>
                <a:r>
                  <a:rPr lang="en-US" dirty="0" err="1"/>
                  <a:t>koji</a:t>
                </a:r>
                <a:r>
                  <a:rPr lang="en-US" dirty="0"/>
                  <a:t> se deli interval </a:t>
                </a:r>
                <a14:m>
                  <m:oMath xmlns:m="http://schemas.openxmlformats.org/officeDocument/2006/math">
                    <m:d>
                      <m:dPr>
                        <m:begChr m:val="["/>
                        <m:endChr m:val="]"/>
                        <m:ctrlPr>
                          <a:rPr lang="en-US" i="1">
                            <a:latin typeface="Cambria Math" panose="02040503050406030204" pitchFamily="18" charset="0"/>
                          </a:rPr>
                        </m:ctrlPr>
                      </m:dPr>
                      <m:e>
                        <m:r>
                          <a:rPr lang="en-US" i="1">
                            <a:latin typeface="Cambria Math"/>
                          </a:rPr>
                          <m:t>𝑎</m:t>
                        </m:r>
                        <m:r>
                          <a:rPr lang="en-US" i="1">
                            <a:latin typeface="Cambria Math"/>
                          </a:rPr>
                          <m:t>, </m:t>
                        </m:r>
                        <m:r>
                          <a:rPr lang="en-US" i="1">
                            <a:latin typeface="Cambria Math"/>
                          </a:rPr>
                          <m:t>𝑏</m:t>
                        </m:r>
                      </m:e>
                    </m:d>
                  </m:oMath>
                </a14:m>
                <a:r>
                  <a:rPr lang="en-US" dirty="0"/>
                  <a:t>,   a </a:t>
                </a:r>
                <a14:m>
                  <m:oMath xmlns:m="http://schemas.openxmlformats.org/officeDocument/2006/math">
                    <m:func>
                      <m:funcPr>
                        <m:ctrlPr>
                          <a:rPr lang="en-US" i="1">
                            <a:latin typeface="Cambria Math" panose="02040503050406030204" pitchFamily="18" charset="0"/>
                          </a:rPr>
                        </m:ctrlPr>
                      </m:funcPr>
                      <m:fName>
                        <m:limLow>
                          <m:limLowPr>
                            <m:ctrlPr>
                              <a:rPr lang="en-US" i="1">
                                <a:latin typeface="Cambria Math" panose="02040503050406030204" pitchFamily="18" charset="0"/>
                              </a:rPr>
                            </m:ctrlPr>
                          </m:limLowPr>
                          <m:e>
                            <m:r>
                              <a:rPr lang="sr-Latn-RS" i="1">
                                <a:latin typeface="Cambria Math"/>
                              </a:rPr>
                              <m:t>𝑀</m:t>
                            </m:r>
                            <m:r>
                              <a:rPr lang="sr-Latn-RS">
                                <a:latin typeface="Cambria Math"/>
                              </a:rPr>
                              <m:t>=</m:t>
                            </m:r>
                            <m:r>
                              <m:rPr>
                                <m:sty m:val="p"/>
                              </m:rPr>
                              <a:rPr lang="sr-Latn-RS">
                                <a:latin typeface="Cambria Math"/>
                              </a:rPr>
                              <m:t>max</m:t>
                            </m:r>
                          </m:e>
                          <m:lim>
                            <m:r>
                              <a:rPr lang="sr-Latn-RS" i="1">
                                <a:latin typeface="Cambria Math"/>
                              </a:rPr>
                              <m:t>𝑥</m:t>
                            </m:r>
                            <m:r>
                              <a:rPr lang="sr-Latn-RS" i="1">
                                <a:latin typeface="Cambria Math"/>
                              </a:rPr>
                              <m:t>∈[</m:t>
                            </m:r>
                            <m:r>
                              <a:rPr lang="sr-Latn-RS" i="1">
                                <a:latin typeface="Cambria Math"/>
                              </a:rPr>
                              <m:t>𝑎</m:t>
                            </m:r>
                            <m:r>
                              <a:rPr lang="sr-Latn-RS" i="1">
                                <a:latin typeface="Cambria Math"/>
                              </a:rPr>
                              <m:t>,</m:t>
                            </m:r>
                            <m:r>
                              <a:rPr lang="sr-Latn-RS" i="1">
                                <a:latin typeface="Cambria Math"/>
                              </a:rPr>
                              <m:t>𝑏</m:t>
                            </m:r>
                            <m:r>
                              <a:rPr lang="sr-Latn-RS" i="1">
                                <a:latin typeface="Cambria Math"/>
                              </a:rPr>
                              <m:t>]</m:t>
                            </m:r>
                          </m:lim>
                        </m:limLow>
                      </m:fName>
                      <m:e>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sr-Cyrl-RS" i="1">
                                    <a:latin typeface="Cambria Math"/>
                                  </a:rPr>
                                  <m:t>𝑓</m:t>
                                </m:r>
                              </m:e>
                              <m:sup>
                                <m:r>
                                  <a:rPr lang="en-US" i="1">
                                    <a:latin typeface="Cambria Math"/>
                                  </a:rPr>
                                  <m:t>(4)</m:t>
                                </m:r>
                              </m:sup>
                            </m:sSup>
                            <m:d>
                              <m:dPr>
                                <m:ctrlPr>
                                  <a:rPr lang="en-US" i="1">
                                    <a:latin typeface="Cambria Math" panose="02040503050406030204" pitchFamily="18" charset="0"/>
                                  </a:rPr>
                                </m:ctrlPr>
                              </m:dPr>
                              <m:e>
                                <m:r>
                                  <a:rPr lang="sr-Cyrl-RS" i="1">
                                    <a:latin typeface="Cambria Math"/>
                                  </a:rPr>
                                  <m:t>𝑥</m:t>
                                </m:r>
                              </m:e>
                            </m:d>
                          </m:e>
                        </m:d>
                      </m:e>
                    </m:func>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3"/>
                <a:stretch>
                  <a:fillRect l="-1111" r="-1037"/>
                </a:stretch>
              </a:blipFill>
            </p:spPr>
            <p:txBody>
              <a:bodyPr/>
              <a:lstStyle/>
              <a:p>
                <a:r>
                  <a:rPr lang="en-US">
                    <a:noFill/>
                  </a:rPr>
                  <a:t> </a:t>
                </a:r>
              </a:p>
            </p:txBody>
          </p:sp>
        </mc:Fallback>
      </mc:AlternateContent>
    </p:spTree>
    <p:extLst>
      <p:ext uri="{BB962C8B-B14F-4D97-AF65-F5344CB8AC3E}">
        <p14:creationId xmlns:p14="http://schemas.microsoft.com/office/powerpoint/2010/main" val="40224833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type="title"/>
          </p:nvPr>
        </p:nvSpPr>
        <p:spPr>
          <a:xfrm>
            <a:off x="1104900" y="304800"/>
            <a:ext cx="7772400" cy="533400"/>
          </a:xfrm>
        </p:spPr>
        <p:txBody>
          <a:bodyPr>
            <a:normAutofit fontScale="90000"/>
          </a:bodyPr>
          <a:lstStyle/>
          <a:p>
            <a:r>
              <a:rPr lang="sr-Latn-RS" altLang="sr-Latn-RS" dirty="0"/>
              <a:t>Simpsonova 3/8 metoda</a:t>
            </a:r>
            <a:endParaRPr lang="en-US" altLang="sr-Latn-RS" dirty="0"/>
          </a:p>
        </p:txBody>
      </p:sp>
      <p:sp>
        <p:nvSpPr>
          <p:cNvPr id="39939" name="Rectangle 4"/>
          <p:cNvSpPr>
            <a:spLocks noGrp="1" noChangeArrowheads="1"/>
          </p:cNvSpPr>
          <p:nvPr>
            <p:ph type="body" idx="1"/>
          </p:nvPr>
        </p:nvSpPr>
        <p:spPr>
          <a:xfrm>
            <a:off x="381000" y="957263"/>
            <a:ext cx="8458200" cy="4114800"/>
          </a:xfrm>
          <a:solidFill>
            <a:schemeClr val="bg1"/>
          </a:solidFill>
        </p:spPr>
        <p:txBody>
          <a:bodyPr/>
          <a:lstStyle/>
          <a:p>
            <a:pPr marL="609600" indent="-609600"/>
            <a:r>
              <a:rPr lang="sr-Latn-RS" altLang="sr-Latn-RS"/>
              <a:t>Funkciju f aproksimiramo polinomom trećeg stepena na [a,b].</a:t>
            </a:r>
          </a:p>
          <a:p>
            <a:pPr marL="609600" indent="-609600">
              <a:buFont typeface="Wingdings" pitchFamily="2" charset="2"/>
              <a:buChar char="Ø"/>
            </a:pPr>
            <a:endParaRPr lang="en-US" altLang="sr-Latn-RS">
              <a:solidFill>
                <a:srgbClr val="0000CC"/>
              </a:solidFill>
            </a:endParaRPr>
          </a:p>
        </p:txBody>
      </p:sp>
      <p:graphicFrame>
        <p:nvGraphicFramePr>
          <p:cNvPr id="39940" name="Object 5"/>
          <p:cNvGraphicFramePr>
            <a:graphicFrameLocks noChangeAspect="1"/>
          </p:cNvGraphicFramePr>
          <p:nvPr/>
        </p:nvGraphicFramePr>
        <p:xfrm>
          <a:off x="536575" y="1905000"/>
          <a:ext cx="7616825" cy="1538288"/>
        </p:xfrm>
        <a:graphic>
          <a:graphicData uri="http://schemas.openxmlformats.org/presentationml/2006/ole">
            <mc:AlternateContent xmlns:mc="http://schemas.openxmlformats.org/markup-compatibility/2006">
              <mc:Choice xmlns:v="urn:schemas-microsoft-com:vml" Requires="v">
                <p:oleObj name="Equation" r:id="rId3" imgW="4152900" imgH="838200" progId="Equation.3">
                  <p:embed/>
                </p:oleObj>
              </mc:Choice>
              <mc:Fallback>
                <p:oleObj name="Equation" r:id="rId3" imgW="4152900" imgH="838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575" y="1905000"/>
                        <a:ext cx="7616825" cy="1538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1" name="Freeform 28" descr="Dark downward diagonal"/>
          <p:cNvSpPr>
            <a:spLocks/>
          </p:cNvSpPr>
          <p:nvPr/>
        </p:nvSpPr>
        <p:spPr bwMode="auto">
          <a:xfrm>
            <a:off x="1752600" y="3505200"/>
            <a:ext cx="5943600" cy="2743200"/>
          </a:xfrm>
          <a:custGeom>
            <a:avLst/>
            <a:gdLst>
              <a:gd name="T0" fmla="*/ 0 w 3744"/>
              <a:gd name="T1" fmla="*/ 1905000 h 1728"/>
              <a:gd name="T2" fmla="*/ 304800 w 3744"/>
              <a:gd name="T3" fmla="*/ 1066800 h 1728"/>
              <a:gd name="T4" fmla="*/ 609600 w 3744"/>
              <a:gd name="T5" fmla="*/ 685800 h 1728"/>
              <a:gd name="T6" fmla="*/ 838200 w 3744"/>
              <a:gd name="T7" fmla="*/ 533400 h 1728"/>
              <a:gd name="T8" fmla="*/ 1143000 w 3744"/>
              <a:gd name="T9" fmla="*/ 381000 h 1728"/>
              <a:gd name="T10" fmla="*/ 1600200 w 3744"/>
              <a:gd name="T11" fmla="*/ 228600 h 1728"/>
              <a:gd name="T12" fmla="*/ 1981200 w 3744"/>
              <a:gd name="T13" fmla="*/ 228600 h 1728"/>
              <a:gd name="T14" fmla="*/ 2286000 w 3744"/>
              <a:gd name="T15" fmla="*/ 304800 h 1728"/>
              <a:gd name="T16" fmla="*/ 2895600 w 3744"/>
              <a:gd name="T17" fmla="*/ 533400 h 1728"/>
              <a:gd name="T18" fmla="*/ 3200400 w 3744"/>
              <a:gd name="T19" fmla="*/ 685800 h 1728"/>
              <a:gd name="T20" fmla="*/ 3810000 w 3744"/>
              <a:gd name="T21" fmla="*/ 762000 h 1728"/>
              <a:gd name="T22" fmla="*/ 4191000 w 3744"/>
              <a:gd name="T23" fmla="*/ 762000 h 1728"/>
              <a:gd name="T24" fmla="*/ 4800600 w 3744"/>
              <a:gd name="T25" fmla="*/ 609600 h 1728"/>
              <a:gd name="T26" fmla="*/ 5334000 w 3744"/>
              <a:gd name="T27" fmla="*/ 381000 h 1728"/>
              <a:gd name="T28" fmla="*/ 5943600 w 3744"/>
              <a:gd name="T29" fmla="*/ 0 h 1728"/>
              <a:gd name="T30" fmla="*/ 5943600 w 3744"/>
              <a:gd name="T31" fmla="*/ 2743200 h 1728"/>
              <a:gd name="T32" fmla="*/ 0 w 3744"/>
              <a:gd name="T33" fmla="*/ 2743200 h 1728"/>
              <a:gd name="T34" fmla="*/ 0 w 3744"/>
              <a:gd name="T35" fmla="*/ 1905000 h 172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3744" h="1728">
                <a:moveTo>
                  <a:pt x="0" y="1200"/>
                </a:moveTo>
                <a:lnTo>
                  <a:pt x="192" y="672"/>
                </a:lnTo>
                <a:lnTo>
                  <a:pt x="384" y="432"/>
                </a:lnTo>
                <a:lnTo>
                  <a:pt x="528" y="336"/>
                </a:lnTo>
                <a:lnTo>
                  <a:pt x="720" y="240"/>
                </a:lnTo>
                <a:lnTo>
                  <a:pt x="1008" y="144"/>
                </a:lnTo>
                <a:lnTo>
                  <a:pt x="1248" y="144"/>
                </a:lnTo>
                <a:lnTo>
                  <a:pt x="1440" y="192"/>
                </a:lnTo>
                <a:lnTo>
                  <a:pt x="1824" y="336"/>
                </a:lnTo>
                <a:lnTo>
                  <a:pt x="2016" y="432"/>
                </a:lnTo>
                <a:lnTo>
                  <a:pt x="2400" y="480"/>
                </a:lnTo>
                <a:lnTo>
                  <a:pt x="2640" y="480"/>
                </a:lnTo>
                <a:lnTo>
                  <a:pt x="3024" y="384"/>
                </a:lnTo>
                <a:lnTo>
                  <a:pt x="3360" y="240"/>
                </a:lnTo>
                <a:lnTo>
                  <a:pt x="3744" y="0"/>
                </a:lnTo>
                <a:lnTo>
                  <a:pt x="3744" y="1728"/>
                </a:lnTo>
                <a:lnTo>
                  <a:pt x="0" y="1728"/>
                </a:lnTo>
                <a:lnTo>
                  <a:pt x="0" y="1200"/>
                </a:lnTo>
                <a:close/>
              </a:path>
            </a:pathLst>
          </a:custGeom>
          <a:pattFill prst="dkDnDiag">
            <a:fgClr>
              <a:srgbClr val="0099FF"/>
            </a:fgClr>
            <a:bgClr>
              <a:srgbClr val="FFFFFF"/>
            </a:bgClr>
          </a:patt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42" name="Line 29"/>
          <p:cNvSpPr>
            <a:spLocks noChangeShapeType="1"/>
          </p:cNvSpPr>
          <p:nvPr/>
        </p:nvSpPr>
        <p:spPr bwMode="auto">
          <a:xfrm>
            <a:off x="1066800" y="6248400"/>
            <a:ext cx="70104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43" name="Line 30"/>
          <p:cNvSpPr>
            <a:spLocks noChangeShapeType="1"/>
          </p:cNvSpPr>
          <p:nvPr/>
        </p:nvSpPr>
        <p:spPr bwMode="auto">
          <a:xfrm flipV="1">
            <a:off x="1066800" y="3349625"/>
            <a:ext cx="0" cy="28987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44" name="Freeform 31"/>
          <p:cNvSpPr>
            <a:spLocks/>
          </p:cNvSpPr>
          <p:nvPr/>
        </p:nvSpPr>
        <p:spPr bwMode="auto">
          <a:xfrm>
            <a:off x="1752600" y="3505200"/>
            <a:ext cx="5943600" cy="1905000"/>
          </a:xfrm>
          <a:custGeom>
            <a:avLst/>
            <a:gdLst>
              <a:gd name="T0" fmla="*/ 0 w 3648"/>
              <a:gd name="T1" fmla="*/ 1905000 h 1104"/>
              <a:gd name="T2" fmla="*/ 547437 w 3648"/>
              <a:gd name="T3" fmla="*/ 993913 h 1104"/>
              <a:gd name="T4" fmla="*/ 1251284 w 3648"/>
              <a:gd name="T5" fmla="*/ 496957 h 1104"/>
              <a:gd name="T6" fmla="*/ 1955132 w 3648"/>
              <a:gd name="T7" fmla="*/ 248478 h 1104"/>
              <a:gd name="T8" fmla="*/ 2580774 w 3648"/>
              <a:gd name="T9" fmla="*/ 248478 h 1104"/>
              <a:gd name="T10" fmla="*/ 3284621 w 3648"/>
              <a:gd name="T11" fmla="*/ 496957 h 1104"/>
              <a:gd name="T12" fmla="*/ 4144879 w 3648"/>
              <a:gd name="T13" fmla="*/ 828261 h 1104"/>
              <a:gd name="T14" fmla="*/ 5083342 w 3648"/>
              <a:gd name="T15" fmla="*/ 662609 h 1104"/>
              <a:gd name="T16" fmla="*/ 5630779 w 3648"/>
              <a:gd name="T17" fmla="*/ 331304 h 1104"/>
              <a:gd name="T18" fmla="*/ 5943600 w 3648"/>
              <a:gd name="T19" fmla="*/ 0 h 110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3648" h="1104">
                <a:moveTo>
                  <a:pt x="0" y="1104"/>
                </a:moveTo>
                <a:cubicBezTo>
                  <a:pt x="104" y="908"/>
                  <a:pt x="208" y="712"/>
                  <a:pt x="336" y="576"/>
                </a:cubicBezTo>
                <a:cubicBezTo>
                  <a:pt x="464" y="440"/>
                  <a:pt x="624" y="360"/>
                  <a:pt x="768" y="288"/>
                </a:cubicBezTo>
                <a:cubicBezTo>
                  <a:pt x="912" y="216"/>
                  <a:pt x="1064" y="168"/>
                  <a:pt x="1200" y="144"/>
                </a:cubicBezTo>
                <a:cubicBezTo>
                  <a:pt x="1336" y="120"/>
                  <a:pt x="1448" y="120"/>
                  <a:pt x="1584" y="144"/>
                </a:cubicBezTo>
                <a:cubicBezTo>
                  <a:pt x="1720" y="168"/>
                  <a:pt x="1856" y="232"/>
                  <a:pt x="2016" y="288"/>
                </a:cubicBezTo>
                <a:cubicBezTo>
                  <a:pt x="2176" y="344"/>
                  <a:pt x="2360" y="464"/>
                  <a:pt x="2544" y="480"/>
                </a:cubicBezTo>
                <a:cubicBezTo>
                  <a:pt x="2728" y="496"/>
                  <a:pt x="2968" y="432"/>
                  <a:pt x="3120" y="384"/>
                </a:cubicBezTo>
                <a:cubicBezTo>
                  <a:pt x="3272" y="336"/>
                  <a:pt x="3368" y="256"/>
                  <a:pt x="3456" y="192"/>
                </a:cubicBezTo>
                <a:cubicBezTo>
                  <a:pt x="3544" y="128"/>
                  <a:pt x="3596" y="64"/>
                  <a:pt x="3648" y="0"/>
                </a:cubicBezTo>
              </a:path>
            </a:pathLst>
          </a:custGeom>
          <a:noFill/>
          <a:ln w="38100"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45" name="Line 32"/>
          <p:cNvSpPr>
            <a:spLocks noChangeShapeType="1"/>
          </p:cNvSpPr>
          <p:nvPr/>
        </p:nvSpPr>
        <p:spPr bwMode="auto">
          <a:xfrm>
            <a:off x="1752600" y="5410200"/>
            <a:ext cx="0" cy="838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46" name="Line 33"/>
          <p:cNvSpPr>
            <a:spLocks noChangeShapeType="1"/>
          </p:cNvSpPr>
          <p:nvPr/>
        </p:nvSpPr>
        <p:spPr bwMode="auto">
          <a:xfrm flipV="1">
            <a:off x="7696200" y="3505200"/>
            <a:ext cx="0" cy="2743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47" name="Text Box 34"/>
          <p:cNvSpPr txBox="1">
            <a:spLocks noChangeArrowheads="1"/>
          </p:cNvSpPr>
          <p:nvPr/>
        </p:nvSpPr>
        <p:spPr bwMode="auto">
          <a:xfrm>
            <a:off x="1447800" y="6172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0</a:t>
            </a:r>
            <a:endParaRPr lang="en-US" altLang="sr-Latn-RS" sz="2400">
              <a:latin typeface="Times New Roman" pitchFamily="18" charset="0"/>
            </a:endParaRPr>
          </a:p>
        </p:txBody>
      </p:sp>
      <p:sp>
        <p:nvSpPr>
          <p:cNvPr id="39948" name="Text Box 35"/>
          <p:cNvSpPr txBox="1">
            <a:spLocks noChangeArrowheads="1"/>
          </p:cNvSpPr>
          <p:nvPr/>
        </p:nvSpPr>
        <p:spPr bwMode="auto">
          <a:xfrm>
            <a:off x="3429000" y="6172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1</a:t>
            </a:r>
            <a:endParaRPr lang="en-US" altLang="sr-Latn-RS" sz="2400">
              <a:latin typeface="Times New Roman" pitchFamily="18" charset="0"/>
            </a:endParaRPr>
          </a:p>
        </p:txBody>
      </p:sp>
      <p:sp>
        <p:nvSpPr>
          <p:cNvPr id="39949" name="Text Box 36"/>
          <p:cNvSpPr txBox="1">
            <a:spLocks noChangeArrowheads="1"/>
          </p:cNvSpPr>
          <p:nvPr/>
        </p:nvSpPr>
        <p:spPr bwMode="auto">
          <a:xfrm>
            <a:off x="8153400" y="6096000"/>
            <a:ext cx="30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x</a:t>
            </a:r>
            <a:endParaRPr lang="en-US" altLang="sr-Latn-RS" sz="2400">
              <a:latin typeface="Times New Roman" pitchFamily="18" charset="0"/>
            </a:endParaRPr>
          </a:p>
        </p:txBody>
      </p:sp>
      <p:sp>
        <p:nvSpPr>
          <p:cNvPr id="39950" name="Text Box 37"/>
          <p:cNvSpPr txBox="1">
            <a:spLocks noChangeArrowheads="1"/>
          </p:cNvSpPr>
          <p:nvPr/>
        </p:nvSpPr>
        <p:spPr bwMode="auto">
          <a:xfrm>
            <a:off x="4572000" y="3429000"/>
            <a:ext cx="838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f(x)</a:t>
            </a:r>
            <a:endParaRPr lang="en-US" altLang="sr-Latn-RS" sz="2400" i="1">
              <a:latin typeface="Times New Roman" pitchFamily="18" charset="0"/>
            </a:endParaRPr>
          </a:p>
        </p:txBody>
      </p:sp>
      <p:sp>
        <p:nvSpPr>
          <p:cNvPr id="39951" name="Line 38"/>
          <p:cNvSpPr>
            <a:spLocks noChangeShapeType="1"/>
          </p:cNvSpPr>
          <p:nvPr/>
        </p:nvSpPr>
        <p:spPr bwMode="auto">
          <a:xfrm>
            <a:off x="3733800" y="3733800"/>
            <a:ext cx="0" cy="25146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52" name="Text Box 39"/>
          <p:cNvSpPr txBox="1">
            <a:spLocks noChangeArrowheads="1"/>
          </p:cNvSpPr>
          <p:nvPr/>
        </p:nvSpPr>
        <p:spPr bwMode="auto">
          <a:xfrm>
            <a:off x="5410200" y="6172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2</a:t>
            </a:r>
            <a:endParaRPr lang="en-US" altLang="sr-Latn-RS" sz="2400">
              <a:latin typeface="Times New Roman" pitchFamily="18" charset="0"/>
            </a:endParaRPr>
          </a:p>
        </p:txBody>
      </p:sp>
      <p:sp>
        <p:nvSpPr>
          <p:cNvPr id="39953" name="Text Box 40"/>
          <p:cNvSpPr txBox="1">
            <a:spLocks noChangeArrowheads="1"/>
          </p:cNvSpPr>
          <p:nvPr/>
        </p:nvSpPr>
        <p:spPr bwMode="auto">
          <a:xfrm>
            <a:off x="2362200" y="6172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h</a:t>
            </a:r>
            <a:endParaRPr lang="en-US" altLang="sr-Latn-RS" sz="2400">
              <a:latin typeface="Times New Roman" pitchFamily="18" charset="0"/>
            </a:endParaRPr>
          </a:p>
        </p:txBody>
      </p:sp>
      <p:sp>
        <p:nvSpPr>
          <p:cNvPr id="39954" name="Text Box 41"/>
          <p:cNvSpPr txBox="1">
            <a:spLocks noChangeArrowheads="1"/>
          </p:cNvSpPr>
          <p:nvPr/>
        </p:nvSpPr>
        <p:spPr bwMode="auto">
          <a:xfrm>
            <a:off x="6477000" y="6172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h</a:t>
            </a:r>
            <a:endParaRPr lang="en-US" altLang="sr-Latn-RS" sz="2400">
              <a:latin typeface="Times New Roman" pitchFamily="18" charset="0"/>
            </a:endParaRPr>
          </a:p>
        </p:txBody>
      </p:sp>
      <p:sp>
        <p:nvSpPr>
          <p:cNvPr id="39955" name="Text Box 42"/>
          <p:cNvSpPr txBox="1">
            <a:spLocks noChangeArrowheads="1"/>
          </p:cNvSpPr>
          <p:nvPr/>
        </p:nvSpPr>
        <p:spPr bwMode="auto">
          <a:xfrm>
            <a:off x="2286000" y="3429000"/>
            <a:ext cx="838200" cy="457200"/>
          </a:xfrm>
          <a:prstGeom prst="rect">
            <a:avLst/>
          </a:prstGeom>
          <a:noFill/>
          <a:ln>
            <a:noFill/>
          </a:ln>
          <a:effectLst/>
          <a:extLst>
            <a:ext uri="{909E8E84-426E-40DD-AFC4-6F175D3DCCD1}">
              <a14:hiddenFill xmlns:a14="http://schemas.microsoft.com/office/drawing/2010/main">
                <a:solidFill>
                  <a:srgbClr val="3366FF"/>
                </a:solidFill>
              </a14:hiddenFill>
            </a:ext>
            <a:ext uri="{91240B29-F687-4F45-9708-019B960494DF}">
              <a14:hiddenLine xmlns:a14="http://schemas.microsoft.com/office/drawing/2010/main" w="9525">
                <a:solidFill>
                  <a:srgbClr val="0099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0066FF"/>
                </a:solidFill>
                <a:latin typeface="Times New Roman" pitchFamily="18" charset="0"/>
              </a:rPr>
              <a:t>L(x)</a:t>
            </a:r>
          </a:p>
        </p:txBody>
      </p:sp>
      <p:sp>
        <p:nvSpPr>
          <p:cNvPr id="39956" name="Line 43"/>
          <p:cNvSpPr>
            <a:spLocks noChangeShapeType="1"/>
          </p:cNvSpPr>
          <p:nvPr/>
        </p:nvSpPr>
        <p:spPr bwMode="auto">
          <a:xfrm>
            <a:off x="5715000" y="4267200"/>
            <a:ext cx="0" cy="198120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57" name="Text Box 44"/>
          <p:cNvSpPr txBox="1">
            <a:spLocks noChangeArrowheads="1"/>
          </p:cNvSpPr>
          <p:nvPr/>
        </p:nvSpPr>
        <p:spPr bwMode="auto">
          <a:xfrm>
            <a:off x="7391400" y="6172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latin typeface="Times New Roman" pitchFamily="18" charset="0"/>
              </a:rPr>
              <a:t>x</a:t>
            </a:r>
            <a:r>
              <a:rPr lang="en-US" altLang="sr-Latn-RS" sz="2400" b="1" i="1" baseline="-25000">
                <a:latin typeface="Times New Roman" pitchFamily="18" charset="0"/>
              </a:rPr>
              <a:t>3</a:t>
            </a:r>
            <a:endParaRPr lang="en-US" altLang="sr-Latn-RS" sz="2400" b="1" i="1">
              <a:latin typeface="Times New Roman" pitchFamily="18" charset="0"/>
            </a:endParaRPr>
          </a:p>
        </p:txBody>
      </p:sp>
      <p:sp>
        <p:nvSpPr>
          <p:cNvPr id="39958" name="Text Box 45"/>
          <p:cNvSpPr txBox="1">
            <a:spLocks noChangeArrowheads="1"/>
          </p:cNvSpPr>
          <p:nvPr/>
        </p:nvSpPr>
        <p:spPr bwMode="auto">
          <a:xfrm>
            <a:off x="4267200" y="6172200"/>
            <a:ext cx="60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2400" b="1" i="1">
                <a:solidFill>
                  <a:srgbClr val="FF3300"/>
                </a:solidFill>
                <a:latin typeface="Times New Roman" pitchFamily="18" charset="0"/>
              </a:rPr>
              <a:t>h</a:t>
            </a:r>
          </a:p>
        </p:txBody>
      </p:sp>
      <p:sp>
        <p:nvSpPr>
          <p:cNvPr id="39959" name="Freeform 46"/>
          <p:cNvSpPr>
            <a:spLocks/>
          </p:cNvSpPr>
          <p:nvPr/>
        </p:nvSpPr>
        <p:spPr bwMode="auto">
          <a:xfrm>
            <a:off x="1752600" y="3505200"/>
            <a:ext cx="5943600" cy="1905000"/>
          </a:xfrm>
          <a:custGeom>
            <a:avLst/>
            <a:gdLst>
              <a:gd name="T0" fmla="*/ 0 w 3744"/>
              <a:gd name="T1" fmla="*/ 1905000 h 1200"/>
              <a:gd name="T2" fmla="*/ 457200 w 3744"/>
              <a:gd name="T3" fmla="*/ 838200 h 1200"/>
              <a:gd name="T4" fmla="*/ 1143000 w 3744"/>
              <a:gd name="T5" fmla="*/ 381000 h 1200"/>
              <a:gd name="T6" fmla="*/ 1981200 w 3744"/>
              <a:gd name="T7" fmla="*/ 228600 h 1200"/>
              <a:gd name="T8" fmla="*/ 3048000 w 3744"/>
              <a:gd name="T9" fmla="*/ 609600 h 1200"/>
              <a:gd name="T10" fmla="*/ 3657600 w 3744"/>
              <a:gd name="T11" fmla="*/ 762000 h 1200"/>
              <a:gd name="T12" fmla="*/ 4191000 w 3744"/>
              <a:gd name="T13" fmla="*/ 762000 h 1200"/>
              <a:gd name="T14" fmla="*/ 5181600 w 3744"/>
              <a:gd name="T15" fmla="*/ 457200 h 1200"/>
              <a:gd name="T16" fmla="*/ 5943600 w 3744"/>
              <a:gd name="T17" fmla="*/ 0 h 12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744" h="1200">
                <a:moveTo>
                  <a:pt x="0" y="1200"/>
                </a:moveTo>
                <a:cubicBezTo>
                  <a:pt x="84" y="944"/>
                  <a:pt x="168" y="688"/>
                  <a:pt x="288" y="528"/>
                </a:cubicBezTo>
                <a:cubicBezTo>
                  <a:pt x="408" y="368"/>
                  <a:pt x="560" y="304"/>
                  <a:pt x="720" y="240"/>
                </a:cubicBezTo>
                <a:cubicBezTo>
                  <a:pt x="880" y="176"/>
                  <a:pt x="1048" y="120"/>
                  <a:pt x="1248" y="144"/>
                </a:cubicBezTo>
                <a:cubicBezTo>
                  <a:pt x="1448" y="168"/>
                  <a:pt x="1744" y="328"/>
                  <a:pt x="1920" y="384"/>
                </a:cubicBezTo>
                <a:cubicBezTo>
                  <a:pt x="2096" y="440"/>
                  <a:pt x="2184" y="464"/>
                  <a:pt x="2304" y="480"/>
                </a:cubicBezTo>
                <a:cubicBezTo>
                  <a:pt x="2424" y="496"/>
                  <a:pt x="2480" y="512"/>
                  <a:pt x="2640" y="480"/>
                </a:cubicBezTo>
                <a:cubicBezTo>
                  <a:pt x="2800" y="448"/>
                  <a:pt x="3080" y="368"/>
                  <a:pt x="3264" y="288"/>
                </a:cubicBezTo>
                <a:cubicBezTo>
                  <a:pt x="3448" y="208"/>
                  <a:pt x="3596" y="104"/>
                  <a:pt x="3744" y="0"/>
                </a:cubicBezTo>
              </a:path>
            </a:pathLst>
          </a:custGeom>
          <a:noFill/>
          <a:ln w="38100" cmpd="sng">
            <a:solidFill>
              <a:srgbClr val="0066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9960" name="Oval 47"/>
          <p:cNvSpPr>
            <a:spLocks noChangeArrowheads="1"/>
          </p:cNvSpPr>
          <p:nvPr/>
        </p:nvSpPr>
        <p:spPr bwMode="auto">
          <a:xfrm>
            <a:off x="1676400" y="53340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9961" name="Oval 48"/>
          <p:cNvSpPr>
            <a:spLocks noChangeArrowheads="1"/>
          </p:cNvSpPr>
          <p:nvPr/>
        </p:nvSpPr>
        <p:spPr bwMode="auto">
          <a:xfrm>
            <a:off x="3657600" y="36576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9962" name="Oval 49"/>
          <p:cNvSpPr>
            <a:spLocks noChangeArrowheads="1"/>
          </p:cNvSpPr>
          <p:nvPr/>
        </p:nvSpPr>
        <p:spPr bwMode="auto">
          <a:xfrm>
            <a:off x="5638800" y="41910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39963" name="Oval 50"/>
          <p:cNvSpPr>
            <a:spLocks noChangeArrowheads="1"/>
          </p:cNvSpPr>
          <p:nvPr/>
        </p:nvSpPr>
        <p:spPr bwMode="auto">
          <a:xfrm>
            <a:off x="7620000" y="3429000"/>
            <a:ext cx="152400" cy="15240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Tree>
    <p:extLst>
      <p:ext uri="{BB962C8B-B14F-4D97-AF65-F5344CB8AC3E}">
        <p14:creationId xmlns:p14="http://schemas.microsoft.com/office/powerpoint/2010/main" val="225470563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43000" y="381000"/>
            <a:ext cx="7239000" cy="304800"/>
          </a:xfrm>
        </p:spPr>
        <p:txBody>
          <a:bodyPr>
            <a:normAutofit fontScale="90000"/>
          </a:bodyPr>
          <a:lstStyle/>
          <a:p>
            <a:r>
              <a:rPr lang="sr-Latn-RS" altLang="sr-Latn-RS"/>
              <a:t>Simpsonova 3/8 metoda</a:t>
            </a:r>
            <a:endParaRPr lang="en-US" altLang="sr-Latn-RS"/>
          </a:p>
        </p:txBody>
      </p:sp>
      <p:graphicFrame>
        <p:nvGraphicFramePr>
          <p:cNvPr id="40963" name="Object 3"/>
          <p:cNvGraphicFramePr>
            <a:graphicFrameLocks noChangeAspect="1"/>
          </p:cNvGraphicFramePr>
          <p:nvPr>
            <p:extLst>
              <p:ext uri="{D42A27DB-BD31-4B8C-83A1-F6EECF244321}">
                <p14:modId xmlns:p14="http://schemas.microsoft.com/office/powerpoint/2010/main" val="2545318974"/>
              </p:ext>
            </p:extLst>
          </p:nvPr>
        </p:nvGraphicFramePr>
        <p:xfrm>
          <a:off x="710406" y="1584359"/>
          <a:ext cx="7723188" cy="1366838"/>
        </p:xfrm>
        <a:graphic>
          <a:graphicData uri="http://schemas.openxmlformats.org/presentationml/2006/ole">
            <mc:AlternateContent xmlns:mc="http://schemas.openxmlformats.org/markup-compatibility/2006">
              <mc:Choice xmlns:v="urn:schemas-microsoft-com:vml" Requires="v">
                <p:oleObj name="Equation" r:id="rId2" imgW="5016500" imgH="889000" progId="Equation.3">
                  <p:embed/>
                </p:oleObj>
              </mc:Choice>
              <mc:Fallback>
                <p:oleObj name="Equation" r:id="rId2" imgW="5016500" imgH="8890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406" y="1584359"/>
                        <a:ext cx="7723188" cy="1366838"/>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4" name="Object 4"/>
          <p:cNvGraphicFramePr>
            <a:graphicFrameLocks noChangeAspect="1"/>
          </p:cNvGraphicFramePr>
          <p:nvPr>
            <p:extLst>
              <p:ext uri="{D42A27DB-BD31-4B8C-83A1-F6EECF244321}">
                <p14:modId xmlns:p14="http://schemas.microsoft.com/office/powerpoint/2010/main" val="94502532"/>
              </p:ext>
            </p:extLst>
          </p:nvPr>
        </p:nvGraphicFramePr>
        <p:xfrm>
          <a:off x="1948656" y="3849757"/>
          <a:ext cx="5627687" cy="1752600"/>
        </p:xfrm>
        <a:graphic>
          <a:graphicData uri="http://schemas.openxmlformats.org/presentationml/2006/ole">
            <mc:AlternateContent xmlns:mc="http://schemas.openxmlformats.org/markup-compatibility/2006">
              <mc:Choice xmlns:v="urn:schemas-microsoft-com:vml" Requires="v">
                <p:oleObj name="Equation" r:id="rId4" imgW="2603500" imgH="812800" progId="Equation.3">
                  <p:embed/>
                </p:oleObj>
              </mc:Choice>
              <mc:Fallback>
                <p:oleObj name="Equation" r:id="rId4" imgW="2603500" imgH="812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48656" y="3849757"/>
                        <a:ext cx="5627687" cy="1752600"/>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46227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a:bodyPr>
          <a:lstStyle/>
          <a:p>
            <a:r>
              <a:rPr lang="sr-Latn-RS" altLang="sr-Latn-RS" sz="4000" dirty="0"/>
              <a:t>Simpsonova 3/8 metoda</a:t>
            </a:r>
            <a:r>
              <a:rPr lang="en-US" altLang="sr-Latn-RS" dirty="0"/>
              <a:t> - </a:t>
            </a:r>
            <a:r>
              <a:rPr lang="en-US" altLang="sr-Latn-RS" sz="4000" dirty="0" err="1"/>
              <a:t>Gre</a:t>
            </a:r>
            <a:r>
              <a:rPr lang="sr-Latn-RS" altLang="sr-Latn-RS" sz="4000" dirty="0"/>
              <a:t>ška</a:t>
            </a:r>
          </a:p>
        </p:txBody>
      </p:sp>
      <p:graphicFrame>
        <p:nvGraphicFramePr>
          <p:cNvPr id="41987" name="Object 10"/>
          <p:cNvGraphicFramePr>
            <a:graphicFrameLocks noChangeAspect="1"/>
          </p:cNvGraphicFramePr>
          <p:nvPr/>
        </p:nvGraphicFramePr>
        <p:xfrm>
          <a:off x="2057400" y="1676400"/>
          <a:ext cx="4876800" cy="4430713"/>
        </p:xfrm>
        <a:graphic>
          <a:graphicData uri="http://schemas.openxmlformats.org/presentationml/2006/ole">
            <mc:AlternateContent xmlns:mc="http://schemas.openxmlformats.org/markup-compatibility/2006">
              <mc:Choice xmlns:v="urn:schemas-microsoft-com:vml" Requires="v">
                <p:oleObj name="Equation" r:id="rId3" imgW="2082800" imgH="1892300" progId="Equation.3">
                  <p:embed/>
                </p:oleObj>
              </mc:Choice>
              <mc:Fallback>
                <p:oleObj name="Equation" r:id="rId3" imgW="2082800" imgH="18923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1676400"/>
                        <a:ext cx="4876800" cy="4430713"/>
                      </a:xfrm>
                      <a:prstGeom prst="rect">
                        <a:avLst/>
                      </a:prstGeom>
                      <a:solidFill>
                        <a:srgbClr val="C9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161254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086D-73BF-4671-89D6-0578100BF62B}"/>
              </a:ext>
            </a:extLst>
          </p:cNvPr>
          <p:cNvSpPr>
            <a:spLocks noGrp="1"/>
          </p:cNvSpPr>
          <p:nvPr>
            <p:ph type="title"/>
          </p:nvPr>
        </p:nvSpPr>
        <p:spPr/>
        <p:txBody>
          <a:bodyPr/>
          <a:lstStyle/>
          <a:p>
            <a:r>
              <a:rPr lang="en-US" dirty="0" err="1"/>
              <a:t>Simpsonova</a:t>
            </a:r>
            <a:r>
              <a:rPr lang="en-US" dirty="0"/>
              <a:t> 1/3 </a:t>
            </a:r>
            <a:r>
              <a:rPr lang="en-US" dirty="0" err="1"/>
              <a:t>ili</a:t>
            </a:r>
            <a:r>
              <a:rPr lang="en-US" dirty="0"/>
              <a:t> 3/8 </a:t>
            </a:r>
            <a:r>
              <a:rPr lang="en-US" dirty="0" err="1"/>
              <a:t>metoda</a:t>
            </a:r>
            <a:r>
              <a:rPr lang="en-US" dirty="0"/>
              <a:t>?</a:t>
            </a:r>
          </a:p>
        </p:txBody>
      </p:sp>
      <p:sp>
        <p:nvSpPr>
          <p:cNvPr id="3" name="Content Placeholder 2">
            <a:extLst>
              <a:ext uri="{FF2B5EF4-FFF2-40B4-BE49-F238E27FC236}">
                <a16:creationId xmlns:a16="http://schemas.microsoft.com/office/drawing/2014/main" id="{B79CDAED-BE31-4A8D-A633-435F974790EF}"/>
              </a:ext>
            </a:extLst>
          </p:cNvPr>
          <p:cNvSpPr>
            <a:spLocks noGrp="1"/>
          </p:cNvSpPr>
          <p:nvPr>
            <p:ph idx="1"/>
          </p:nvPr>
        </p:nvSpPr>
        <p:spPr/>
        <p:txBody>
          <a:bodyPr>
            <a:normAutofit lnSpcReduction="10000"/>
          </a:bodyPr>
          <a:lstStyle/>
          <a:p>
            <a:r>
              <a:rPr lang="en-US" dirty="0" err="1"/>
              <a:t>Simpsonova</a:t>
            </a:r>
            <a:r>
              <a:rPr lang="en-US" dirty="0"/>
              <a:t> 3/8 </a:t>
            </a:r>
            <a:r>
              <a:rPr lang="en-US" dirty="0" err="1"/>
              <a:t>metoda</a:t>
            </a:r>
            <a:r>
              <a:rPr lang="en-US" dirty="0"/>
              <a:t> </a:t>
            </a:r>
            <a:r>
              <a:rPr lang="en-US" dirty="0" err="1"/>
              <a:t>ima</a:t>
            </a:r>
            <a:r>
              <a:rPr lang="en-US" dirty="0"/>
              <a:t> </a:t>
            </a:r>
            <a:r>
              <a:rPr lang="en-US" dirty="0" err="1"/>
              <a:t>vrlo</a:t>
            </a:r>
            <a:r>
              <a:rPr lang="en-US" dirty="0"/>
              <a:t> </a:t>
            </a:r>
            <a:r>
              <a:rPr lang="en-US" dirty="0" err="1"/>
              <a:t>sli</a:t>
            </a:r>
            <a:r>
              <a:rPr lang="sr-Latn-RS" dirty="0"/>
              <a:t>č</a:t>
            </a:r>
            <a:r>
              <a:rPr lang="en-US" dirty="0"/>
              <a:t>nu </a:t>
            </a:r>
            <a:r>
              <a:rPr lang="en-US" dirty="0" err="1"/>
              <a:t>gre</a:t>
            </a:r>
            <a:r>
              <a:rPr lang="sr-Latn-RS" dirty="0"/>
              <a:t>š</a:t>
            </a:r>
            <a:r>
              <a:rPr lang="en-US" dirty="0" err="1"/>
              <a:t>ku</a:t>
            </a:r>
            <a:r>
              <a:rPr lang="en-US" dirty="0"/>
              <a:t> </a:t>
            </a:r>
            <a:r>
              <a:rPr lang="en-US" dirty="0" err="1"/>
              <a:t>kao</a:t>
            </a:r>
            <a:r>
              <a:rPr lang="en-US" dirty="0"/>
              <a:t> </a:t>
            </a:r>
            <a:r>
              <a:rPr lang="en-US" dirty="0" err="1"/>
              <a:t>Simpsonova</a:t>
            </a:r>
            <a:r>
              <a:rPr lang="en-US" dirty="0"/>
              <a:t> 1/3 </a:t>
            </a:r>
            <a:r>
              <a:rPr lang="sr-Latn-RS" dirty="0"/>
              <a:t>metoda</a:t>
            </a:r>
          </a:p>
          <a:p>
            <a:endParaRPr lang="en-US" dirty="0"/>
          </a:p>
          <a:p>
            <a:r>
              <a:rPr lang="sr-Latn-RS" dirty="0"/>
              <a:t>Zašto koristiti</a:t>
            </a:r>
            <a:r>
              <a:rPr lang="en-US" dirty="0"/>
              <a:t> </a:t>
            </a:r>
            <a:r>
              <a:rPr lang="en-US" dirty="0" err="1"/>
              <a:t>Simpsonov</a:t>
            </a:r>
            <a:r>
              <a:rPr lang="sr-Latn-RS" dirty="0"/>
              <a:t>u</a:t>
            </a:r>
            <a:r>
              <a:rPr lang="en-US" dirty="0"/>
              <a:t> 3/8 </a:t>
            </a:r>
            <a:r>
              <a:rPr lang="sr-Latn-RS" dirty="0"/>
              <a:t>metodu</a:t>
            </a:r>
            <a:r>
              <a:rPr lang="en-US" dirty="0"/>
              <a:t>?</a:t>
            </a:r>
          </a:p>
          <a:p>
            <a:endParaRPr lang="en-US" dirty="0"/>
          </a:p>
          <a:p>
            <a:r>
              <a:rPr lang="en-US" dirty="0" err="1"/>
              <a:t>Pogodna</a:t>
            </a:r>
            <a:r>
              <a:rPr lang="en-US" dirty="0"/>
              <a:t> je u </a:t>
            </a:r>
            <a:r>
              <a:rPr lang="en-US" dirty="0" err="1"/>
              <a:t>slu</a:t>
            </a:r>
            <a:r>
              <a:rPr lang="sr-Latn-RS" dirty="0"/>
              <a:t>č</a:t>
            </a:r>
            <a:r>
              <a:rPr lang="en-US" dirty="0" err="1"/>
              <a:t>aju</a:t>
            </a:r>
            <a:r>
              <a:rPr lang="en-US" dirty="0"/>
              <a:t> da </a:t>
            </a:r>
            <a:r>
              <a:rPr lang="en-US" dirty="0" err="1"/>
              <a:t>imamo</a:t>
            </a:r>
            <a:r>
              <a:rPr lang="en-US" dirty="0"/>
              <a:t> </a:t>
            </a:r>
            <a:r>
              <a:rPr lang="en-US" dirty="0" err="1"/>
              <a:t>paran</a:t>
            </a:r>
            <a:r>
              <a:rPr lang="en-US" dirty="0"/>
              <a:t> </a:t>
            </a:r>
            <a:r>
              <a:rPr lang="en-US" dirty="0" err="1"/>
              <a:t>broj</a:t>
            </a:r>
            <a:r>
              <a:rPr lang="en-US" dirty="0"/>
              <a:t> ta</a:t>
            </a:r>
            <a:r>
              <a:rPr lang="sr-Latn-RS" dirty="0"/>
              <a:t>č</a:t>
            </a:r>
            <a:r>
              <a:rPr lang="en-US" dirty="0"/>
              <a:t>aka </a:t>
            </a:r>
            <a:r>
              <a:rPr lang="sr-Latn-RS" dirty="0"/>
              <a:t>(</a:t>
            </a:r>
            <a:r>
              <a:rPr lang="en-US" dirty="0" err="1"/>
              <a:t>neparan</a:t>
            </a:r>
            <a:r>
              <a:rPr lang="en-US" dirty="0"/>
              <a:t> </a:t>
            </a:r>
            <a:r>
              <a:rPr lang="en-US" dirty="0" err="1"/>
              <a:t>broj</a:t>
            </a:r>
            <a:r>
              <a:rPr lang="en-US" dirty="0"/>
              <a:t> </a:t>
            </a:r>
            <a:r>
              <a:rPr lang="en-US" dirty="0" err="1"/>
              <a:t>intervala</a:t>
            </a:r>
            <a:r>
              <a:rPr lang="sr-Latn-RS" dirty="0"/>
              <a:t>), a</a:t>
            </a:r>
            <a:r>
              <a:rPr lang="en-US" dirty="0"/>
              <a:t> 1/3 </a:t>
            </a:r>
            <a:r>
              <a:rPr lang="sr-Latn-RS" dirty="0"/>
              <a:t>metoda je </a:t>
            </a:r>
            <a:r>
              <a:rPr lang="en-US" dirty="0" err="1"/>
              <a:t>pogodna</a:t>
            </a:r>
            <a:r>
              <a:rPr lang="en-US" dirty="0"/>
              <a:t> u </a:t>
            </a:r>
            <a:r>
              <a:rPr lang="en-US" dirty="0" err="1"/>
              <a:t>obrnutom</a:t>
            </a:r>
            <a:r>
              <a:rPr lang="en-US" dirty="0"/>
              <a:t> </a:t>
            </a:r>
            <a:r>
              <a:rPr lang="en-US" dirty="0" err="1"/>
              <a:t>slu</a:t>
            </a:r>
            <a:r>
              <a:rPr lang="sr-Latn-RS" dirty="0"/>
              <a:t>č</a:t>
            </a:r>
            <a:r>
              <a:rPr lang="en-US" dirty="0" err="1"/>
              <a:t>aju</a:t>
            </a:r>
            <a:endParaRPr lang="sr-Latn-RS" dirty="0"/>
          </a:p>
          <a:p>
            <a:endParaRPr lang="sr-Latn-RS" dirty="0"/>
          </a:p>
          <a:p>
            <a:r>
              <a:rPr lang="sr-Latn-RS" dirty="0"/>
              <a:t>Dakle, red grešaka 1/3 i 3/8 metoda je isti, ali generalno 3/8 ima bolju tačnost i greška malo brže opada sa povećanjem broja </a:t>
            </a:r>
            <a:r>
              <a:rPr lang="sr-Latn-RS" dirty="0" err="1"/>
              <a:t>poditervala</a:t>
            </a:r>
            <a:r>
              <a:rPr lang="sr-Latn-RS" dirty="0"/>
              <a:t> </a:t>
            </a:r>
          </a:p>
          <a:p>
            <a:endParaRPr lang="en-US" dirty="0"/>
          </a:p>
        </p:txBody>
      </p:sp>
    </p:spTree>
    <p:extLst>
      <p:ext uri="{BB962C8B-B14F-4D97-AF65-F5344CB8AC3E}">
        <p14:creationId xmlns:p14="http://schemas.microsoft.com/office/powerpoint/2010/main" val="1039115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8535" y="381000"/>
            <a:ext cx="7772400" cy="381000"/>
          </a:xfrm>
        </p:spPr>
        <p:txBody>
          <a:bodyPr>
            <a:normAutofit fontScale="90000"/>
          </a:bodyPr>
          <a:lstStyle/>
          <a:p>
            <a:r>
              <a:rPr lang="sr-Latn-RS" altLang="sr-Latn-RS" dirty="0"/>
              <a:t>Primer</a:t>
            </a:r>
            <a:endParaRPr lang="en-US" altLang="sr-Latn-RS" dirty="0"/>
          </a:p>
        </p:txBody>
      </p:sp>
      <p:sp>
        <p:nvSpPr>
          <p:cNvPr id="43011" name="Rectangle 3"/>
          <p:cNvSpPr>
            <a:spLocks noGrp="1" noChangeArrowheads="1"/>
          </p:cNvSpPr>
          <p:nvPr>
            <p:ph type="body" idx="1"/>
          </p:nvPr>
        </p:nvSpPr>
        <p:spPr>
          <a:xfrm>
            <a:off x="304800" y="838200"/>
            <a:ext cx="7772400" cy="4114800"/>
          </a:xfrm>
          <a:solidFill>
            <a:schemeClr val="bg1"/>
          </a:solidFill>
        </p:spPr>
        <p:txBody>
          <a:bodyPr/>
          <a:lstStyle/>
          <a:p>
            <a:pPr marL="609600" indent="-609600">
              <a:lnSpc>
                <a:spcPct val="90000"/>
              </a:lnSpc>
            </a:pPr>
            <a:r>
              <a:rPr lang="sr-Latn-RS" altLang="sr-Latn-RS" sz="2400" b="1"/>
              <a:t>Izračunavamo itegral:</a:t>
            </a:r>
            <a:endParaRPr lang="en-US" altLang="sr-Latn-RS" sz="2400" b="1"/>
          </a:p>
          <a:p>
            <a:pPr marL="609600" indent="-609600">
              <a:lnSpc>
                <a:spcPct val="90000"/>
              </a:lnSpc>
            </a:pPr>
            <a:r>
              <a:rPr lang="sr-Latn-RS" altLang="sr-Latn-RS" sz="2400" b="1"/>
              <a:t>Simpsonova 1/3 metoda</a:t>
            </a:r>
            <a:endParaRPr lang="en-US" altLang="sr-Latn-RS" sz="2400" b="1"/>
          </a:p>
          <a:p>
            <a:pPr marL="609600" indent="-609600">
              <a:lnSpc>
                <a:spcPct val="120000"/>
              </a:lnSpc>
            </a:pPr>
            <a:endParaRPr lang="en-US" altLang="sr-Latn-RS" sz="2400" b="1"/>
          </a:p>
          <a:p>
            <a:pPr marL="609600" indent="-609600">
              <a:lnSpc>
                <a:spcPct val="120000"/>
              </a:lnSpc>
            </a:pPr>
            <a:endParaRPr lang="en-US" altLang="sr-Latn-RS" sz="2400" b="1"/>
          </a:p>
          <a:p>
            <a:pPr marL="609600" indent="-609600">
              <a:lnSpc>
                <a:spcPct val="120000"/>
              </a:lnSpc>
            </a:pPr>
            <a:endParaRPr lang="en-US" altLang="sr-Latn-RS" sz="2400" b="1"/>
          </a:p>
          <a:p>
            <a:pPr marL="609600" indent="-609600">
              <a:lnSpc>
                <a:spcPct val="120000"/>
              </a:lnSpc>
            </a:pPr>
            <a:endParaRPr lang="en-US" altLang="sr-Latn-RS" sz="2400" b="1"/>
          </a:p>
          <a:p>
            <a:pPr marL="609600" indent="-609600">
              <a:lnSpc>
                <a:spcPct val="0"/>
              </a:lnSpc>
            </a:pPr>
            <a:endParaRPr lang="en-US" altLang="sr-Latn-RS" sz="2400" b="1"/>
          </a:p>
          <a:p>
            <a:pPr marL="609600" indent="-609600">
              <a:lnSpc>
                <a:spcPct val="200000"/>
              </a:lnSpc>
            </a:pPr>
            <a:r>
              <a:rPr lang="sr-Latn-RS" altLang="sr-Latn-RS" sz="2400" b="1"/>
              <a:t>Simpsonova 3/8 metoda</a:t>
            </a:r>
            <a:endParaRPr lang="en-US" altLang="sr-Latn-RS" sz="2400" b="1"/>
          </a:p>
        </p:txBody>
      </p:sp>
      <p:graphicFrame>
        <p:nvGraphicFramePr>
          <p:cNvPr id="43012" name="Object 4"/>
          <p:cNvGraphicFramePr>
            <a:graphicFrameLocks noChangeAspect="1"/>
          </p:cNvGraphicFramePr>
          <p:nvPr/>
        </p:nvGraphicFramePr>
        <p:xfrm>
          <a:off x="4800600" y="762000"/>
          <a:ext cx="1447800" cy="738188"/>
        </p:xfrm>
        <a:graphic>
          <a:graphicData uri="http://schemas.openxmlformats.org/presentationml/2006/ole">
            <mc:AlternateContent xmlns:mc="http://schemas.openxmlformats.org/markup-compatibility/2006">
              <mc:Choice xmlns:v="urn:schemas-microsoft-com:vml" Requires="v">
                <p:oleObj name="Equation" r:id="rId2" imgW="647700" imgH="330200" progId="Equation.3">
                  <p:embed/>
                </p:oleObj>
              </mc:Choice>
              <mc:Fallback>
                <p:oleObj name="Equation" r:id="rId2" imgW="6477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762000"/>
                        <a:ext cx="1447800" cy="738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3" name="Object 5"/>
          <p:cNvGraphicFramePr>
            <a:graphicFrameLocks noChangeAspect="1"/>
          </p:cNvGraphicFramePr>
          <p:nvPr>
            <p:extLst>
              <p:ext uri="{D42A27DB-BD31-4B8C-83A1-F6EECF244321}">
                <p14:modId xmlns:p14="http://schemas.microsoft.com/office/powerpoint/2010/main" val="127981983"/>
              </p:ext>
            </p:extLst>
          </p:nvPr>
        </p:nvGraphicFramePr>
        <p:xfrm>
          <a:off x="762000" y="1871662"/>
          <a:ext cx="4413250" cy="2090738"/>
        </p:xfrm>
        <a:graphic>
          <a:graphicData uri="http://schemas.openxmlformats.org/presentationml/2006/ole">
            <mc:AlternateContent xmlns:mc="http://schemas.openxmlformats.org/markup-compatibility/2006">
              <mc:Choice xmlns:v="urn:schemas-microsoft-com:vml" Requires="v">
                <p:oleObj name="Equation" r:id="rId4" imgW="2578100" imgH="1219200" progId="Equation.3">
                  <p:embed/>
                </p:oleObj>
              </mc:Choice>
              <mc:Fallback>
                <p:oleObj name="Equation" r:id="rId4" imgW="2578100" imgH="1219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871662"/>
                        <a:ext cx="4413250" cy="2090738"/>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4" name="Object 6"/>
          <p:cNvGraphicFramePr>
            <a:graphicFrameLocks noChangeAspect="1"/>
          </p:cNvGraphicFramePr>
          <p:nvPr/>
        </p:nvGraphicFramePr>
        <p:xfrm>
          <a:off x="381000" y="4581525"/>
          <a:ext cx="7391400" cy="2019300"/>
        </p:xfrm>
        <a:graphic>
          <a:graphicData uri="http://schemas.openxmlformats.org/presentationml/2006/ole">
            <mc:AlternateContent xmlns:mc="http://schemas.openxmlformats.org/markup-compatibility/2006">
              <mc:Choice xmlns:v="urn:schemas-microsoft-com:vml" Requires="v">
                <p:oleObj name="Equation" r:id="rId6" imgW="4419600" imgH="1206500" progId="Equation.3">
                  <p:embed/>
                </p:oleObj>
              </mc:Choice>
              <mc:Fallback>
                <p:oleObj name="Equation" r:id="rId6" imgW="4419600" imgH="1206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000" y="4581525"/>
                        <a:ext cx="7391400" cy="2019300"/>
                      </a:xfrm>
                      <a:prstGeom prst="rect">
                        <a:avLst/>
                      </a:prstGeom>
                      <a:solidFill>
                        <a:srgbClr val="FFFFCC"/>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015" name="Object 7"/>
          <p:cNvGraphicFramePr>
            <a:graphicFrameLocks noChangeAspect="1"/>
          </p:cNvGraphicFramePr>
          <p:nvPr/>
        </p:nvGraphicFramePr>
        <p:xfrm>
          <a:off x="4795838" y="1498600"/>
          <a:ext cx="3890962" cy="428625"/>
        </p:xfrm>
        <a:graphic>
          <a:graphicData uri="http://schemas.openxmlformats.org/presentationml/2006/ole">
            <mc:AlternateContent xmlns:mc="http://schemas.openxmlformats.org/markup-compatibility/2006">
              <mc:Choice xmlns:v="urn:schemas-microsoft-com:vml" Requires="v">
                <p:oleObj name="Equation" r:id="rId8" imgW="1841500" imgH="203200" progId="Equation.3">
                  <p:embed/>
                </p:oleObj>
              </mc:Choice>
              <mc:Fallback>
                <p:oleObj name="Equation" r:id="rId8" imgW="1841500" imgH="2032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5838" y="1498600"/>
                        <a:ext cx="3890962" cy="42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1772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13"/>
                                        </p:tgtEl>
                                        <p:attrNameLst>
                                          <p:attrName>style.visibility</p:attrName>
                                        </p:attrNameLst>
                                      </p:cBhvr>
                                      <p:to>
                                        <p:strVal val="visible"/>
                                      </p:to>
                                    </p:set>
                                    <p:animEffect transition="in" filter="fade">
                                      <p:cBhvr>
                                        <p:cTn id="7" dur="500"/>
                                        <p:tgtEl>
                                          <p:spTgt spid="430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14"/>
                                        </p:tgtEl>
                                        <p:attrNameLst>
                                          <p:attrName>style.visibility</p:attrName>
                                        </p:attrNameLst>
                                      </p:cBhvr>
                                      <p:to>
                                        <p:strVal val="visible"/>
                                      </p:to>
                                    </p:set>
                                    <p:animEffect transition="in" filter="fade">
                                      <p:cBhvr>
                                        <p:cTn id="12" dur="500"/>
                                        <p:tgtEl>
                                          <p:spTgt spid="430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28600"/>
            <a:ext cx="8239125" cy="1255713"/>
          </a:xfrm>
          <a:solidFill>
            <a:schemeClr val="bg1"/>
          </a:solidFill>
        </p:spPr>
        <p:txBody>
          <a:bodyPr>
            <a:normAutofit fontScale="90000"/>
          </a:bodyPr>
          <a:lstStyle/>
          <a:p>
            <a:pPr>
              <a:lnSpc>
                <a:spcPct val="80000"/>
              </a:lnSpc>
            </a:pPr>
            <a:r>
              <a:rPr lang="sr-Latn-RS" altLang="sr-Latn-RS" sz="4800">
                <a:solidFill>
                  <a:schemeClr val="tx1"/>
                </a:solidFill>
              </a:rPr>
              <a:t>Njutn-Kotesovi metode za integraciju</a:t>
            </a:r>
            <a:endParaRPr lang="en-US" altLang="sr-Latn-RS" sz="4800">
              <a:solidFill>
                <a:schemeClr val="tx1"/>
              </a:solidFill>
            </a:endParaRPr>
          </a:p>
        </p:txBody>
      </p:sp>
      <p:graphicFrame>
        <p:nvGraphicFramePr>
          <p:cNvPr id="44035" name="Object 3"/>
          <p:cNvGraphicFramePr>
            <a:graphicFrameLocks noChangeAspect="1"/>
          </p:cNvGraphicFramePr>
          <p:nvPr/>
        </p:nvGraphicFramePr>
        <p:xfrm>
          <a:off x="0" y="2819400"/>
          <a:ext cx="9009063" cy="3248025"/>
        </p:xfrm>
        <a:graphic>
          <a:graphicData uri="http://schemas.openxmlformats.org/presentationml/2006/ole">
            <mc:AlternateContent xmlns:mc="http://schemas.openxmlformats.org/markup-compatibility/2006">
              <mc:Choice xmlns:v="urn:schemas-microsoft-com:vml" Requires="v">
                <p:oleObj name="Equation" r:id="rId3" imgW="5562600" imgH="2006600" progId="Equation.3">
                  <p:embed/>
                </p:oleObj>
              </mc:Choice>
              <mc:Fallback>
                <p:oleObj name="Equation" r:id="rId3" imgW="5562600" imgH="2006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819400"/>
                        <a:ext cx="9009063" cy="3248025"/>
                      </a:xfrm>
                      <a:prstGeom prst="rect">
                        <a:avLst/>
                      </a:prstGeom>
                      <a:solidFill>
                        <a:srgbClr val="66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6" name="Text Box 5"/>
          <p:cNvSpPr txBox="1">
            <a:spLocks noChangeArrowheads="1"/>
          </p:cNvSpPr>
          <p:nvPr/>
        </p:nvSpPr>
        <p:spPr bwMode="auto">
          <a:xfrm>
            <a:off x="0" y="2438400"/>
            <a:ext cx="914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sr-Latn-RS" altLang="sr-Latn-RS"/>
              <a:t>n  Naziv metode        Forumula			Red greške kompozitne metode</a:t>
            </a:r>
          </a:p>
        </p:txBody>
      </p:sp>
      <p:sp>
        <p:nvSpPr>
          <p:cNvPr id="44037" name="Line 6"/>
          <p:cNvSpPr>
            <a:spLocks noChangeShapeType="1"/>
          </p:cNvSpPr>
          <p:nvPr/>
        </p:nvSpPr>
        <p:spPr bwMode="auto">
          <a:xfrm>
            <a:off x="6781800" y="2743200"/>
            <a:ext cx="20574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
        <p:nvSpPr>
          <p:cNvPr id="44038" name="Line 7"/>
          <p:cNvSpPr>
            <a:spLocks noChangeShapeType="1"/>
          </p:cNvSpPr>
          <p:nvPr/>
        </p:nvSpPr>
        <p:spPr bwMode="auto">
          <a:xfrm>
            <a:off x="2590800" y="2743200"/>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
        <p:nvSpPr>
          <p:cNvPr id="44039" name="Line 8"/>
          <p:cNvSpPr>
            <a:spLocks noChangeShapeType="1"/>
          </p:cNvSpPr>
          <p:nvPr/>
        </p:nvSpPr>
        <p:spPr bwMode="auto">
          <a:xfrm>
            <a:off x="914400" y="27432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
        <p:nvSpPr>
          <p:cNvPr id="44040" name="Line 9"/>
          <p:cNvSpPr>
            <a:spLocks noChangeShapeType="1"/>
          </p:cNvSpPr>
          <p:nvPr/>
        </p:nvSpPr>
        <p:spPr bwMode="auto">
          <a:xfrm flipH="1">
            <a:off x="76200" y="2819400"/>
            <a:ext cx="762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Tree>
    <p:extLst>
      <p:ext uri="{BB962C8B-B14F-4D97-AF65-F5344CB8AC3E}">
        <p14:creationId xmlns:p14="http://schemas.microsoft.com/office/powerpoint/2010/main" val="786775924"/>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ltLang="sr-Latn-RS">
                <a:solidFill>
                  <a:schemeClr val="tx1"/>
                </a:solidFill>
              </a:rPr>
              <a:t>Rombergov metod</a:t>
            </a:r>
            <a:endParaRPr lang="sr-Latn-RS" altLang="sr-Latn-RS">
              <a:solidFill>
                <a:schemeClr val="tx1"/>
              </a:solidFill>
            </a:endParaRPr>
          </a:p>
        </p:txBody>
      </p:sp>
      <p:sp>
        <p:nvSpPr>
          <p:cNvPr id="45059" name="Rectangle 3"/>
          <p:cNvSpPr>
            <a:spLocks noGrp="1" noChangeArrowheads="1"/>
          </p:cNvSpPr>
          <p:nvPr>
            <p:ph type="body" idx="1"/>
          </p:nvPr>
        </p:nvSpPr>
        <p:spPr>
          <a:xfrm>
            <a:off x="457200" y="1600200"/>
            <a:ext cx="8229600" cy="4953000"/>
          </a:xfrm>
        </p:spPr>
        <p:txBody>
          <a:bodyPr/>
          <a:lstStyle/>
          <a:p>
            <a:pPr>
              <a:lnSpc>
                <a:spcPct val="80000"/>
              </a:lnSpc>
            </a:pPr>
            <a:r>
              <a:rPr lang="en-US" altLang="sr-Latn-RS" sz="2800" dirty="0"/>
              <a:t>Do </a:t>
            </a:r>
            <a:r>
              <a:rPr lang="en-US" altLang="sr-Latn-RS" sz="2800" dirty="0" err="1"/>
              <a:t>sada</a:t>
            </a:r>
            <a:r>
              <a:rPr lang="en-US" altLang="sr-Latn-RS" sz="2800" dirty="0"/>
              <a:t> </a:t>
            </a:r>
            <a:r>
              <a:rPr lang="en-US" altLang="sr-Latn-RS" sz="2800" dirty="0" err="1"/>
              <a:t>prikazane</a:t>
            </a:r>
            <a:r>
              <a:rPr lang="en-US" altLang="sr-Latn-RS" sz="2800" dirty="0"/>
              <a:t> </a:t>
            </a:r>
            <a:r>
              <a:rPr lang="en-US" altLang="sr-Latn-RS" sz="2800" dirty="0" err="1"/>
              <a:t>metode</a:t>
            </a:r>
            <a:r>
              <a:rPr lang="en-US" altLang="sr-Latn-RS" sz="2800" dirty="0"/>
              <a:t> </a:t>
            </a:r>
            <a:r>
              <a:rPr lang="en-US" altLang="sr-Latn-RS" sz="2800" dirty="0" err="1"/>
              <a:t>integracije</a:t>
            </a:r>
            <a:r>
              <a:rPr lang="en-US" altLang="sr-Latn-RS" sz="2800" dirty="0"/>
              <a:t> </a:t>
            </a:r>
            <a:r>
              <a:rPr lang="sr-Latn-RS" altLang="sr-Latn-RS" sz="2800" dirty="0"/>
              <a:t>zavise od </a:t>
            </a:r>
            <a:r>
              <a:rPr lang="sr-Latn-RS" altLang="sr-Latn-RS" i="1" dirty="0"/>
              <a:t>h</a:t>
            </a:r>
            <a:r>
              <a:rPr lang="sr-Latn-RS" altLang="sr-Latn-RS" dirty="0"/>
              <a:t> (širine podintervala)</a:t>
            </a:r>
          </a:p>
          <a:p>
            <a:pPr>
              <a:lnSpc>
                <a:spcPct val="80000"/>
              </a:lnSpc>
            </a:pPr>
            <a:endParaRPr lang="sr-Latn-RS" altLang="sr-Latn-RS" sz="2800" dirty="0"/>
          </a:p>
          <a:p>
            <a:pPr>
              <a:lnSpc>
                <a:spcPct val="80000"/>
              </a:lnSpc>
            </a:pPr>
            <a:r>
              <a:rPr lang="sr-Latn-RS" altLang="sr-Latn-RS" sz="2800" dirty="0"/>
              <a:t>Kad </a:t>
            </a:r>
            <a:r>
              <a:rPr lang="sr-Latn-RS" altLang="sr-Latn-RS" sz="2800" i="1" dirty="0"/>
              <a:t>h</a:t>
            </a:r>
            <a:r>
              <a:rPr lang="sr-Latn-RS" altLang="sr-Latn-RS" sz="2800" dirty="0"/>
              <a:t> teži nuli metod konvergira (teži tačnom rešenju)</a:t>
            </a:r>
          </a:p>
          <a:p>
            <a:pPr>
              <a:lnSpc>
                <a:spcPct val="80000"/>
              </a:lnSpc>
            </a:pPr>
            <a:endParaRPr lang="sr-Latn-RS" altLang="sr-Latn-RS" sz="2800" dirty="0"/>
          </a:p>
          <a:p>
            <a:pPr>
              <a:lnSpc>
                <a:spcPct val="80000"/>
              </a:lnSpc>
            </a:pPr>
            <a:r>
              <a:rPr lang="sr-Latn-RS" altLang="sr-Latn-RS" sz="2800" dirty="0"/>
              <a:t>Međutim, male vrednosti </a:t>
            </a:r>
            <a:r>
              <a:rPr lang="sr-Latn-RS" altLang="sr-Latn-RS" sz="2800" i="1" dirty="0"/>
              <a:t>h</a:t>
            </a:r>
            <a:r>
              <a:rPr lang="sr-Latn-RS" altLang="sr-Latn-RS" sz="2800" dirty="0"/>
              <a:t> su problematične:</a:t>
            </a:r>
          </a:p>
          <a:p>
            <a:pPr lvl="1">
              <a:lnSpc>
                <a:spcPct val="80000"/>
              </a:lnSpc>
            </a:pPr>
            <a:r>
              <a:rPr lang="sr-Latn-RS" altLang="sr-Latn-RS" sz="2400" dirty="0"/>
              <a:t>zbog grešaka zaokruživanja</a:t>
            </a:r>
          </a:p>
          <a:p>
            <a:pPr lvl="1">
              <a:lnSpc>
                <a:spcPct val="80000"/>
              </a:lnSpc>
            </a:pPr>
            <a:r>
              <a:rPr lang="sr-Latn-RS" altLang="sr-Latn-RS" sz="2400" dirty="0"/>
              <a:t>zbog računske ne</a:t>
            </a:r>
            <a:r>
              <a:rPr lang="en-US" altLang="sr-Latn-RS" sz="2400" dirty="0"/>
              <a:t>e</a:t>
            </a:r>
            <a:r>
              <a:rPr lang="sr-Latn-RS" altLang="sr-Latn-RS" sz="2400" dirty="0"/>
              <a:t>fikasnosti</a:t>
            </a:r>
          </a:p>
        </p:txBody>
      </p:sp>
    </p:spTree>
    <p:extLst>
      <p:ext uri="{BB962C8B-B14F-4D97-AF65-F5344CB8AC3E}">
        <p14:creationId xmlns:p14="http://schemas.microsoft.com/office/powerpoint/2010/main" val="38553057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fade">
                                      <p:cBhvr>
                                        <p:cTn id="7" dur="500"/>
                                        <p:tgtEl>
                                          <p:spTgt spid="450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9">
                                            <p:txEl>
                                              <p:pRg st="2" end="2"/>
                                            </p:txEl>
                                          </p:spTgt>
                                        </p:tgtEl>
                                        <p:attrNameLst>
                                          <p:attrName>style.visibility</p:attrName>
                                        </p:attrNameLst>
                                      </p:cBhvr>
                                      <p:to>
                                        <p:strVal val="visible"/>
                                      </p:to>
                                    </p:set>
                                    <p:animEffect transition="in" filter="fade">
                                      <p:cBhvr>
                                        <p:cTn id="12" dur="500"/>
                                        <p:tgtEl>
                                          <p:spTgt spid="450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059">
                                            <p:txEl>
                                              <p:pRg st="4" end="4"/>
                                            </p:txEl>
                                          </p:spTgt>
                                        </p:tgtEl>
                                        <p:attrNameLst>
                                          <p:attrName>style.visibility</p:attrName>
                                        </p:attrNameLst>
                                      </p:cBhvr>
                                      <p:to>
                                        <p:strVal val="visible"/>
                                      </p:to>
                                    </p:set>
                                    <p:animEffect transition="in" filter="fade">
                                      <p:cBhvr>
                                        <p:cTn id="17" dur="500"/>
                                        <p:tgtEl>
                                          <p:spTgt spid="45059">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5059">
                                            <p:txEl>
                                              <p:pRg st="5" end="5"/>
                                            </p:txEl>
                                          </p:spTgt>
                                        </p:tgtEl>
                                        <p:attrNameLst>
                                          <p:attrName>style.visibility</p:attrName>
                                        </p:attrNameLst>
                                      </p:cBhvr>
                                      <p:to>
                                        <p:strVal val="visible"/>
                                      </p:to>
                                    </p:set>
                                    <p:animEffect transition="in" filter="fade">
                                      <p:cBhvr>
                                        <p:cTn id="20" dur="500"/>
                                        <p:tgtEl>
                                          <p:spTgt spid="45059">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5059">
                                            <p:txEl>
                                              <p:pRg st="6" end="6"/>
                                            </p:txEl>
                                          </p:spTgt>
                                        </p:tgtEl>
                                        <p:attrNameLst>
                                          <p:attrName>style.visibility</p:attrName>
                                        </p:attrNameLst>
                                      </p:cBhvr>
                                      <p:to>
                                        <p:strVal val="visible"/>
                                      </p:to>
                                    </p:set>
                                    <p:animEffect transition="in" filter="fade">
                                      <p:cBhvr>
                                        <p:cTn id="23" dur="500"/>
                                        <p:tgtEl>
                                          <p:spTgt spid="4505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sr-Latn-RS" dirty="0" err="1">
                <a:solidFill>
                  <a:schemeClr val="tx1"/>
                </a:solidFill>
              </a:rPr>
              <a:t>Rombergov</a:t>
            </a:r>
            <a:r>
              <a:rPr lang="en-US" altLang="sr-Latn-RS" dirty="0">
                <a:solidFill>
                  <a:schemeClr val="tx1"/>
                </a:solidFill>
              </a:rPr>
              <a:t> </a:t>
            </a:r>
            <a:r>
              <a:rPr lang="en-US" altLang="sr-Latn-RS" dirty="0" err="1">
                <a:solidFill>
                  <a:schemeClr val="tx1"/>
                </a:solidFill>
              </a:rPr>
              <a:t>metod</a:t>
            </a:r>
            <a:endParaRPr lang="sr-Latn-RS" altLang="sr-Latn-RS" dirty="0">
              <a:solidFill>
                <a:schemeClr val="tx1"/>
              </a:solidFill>
            </a:endParaRPr>
          </a:p>
        </p:txBody>
      </p:sp>
      <p:sp>
        <p:nvSpPr>
          <p:cNvPr id="46083" name="Rectangle 3"/>
          <p:cNvSpPr>
            <a:spLocks noGrp="1" noChangeArrowheads="1"/>
          </p:cNvSpPr>
          <p:nvPr>
            <p:ph type="body" idx="1"/>
          </p:nvPr>
        </p:nvSpPr>
        <p:spPr/>
        <p:txBody>
          <a:bodyPr>
            <a:normAutofit/>
          </a:bodyPr>
          <a:lstStyle/>
          <a:p>
            <a:pPr>
              <a:lnSpc>
                <a:spcPct val="90000"/>
              </a:lnSpc>
            </a:pPr>
            <a:r>
              <a:rPr lang="sr-Latn-RS" altLang="sr-Latn-RS" dirty="0"/>
              <a:t>Rombergov metod pruža rešenje problema jako malog h</a:t>
            </a:r>
          </a:p>
          <a:p>
            <a:pPr lvl="1">
              <a:lnSpc>
                <a:spcPct val="90000"/>
              </a:lnSpc>
            </a:pPr>
            <a:r>
              <a:rPr lang="sr-Latn-RS" dirty="0"/>
              <a:t>Povećanje tačnosti bez potrebe za velikim smanjivanjem h ili podizanjem računske složenosti</a:t>
            </a:r>
            <a:endParaRPr lang="sr-Latn-RS" altLang="sr-Latn-RS" dirty="0"/>
          </a:p>
          <a:p>
            <a:pPr lvl="1">
              <a:lnSpc>
                <a:spcPct val="90000"/>
              </a:lnSpc>
            </a:pPr>
            <a:r>
              <a:rPr lang="sr-Latn-RS" altLang="sr-Latn-RS" dirty="0"/>
              <a:t>Ne zahteva male vrednosti h, a pruža tačnost istog nivoa</a:t>
            </a:r>
          </a:p>
          <a:p>
            <a:pPr>
              <a:lnSpc>
                <a:spcPct val="90000"/>
              </a:lnSpc>
            </a:pPr>
            <a:endParaRPr lang="sr-Latn-RS" dirty="0"/>
          </a:p>
          <a:p>
            <a:pPr>
              <a:lnSpc>
                <a:spcPct val="90000"/>
              </a:lnSpc>
            </a:pPr>
            <a:r>
              <a:rPr lang="sr-Latn-RS" dirty="0"/>
              <a:t>Ideja: kombinovanje dva rezultata metoda manjeg reda tačnosti, na takav način da je dobijeni rezultat jednog reda tačnosti više</a:t>
            </a:r>
          </a:p>
          <a:p>
            <a:pPr lvl="1">
              <a:lnSpc>
                <a:spcPct val="90000"/>
              </a:lnSpc>
            </a:pPr>
            <a:r>
              <a:rPr lang="sr-Latn-RS" altLang="sr-Latn-RS" dirty="0"/>
              <a:t>Ideja je realizovana kroz upotrebu Ričardsonove ekstrapolacije</a:t>
            </a:r>
          </a:p>
          <a:p>
            <a:pPr>
              <a:lnSpc>
                <a:spcPct val="90000"/>
              </a:lnSpc>
            </a:pPr>
            <a:endParaRPr lang="sr-Latn-RS" altLang="sr-Latn-RS" dirty="0"/>
          </a:p>
        </p:txBody>
      </p:sp>
    </p:spTree>
    <p:extLst>
      <p:ext uri="{BB962C8B-B14F-4D97-AF65-F5344CB8AC3E}">
        <p14:creationId xmlns:p14="http://schemas.microsoft.com/office/powerpoint/2010/main" val="188057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Effect transition="in" filter="fade">
                                      <p:cBhvr>
                                        <p:cTn id="7" dur="500"/>
                                        <p:tgtEl>
                                          <p:spTgt spid="46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083">
                                            <p:txEl>
                                              <p:pRg st="1" end="1"/>
                                            </p:txEl>
                                          </p:spTgt>
                                        </p:tgtEl>
                                        <p:attrNameLst>
                                          <p:attrName>style.visibility</p:attrName>
                                        </p:attrNameLst>
                                      </p:cBhvr>
                                      <p:to>
                                        <p:strVal val="visible"/>
                                      </p:to>
                                    </p:set>
                                    <p:animEffect transition="in" filter="fade">
                                      <p:cBhvr>
                                        <p:cTn id="12" dur="500"/>
                                        <p:tgtEl>
                                          <p:spTgt spid="460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6083">
                                            <p:txEl>
                                              <p:pRg st="2" end="2"/>
                                            </p:txEl>
                                          </p:spTgt>
                                        </p:tgtEl>
                                        <p:attrNameLst>
                                          <p:attrName>style.visibility</p:attrName>
                                        </p:attrNameLst>
                                      </p:cBhvr>
                                      <p:to>
                                        <p:strVal val="visible"/>
                                      </p:to>
                                    </p:set>
                                    <p:animEffect transition="in" filter="fade">
                                      <p:cBhvr>
                                        <p:cTn id="17" dur="500"/>
                                        <p:tgtEl>
                                          <p:spTgt spid="4608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6083">
                                            <p:txEl>
                                              <p:pRg st="4" end="4"/>
                                            </p:txEl>
                                          </p:spTgt>
                                        </p:tgtEl>
                                        <p:attrNameLst>
                                          <p:attrName>style.visibility</p:attrName>
                                        </p:attrNameLst>
                                      </p:cBhvr>
                                      <p:to>
                                        <p:strVal val="visible"/>
                                      </p:to>
                                    </p:set>
                                    <p:animEffect transition="in" filter="fade">
                                      <p:cBhvr>
                                        <p:cTn id="22" dur="500"/>
                                        <p:tgtEl>
                                          <p:spTgt spid="4608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6083">
                                            <p:txEl>
                                              <p:pRg st="5" end="5"/>
                                            </p:txEl>
                                          </p:spTgt>
                                        </p:tgtEl>
                                        <p:attrNameLst>
                                          <p:attrName>style.visibility</p:attrName>
                                        </p:attrNameLst>
                                      </p:cBhvr>
                                      <p:to>
                                        <p:strVal val="visible"/>
                                      </p:to>
                                    </p:set>
                                    <p:animEffect transition="in" filter="fade">
                                      <p:cBhvr>
                                        <p:cTn id="27" dur="500"/>
                                        <p:tgtEl>
                                          <p:spTgt spid="4608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58FE5-4C9F-46C7-8B27-F5F2D55DE1E3}"/>
              </a:ext>
            </a:extLst>
          </p:cNvPr>
          <p:cNvSpPr>
            <a:spLocks noGrp="1"/>
          </p:cNvSpPr>
          <p:nvPr>
            <p:ph type="title"/>
          </p:nvPr>
        </p:nvSpPr>
        <p:spPr/>
        <p:txBody>
          <a:bodyPr/>
          <a:lstStyle/>
          <a:p>
            <a:r>
              <a:rPr lang="en-US" altLang="sr-Latn-RS" dirty="0" err="1">
                <a:solidFill>
                  <a:schemeClr val="tx1"/>
                </a:solidFill>
              </a:rPr>
              <a:t>Rombergov</a:t>
            </a:r>
            <a:r>
              <a:rPr lang="en-US" altLang="sr-Latn-RS" dirty="0">
                <a:solidFill>
                  <a:schemeClr val="tx1"/>
                </a:solidFill>
              </a:rPr>
              <a:t> </a:t>
            </a:r>
            <a:r>
              <a:rPr lang="en-US" altLang="sr-Latn-RS" dirty="0" err="1">
                <a:solidFill>
                  <a:schemeClr val="tx1"/>
                </a:solidFill>
              </a:rPr>
              <a:t>metod</a:t>
            </a:r>
            <a:endParaRPr lang="en-US" dirty="0"/>
          </a:p>
        </p:txBody>
      </p:sp>
      <p:pic>
        <p:nvPicPr>
          <p:cNvPr id="5" name="Picture 4">
            <a:extLst>
              <a:ext uri="{FF2B5EF4-FFF2-40B4-BE49-F238E27FC236}">
                <a16:creationId xmlns:a16="http://schemas.microsoft.com/office/drawing/2014/main" id="{4CD3876E-0D6C-4F11-9F50-6519B2B56980}"/>
              </a:ext>
            </a:extLst>
          </p:cNvPr>
          <p:cNvPicPr>
            <a:picLocks noChangeAspect="1"/>
          </p:cNvPicPr>
          <p:nvPr/>
        </p:nvPicPr>
        <p:blipFill rotWithShape="1">
          <a:blip r:embed="rId2"/>
          <a:srcRect l="5000" t="37451" r="50000" b="18628"/>
          <a:stretch/>
        </p:blipFill>
        <p:spPr>
          <a:xfrm>
            <a:off x="228600" y="1820331"/>
            <a:ext cx="8686800" cy="4504269"/>
          </a:xfrm>
          <a:prstGeom prst="rect">
            <a:avLst/>
          </a:prstGeom>
        </p:spPr>
      </p:pic>
      <p:sp>
        <p:nvSpPr>
          <p:cNvPr id="8" name="Speech Bubble: Rectangle with Corners Rounded 7">
            <a:extLst>
              <a:ext uri="{FF2B5EF4-FFF2-40B4-BE49-F238E27FC236}">
                <a16:creationId xmlns:a16="http://schemas.microsoft.com/office/drawing/2014/main" id="{F1CBBF13-BF66-4465-B410-B351E3684CD8}"/>
              </a:ext>
            </a:extLst>
          </p:cNvPr>
          <p:cNvSpPr/>
          <p:nvPr/>
        </p:nvSpPr>
        <p:spPr>
          <a:xfrm>
            <a:off x="6858000" y="2895600"/>
            <a:ext cx="45719" cy="45719"/>
          </a:xfrm>
          <a:prstGeom prst="wedgeRoundRect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peech Bubble: Rectangle with Corners Rounded 8">
            <a:extLst>
              <a:ext uri="{FF2B5EF4-FFF2-40B4-BE49-F238E27FC236}">
                <a16:creationId xmlns:a16="http://schemas.microsoft.com/office/drawing/2014/main" id="{5D2EBAC7-95CD-4133-943B-ED77C27475C2}"/>
              </a:ext>
            </a:extLst>
          </p:cNvPr>
          <p:cNvSpPr/>
          <p:nvPr/>
        </p:nvSpPr>
        <p:spPr>
          <a:xfrm>
            <a:off x="2514600" y="2533226"/>
            <a:ext cx="6400800" cy="1383456"/>
          </a:xfrm>
          <a:prstGeom prst="wedgeRoundRectCallout">
            <a:avLst>
              <a:gd name="adj1" fmla="val -55105"/>
              <a:gd name="adj2" fmla="val 8964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000" b="0" i="0" dirty="0" err="1">
                <a:solidFill>
                  <a:schemeClr val="bg1"/>
                </a:solidFill>
                <a:effectLst/>
                <a:latin typeface="Roboto" panose="02000000000000000000" pitchFamily="2" charset="0"/>
              </a:rPr>
              <a:t>Pomoću</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dve</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upotrebe</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metode</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trapeza</a:t>
            </a:r>
            <a:r>
              <a:rPr lang="en-US" sz="2000" b="0" i="0" dirty="0">
                <a:solidFill>
                  <a:schemeClr val="bg1"/>
                </a:solidFill>
                <a:effectLst/>
                <a:latin typeface="Roboto" panose="02000000000000000000" pitchFamily="2" charset="0"/>
              </a:rPr>
              <a:t> (za 1 </a:t>
            </a:r>
            <a:r>
              <a:rPr lang="en-US" sz="2000" b="0" i="0" dirty="0" err="1">
                <a:solidFill>
                  <a:schemeClr val="bg1"/>
                </a:solidFill>
                <a:effectLst/>
                <a:latin typeface="Roboto" panose="02000000000000000000" pitchFamily="2" charset="0"/>
              </a:rPr>
              <a:t>i</a:t>
            </a:r>
            <a:r>
              <a:rPr lang="en-US" sz="2000" b="0" i="0" dirty="0">
                <a:solidFill>
                  <a:schemeClr val="bg1"/>
                </a:solidFill>
                <a:effectLst/>
                <a:latin typeface="Roboto" panose="02000000000000000000" pitchFamily="2" charset="0"/>
              </a:rPr>
              <a:t> 2 </a:t>
            </a:r>
            <a:r>
              <a:rPr lang="en-US" sz="2000" b="0" i="0" dirty="0" err="1">
                <a:solidFill>
                  <a:schemeClr val="bg1"/>
                </a:solidFill>
                <a:effectLst/>
                <a:latin typeface="Roboto" panose="02000000000000000000" pitchFamily="2" charset="0"/>
              </a:rPr>
              <a:t>trapeza</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dobili</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isti</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rezultat</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kao</a:t>
            </a:r>
            <a:r>
              <a:rPr lang="en-US" sz="2000" b="0" i="0" dirty="0">
                <a:solidFill>
                  <a:schemeClr val="bg1"/>
                </a:solidFill>
                <a:effectLst/>
                <a:latin typeface="Roboto" panose="02000000000000000000" pitchFamily="2" charset="0"/>
              </a:rPr>
              <a:t> da </a:t>
            </a:r>
            <a:r>
              <a:rPr lang="en-US" sz="2000" b="0" i="0" dirty="0" err="1">
                <a:solidFill>
                  <a:schemeClr val="bg1"/>
                </a:solidFill>
                <a:effectLst/>
                <a:latin typeface="Roboto" panose="02000000000000000000" pitchFamily="2" charset="0"/>
              </a:rPr>
              <a:t>smo</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upotrebili</a:t>
            </a:r>
            <a:r>
              <a:rPr lang="en-US" sz="2000" b="0" i="0" dirty="0">
                <a:solidFill>
                  <a:schemeClr val="bg1"/>
                </a:solidFill>
                <a:effectLst/>
                <a:latin typeface="Roboto" panose="02000000000000000000" pitchFamily="2" charset="0"/>
              </a:rPr>
              <a:t> </a:t>
            </a:r>
            <a:r>
              <a:rPr lang="en-US" sz="2000" b="0" i="0" dirty="0" err="1">
                <a:solidFill>
                  <a:schemeClr val="bg1"/>
                </a:solidFill>
                <a:effectLst/>
                <a:latin typeface="Roboto" panose="02000000000000000000" pitchFamily="2" charset="0"/>
              </a:rPr>
              <a:t>Smpsonovu</a:t>
            </a:r>
            <a:r>
              <a:rPr lang="en-US" sz="2000" b="0" i="0" dirty="0">
                <a:solidFill>
                  <a:schemeClr val="bg1"/>
                </a:solidFill>
                <a:effectLst/>
                <a:latin typeface="Roboto" panose="02000000000000000000" pitchFamily="2" charset="0"/>
              </a:rPr>
              <a:t> 1/3 </a:t>
            </a:r>
            <a:r>
              <a:rPr lang="en-US" sz="2000" b="0" i="0" dirty="0" err="1">
                <a:solidFill>
                  <a:schemeClr val="bg1"/>
                </a:solidFill>
                <a:effectLst/>
                <a:latin typeface="Roboto" panose="02000000000000000000" pitchFamily="2" charset="0"/>
              </a:rPr>
              <a:t>metodu</a:t>
            </a:r>
            <a:r>
              <a:rPr lang="en-US" sz="2000" b="0" i="0" dirty="0">
                <a:solidFill>
                  <a:schemeClr val="bg1"/>
                </a:solidFill>
                <a:effectLst/>
                <a:latin typeface="Roboto" panose="02000000000000000000" pitchFamily="2" charset="0"/>
              </a:rPr>
              <a:t> za </a:t>
            </a:r>
            <a:r>
              <a:rPr lang="en-US" sz="2000" b="0" i="0" dirty="0" err="1">
                <a:solidFill>
                  <a:schemeClr val="bg1"/>
                </a:solidFill>
                <a:effectLst/>
                <a:latin typeface="Roboto" panose="02000000000000000000" pitchFamily="2" charset="0"/>
              </a:rPr>
              <a:t>ceo</a:t>
            </a:r>
            <a:r>
              <a:rPr lang="en-US" sz="2000" b="0" i="0" dirty="0">
                <a:solidFill>
                  <a:schemeClr val="bg1"/>
                </a:solidFill>
                <a:effectLst/>
                <a:latin typeface="Roboto" panose="02000000000000000000" pitchFamily="2" charset="0"/>
              </a:rPr>
              <a:t> interval.</a:t>
            </a:r>
          </a:p>
        </p:txBody>
      </p:sp>
    </p:spTree>
    <p:extLst>
      <p:ext uri="{BB962C8B-B14F-4D97-AF65-F5344CB8AC3E}">
        <p14:creationId xmlns:p14="http://schemas.microsoft.com/office/powerpoint/2010/main" val="346745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r>
              <a:rPr lang="en-US" altLang="sr-Latn-RS" sz="4000">
                <a:solidFill>
                  <a:schemeClr val="tx1"/>
                </a:solidFill>
              </a:rPr>
              <a:t>Rombergov metod</a:t>
            </a:r>
            <a:br>
              <a:rPr lang="en-US" altLang="sr-Latn-RS" sz="4000">
                <a:solidFill>
                  <a:schemeClr val="tx1"/>
                </a:solidFill>
              </a:rPr>
            </a:br>
            <a:endParaRPr lang="sr-Latn-RS" altLang="sr-Latn-RS" sz="4000">
              <a:solidFill>
                <a:schemeClr val="tx1"/>
              </a:solidFill>
            </a:endParaRPr>
          </a:p>
        </p:txBody>
      </p:sp>
      <mc:AlternateContent xmlns:mc="http://schemas.openxmlformats.org/markup-compatibility/2006" xmlns:a14="http://schemas.microsoft.com/office/drawing/2010/main">
        <mc:Choice Requires="a14">
          <p:sp>
            <p:nvSpPr>
              <p:cNvPr id="47107" name="Rectangle 3"/>
              <p:cNvSpPr>
                <a:spLocks noGrp="1" noChangeArrowheads="1"/>
              </p:cNvSpPr>
              <p:nvPr>
                <p:ph type="body" idx="1"/>
              </p:nvPr>
            </p:nvSpPr>
            <p:spPr/>
            <p:txBody>
              <a:bodyPr/>
              <a:lstStyle/>
              <a:p>
                <a:r>
                  <a:rPr lang="sr-Latn-RS" altLang="sr-Latn-RS" dirty="0"/>
                  <a:t>Intuitvno, pomoću Ričardsonove ekstrapolacije možemo da kombinujemo dva rešenja sa grubom podelom (veliko h), i tako dobijemo tačnost metode sa malom podelom (malo h)</a:t>
                </a:r>
              </a:p>
              <a:p>
                <a:pPr lvl="1">
                  <a:lnSpc>
                    <a:spcPct val="90000"/>
                  </a:lnSpc>
                </a:pPr>
                <a:r>
                  <a:rPr lang="sr-Latn-RS" dirty="0"/>
                  <a:t>Na primer, kombinujemo dva rezultat</a:t>
                </a:r>
                <a:r>
                  <a:rPr lang="sr-Cyrl-RS" dirty="0"/>
                  <a:t>а</a:t>
                </a:r>
                <a:r>
                  <a:rPr lang="sr-Latn-RS" dirty="0"/>
                  <a:t> metode trapeza da dobijemo rezultat Simpsonove 1/3 metode</a:t>
                </a:r>
                <a:r>
                  <a:rPr lang="sr-Cyrl-RS" dirty="0"/>
                  <a:t>, </a:t>
                </a:r>
                <a:r>
                  <a:rPr lang="en-US" dirty="0" err="1"/>
                  <a:t>bez</a:t>
                </a:r>
                <a:r>
                  <a:rPr lang="en-US" dirty="0"/>
                  <a:t> </a:t>
                </a:r>
                <a:r>
                  <a:rPr lang="sr-Latn-RS" dirty="0"/>
                  <a:t>eksplicitnog </a:t>
                </a:r>
                <a:r>
                  <a:rPr lang="en-US" dirty="0" err="1"/>
                  <a:t>kori</a:t>
                </a:r>
                <a:r>
                  <a:rPr lang="sr-Latn-RS" dirty="0"/>
                  <a:t>šćenja Simpsonove 1/3 metode</a:t>
                </a:r>
              </a:p>
              <a:p>
                <a:pPr lvl="1">
                  <a:lnSpc>
                    <a:spcPct val="90000"/>
                  </a:lnSpc>
                </a:pPr>
                <a:r>
                  <a:rPr lang="sr-Latn-RS" dirty="0"/>
                  <a:t>Dva rezultata metode trapeza: prvi dobijen pomoću </a:t>
                </a:r>
                <a14:m>
                  <m:oMath xmlns:m="http://schemas.openxmlformats.org/officeDocument/2006/math">
                    <m:r>
                      <a:rPr lang="en-US" i="1">
                        <a:latin typeface="Cambria Math"/>
                      </a:rPr>
                      <m:t>h</m:t>
                    </m:r>
                    <m:r>
                      <a:rPr lang="en-US" i="1">
                        <a:latin typeface="Cambria Math"/>
                      </a:rPr>
                      <m:t>=</m:t>
                    </m:r>
                    <m:d>
                      <m:dPr>
                        <m:ctrlPr>
                          <a:rPr lang="en-US" i="1">
                            <a:latin typeface="Cambria Math" panose="02040503050406030204" pitchFamily="18" charset="0"/>
                          </a:rPr>
                        </m:ctrlPr>
                      </m:dPr>
                      <m:e>
                        <m:r>
                          <a:rPr lang="en-US" i="1">
                            <a:latin typeface="Cambria Math"/>
                          </a:rPr>
                          <m:t>𝑏</m:t>
                        </m:r>
                        <m:r>
                          <a:rPr lang="en-US" i="1">
                            <a:latin typeface="Cambria Math"/>
                          </a:rPr>
                          <m:t>−</m:t>
                        </m:r>
                        <m:r>
                          <a:rPr lang="en-US" i="1">
                            <a:latin typeface="Cambria Math"/>
                          </a:rPr>
                          <m:t>𝑎</m:t>
                        </m:r>
                      </m:e>
                    </m:d>
                  </m:oMath>
                </a14:m>
                <a:r>
                  <a:rPr lang="en-US" dirty="0"/>
                  <a:t>, </a:t>
                </a:r>
                <a:r>
                  <a:rPr lang="en-US" dirty="0" err="1"/>
                  <a:t>drugi</a:t>
                </a:r>
                <a:r>
                  <a:rPr lang="en-US" dirty="0"/>
                  <a:t> </a:t>
                </a:r>
                <a:r>
                  <a:rPr lang="sr-Latn-RS" dirty="0"/>
                  <a:t>pomoću </a:t>
                </a:r>
                <a14:m>
                  <m:oMath xmlns:m="http://schemas.openxmlformats.org/officeDocument/2006/math">
                    <m:r>
                      <a:rPr lang="sr-Latn-RS" i="1">
                        <a:latin typeface="Cambria Math"/>
                      </a:rPr>
                      <m:t>h</m:t>
                    </m:r>
                    <m:r>
                      <a:rPr lang="sr-Latn-RS" i="1">
                        <a:latin typeface="Cambria Math"/>
                      </a:rPr>
                      <m:t>=</m:t>
                    </m:r>
                    <m:f>
                      <m:fPr>
                        <m:type m:val="lin"/>
                        <m:ctrlPr>
                          <a:rPr lang="en-US" i="1">
                            <a:latin typeface="Cambria Math" panose="02040503050406030204" pitchFamily="18" charset="0"/>
                          </a:rPr>
                        </m:ctrlPr>
                      </m:fPr>
                      <m:num>
                        <m:d>
                          <m:dPr>
                            <m:ctrlPr>
                              <a:rPr lang="en-US" i="1">
                                <a:latin typeface="Cambria Math" panose="02040503050406030204" pitchFamily="18" charset="0"/>
                              </a:rPr>
                            </m:ctrlPr>
                          </m:dPr>
                          <m:e>
                            <m:r>
                              <a:rPr lang="sr-Latn-RS" i="1">
                                <a:latin typeface="Cambria Math"/>
                              </a:rPr>
                              <m:t>𝑏</m:t>
                            </m:r>
                            <m:r>
                              <a:rPr lang="sr-Latn-RS" i="1">
                                <a:latin typeface="Cambria Math"/>
                              </a:rPr>
                              <m:t>−</m:t>
                            </m:r>
                            <m:r>
                              <a:rPr lang="sr-Latn-RS" i="1">
                                <a:latin typeface="Cambria Math"/>
                              </a:rPr>
                              <m:t>𝑎</m:t>
                            </m:r>
                          </m:e>
                        </m:d>
                      </m:num>
                      <m:den>
                        <m:r>
                          <a:rPr lang="sr-Latn-RS" i="1">
                            <a:latin typeface="Cambria Math"/>
                          </a:rPr>
                          <m:t>2</m:t>
                        </m:r>
                      </m:den>
                    </m:f>
                  </m:oMath>
                </a14:m>
                <a:r>
                  <a:rPr lang="en-US" dirty="0"/>
                  <a:t> </a:t>
                </a:r>
                <a:endParaRPr lang="sr-Latn-RS" altLang="sr-Latn-RS" dirty="0"/>
              </a:p>
              <a:p>
                <a:pPr lvl="1"/>
                <a:endParaRPr lang="sr-Latn-RS" altLang="sr-Latn-RS" dirty="0"/>
              </a:p>
              <a:p>
                <a:r>
                  <a:rPr lang="sr-Latn-RS" altLang="sr-Latn-RS" dirty="0"/>
                  <a:t>Poenta je u tome da </a:t>
                </a:r>
                <a:r>
                  <a:rPr lang="sr-Latn-RS" altLang="sr-Latn-RS" u="sng" dirty="0"/>
                  <a:t>ne moramo</a:t>
                </a:r>
                <a:r>
                  <a:rPr lang="sr-Latn-RS" altLang="sr-Latn-RS" dirty="0"/>
                  <a:t> da radimo itegraciju za malo h, već je dobijamo na drugi način.</a:t>
                </a:r>
              </a:p>
            </p:txBody>
          </p:sp>
        </mc:Choice>
        <mc:Fallback xmlns="">
          <p:sp>
            <p:nvSpPr>
              <p:cNvPr id="47107" name="Rectangle 3"/>
              <p:cNvSpPr>
                <a:spLocks noGrp="1" noRot="1" noChangeAspect="1" noMove="1" noResize="1" noEditPoints="1" noAdjustHandles="1" noChangeArrowheads="1" noChangeShapeType="1" noTextEdit="1"/>
              </p:cNvSpPr>
              <p:nvPr>
                <p:ph type="body" idx="1"/>
              </p:nvPr>
            </p:nvSpPr>
            <p:spPr>
              <a:blipFill rotWithShape="1">
                <a:blip r:embed="rId2"/>
                <a:stretch>
                  <a:fillRect l="-593" t="-875" r="-1259"/>
                </a:stretch>
              </a:blipFill>
            </p:spPr>
            <p:txBody>
              <a:bodyPr/>
              <a:lstStyle/>
              <a:p>
                <a:r>
                  <a:rPr lang="en-US">
                    <a:noFill/>
                  </a:rPr>
                  <a:t> </a:t>
                </a:r>
              </a:p>
            </p:txBody>
          </p:sp>
        </mc:Fallback>
      </mc:AlternateContent>
    </p:spTree>
    <p:extLst>
      <p:ext uri="{BB962C8B-B14F-4D97-AF65-F5344CB8AC3E}">
        <p14:creationId xmlns:p14="http://schemas.microsoft.com/office/powerpoint/2010/main" val="14773514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animEffect transition="in" filter="fade">
                                      <p:cBhvr>
                                        <p:cTn id="7" dur="500"/>
                                        <p:tgtEl>
                                          <p:spTgt spid="47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107">
                                            <p:txEl>
                                              <p:pRg st="1" end="1"/>
                                            </p:txEl>
                                          </p:spTgt>
                                        </p:tgtEl>
                                        <p:attrNameLst>
                                          <p:attrName>style.visibility</p:attrName>
                                        </p:attrNameLst>
                                      </p:cBhvr>
                                      <p:to>
                                        <p:strVal val="visible"/>
                                      </p:to>
                                    </p:set>
                                    <p:animEffect transition="in" filter="fade">
                                      <p:cBhvr>
                                        <p:cTn id="12" dur="500"/>
                                        <p:tgtEl>
                                          <p:spTgt spid="471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7107">
                                            <p:txEl>
                                              <p:pRg st="2" end="2"/>
                                            </p:txEl>
                                          </p:spTgt>
                                        </p:tgtEl>
                                        <p:attrNameLst>
                                          <p:attrName>style.visibility</p:attrName>
                                        </p:attrNameLst>
                                      </p:cBhvr>
                                      <p:to>
                                        <p:strVal val="visible"/>
                                      </p:to>
                                    </p:set>
                                    <p:animEffect transition="in" filter="fade">
                                      <p:cBhvr>
                                        <p:cTn id="17" dur="500"/>
                                        <p:tgtEl>
                                          <p:spTgt spid="471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7107">
                                            <p:txEl>
                                              <p:pRg st="4" end="4"/>
                                            </p:txEl>
                                          </p:spTgt>
                                        </p:tgtEl>
                                        <p:attrNameLst>
                                          <p:attrName>style.visibility</p:attrName>
                                        </p:attrNameLst>
                                      </p:cBhvr>
                                      <p:to>
                                        <p:strVal val="visible"/>
                                      </p:to>
                                    </p:set>
                                    <p:animEffect transition="in" filter="fade">
                                      <p:cBhvr>
                                        <p:cTn id="22" dur="500"/>
                                        <p:tgtEl>
                                          <p:spTgt spid="471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990600" y="152400"/>
            <a:ext cx="8229600" cy="1143000"/>
          </a:xfrm>
        </p:spPr>
        <p:txBody>
          <a:bodyPr/>
          <a:lstStyle/>
          <a:p>
            <a:r>
              <a:rPr lang="sr-Latn-RS" altLang="sr-Latn-RS"/>
              <a:t>Ričardsonova ekstrapolacija</a:t>
            </a:r>
          </a:p>
        </p:txBody>
      </p:sp>
      <mc:AlternateContent xmlns:mc="http://schemas.openxmlformats.org/markup-compatibility/2006" xmlns:a14="http://schemas.microsoft.com/office/drawing/2010/main">
        <mc:Choice Requires="a14">
          <p:sp>
            <p:nvSpPr>
              <p:cNvPr id="48131" name="Rectangle 3"/>
              <p:cNvSpPr>
                <a:spLocks noGrp="1" noChangeArrowheads="1"/>
              </p:cNvSpPr>
              <p:nvPr>
                <p:ph type="body" idx="1"/>
              </p:nvPr>
            </p:nvSpPr>
            <p:spPr>
              <a:xfrm>
                <a:off x="152400" y="1295400"/>
                <a:ext cx="8839200" cy="4830763"/>
              </a:xfrm>
              <a:solidFill>
                <a:schemeClr val="bg1"/>
              </a:solidFill>
            </p:spPr>
            <p:txBody>
              <a:bodyPr/>
              <a:lstStyle/>
              <a:p>
                <a:r>
                  <a:rPr lang="sr-Latn-RS" altLang="sr-Latn-RS" sz="2400" dirty="0"/>
                  <a:t>Greške metoda za integraciju zavise od veličine podintervala h: </a:t>
                </a:r>
                <a14:m>
                  <m:oMath xmlns:m="http://schemas.openxmlformats.org/officeDocument/2006/math">
                    <m:r>
                      <a:rPr lang="en-US" i="1">
                        <a:solidFill>
                          <a:srgbClr val="000000"/>
                        </a:solidFill>
                        <a:latin typeface="Cambria Math" panose="02040503050406030204" pitchFamily="18" charset="0"/>
                      </a:rPr>
                      <m:t>𝐼</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𝐼</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h</m:t>
                        </m:r>
                      </m:e>
                    </m:d>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𝐸</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h</m:t>
                        </m:r>
                      </m:e>
                    </m:d>
                  </m:oMath>
                </a14:m>
                <a:endParaRPr lang="en-US" dirty="0"/>
              </a:p>
              <a:p>
                <a:endParaRPr lang="sr-Latn-RS" altLang="sr-Latn-RS" sz="2400" dirty="0"/>
              </a:p>
              <a:p>
                <a:endParaRPr lang="sr-Latn-RS" altLang="sr-Latn-RS" sz="2400" dirty="0"/>
              </a:p>
              <a:p>
                <a:endParaRPr lang="sr-Latn-RS" altLang="sr-Latn-RS" sz="2400" dirty="0"/>
              </a:p>
              <a:p>
                <a:r>
                  <a:rPr lang="sr-Latn-RS" altLang="sr-Latn-RS" sz="2400" dirty="0"/>
                  <a:t>Za dve prozivoljne veličine podintervala h</a:t>
                </a:r>
                <a:r>
                  <a:rPr lang="sr-Latn-RS" altLang="sr-Latn-RS" sz="2400" baseline="-25000" dirty="0"/>
                  <a:t>1</a:t>
                </a:r>
                <a:r>
                  <a:rPr lang="sr-Latn-RS" altLang="sr-Latn-RS" sz="2400" dirty="0"/>
                  <a:t> i h</a:t>
                </a:r>
                <a:r>
                  <a:rPr lang="sr-Latn-RS" altLang="sr-Latn-RS" sz="2400" baseline="-25000" dirty="0"/>
                  <a:t>2</a:t>
                </a:r>
                <a:r>
                  <a:rPr lang="sr-Latn-RS" altLang="sr-Latn-RS" sz="2400" dirty="0"/>
                  <a:t> važi:</a:t>
                </a:r>
              </a:p>
              <a:p>
                <a:pPr marL="0" indent="0">
                  <a:buNone/>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𝐼</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𝐼</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1</m:t>
                              </m:r>
                            </m:sub>
                          </m:sSub>
                        </m:e>
                      </m:d>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𝐸</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1</m:t>
                              </m:r>
                            </m:sub>
                          </m:sSub>
                        </m:e>
                      </m:d>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𝐼</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2</m:t>
                              </m:r>
                            </m:sub>
                          </m:sSub>
                        </m:e>
                      </m:d>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𝐸</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2</m:t>
                              </m:r>
                            </m:sub>
                          </m:sSub>
                        </m:e>
                      </m:d>
                    </m:oMath>
                  </m:oMathPara>
                </a14:m>
                <a:endParaRPr lang="sr-Latn-RS" altLang="sr-Latn-RS" sz="2400" dirty="0"/>
              </a:p>
              <a:p>
                <a:endParaRPr lang="sr-Latn-RS" altLang="sr-Latn-RS" sz="2800" dirty="0"/>
              </a:p>
              <a:p>
                <a:r>
                  <a:rPr lang="pt-BR" altLang="sr-Latn-RS" dirty="0"/>
                  <a:t>Ako posmatramo metodu trapeza imamo:</a:t>
                </a:r>
                <a:endParaRPr lang="sr-Latn-RS" altLang="sr-Latn-RS" dirty="0"/>
              </a:p>
              <a:p>
                <a:pPr marL="0" indent="0">
                  <a:buNone/>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𝐸</m:t>
                      </m:r>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𝑏</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𝑎</m:t>
                              </m:r>
                            </m:e>
                          </m:d>
                        </m:num>
                        <m:den>
                          <m:r>
                            <a:rPr lang="en-US" i="1">
                              <a:solidFill>
                                <a:srgbClr val="000000"/>
                              </a:solidFill>
                              <a:latin typeface="Cambria Math" panose="02040503050406030204" pitchFamily="18" charset="0"/>
                            </a:rPr>
                            <m:t>12</m:t>
                          </m:r>
                        </m:den>
                      </m:f>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h</m:t>
                          </m:r>
                        </m:e>
                        <m:sup>
                          <m:r>
                            <a:rPr lang="en-US" i="1">
                              <a:solidFill>
                                <a:srgbClr val="000000"/>
                              </a:solidFill>
                              <a:latin typeface="Cambria Math" panose="02040503050406030204" pitchFamily="18" charset="0"/>
                            </a:rPr>
                            <m:t>2</m:t>
                          </m:r>
                        </m:sup>
                      </m:sSup>
                      <m:sSup>
                        <m:sSupPr>
                          <m:ctrlPr>
                            <a:rPr lang="en-US" i="1">
                              <a:solidFill>
                                <a:srgbClr val="000000"/>
                              </a:solidFill>
                              <a:latin typeface="Cambria Math" panose="02040503050406030204" pitchFamily="18" charset="0"/>
                            </a:rPr>
                          </m:ctrlPr>
                        </m:sSupPr>
                        <m:e>
                          <m:r>
                            <a:rPr lang="en-US" i="1">
                              <a:solidFill>
                                <a:srgbClr val="000000"/>
                              </a:solidFill>
                              <a:latin typeface="Cambria Math" panose="02040503050406030204" pitchFamily="18" charset="0"/>
                            </a:rPr>
                            <m:t>𝑓</m:t>
                          </m:r>
                        </m:e>
                        <m:sup>
                          <m:r>
                            <a:rPr lang="en-US" i="1">
                              <a:solidFill>
                                <a:srgbClr val="000000"/>
                              </a:solidFill>
                              <a:latin typeface="Cambria Math" panose="02040503050406030204" pitchFamily="18" charset="0"/>
                            </a:rPr>
                            <m:t>″</m:t>
                          </m:r>
                        </m:sup>
                      </m:sSup>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𝜉</m:t>
                      </m:r>
                      <m:r>
                        <a:rPr lang="en-US" i="1">
                          <a:solidFill>
                            <a:srgbClr val="000000"/>
                          </a:solidFill>
                          <a:latin typeface="Cambria Math" panose="02040503050406030204" pitchFamily="18" charset="0"/>
                        </a:rPr>
                        <m:t>)</m:t>
                      </m:r>
                      <m:r>
                        <m:rPr>
                          <m:nor/>
                        </m:rPr>
                        <a:rPr lang="en-US">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m:t>
                      </m:r>
                      <m:r>
                        <m:rPr>
                          <m:nor/>
                        </m:rPr>
                        <a:rPr lang="en-US">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𝐸</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1</m:t>
                                  </m:r>
                                </m:sub>
                              </m:sSub>
                            </m:e>
                          </m:d>
                        </m:num>
                        <m:den>
                          <m:r>
                            <a:rPr lang="en-US" i="1">
                              <a:solidFill>
                                <a:srgbClr val="000000"/>
                              </a:solidFill>
                              <a:latin typeface="Cambria Math" panose="02040503050406030204" pitchFamily="18" charset="0"/>
                            </a:rPr>
                            <m:t>𝐸</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2</m:t>
                                  </m:r>
                                </m:sub>
                              </m:sSub>
                            </m:e>
                          </m:d>
                        </m:den>
                      </m:f>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1</m:t>
                                  </m:r>
                                </m:sub>
                              </m:sSub>
                            </m:e>
                            <m:sup>
                              <m:r>
                                <a:rPr lang="en-US" i="1">
                                  <a:solidFill>
                                    <a:srgbClr val="000000"/>
                                  </a:solidFill>
                                  <a:latin typeface="Cambria Math" panose="02040503050406030204" pitchFamily="18" charset="0"/>
                                </a:rPr>
                                <m:t>2</m:t>
                              </m:r>
                            </m:sup>
                          </m:sSup>
                        </m:num>
                        <m:den>
                          <m:sSup>
                            <m:sSupPr>
                              <m:ctrlPr>
                                <a:rPr lang="en-US" i="1">
                                  <a:solidFill>
                                    <a:srgbClr val="000000"/>
                                  </a:solidFill>
                                  <a:latin typeface="Cambria Math" panose="02040503050406030204" pitchFamily="18" charset="0"/>
                                </a:rPr>
                              </m:ctrlPr>
                            </m:sSup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2</m:t>
                                  </m:r>
                                </m:sub>
                              </m:sSub>
                            </m:e>
                            <m:sup>
                              <m:r>
                                <a:rPr lang="en-US" i="1">
                                  <a:solidFill>
                                    <a:srgbClr val="000000"/>
                                  </a:solidFill>
                                  <a:latin typeface="Cambria Math" panose="02040503050406030204" pitchFamily="18" charset="0"/>
                                </a:rPr>
                                <m:t>2</m:t>
                              </m:r>
                            </m:sup>
                          </m:sSup>
                        </m:den>
                      </m:f>
                    </m:oMath>
                  </m:oMathPara>
                </a14:m>
                <a:endParaRPr lang="en-US" dirty="0"/>
              </a:p>
              <a:p>
                <a:pPr marL="0" indent="0">
                  <a:buNone/>
                </a:pPr>
                <a:endParaRPr lang="sr-Latn-RS" altLang="sr-Latn-RS" dirty="0"/>
              </a:p>
              <a:p>
                <a:pPr>
                  <a:buFontTx/>
                  <a:buNone/>
                </a:pPr>
                <a:endParaRPr lang="sr-Latn-RS" altLang="sr-Latn-RS" sz="2800" dirty="0"/>
              </a:p>
            </p:txBody>
          </p:sp>
        </mc:Choice>
        <mc:Fallback xmlns="">
          <p:sp>
            <p:nvSpPr>
              <p:cNvPr id="48131" name="Rectangle 3"/>
              <p:cNvSpPr>
                <a:spLocks noGrp="1" noRot="1" noChangeAspect="1" noMove="1" noResize="1" noEditPoints="1" noAdjustHandles="1" noChangeArrowheads="1" noChangeShapeType="1" noTextEdit="1"/>
              </p:cNvSpPr>
              <p:nvPr>
                <p:ph type="body" idx="1"/>
              </p:nvPr>
            </p:nvSpPr>
            <p:spPr>
              <a:xfrm>
                <a:off x="152400" y="1295400"/>
                <a:ext cx="8839200" cy="4830763"/>
              </a:xfrm>
              <a:blipFill>
                <a:blip r:embed="rId2"/>
                <a:stretch>
                  <a:fillRect l="-621" t="-884"/>
                </a:stretch>
              </a:blipFill>
            </p:spPr>
            <p:txBody>
              <a:bodyPr/>
              <a:lstStyle/>
              <a:p>
                <a:r>
                  <a:rPr lang="en-US">
                    <a:noFill/>
                  </a:rPr>
                  <a:t> </a:t>
                </a:r>
              </a:p>
            </p:txBody>
          </p:sp>
        </mc:Fallback>
      </mc:AlternateContent>
      <p:sp>
        <p:nvSpPr>
          <p:cNvPr id="9" name="Speech Bubble: Rectangle with Corners Rounded 8">
            <a:extLst>
              <a:ext uri="{FF2B5EF4-FFF2-40B4-BE49-F238E27FC236}">
                <a16:creationId xmlns:a16="http://schemas.microsoft.com/office/drawing/2014/main" id="{16CC487A-429B-4341-BCBE-E7FF3CBC241C}"/>
              </a:ext>
            </a:extLst>
          </p:cNvPr>
          <p:cNvSpPr/>
          <p:nvPr/>
        </p:nvSpPr>
        <p:spPr>
          <a:xfrm>
            <a:off x="685800" y="2548896"/>
            <a:ext cx="1676400" cy="334962"/>
          </a:xfrm>
          <a:prstGeom prst="wedgeRoundRectCallout">
            <a:avLst>
              <a:gd name="adj1" fmla="val -38108"/>
              <a:gd name="adj2" fmla="val -175670"/>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dirty="0">
                <a:solidFill>
                  <a:schemeClr val="tx1"/>
                </a:solidFill>
              </a:rPr>
              <a:t>Tačno rešenje</a:t>
            </a:r>
            <a:endParaRPr lang="en-US" dirty="0">
              <a:solidFill>
                <a:schemeClr val="tx1"/>
              </a:solidFill>
            </a:endParaRPr>
          </a:p>
        </p:txBody>
      </p:sp>
      <p:sp>
        <p:nvSpPr>
          <p:cNvPr id="10" name="Speech Bubble: Rectangle with Corners Rounded 9">
            <a:extLst>
              <a:ext uri="{FF2B5EF4-FFF2-40B4-BE49-F238E27FC236}">
                <a16:creationId xmlns:a16="http://schemas.microsoft.com/office/drawing/2014/main" id="{BE77095B-5AE1-426A-B231-C7E8772AAE87}"/>
              </a:ext>
            </a:extLst>
          </p:cNvPr>
          <p:cNvSpPr/>
          <p:nvPr/>
        </p:nvSpPr>
        <p:spPr>
          <a:xfrm>
            <a:off x="2514600" y="2548896"/>
            <a:ext cx="2057400" cy="334962"/>
          </a:xfrm>
          <a:prstGeom prst="wedgeRoundRectCallout">
            <a:avLst>
              <a:gd name="adj1" fmla="val -83391"/>
              <a:gd name="adj2" fmla="val -196273"/>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dirty="0">
                <a:solidFill>
                  <a:schemeClr val="tx1"/>
                </a:solidFill>
              </a:rPr>
              <a:t>Rezultat metode</a:t>
            </a:r>
            <a:endParaRPr lang="en-US" dirty="0">
              <a:solidFill>
                <a:schemeClr val="tx1"/>
              </a:solidFill>
            </a:endParaRPr>
          </a:p>
        </p:txBody>
      </p:sp>
      <p:sp>
        <p:nvSpPr>
          <p:cNvPr id="11" name="Speech Bubble: Rectangle with Corners Rounded 10">
            <a:extLst>
              <a:ext uri="{FF2B5EF4-FFF2-40B4-BE49-F238E27FC236}">
                <a16:creationId xmlns:a16="http://schemas.microsoft.com/office/drawing/2014/main" id="{C779AD30-46EB-45E8-9016-74252A77ADB1}"/>
              </a:ext>
            </a:extLst>
          </p:cNvPr>
          <p:cNvSpPr/>
          <p:nvPr/>
        </p:nvSpPr>
        <p:spPr>
          <a:xfrm>
            <a:off x="3276600" y="1810380"/>
            <a:ext cx="1066800" cy="310520"/>
          </a:xfrm>
          <a:prstGeom prst="wedgeRoundRectCallout">
            <a:avLst>
              <a:gd name="adj1" fmla="val -82362"/>
              <a:gd name="adj2" fmla="val -27111"/>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dirty="0">
                <a:solidFill>
                  <a:schemeClr val="tx1"/>
                </a:solidFill>
              </a:rPr>
              <a:t>Greška</a:t>
            </a:r>
            <a:endParaRPr lang="en-US" dirty="0">
              <a:solidFill>
                <a:schemeClr val="tx1"/>
              </a:solidFill>
            </a:endParaRPr>
          </a:p>
        </p:txBody>
      </p:sp>
    </p:spTree>
    <p:extLst>
      <p:ext uri="{BB962C8B-B14F-4D97-AF65-F5344CB8AC3E}">
        <p14:creationId xmlns:p14="http://schemas.microsoft.com/office/powerpoint/2010/main" val="3175687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up)">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a:xfrm>
            <a:off x="457200" y="1066800"/>
            <a:ext cx="7772400" cy="4114800"/>
          </a:xfrm>
          <a:solidFill>
            <a:schemeClr val="bg1"/>
          </a:solidFill>
        </p:spPr>
        <p:txBody>
          <a:bodyPr/>
          <a:lstStyle/>
          <a:p>
            <a:r>
              <a:rPr lang="sr-Latn-RS" altLang="sr-Latn-RS"/>
              <a:t>Posmatramo odnos grešaka i h.</a:t>
            </a:r>
            <a:endParaRPr lang="en-US" altLang="sr-Latn-RS"/>
          </a:p>
        </p:txBody>
      </p:sp>
      <p:graphicFrame>
        <p:nvGraphicFramePr>
          <p:cNvPr id="49155" name="Object 3"/>
          <p:cNvGraphicFramePr>
            <a:graphicFrameLocks noChangeAspect="1"/>
          </p:cNvGraphicFramePr>
          <p:nvPr/>
        </p:nvGraphicFramePr>
        <p:xfrm>
          <a:off x="6629400" y="990600"/>
          <a:ext cx="1985963" cy="738188"/>
        </p:xfrm>
        <a:graphic>
          <a:graphicData uri="http://schemas.openxmlformats.org/presentationml/2006/ole">
            <mc:AlternateContent xmlns:mc="http://schemas.openxmlformats.org/markup-compatibility/2006">
              <mc:Choice xmlns:v="urn:schemas-microsoft-com:vml" Requires="v">
                <p:oleObj name="Equation" r:id="rId2" imgW="889000" imgH="330200" progId="Equation.3">
                  <p:embed/>
                </p:oleObj>
              </mc:Choice>
              <mc:Fallback>
                <p:oleObj name="Equation" r:id="rId2" imgW="8890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990600"/>
                        <a:ext cx="1985963" cy="738188"/>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6" name="Object 4"/>
          <p:cNvGraphicFramePr>
            <a:graphicFrameLocks noChangeAspect="1"/>
          </p:cNvGraphicFramePr>
          <p:nvPr/>
        </p:nvGraphicFramePr>
        <p:xfrm>
          <a:off x="914400" y="2532063"/>
          <a:ext cx="7086600" cy="4162425"/>
        </p:xfrm>
        <a:graphic>
          <a:graphicData uri="http://schemas.openxmlformats.org/presentationml/2006/ole">
            <mc:AlternateContent xmlns:mc="http://schemas.openxmlformats.org/markup-compatibility/2006">
              <mc:Choice xmlns:v="urn:schemas-microsoft-com:vml" Requires="v">
                <p:oleObj name="Equation" r:id="rId4" imgW="5016500" imgH="2946400" progId="Equation.3">
                  <p:embed/>
                </p:oleObj>
              </mc:Choice>
              <mc:Fallback>
                <p:oleObj name="Equation" r:id="rId4" imgW="5016500" imgH="2946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2532063"/>
                        <a:ext cx="7086600" cy="4162425"/>
                      </a:xfrm>
                      <a:prstGeom prst="rect">
                        <a:avLst/>
                      </a:prstGeom>
                      <a:solidFill>
                        <a:srgbClr val="C3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7" name="Rectangle 5"/>
          <p:cNvSpPr>
            <a:spLocks noGrp="1" noChangeArrowheads="1"/>
          </p:cNvSpPr>
          <p:nvPr>
            <p:ph type="title"/>
          </p:nvPr>
        </p:nvSpPr>
        <p:spPr>
          <a:xfrm>
            <a:off x="1219200" y="152400"/>
            <a:ext cx="7696200" cy="1143000"/>
          </a:xfrm>
          <a:noFill/>
        </p:spPr>
        <p:txBody>
          <a:bodyPr/>
          <a:lstStyle/>
          <a:p>
            <a:r>
              <a:rPr lang="sr-Latn-RS" altLang="sr-Latn-RS"/>
              <a:t>Primer</a:t>
            </a:r>
          </a:p>
        </p:txBody>
      </p:sp>
      <p:graphicFrame>
        <p:nvGraphicFramePr>
          <p:cNvPr id="49158" name="Object 8"/>
          <p:cNvGraphicFramePr>
            <a:graphicFrameLocks noChangeAspect="1"/>
          </p:cNvGraphicFramePr>
          <p:nvPr/>
        </p:nvGraphicFramePr>
        <p:xfrm>
          <a:off x="2362200" y="1676400"/>
          <a:ext cx="3667125" cy="773113"/>
        </p:xfrm>
        <a:graphic>
          <a:graphicData uri="http://schemas.openxmlformats.org/presentationml/2006/ole">
            <mc:AlternateContent xmlns:mc="http://schemas.openxmlformats.org/markup-compatibility/2006">
              <mc:Choice xmlns:v="urn:schemas-microsoft-com:vml" Requires="v">
                <p:oleObj name="Equation" r:id="rId6" imgW="2400300" imgH="508000" progId="Equation.3">
                  <p:embed/>
                </p:oleObj>
              </mc:Choice>
              <mc:Fallback>
                <p:oleObj name="Equation" r:id="rId6" imgW="2400300" imgH="508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1676400"/>
                        <a:ext cx="3667125" cy="773113"/>
                      </a:xfrm>
                      <a:prstGeom prst="rect">
                        <a:avLst/>
                      </a:prstGeom>
                      <a:solidFill>
                        <a:srgbClr val="C3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59" name="AutoShape 9"/>
          <p:cNvSpPr>
            <a:spLocks/>
          </p:cNvSpPr>
          <p:nvPr/>
        </p:nvSpPr>
        <p:spPr bwMode="auto">
          <a:xfrm>
            <a:off x="8077200" y="4419600"/>
            <a:ext cx="304800" cy="1219200"/>
          </a:xfrm>
          <a:prstGeom prst="rightBrace">
            <a:avLst>
              <a:gd name="adj1" fmla="val 3333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49160" name="Text Box 10"/>
          <p:cNvSpPr txBox="1">
            <a:spLocks noChangeArrowheads="1"/>
          </p:cNvSpPr>
          <p:nvPr/>
        </p:nvSpPr>
        <p:spPr bwMode="auto">
          <a:xfrm>
            <a:off x="8382000" y="48768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sr-Latn-RS" altLang="sr-Latn-RS">
                <a:cs typeface="Arial" charset="0"/>
              </a:rPr>
              <a:t>≈*4</a:t>
            </a:r>
          </a:p>
        </p:txBody>
      </p:sp>
      <p:sp>
        <p:nvSpPr>
          <p:cNvPr id="49161" name="Text Box 11"/>
          <p:cNvSpPr txBox="1">
            <a:spLocks noChangeArrowheads="1"/>
          </p:cNvSpPr>
          <p:nvPr/>
        </p:nvSpPr>
        <p:spPr bwMode="auto">
          <a:xfrm>
            <a:off x="6172200" y="1676400"/>
            <a:ext cx="2819400" cy="633413"/>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sr-Latn-RS" altLang="sr-Latn-RS" sz="1400"/>
              <a:t>prepolovimo h,</a:t>
            </a:r>
          </a:p>
          <a:p>
            <a:pPr eaLnBrk="1" hangingPunct="1">
              <a:spcBef>
                <a:spcPct val="50000"/>
              </a:spcBef>
            </a:pPr>
            <a:r>
              <a:rPr lang="sr-Latn-RS" altLang="sr-Latn-RS" sz="1400"/>
              <a:t>greška se približno 4 puta smanji</a:t>
            </a:r>
          </a:p>
        </p:txBody>
      </p:sp>
      <p:sp>
        <p:nvSpPr>
          <p:cNvPr id="49162" name="Line 12"/>
          <p:cNvSpPr>
            <a:spLocks noChangeShapeType="1"/>
          </p:cNvSpPr>
          <p:nvPr/>
        </p:nvSpPr>
        <p:spPr bwMode="auto">
          <a:xfrm flipH="1">
            <a:off x="8382000" y="2362200"/>
            <a:ext cx="152400" cy="2438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sr-Latn-RS"/>
          </a:p>
        </p:txBody>
      </p:sp>
    </p:spTree>
    <p:extLst>
      <p:ext uri="{BB962C8B-B14F-4D97-AF65-F5344CB8AC3E}">
        <p14:creationId xmlns:p14="http://schemas.microsoft.com/office/powerpoint/2010/main" val="9878296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1447800" y="228600"/>
            <a:ext cx="7696200" cy="1143000"/>
          </a:xfrm>
        </p:spPr>
        <p:txBody>
          <a:bodyPr/>
          <a:lstStyle/>
          <a:p>
            <a:r>
              <a:rPr lang="sr-Latn-RS" altLang="sr-Latn-RS"/>
              <a:t>Ričardsonova ekstrapolacija</a:t>
            </a:r>
          </a:p>
        </p:txBody>
      </p:sp>
      <p:sp>
        <p:nvSpPr>
          <p:cNvPr id="50179" name="Rectangle 3"/>
          <p:cNvSpPr>
            <a:spLocks noGrp="1" noChangeArrowheads="1"/>
          </p:cNvSpPr>
          <p:nvPr>
            <p:ph type="body" idx="1"/>
          </p:nvPr>
        </p:nvSpPr>
        <p:spPr>
          <a:xfrm>
            <a:off x="457200" y="1295400"/>
            <a:ext cx="8229600" cy="5257800"/>
          </a:xfrm>
          <a:solidFill>
            <a:schemeClr val="bg1"/>
          </a:solidFill>
        </p:spPr>
        <p:txBody>
          <a:bodyPr/>
          <a:lstStyle/>
          <a:p>
            <a:r>
              <a:rPr lang="sr-Latn-RS" altLang="sr-Latn-RS" sz="2800" dirty="0"/>
              <a:t>Videli smo da je grešku za jedan broj koraka moguće izraziti pomoću greške za drugi broj koraka.</a:t>
            </a:r>
          </a:p>
          <a:p>
            <a:r>
              <a:rPr lang="sr-Latn-RS" altLang="sr-Latn-RS" sz="2800" dirty="0"/>
              <a:t>Ta činjenica se koristi kod Romergovog metoda</a:t>
            </a:r>
          </a:p>
          <a:p>
            <a:r>
              <a:rPr lang="sr-Latn-RS" altLang="sr-Latn-RS" sz="2800" dirty="0"/>
              <a:t>Označimo rezultate metode za integraciju za dva različita koraka sa R</a:t>
            </a:r>
            <a:r>
              <a:rPr lang="sr-Latn-RS" altLang="sr-Latn-RS" sz="2800" baseline="-25000" dirty="0"/>
              <a:t>0,0</a:t>
            </a:r>
            <a:r>
              <a:rPr lang="sr-Latn-RS" altLang="sr-Latn-RS" sz="2800" dirty="0"/>
              <a:t> i R</a:t>
            </a:r>
            <a:r>
              <a:rPr lang="sr-Latn-RS" altLang="sr-Latn-RS" sz="2800" baseline="-25000" dirty="0"/>
              <a:t>1,0</a:t>
            </a:r>
            <a:r>
              <a:rPr lang="sr-Latn-RS" altLang="sr-Latn-RS" sz="2800" dirty="0"/>
              <a:t> imamo:</a:t>
            </a:r>
          </a:p>
          <a:p>
            <a:endParaRPr lang="sr-Latn-RS" altLang="sr-Latn-RS" sz="2800" dirty="0"/>
          </a:p>
          <a:p>
            <a:endParaRPr lang="sr-Latn-RS" altLang="sr-Latn-RS" sz="2800" dirty="0"/>
          </a:p>
          <a:p>
            <a:endParaRPr lang="sr-Latn-RS" altLang="sr-Latn-RS" sz="2800" dirty="0"/>
          </a:p>
          <a:p>
            <a:r>
              <a:rPr lang="sr-Latn-RS" altLang="sr-Latn-RS" sz="2800" dirty="0"/>
              <a:t>gde je I tačno rešenje integrala, a E greške.</a:t>
            </a:r>
          </a:p>
          <a:p>
            <a:endParaRPr lang="sr-Latn-RS" altLang="sr-Latn-RS" sz="2800" baseline="-25000" dirty="0"/>
          </a:p>
          <a:p>
            <a:endParaRPr lang="sr-Latn-RS" altLang="sr-Latn-RS" dirty="0"/>
          </a:p>
          <a:p>
            <a:endParaRPr lang="sr-Latn-RS" altLang="sr-Latn-RS" sz="2400" dirty="0"/>
          </a:p>
          <a:p>
            <a:endParaRPr lang="sr-Latn-RS" altLang="sr-Latn-RS" sz="2400" dirty="0"/>
          </a:p>
          <a:p>
            <a:endParaRPr lang="sr-Latn-RS" altLang="sr-Latn-RS" sz="2400" dirty="0"/>
          </a:p>
          <a:p>
            <a:endParaRPr lang="sr-Latn-RS" altLang="sr-Latn-RS" sz="2400" dirty="0"/>
          </a:p>
          <a:p>
            <a:endParaRPr lang="sr-Latn-RS" altLang="sr-Latn-RS" sz="2400" dirty="0"/>
          </a:p>
        </p:txBody>
      </p:sp>
      <p:graphicFrame>
        <p:nvGraphicFramePr>
          <p:cNvPr id="50180" name="Object 6"/>
          <p:cNvGraphicFramePr>
            <a:graphicFrameLocks noChangeAspect="1"/>
          </p:cNvGraphicFramePr>
          <p:nvPr>
            <p:extLst>
              <p:ext uri="{D42A27DB-BD31-4B8C-83A1-F6EECF244321}">
                <p14:modId xmlns:p14="http://schemas.microsoft.com/office/powerpoint/2010/main" val="3279886255"/>
              </p:ext>
            </p:extLst>
          </p:nvPr>
        </p:nvGraphicFramePr>
        <p:xfrm>
          <a:off x="3543300" y="4271963"/>
          <a:ext cx="2057400" cy="1214437"/>
        </p:xfrm>
        <a:graphic>
          <a:graphicData uri="http://schemas.openxmlformats.org/presentationml/2006/ole">
            <mc:AlternateContent xmlns:mc="http://schemas.openxmlformats.org/markup-compatibility/2006">
              <mc:Choice xmlns:v="urn:schemas-microsoft-com:vml" Requires="v">
                <p:oleObj name="Equation" r:id="rId2" imgW="863225" imgH="482391" progId="Equation.3">
                  <p:embed/>
                </p:oleObj>
              </mc:Choice>
              <mc:Fallback>
                <p:oleObj name="Equation" r:id="rId2" imgW="863225" imgH="482391"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3300" y="4271963"/>
                        <a:ext cx="2057400" cy="1214437"/>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5918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0179">
                                            <p:bg/>
                                          </p:spTgt>
                                        </p:tgtEl>
                                        <p:attrNameLst>
                                          <p:attrName>style.visibility</p:attrName>
                                        </p:attrNameLst>
                                      </p:cBhvr>
                                      <p:to>
                                        <p:strVal val="visible"/>
                                      </p:to>
                                    </p:set>
                                    <p:animEffect transition="in" filter="fade">
                                      <p:cBhvr>
                                        <p:cTn id="7" dur="500"/>
                                        <p:tgtEl>
                                          <p:spTgt spid="50179">
                                            <p:bg/>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0179">
                                            <p:txEl>
                                              <p:pRg st="0" end="0"/>
                                            </p:txEl>
                                          </p:spTgt>
                                        </p:tgtEl>
                                        <p:attrNameLst>
                                          <p:attrName>style.visibility</p:attrName>
                                        </p:attrNameLst>
                                      </p:cBhvr>
                                      <p:to>
                                        <p:strVal val="visible"/>
                                      </p:to>
                                    </p:set>
                                    <p:animEffect transition="in" filter="fade">
                                      <p:cBhvr>
                                        <p:cTn id="12" dur="500"/>
                                        <p:tgtEl>
                                          <p:spTgt spid="501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0179">
                                            <p:txEl>
                                              <p:pRg st="1" end="1"/>
                                            </p:txEl>
                                          </p:spTgt>
                                        </p:tgtEl>
                                        <p:attrNameLst>
                                          <p:attrName>style.visibility</p:attrName>
                                        </p:attrNameLst>
                                      </p:cBhvr>
                                      <p:to>
                                        <p:strVal val="visible"/>
                                      </p:to>
                                    </p:set>
                                    <p:animEffect transition="in" filter="fade">
                                      <p:cBhvr>
                                        <p:cTn id="17" dur="500"/>
                                        <p:tgtEl>
                                          <p:spTgt spid="50179">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0179">
                                            <p:txEl>
                                              <p:pRg st="2" end="2"/>
                                            </p:txEl>
                                          </p:spTgt>
                                        </p:tgtEl>
                                        <p:attrNameLst>
                                          <p:attrName>style.visibility</p:attrName>
                                        </p:attrNameLst>
                                      </p:cBhvr>
                                      <p:to>
                                        <p:strVal val="visible"/>
                                      </p:to>
                                    </p:set>
                                    <p:animEffect transition="in" filter="fade">
                                      <p:cBhvr>
                                        <p:cTn id="22" dur="500"/>
                                        <p:tgtEl>
                                          <p:spTgt spid="50179">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0180"/>
                                        </p:tgtEl>
                                        <p:attrNameLst>
                                          <p:attrName>style.visibility</p:attrName>
                                        </p:attrNameLst>
                                      </p:cBhvr>
                                      <p:to>
                                        <p:strVal val="visible"/>
                                      </p:to>
                                    </p:set>
                                    <p:animEffect transition="in" filter="fade">
                                      <p:cBhvr>
                                        <p:cTn id="27" dur="500"/>
                                        <p:tgtEl>
                                          <p:spTgt spid="5018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0179">
                                            <p:txEl>
                                              <p:pRg st="6" end="6"/>
                                            </p:txEl>
                                          </p:spTgt>
                                        </p:tgtEl>
                                        <p:attrNameLst>
                                          <p:attrName>style.visibility</p:attrName>
                                        </p:attrNameLst>
                                      </p:cBhvr>
                                      <p:to>
                                        <p:strVal val="visible"/>
                                      </p:to>
                                    </p:set>
                                    <p:animEffect transition="in" filter="fade">
                                      <p:cBhvr>
                                        <p:cTn id="32" dur="500"/>
                                        <p:tgtEl>
                                          <p:spTgt spid="501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uiExpand="1" build="p"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1371600" y="304800"/>
            <a:ext cx="7620000" cy="1143000"/>
          </a:xfrm>
        </p:spPr>
        <p:txBody>
          <a:bodyPr/>
          <a:lstStyle/>
          <a:p>
            <a:r>
              <a:rPr lang="sr-Latn-RS" altLang="sr-Latn-RS"/>
              <a:t>Ričardsonova ekstrapolacija</a:t>
            </a:r>
          </a:p>
        </p:txBody>
      </p:sp>
      <p:sp>
        <p:nvSpPr>
          <p:cNvPr id="51203" name="Rectangle 3"/>
          <p:cNvSpPr>
            <a:spLocks noGrp="1" noChangeArrowheads="1"/>
          </p:cNvSpPr>
          <p:nvPr>
            <p:ph type="body" idx="1"/>
          </p:nvPr>
        </p:nvSpPr>
        <p:spPr/>
        <p:txBody>
          <a:bodyPr/>
          <a:lstStyle/>
          <a:p>
            <a:r>
              <a:rPr lang="sr-Latn-RS" altLang="sr-Latn-RS"/>
              <a:t>Recimo da znamo da je greška metode E</a:t>
            </a:r>
            <a:r>
              <a:rPr lang="sr-Latn-RS" altLang="sr-Latn-RS" baseline="-25000"/>
              <a:t>1,0</a:t>
            </a:r>
            <a:r>
              <a:rPr lang="sr-Latn-RS" altLang="sr-Latn-RS"/>
              <a:t>=1/4*E</a:t>
            </a:r>
            <a:r>
              <a:rPr lang="sr-Latn-RS" altLang="sr-Latn-RS" baseline="-25000"/>
              <a:t>0,0</a:t>
            </a:r>
            <a:r>
              <a:rPr lang="sr-Latn-RS" altLang="sr-Latn-RS"/>
              <a:t> (greška se smanjuje 4 puta za svaki korak – metod trapeza) imamo:</a:t>
            </a:r>
          </a:p>
          <a:p>
            <a:endParaRPr lang="sr-Latn-RS" altLang="sr-Latn-RS"/>
          </a:p>
        </p:txBody>
      </p:sp>
      <p:pic>
        <p:nvPicPr>
          <p:cNvPr id="51204" name="Picture 4" descr="theory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352800"/>
            <a:ext cx="6553200" cy="235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67678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76200" y="228600"/>
            <a:ext cx="8991600" cy="1143000"/>
          </a:xfrm>
        </p:spPr>
        <p:txBody>
          <a:bodyPr/>
          <a:lstStyle/>
          <a:p>
            <a:r>
              <a:rPr lang="sr-Latn-RS" altLang="sr-Latn-RS" sz="3200" dirty="0"/>
              <a:t>Ričardsonova ekstrapolacija</a:t>
            </a:r>
            <a:r>
              <a:rPr lang="en-US" altLang="sr-Latn-RS" sz="3200" dirty="0"/>
              <a:t> </a:t>
            </a:r>
            <a:r>
              <a:rPr lang="sr-Latn-RS" altLang="sr-Latn-RS" sz="3200" dirty="0"/>
              <a:t>za Rombergov metod - izvođenje</a:t>
            </a:r>
          </a:p>
        </p:txBody>
      </p:sp>
      <mc:AlternateContent xmlns:mc="http://schemas.openxmlformats.org/markup-compatibility/2006" xmlns:a14="http://schemas.microsoft.com/office/drawing/2010/main">
        <mc:Choice Requires="a14">
          <p:sp>
            <p:nvSpPr>
              <p:cNvPr id="52227" name="Object 4"/>
              <p:cNvSpPr txBox="1"/>
              <p:nvPr/>
            </p:nvSpPr>
            <p:spPr bwMode="auto">
              <a:xfrm>
                <a:off x="457200" y="1295400"/>
                <a:ext cx="8610600" cy="396240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4</m:t>
                          </m:r>
                        </m:den>
                      </m:f>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0,0</m:t>
                          </m:r>
                        </m:sub>
                      </m:sSub>
                    </m:oMath>
                    <m:oMath xmlns:m="http://schemas.openxmlformats.org/officeDocument/2006/math">
                      <m:r>
                        <a:rPr lang="en-US" sz="2400" i="1">
                          <a:solidFill>
                            <a:srgbClr val="000000"/>
                          </a:solidFill>
                          <a:latin typeface="Cambria Math" panose="02040503050406030204" pitchFamily="18" charset="0"/>
                        </a:rPr>
                        <m:t>𝑧𝑎𝑚𝑒𝑛𝑖𝑚𝑜</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𝐼</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oMath>
                    <m:oMath xmlns:m="http://schemas.openxmlformats.org/officeDocument/2006/math">
                      <m:r>
                        <a:rPr lang="en-US" sz="2400" i="1">
                          <a:solidFill>
                            <a:srgbClr val="000000"/>
                          </a:solidFill>
                          <a:latin typeface="Cambria Math" panose="02040503050406030204" pitchFamily="18" charset="0"/>
                        </a:rPr>
                        <m:t>𝐼</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1</m:t>
                          </m:r>
                        </m:num>
                        <m:den>
                          <m:r>
                            <a:rPr lang="en-US" sz="2400" i="1">
                              <a:solidFill>
                                <a:srgbClr val="000000"/>
                              </a:solidFill>
                              <a:latin typeface="Cambria Math" panose="02040503050406030204" pitchFamily="18" charset="0"/>
                            </a:rPr>
                            <m:t>4</m:t>
                          </m:r>
                        </m:den>
                      </m:f>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𝑜𝑑</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𝑡𝑜𝑔𝑎</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𝑜𝑑𝑢𝑧𝑚𝑒𝑚𝑜</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𝐼</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oMath>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3</m:t>
                          </m:r>
                        </m:num>
                        <m:den>
                          <m:r>
                            <a:rPr lang="en-US" sz="2400" i="1">
                              <a:solidFill>
                                <a:srgbClr val="000000"/>
                              </a:solidFill>
                              <a:latin typeface="Cambria Math" panose="02040503050406030204" pitchFamily="18" charset="0"/>
                            </a:rPr>
                            <m:t>4</m:t>
                          </m:r>
                        </m:den>
                      </m:f>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4</m:t>
                          </m:r>
                        </m:num>
                        <m:den>
                          <m:r>
                            <a:rPr lang="en-US" sz="2400" i="1">
                              <a:solidFill>
                                <a:srgbClr val="000000"/>
                              </a:solidFill>
                              <a:latin typeface="Cambria Math" panose="02040503050406030204" pitchFamily="18" charset="0"/>
                            </a:rPr>
                            <m:t>3</m:t>
                          </m:r>
                        </m:den>
                      </m:f>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oMath>
                    <m:oMath xmlns:m="http://schemas.openxmlformats.org/officeDocument/2006/math">
                      <m:r>
                        <a:rPr lang="en-US" sz="2400" i="1">
                          <a:solidFill>
                            <a:srgbClr val="000000"/>
                          </a:solidFill>
                          <a:latin typeface="Cambria Math" panose="02040503050406030204" pitchFamily="18" charset="0"/>
                        </a:rPr>
                        <m:t>𝑧𝑎𝑚𝑒𝑛𝑖𝑚𝑜</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𝑢</m:t>
                      </m:r>
                      <m:r>
                        <a:rPr lang="en-US" sz="2400" i="1">
                          <a:solidFill>
                            <a:srgbClr val="000000"/>
                          </a:solidFill>
                          <a:latin typeface="Cambria Math" panose="02040503050406030204" pitchFamily="18" charset="0"/>
                        </a:rPr>
                        <m:t> </m:t>
                      </m:r>
                      <m:r>
                        <a:rPr lang="en-US" sz="2400" i="1">
                          <a:solidFill>
                            <a:srgbClr val="000000"/>
                          </a:solidFill>
                          <a:latin typeface="Cambria Math" panose="02040503050406030204" pitchFamily="18" charset="0"/>
                        </a:rPr>
                        <m:t>𝐼</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𝐸</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r>
                        <a:rPr lang="en-US" sz="2400" i="1">
                          <a:solidFill>
                            <a:srgbClr val="000000"/>
                          </a:solidFill>
                          <a:latin typeface="Cambria Math" panose="02040503050406030204" pitchFamily="18" charset="0"/>
                        </a:rPr>
                        <m:t>𝐼</m:t>
                      </m:r>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4</m:t>
                          </m:r>
                        </m:num>
                        <m:den>
                          <m:r>
                            <a:rPr lang="en-US" sz="2400" i="1">
                              <a:solidFill>
                                <a:srgbClr val="000000"/>
                              </a:solidFill>
                              <a:latin typeface="Cambria Math" panose="02040503050406030204" pitchFamily="18" charset="0"/>
                            </a:rPr>
                            <m:t>3</m:t>
                          </m:r>
                        </m:den>
                      </m:f>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0,0</m:t>
                          </m:r>
                        </m:sub>
                      </m:sSub>
                      <m:r>
                        <a:rPr lang="en-US" sz="2400" i="1">
                          <a:solidFill>
                            <a:srgbClr val="000000"/>
                          </a:solidFill>
                          <a:latin typeface="Cambria Math" panose="02040503050406030204" pitchFamily="18" charset="0"/>
                        </a:rPr>
                        <m:t>)⇒</m:t>
                      </m:r>
                    </m:oMath>
                    <m:oMath xmlns:m="http://schemas.openxmlformats.org/officeDocument/2006/math">
                      <m:r>
                        <a:rPr lang="en-US" sz="2400" i="1">
                          <a:solidFill>
                            <a:srgbClr val="000000"/>
                          </a:solidFill>
                          <a:latin typeface="Cambria Math" panose="02040503050406030204" pitchFamily="18" charset="0"/>
                        </a:rPr>
                        <m:t>𝐼</m:t>
                      </m:r>
                      <m:r>
                        <a:rPr lang="en-US" sz="2400" i="1">
                          <a:solidFill>
                            <a:srgbClr val="000000"/>
                          </a:solidFill>
                          <a:latin typeface="Cambria Math" panose="02040503050406030204" pitchFamily="18" charset="0"/>
                        </a:rPr>
                        <m:t>=</m:t>
                      </m:r>
                      <m:f>
                        <m:fPr>
                          <m:ctrlPr>
                            <a:rPr lang="en-US" sz="2400" i="1">
                              <a:solidFill>
                                <a:srgbClr val="000000"/>
                              </a:solidFill>
                              <a:latin typeface="Cambria Math" panose="02040503050406030204" pitchFamily="18" charset="0"/>
                            </a:rPr>
                          </m:ctrlPr>
                        </m:fPr>
                        <m:num>
                          <m:r>
                            <a:rPr lang="en-US" sz="2400" i="1">
                              <a:solidFill>
                                <a:srgbClr val="000000"/>
                              </a:solidFill>
                              <a:latin typeface="Cambria Math" panose="02040503050406030204" pitchFamily="18" charset="0"/>
                            </a:rPr>
                            <m:t>4</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1,0</m:t>
                              </m:r>
                            </m:sub>
                          </m:sSub>
                          <m:r>
                            <a:rPr lang="en-US" sz="2400" i="1">
                              <a:solidFill>
                                <a:srgbClr val="000000"/>
                              </a:solidFill>
                              <a:latin typeface="Cambria Math" panose="02040503050406030204" pitchFamily="18" charset="0"/>
                            </a:rPr>
                            <m:t>−</m:t>
                          </m:r>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𝑅</m:t>
                              </m:r>
                            </m:e>
                            <m:sub>
                              <m:r>
                                <a:rPr lang="en-US" sz="2400" i="1">
                                  <a:solidFill>
                                    <a:srgbClr val="000000"/>
                                  </a:solidFill>
                                  <a:latin typeface="Cambria Math" panose="02040503050406030204" pitchFamily="18" charset="0"/>
                                </a:rPr>
                                <m:t>0,0</m:t>
                              </m:r>
                            </m:sub>
                          </m:sSub>
                        </m:num>
                        <m:den>
                          <m:r>
                            <a:rPr lang="en-US" sz="2400" i="1">
                              <a:solidFill>
                                <a:srgbClr val="000000"/>
                              </a:solidFill>
                              <a:latin typeface="Cambria Math" panose="02040503050406030204" pitchFamily="18" charset="0"/>
                            </a:rPr>
                            <m:t>3</m:t>
                          </m:r>
                        </m:den>
                      </m:f>
                    </m:oMath>
                  </m:oMathPara>
                </a14:m>
                <a:endParaRPr lang="en-US" sz="2400" dirty="0"/>
              </a:p>
            </p:txBody>
          </p:sp>
        </mc:Choice>
        <mc:Fallback xmlns="">
          <p:sp>
            <p:nvSpPr>
              <p:cNvPr id="52227" name="Object 4"/>
              <p:cNvSpPr txBox="1">
                <a:spLocks noRot="1" noChangeAspect="1" noMove="1" noResize="1" noEditPoints="1" noAdjustHandles="1" noChangeArrowheads="1" noChangeShapeType="1" noTextEdit="1"/>
              </p:cNvSpPr>
              <p:nvPr/>
            </p:nvSpPr>
            <p:spPr bwMode="auto">
              <a:xfrm>
                <a:off x="457200" y="1295400"/>
                <a:ext cx="8610600" cy="3962400"/>
              </a:xfrm>
              <a:prstGeom prst="rect">
                <a:avLst/>
              </a:prstGeom>
              <a:blipFill>
                <a:blip r:embed="rId2"/>
                <a:stretch>
                  <a:fillRect l="-142"/>
                </a:stretch>
              </a:blipFill>
              <a:ln>
                <a:noFill/>
              </a:ln>
              <a:effectLst/>
            </p:spPr>
            <p:txBody>
              <a:bodyPr/>
              <a:lstStyle/>
              <a:p>
                <a:r>
                  <a:rPr lang="en-US">
                    <a:noFill/>
                  </a:rPr>
                  <a:t> </a:t>
                </a:r>
              </a:p>
            </p:txBody>
          </p:sp>
        </mc:Fallback>
      </mc:AlternateContent>
      <p:sp>
        <p:nvSpPr>
          <p:cNvPr id="52228" name="Text Box 5"/>
          <p:cNvSpPr txBox="1">
            <a:spLocks noChangeArrowheads="1"/>
          </p:cNvSpPr>
          <p:nvPr/>
        </p:nvSpPr>
        <p:spPr bwMode="auto">
          <a:xfrm>
            <a:off x="457200" y="5257800"/>
            <a:ext cx="82296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sr-Latn-RS" altLang="sr-Latn-RS" dirty="0"/>
              <a:t>Suština prethodnog postupka je u tome da smo eliminisali E</a:t>
            </a:r>
            <a:r>
              <a:rPr lang="sr-Latn-RS" altLang="sr-Latn-RS" baseline="-25000" dirty="0"/>
              <a:t>0,0</a:t>
            </a:r>
            <a:r>
              <a:rPr lang="sr-Latn-RS" altLang="sr-Latn-RS" dirty="0"/>
              <a:t> iz I= R</a:t>
            </a:r>
            <a:r>
              <a:rPr lang="sr-Latn-RS" altLang="sr-Latn-RS" baseline="-25000" dirty="0"/>
              <a:t>0,0</a:t>
            </a:r>
            <a:r>
              <a:rPr lang="sr-Latn-RS" altLang="sr-Latn-RS" dirty="0"/>
              <a:t>+E</a:t>
            </a:r>
            <a:r>
              <a:rPr lang="sr-Latn-RS" altLang="sr-Latn-RS" baseline="-25000" dirty="0"/>
              <a:t>0,0</a:t>
            </a:r>
            <a:endParaRPr lang="sr-Latn-RS" altLang="sr-Latn-RS" dirty="0"/>
          </a:p>
          <a:p>
            <a:pPr eaLnBrk="1" hangingPunct="1">
              <a:spcBef>
                <a:spcPct val="50000"/>
              </a:spcBef>
            </a:pPr>
            <a:r>
              <a:rPr lang="sr-Latn-RS" altLang="sr-Latn-RS" dirty="0"/>
              <a:t>Što znači da smo eliminisali najveći faktor greške i time smanjili red greške.</a:t>
            </a:r>
          </a:p>
          <a:p>
            <a:pPr eaLnBrk="1" hangingPunct="1">
              <a:spcBef>
                <a:spcPct val="50000"/>
              </a:spcBef>
            </a:pPr>
            <a:r>
              <a:rPr lang="sr-Latn-RS" altLang="sr-Latn-RS" dirty="0"/>
              <a:t>Na primer, ako je R računat metodom trapeza, greška reda h</a:t>
            </a:r>
            <a:r>
              <a:rPr lang="sr-Latn-RS" altLang="sr-Latn-RS" baseline="30000" dirty="0"/>
              <a:t>2</a:t>
            </a:r>
            <a:r>
              <a:rPr lang="sr-Latn-RS" altLang="sr-Latn-RS" dirty="0"/>
              <a:t> je eliminisana i sada je najveći faktor greške reda h</a:t>
            </a:r>
            <a:r>
              <a:rPr lang="sr-Latn-RS" altLang="sr-Latn-RS" baseline="30000" dirty="0"/>
              <a:t>4</a:t>
            </a:r>
            <a:r>
              <a:rPr lang="sr-Latn-RS" altLang="sr-Latn-RS" dirty="0"/>
              <a:t>.</a:t>
            </a:r>
            <a:endParaRPr lang="sr-Latn-RS" altLang="sr-Latn-RS" baseline="30000" dirty="0"/>
          </a:p>
        </p:txBody>
      </p:sp>
      <mc:AlternateContent xmlns:mc="http://schemas.openxmlformats.org/markup-compatibility/2006" xmlns:a14="http://schemas.microsoft.com/office/drawing/2010/main">
        <mc:Choice Requires="a14">
          <p:sp>
            <p:nvSpPr>
              <p:cNvPr id="2" name="Object 1"/>
              <p:cNvSpPr txBox="1"/>
              <p:nvPr/>
            </p:nvSpPr>
            <p:spPr bwMode="auto">
              <a:xfrm>
                <a:off x="4762500" y="1587500"/>
                <a:ext cx="2025650" cy="1035050"/>
              </a:xfrm>
              <a:prstGeom prst="rect">
                <a:avLst/>
              </a:prstGeom>
              <a:solidFill>
                <a:schemeClr val="bg1"/>
              </a:solid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en-US" sz="2000" i="1">
                          <a:solidFill>
                            <a:srgbClr val="000000"/>
                          </a:solidFill>
                          <a:latin typeface="Cambria Math" panose="02040503050406030204" pitchFamily="18" charset="0"/>
                        </a:rPr>
                        <m:t>𝐼</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0,0</m:t>
                          </m:r>
                        </m:sub>
                      </m:sSub>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𝐸</m:t>
                          </m:r>
                        </m:e>
                        <m:sub>
                          <m:r>
                            <a:rPr lang="en-US" sz="2000" i="1">
                              <a:solidFill>
                                <a:srgbClr val="000000"/>
                              </a:solidFill>
                              <a:latin typeface="Cambria Math" panose="02040503050406030204" pitchFamily="18" charset="0"/>
                            </a:rPr>
                            <m:t>0,0</m:t>
                          </m:r>
                        </m:sub>
                      </m:sSub>
                    </m:oMath>
                    <m:oMath xmlns:m="http://schemas.openxmlformats.org/officeDocument/2006/math">
                      <m:r>
                        <a:rPr lang="en-US" sz="2000" i="1">
                          <a:solidFill>
                            <a:srgbClr val="000000"/>
                          </a:solidFill>
                          <a:latin typeface="Cambria Math" panose="02040503050406030204" pitchFamily="18" charset="0"/>
                        </a:rPr>
                        <m:t>𝐼</m:t>
                      </m:r>
                      <m:r>
                        <a:rPr lang="en-US" sz="2000" i="1">
                          <a:solidFill>
                            <a:srgbClr val="000000"/>
                          </a:solidFill>
                          <a:latin typeface="Cambria Math" panose="02040503050406030204" pitchFamily="18" charset="0"/>
                        </a:rPr>
                        <m:t>=</m:t>
                      </m:r>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𝑅</m:t>
                          </m:r>
                        </m:e>
                        <m:sub>
                          <m:r>
                            <a:rPr lang="en-US" sz="2000" i="1">
                              <a:solidFill>
                                <a:srgbClr val="000000"/>
                              </a:solidFill>
                              <a:latin typeface="Cambria Math" panose="02040503050406030204" pitchFamily="18" charset="0"/>
                            </a:rPr>
                            <m:t>1,0</m:t>
                          </m:r>
                        </m:sub>
                      </m:sSub>
                      <m:r>
                        <a:rPr lang="en-US" sz="2000" i="1">
                          <a:solidFill>
                            <a:srgbClr val="000000"/>
                          </a:solidFill>
                          <a:latin typeface="Cambria Math" panose="02040503050406030204" pitchFamily="18" charset="0"/>
                        </a:rPr>
                        <m:t>+</m:t>
                      </m:r>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4</m:t>
                          </m:r>
                        </m:den>
                      </m:f>
                      <m:sSub>
                        <m:sSubPr>
                          <m:ctrlPr>
                            <a:rPr lang="en-US" sz="2000" i="1">
                              <a:solidFill>
                                <a:srgbClr val="000000"/>
                              </a:solidFill>
                              <a:latin typeface="Cambria Math" panose="02040503050406030204" pitchFamily="18" charset="0"/>
                            </a:rPr>
                          </m:ctrlPr>
                        </m:sSubPr>
                        <m:e>
                          <m:r>
                            <a:rPr lang="en-US" sz="2000" i="1">
                              <a:solidFill>
                                <a:srgbClr val="000000"/>
                              </a:solidFill>
                              <a:latin typeface="Cambria Math" panose="02040503050406030204" pitchFamily="18" charset="0"/>
                            </a:rPr>
                            <m:t>𝐸</m:t>
                          </m:r>
                        </m:e>
                        <m:sub>
                          <m:r>
                            <a:rPr lang="en-US" sz="2000" i="1">
                              <a:solidFill>
                                <a:srgbClr val="000000"/>
                              </a:solidFill>
                              <a:latin typeface="Cambria Math" panose="02040503050406030204" pitchFamily="18" charset="0"/>
                            </a:rPr>
                            <m:t>0,0</m:t>
                          </m:r>
                        </m:sub>
                      </m:sSub>
                    </m:oMath>
                  </m:oMathPara>
                </a14:m>
                <a:endParaRPr lang="en-US" sz="2000" dirty="0"/>
              </a:p>
            </p:txBody>
          </p:sp>
        </mc:Choice>
        <mc:Fallback xmlns="">
          <p:sp>
            <p:nvSpPr>
              <p:cNvPr id="2" name="Object 1"/>
              <p:cNvSpPr txBox="1">
                <a:spLocks noRot="1" noChangeAspect="1" noMove="1" noResize="1" noEditPoints="1" noAdjustHandles="1" noChangeArrowheads="1" noChangeShapeType="1" noTextEdit="1"/>
              </p:cNvSpPr>
              <p:nvPr/>
            </p:nvSpPr>
            <p:spPr bwMode="auto">
              <a:xfrm>
                <a:off x="4762500" y="1587500"/>
                <a:ext cx="2025650" cy="1035050"/>
              </a:xfrm>
              <a:prstGeom prst="rect">
                <a:avLst/>
              </a:prstGeom>
              <a:blipFill>
                <a:blip r:embed="rId3"/>
                <a:stretch>
                  <a:fillRect/>
                </a:stretch>
              </a:blipFill>
              <a:ln>
                <a:noFill/>
              </a:ln>
              <a:effectLst/>
            </p:spPr>
            <p:txBody>
              <a:bodyPr/>
              <a:lstStyle/>
              <a:p>
                <a:r>
                  <a:rPr lang="en-US">
                    <a:noFill/>
                  </a:rPr>
                  <a:t> </a:t>
                </a:r>
              </a:p>
            </p:txBody>
          </p:sp>
        </mc:Fallback>
      </mc:AlternateContent>
    </p:spTree>
    <p:extLst>
      <p:ext uri="{BB962C8B-B14F-4D97-AF65-F5344CB8AC3E}">
        <p14:creationId xmlns:p14="http://schemas.microsoft.com/office/powerpoint/2010/main" val="300103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2228">
                                            <p:txEl>
                                              <p:pRg st="0" end="0"/>
                                            </p:txEl>
                                          </p:spTgt>
                                        </p:tgtEl>
                                        <p:attrNameLst>
                                          <p:attrName>style.visibility</p:attrName>
                                        </p:attrNameLst>
                                      </p:cBhvr>
                                      <p:to>
                                        <p:strVal val="visible"/>
                                      </p:to>
                                    </p:set>
                                    <p:animEffect transition="in" filter="fade">
                                      <p:cBhvr>
                                        <p:cTn id="7" dur="500"/>
                                        <p:tgtEl>
                                          <p:spTgt spid="5222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228">
                                            <p:txEl>
                                              <p:pRg st="1" end="1"/>
                                            </p:txEl>
                                          </p:spTgt>
                                        </p:tgtEl>
                                        <p:attrNameLst>
                                          <p:attrName>style.visibility</p:attrName>
                                        </p:attrNameLst>
                                      </p:cBhvr>
                                      <p:to>
                                        <p:strVal val="visible"/>
                                      </p:to>
                                    </p:set>
                                    <p:animEffect transition="in" filter="fade">
                                      <p:cBhvr>
                                        <p:cTn id="12" dur="500"/>
                                        <p:tgtEl>
                                          <p:spTgt spid="5222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2228">
                                            <p:txEl>
                                              <p:pRg st="2" end="2"/>
                                            </p:txEl>
                                          </p:spTgt>
                                        </p:tgtEl>
                                        <p:attrNameLst>
                                          <p:attrName>style.visibility</p:attrName>
                                        </p:attrNameLst>
                                      </p:cBhvr>
                                      <p:to>
                                        <p:strVal val="visible"/>
                                      </p:to>
                                    </p:set>
                                    <p:animEffect transition="in" filter="fade">
                                      <p:cBhvr>
                                        <p:cTn id="17" dur="500"/>
                                        <p:tgtEl>
                                          <p:spTgt spid="5222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normAutofit fontScale="90000"/>
          </a:bodyPr>
          <a:lstStyle/>
          <a:p>
            <a:r>
              <a:rPr lang="sr-Latn-RS" altLang="sr-Latn-RS" sz="3200" dirty="0"/>
              <a:t>Ričardsonova ekstrapolacija</a:t>
            </a:r>
            <a:r>
              <a:rPr lang="en-US" altLang="sr-Latn-RS" sz="3200" dirty="0"/>
              <a:t> </a:t>
            </a:r>
            <a:r>
              <a:rPr lang="sr-Latn-RS" altLang="sr-Latn-RS" sz="3200" dirty="0"/>
              <a:t>za Rombergov metod</a:t>
            </a:r>
          </a:p>
        </p:txBody>
      </p:sp>
      <p:sp>
        <p:nvSpPr>
          <p:cNvPr id="53251" name="Rectangle 3"/>
          <p:cNvSpPr>
            <a:spLocks noGrp="1" noChangeArrowheads="1"/>
          </p:cNvSpPr>
          <p:nvPr>
            <p:ph type="body" idx="1"/>
          </p:nvPr>
        </p:nvSpPr>
        <p:spPr/>
        <p:txBody>
          <a:bodyPr/>
          <a:lstStyle/>
          <a:p>
            <a:pPr>
              <a:lnSpc>
                <a:spcPct val="90000"/>
              </a:lnSpc>
            </a:pPr>
            <a:r>
              <a:rPr lang="sr-Latn-RS" altLang="sr-Latn-RS" dirty="0"/>
              <a:t>Kod prethodnog izvođenja važilo je E</a:t>
            </a:r>
            <a:r>
              <a:rPr lang="sr-Latn-RS" altLang="sr-Latn-RS" baseline="-25000" dirty="0"/>
              <a:t>1,0</a:t>
            </a:r>
            <a:r>
              <a:rPr lang="sr-Latn-RS" altLang="sr-Latn-RS" dirty="0"/>
              <a:t>=1/4*E</a:t>
            </a:r>
            <a:r>
              <a:rPr lang="sr-Latn-RS" altLang="sr-Latn-RS" baseline="-25000" dirty="0"/>
              <a:t>0,0</a:t>
            </a:r>
            <a:r>
              <a:rPr lang="sr-Latn-RS" altLang="sr-Latn-RS" dirty="0"/>
              <a:t>.</a:t>
            </a:r>
          </a:p>
          <a:p>
            <a:pPr>
              <a:lnSpc>
                <a:spcPct val="90000"/>
              </a:lnSpc>
            </a:pPr>
            <a:endParaRPr lang="sr-Latn-RS" altLang="sr-Latn-RS" dirty="0"/>
          </a:p>
          <a:p>
            <a:pPr>
              <a:lnSpc>
                <a:spcPct val="90000"/>
              </a:lnSpc>
            </a:pPr>
            <a:r>
              <a:rPr lang="sr-Latn-RS" altLang="sr-Latn-RS" dirty="0"/>
              <a:t>Ovakav odnos grešaka po</a:t>
            </a:r>
            <a:r>
              <a:rPr lang="en-US" altLang="sr-Latn-RS" dirty="0"/>
              <a:t>s</a:t>
            </a:r>
            <a:r>
              <a:rPr lang="sr-Latn-RS" altLang="sr-Latn-RS" dirty="0"/>
              <a:t>tižemo tako što u svakoj novoj primeni metode trapeza h delimo sa 2.</a:t>
            </a:r>
          </a:p>
          <a:p>
            <a:pPr>
              <a:lnSpc>
                <a:spcPct val="90000"/>
              </a:lnSpc>
            </a:pPr>
            <a:endParaRPr lang="sr-Latn-RS" altLang="sr-Latn-RS" dirty="0"/>
          </a:p>
          <a:p>
            <a:pPr>
              <a:lnSpc>
                <a:spcPct val="90000"/>
              </a:lnSpc>
            </a:pPr>
            <a:r>
              <a:rPr lang="sr-Latn-RS" altLang="sr-Latn-RS" dirty="0"/>
              <a:t>Dakle R</a:t>
            </a:r>
            <a:r>
              <a:rPr lang="sr-Latn-RS" altLang="sr-Latn-RS" baseline="-25000" dirty="0"/>
              <a:t>0,0</a:t>
            </a:r>
            <a:r>
              <a:rPr lang="sr-Latn-RS" altLang="sr-Latn-RS" dirty="0"/>
              <a:t> je metoda trapeza za h</a:t>
            </a:r>
            <a:r>
              <a:rPr lang="sr-Latn-RS" altLang="sr-Latn-RS" baseline="-25000" dirty="0"/>
              <a:t>1</a:t>
            </a:r>
            <a:r>
              <a:rPr lang="sr-Latn-RS" altLang="sr-Latn-RS" dirty="0"/>
              <a:t>, a R</a:t>
            </a:r>
            <a:r>
              <a:rPr lang="en-US" altLang="sr-Latn-RS" baseline="-25000" dirty="0"/>
              <a:t>1</a:t>
            </a:r>
            <a:r>
              <a:rPr lang="sr-Latn-RS" altLang="sr-Latn-RS" baseline="-25000" dirty="0"/>
              <a:t>,</a:t>
            </a:r>
            <a:r>
              <a:rPr lang="en-US" altLang="sr-Latn-RS" baseline="-25000" dirty="0"/>
              <a:t>0</a:t>
            </a:r>
            <a:r>
              <a:rPr lang="sr-Latn-RS" altLang="sr-Latn-RS" dirty="0"/>
              <a:t> je metoda trapeza za h</a:t>
            </a:r>
            <a:r>
              <a:rPr lang="sr-Latn-RS" altLang="sr-Latn-RS" baseline="-25000" dirty="0"/>
              <a:t>1</a:t>
            </a:r>
            <a:r>
              <a:rPr lang="sr-Latn-RS" altLang="sr-Latn-RS" dirty="0"/>
              <a:t>/2.</a:t>
            </a:r>
          </a:p>
        </p:txBody>
      </p:sp>
    </p:spTree>
    <p:extLst>
      <p:ext uri="{BB962C8B-B14F-4D97-AF65-F5344CB8AC3E}">
        <p14:creationId xmlns:p14="http://schemas.microsoft.com/office/powerpoint/2010/main" val="3699638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Effect transition="in" filter="fade">
                                      <p:cBhvr>
                                        <p:cTn id="7" dur="500"/>
                                        <p:tgtEl>
                                          <p:spTgt spid="53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251">
                                            <p:txEl>
                                              <p:pRg st="2" end="2"/>
                                            </p:txEl>
                                          </p:spTgt>
                                        </p:tgtEl>
                                        <p:attrNameLst>
                                          <p:attrName>style.visibility</p:attrName>
                                        </p:attrNameLst>
                                      </p:cBhvr>
                                      <p:to>
                                        <p:strVal val="visible"/>
                                      </p:to>
                                    </p:set>
                                    <p:animEffect transition="in" filter="fade">
                                      <p:cBhvr>
                                        <p:cTn id="12" dur="500"/>
                                        <p:tgtEl>
                                          <p:spTgt spid="532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251">
                                            <p:txEl>
                                              <p:pRg st="4" end="4"/>
                                            </p:txEl>
                                          </p:spTgt>
                                        </p:tgtEl>
                                        <p:attrNameLst>
                                          <p:attrName>style.visibility</p:attrName>
                                        </p:attrNameLst>
                                      </p:cBhvr>
                                      <p:to>
                                        <p:strVal val="visible"/>
                                      </p:to>
                                    </p:set>
                                    <p:animEffect transition="in" filter="fade">
                                      <p:cBhvr>
                                        <p:cTn id="17" dur="500"/>
                                        <p:tgtEl>
                                          <p:spTgt spid="5325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304800" y="1377950"/>
            <a:ext cx="8586788" cy="50990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eaLnBrk="0" hangingPunct="0">
              <a:spcBef>
                <a:spcPct val="20000"/>
              </a:spcBef>
              <a:buChar char="•"/>
              <a:defRPr sz="3200">
                <a:solidFill>
                  <a:schemeClr val="tx1"/>
                </a:solidFill>
                <a:latin typeface="Arial" charset="0"/>
              </a:defRPr>
            </a:lvl1pPr>
            <a:lvl2pPr marL="914400" indent="-457200" eaLnBrk="0" hangingPunct="0">
              <a:spcBef>
                <a:spcPct val="20000"/>
              </a:spcBef>
              <a:buChar char="–"/>
              <a:defRPr sz="2800">
                <a:solidFill>
                  <a:schemeClr val="tx1"/>
                </a:solidFill>
                <a:latin typeface="Arial" charset="0"/>
              </a:defRPr>
            </a:lvl2pPr>
            <a:lvl3pPr marL="1371600" indent="-457200" eaLnBrk="0" hangingPunct="0">
              <a:spcBef>
                <a:spcPct val="20000"/>
              </a:spcBef>
              <a:buChar char="•"/>
              <a:defRPr sz="2400">
                <a:solidFill>
                  <a:schemeClr val="tx1"/>
                </a:solidFill>
                <a:latin typeface="Arial" charset="0"/>
              </a:defRPr>
            </a:lvl3pPr>
            <a:lvl4pPr marL="1828800" indent="-457200" eaLnBrk="0" hangingPunct="0">
              <a:spcBef>
                <a:spcPct val="20000"/>
              </a:spcBef>
              <a:buChar char="–"/>
              <a:defRPr sz="2000">
                <a:solidFill>
                  <a:schemeClr val="tx1"/>
                </a:solidFill>
                <a:latin typeface="Arial" charset="0"/>
              </a:defRPr>
            </a:lvl4pPr>
            <a:lvl5pPr marL="2286000" indent="-457200" eaLnBrk="0" hangingPunct="0">
              <a:spcBef>
                <a:spcPct val="20000"/>
              </a:spcBef>
              <a:buChar char="»"/>
              <a:defRPr sz="2000">
                <a:solidFill>
                  <a:schemeClr val="tx1"/>
                </a:solidFill>
                <a:latin typeface="Arial" charset="0"/>
              </a:defRPr>
            </a:lvl5pPr>
            <a:lvl6pPr marL="2743200" indent="-457200" eaLnBrk="0" fontAlgn="base" hangingPunct="0">
              <a:spcBef>
                <a:spcPct val="20000"/>
              </a:spcBef>
              <a:spcAft>
                <a:spcPct val="0"/>
              </a:spcAft>
              <a:buChar char="»"/>
              <a:defRPr sz="2000">
                <a:solidFill>
                  <a:schemeClr val="tx1"/>
                </a:solidFill>
                <a:latin typeface="Arial" charset="0"/>
              </a:defRPr>
            </a:lvl6pPr>
            <a:lvl7pPr marL="3200400" indent="-457200" eaLnBrk="0" fontAlgn="base" hangingPunct="0">
              <a:spcBef>
                <a:spcPct val="20000"/>
              </a:spcBef>
              <a:spcAft>
                <a:spcPct val="0"/>
              </a:spcAft>
              <a:buChar char="»"/>
              <a:defRPr sz="2000">
                <a:solidFill>
                  <a:schemeClr val="tx1"/>
                </a:solidFill>
                <a:latin typeface="Arial" charset="0"/>
              </a:defRPr>
            </a:lvl7pPr>
            <a:lvl8pPr marL="3657600" indent="-457200" eaLnBrk="0" fontAlgn="base" hangingPunct="0">
              <a:spcBef>
                <a:spcPct val="20000"/>
              </a:spcBef>
              <a:spcAft>
                <a:spcPct val="0"/>
              </a:spcAft>
              <a:buChar char="»"/>
              <a:defRPr sz="2000">
                <a:solidFill>
                  <a:schemeClr val="tx1"/>
                </a:solidFill>
                <a:latin typeface="Arial" charset="0"/>
              </a:defRPr>
            </a:lvl8pPr>
            <a:lvl9pPr marL="4114800" indent="-457200" eaLnBrk="0" fontAlgn="base" hangingPunct="0">
              <a:spcBef>
                <a:spcPct val="20000"/>
              </a:spcBef>
              <a:spcAft>
                <a:spcPct val="0"/>
              </a:spcAft>
              <a:buChar char="»"/>
              <a:defRPr sz="2000">
                <a:solidFill>
                  <a:schemeClr val="tx1"/>
                </a:solidFill>
                <a:latin typeface="Arial" charset="0"/>
              </a:defRPr>
            </a:lvl9pPr>
          </a:lstStyle>
          <a:p>
            <a:pPr>
              <a:spcBef>
                <a:spcPct val="50000"/>
              </a:spcBef>
            </a:pPr>
            <a:r>
              <a:rPr lang="sr-Latn-RS" altLang="sr-Latn-RS" sz="2800" dirty="0">
                <a:cs typeface="Arial" charset="0"/>
              </a:rPr>
              <a:t>Uopštenjem prethodno izvedne formule</a:t>
            </a:r>
          </a:p>
          <a:p>
            <a:pPr>
              <a:spcBef>
                <a:spcPct val="50000"/>
              </a:spcBef>
            </a:pPr>
            <a:endParaRPr lang="sr-Latn-RS" altLang="sr-Latn-RS" sz="2800" dirty="0">
              <a:cs typeface="Arial" charset="0"/>
            </a:endParaRPr>
          </a:p>
          <a:p>
            <a:pPr>
              <a:spcBef>
                <a:spcPct val="50000"/>
              </a:spcBef>
            </a:pPr>
            <a:r>
              <a:rPr lang="sr-Latn-RS" altLang="sr-Latn-RS" sz="2800" dirty="0">
                <a:cs typeface="Arial" charset="0"/>
              </a:rPr>
              <a:t>dobija se opšta formula za za Rombergov metod je:</a:t>
            </a:r>
            <a:endParaRPr lang="en-US" altLang="sr-Latn-RS" sz="2800" dirty="0">
              <a:cs typeface="Arial" charset="0"/>
            </a:endParaRPr>
          </a:p>
          <a:p>
            <a:pPr>
              <a:spcBef>
                <a:spcPct val="50000"/>
              </a:spcBef>
            </a:pPr>
            <a:endParaRPr lang="en-US" altLang="sr-Latn-RS" sz="2800" dirty="0">
              <a:cs typeface="Arial" charset="0"/>
            </a:endParaRPr>
          </a:p>
          <a:p>
            <a:pPr>
              <a:spcBef>
                <a:spcPct val="50000"/>
              </a:spcBef>
            </a:pPr>
            <a:endParaRPr lang="sr-Latn-RS" altLang="sr-Latn-RS" sz="2400" i="1" dirty="0">
              <a:solidFill>
                <a:srgbClr val="FF0000"/>
              </a:solidFill>
              <a:cs typeface="Arial" charset="0"/>
            </a:endParaRPr>
          </a:p>
          <a:p>
            <a:pPr>
              <a:spcBef>
                <a:spcPct val="50000"/>
              </a:spcBef>
            </a:pPr>
            <a:r>
              <a:rPr lang="en-US" altLang="sr-Latn-RS" sz="2400" i="1" dirty="0">
                <a:solidFill>
                  <a:srgbClr val="FF0000"/>
                </a:solidFill>
                <a:cs typeface="Arial" charset="0"/>
              </a:rPr>
              <a:t>j</a:t>
            </a:r>
            <a:r>
              <a:rPr lang="en-US" altLang="sr-Latn-RS" sz="2400" dirty="0">
                <a:solidFill>
                  <a:srgbClr val="FF0000"/>
                </a:solidFill>
                <a:cs typeface="Arial" charset="0"/>
              </a:rPr>
              <a:t>: </a:t>
            </a:r>
            <a:r>
              <a:rPr lang="sr-Latn-RS" altLang="sr-Latn-RS" sz="2400" u="sng" dirty="0">
                <a:solidFill>
                  <a:srgbClr val="FF0000"/>
                </a:solidFill>
                <a:cs typeface="Arial" charset="0"/>
              </a:rPr>
              <a:t>nivo tačnosti</a:t>
            </a:r>
            <a:r>
              <a:rPr lang="sr-Latn-RS" altLang="sr-Latn-RS" sz="2400" dirty="0">
                <a:cs typeface="Arial" charset="0"/>
              </a:rPr>
              <a:t>,</a:t>
            </a:r>
            <a:r>
              <a:rPr lang="en-US" altLang="sr-Latn-RS" sz="2400" dirty="0">
                <a:cs typeface="Arial" charset="0"/>
              </a:rPr>
              <a:t> j+1 </a:t>
            </a:r>
            <a:r>
              <a:rPr lang="sr-Latn-RS" altLang="sr-Latn-RS" sz="2400" dirty="0">
                <a:cs typeface="Arial" charset="0"/>
              </a:rPr>
              <a:t>je tačnije od</a:t>
            </a:r>
            <a:r>
              <a:rPr lang="en-US" altLang="sr-Latn-RS" sz="2400" dirty="0">
                <a:cs typeface="Arial" charset="0"/>
              </a:rPr>
              <a:t> </a:t>
            </a:r>
            <a:r>
              <a:rPr lang="sr-Latn-RS" altLang="sr-Latn-RS" sz="2400" dirty="0">
                <a:cs typeface="Arial" charset="0"/>
              </a:rPr>
              <a:t>j </a:t>
            </a:r>
            <a:r>
              <a:rPr lang="en-US" altLang="sr-Latn-RS" sz="2400" dirty="0">
                <a:cs typeface="Arial" charset="0"/>
              </a:rPr>
              <a:t>(</a:t>
            </a:r>
            <a:r>
              <a:rPr lang="sr-Latn-RS" altLang="sr-Latn-RS" sz="2400" dirty="0">
                <a:cs typeface="Arial" charset="0"/>
              </a:rPr>
              <a:t>više podintervala</a:t>
            </a:r>
            <a:r>
              <a:rPr lang="en-US" altLang="sr-Latn-RS" sz="2400" dirty="0">
                <a:cs typeface="Arial" charset="0"/>
              </a:rPr>
              <a:t>)</a:t>
            </a:r>
            <a:endParaRPr lang="sr-Latn-RS" altLang="sr-Latn-RS" sz="2400" dirty="0">
              <a:cs typeface="Arial" charset="0"/>
            </a:endParaRPr>
          </a:p>
          <a:p>
            <a:pPr>
              <a:spcBef>
                <a:spcPct val="50000"/>
              </a:spcBef>
            </a:pPr>
            <a:r>
              <a:rPr lang="en-US" altLang="sr-Latn-RS" sz="2400" i="1" dirty="0">
                <a:solidFill>
                  <a:srgbClr val="FF0000"/>
                </a:solidFill>
                <a:cs typeface="Arial" charset="0"/>
              </a:rPr>
              <a:t>k</a:t>
            </a:r>
            <a:r>
              <a:rPr lang="en-US" altLang="sr-Latn-RS" sz="2400" dirty="0">
                <a:solidFill>
                  <a:srgbClr val="FF0000"/>
                </a:solidFill>
                <a:cs typeface="Arial" charset="0"/>
              </a:rPr>
              <a:t>: </a:t>
            </a:r>
            <a:r>
              <a:rPr lang="sr-Latn-RS" altLang="sr-Latn-RS" sz="2400" u="sng" dirty="0">
                <a:solidFill>
                  <a:srgbClr val="FF0000"/>
                </a:solidFill>
                <a:cs typeface="Arial" charset="0"/>
              </a:rPr>
              <a:t>nivo metoda</a:t>
            </a:r>
            <a:r>
              <a:rPr lang="sr-Latn-RS" altLang="sr-Latn-RS" sz="2400" dirty="0">
                <a:cs typeface="Arial" charset="0"/>
              </a:rPr>
              <a:t>, </a:t>
            </a:r>
            <a:r>
              <a:rPr lang="en-US" altLang="sr-Latn-RS" sz="2400" i="1" dirty="0">
                <a:cs typeface="Arial" charset="0"/>
              </a:rPr>
              <a:t>k=1</a:t>
            </a:r>
            <a:r>
              <a:rPr lang="en-US" altLang="sr-Latn-RS" sz="2400" dirty="0">
                <a:cs typeface="Arial" charset="0"/>
              </a:rPr>
              <a:t> </a:t>
            </a:r>
            <a:r>
              <a:rPr lang="sr-Latn-RS" altLang="sr-Latn-RS" sz="2400" dirty="0">
                <a:cs typeface="Arial" charset="0"/>
              </a:rPr>
              <a:t>je metoda trapeza</a:t>
            </a:r>
            <a:r>
              <a:rPr lang="en-US" altLang="sr-Latn-RS" sz="2400" dirty="0">
                <a:cs typeface="Arial" charset="0"/>
              </a:rPr>
              <a:t> (O(</a:t>
            </a:r>
            <a:r>
              <a:rPr lang="en-US" altLang="sr-Latn-RS" sz="2400" i="1" dirty="0">
                <a:cs typeface="Arial" charset="0"/>
              </a:rPr>
              <a:t>h</a:t>
            </a:r>
            <a:r>
              <a:rPr lang="en-US" altLang="sr-Latn-RS" sz="2400" i="1" baseline="30000" dirty="0">
                <a:cs typeface="Arial" charset="0"/>
              </a:rPr>
              <a:t>2</a:t>
            </a:r>
            <a:r>
              <a:rPr lang="en-US" altLang="sr-Latn-RS" sz="2400" dirty="0">
                <a:cs typeface="Arial" charset="0"/>
              </a:rPr>
              <a:t>)), </a:t>
            </a:r>
            <a:r>
              <a:rPr lang="en-US" altLang="sr-Latn-RS" sz="2400" i="1" dirty="0">
                <a:cs typeface="Arial" charset="0"/>
              </a:rPr>
              <a:t>k=2</a:t>
            </a:r>
            <a:r>
              <a:rPr lang="en-US" altLang="sr-Latn-RS" sz="2400" dirty="0">
                <a:cs typeface="Arial" charset="0"/>
              </a:rPr>
              <a:t> </a:t>
            </a:r>
            <a:r>
              <a:rPr lang="sr-Latn-RS" altLang="sr-Latn-RS" sz="2400" dirty="0">
                <a:cs typeface="Arial" charset="0"/>
              </a:rPr>
              <a:t>je poboljšanje</a:t>
            </a:r>
            <a:r>
              <a:rPr lang="en-US" altLang="sr-Latn-RS" sz="2400" dirty="0">
                <a:cs typeface="Arial" charset="0"/>
              </a:rPr>
              <a:t> </a:t>
            </a:r>
            <a:r>
              <a:rPr lang="sr-Latn-RS" altLang="sr-Latn-RS" sz="2400" dirty="0">
                <a:cs typeface="Arial" charset="0"/>
              </a:rPr>
              <a:t>– greška je</a:t>
            </a:r>
            <a:r>
              <a:rPr lang="en-US" altLang="sr-Latn-RS" sz="2400" dirty="0">
                <a:cs typeface="Arial" charset="0"/>
              </a:rPr>
              <a:t>(O(</a:t>
            </a:r>
            <a:r>
              <a:rPr lang="en-US" altLang="sr-Latn-RS" sz="2400" i="1" dirty="0">
                <a:cs typeface="Arial" charset="0"/>
              </a:rPr>
              <a:t>h</a:t>
            </a:r>
            <a:r>
              <a:rPr lang="en-US" altLang="sr-Latn-RS" sz="2400" i="1" baseline="30000" dirty="0">
                <a:cs typeface="Arial" charset="0"/>
              </a:rPr>
              <a:t>4</a:t>
            </a:r>
            <a:r>
              <a:rPr lang="en-US" altLang="sr-Latn-RS" sz="2400" dirty="0">
                <a:cs typeface="Arial" charset="0"/>
              </a:rPr>
              <a:t>)), </a:t>
            </a:r>
            <a:r>
              <a:rPr lang="sr-Latn-RS" altLang="sr-Latn-RS" sz="2400" dirty="0">
                <a:cs typeface="Arial" charset="0"/>
              </a:rPr>
              <a:t>za </a:t>
            </a:r>
            <a:r>
              <a:rPr lang="en-US" altLang="sr-Latn-RS" sz="2400" i="1" dirty="0">
                <a:cs typeface="Arial" charset="0"/>
              </a:rPr>
              <a:t>k=3</a:t>
            </a:r>
            <a:r>
              <a:rPr lang="en-US" altLang="sr-Latn-RS" sz="2400" dirty="0">
                <a:cs typeface="Arial" charset="0"/>
              </a:rPr>
              <a:t> </a:t>
            </a:r>
            <a:r>
              <a:rPr lang="sr-Latn-RS" altLang="sr-Latn-RS" sz="2400" dirty="0">
                <a:cs typeface="Arial" charset="0"/>
              </a:rPr>
              <a:t>je greška </a:t>
            </a:r>
            <a:r>
              <a:rPr lang="en-US" altLang="sr-Latn-RS" sz="2400" dirty="0">
                <a:cs typeface="Arial" charset="0"/>
              </a:rPr>
              <a:t>O(</a:t>
            </a:r>
            <a:r>
              <a:rPr lang="en-US" altLang="sr-Latn-RS" sz="2400" i="1" dirty="0">
                <a:cs typeface="Arial" charset="0"/>
              </a:rPr>
              <a:t>h</a:t>
            </a:r>
            <a:r>
              <a:rPr lang="en-US" altLang="sr-Latn-RS" sz="2400" i="1" baseline="30000" dirty="0">
                <a:cs typeface="Arial" charset="0"/>
              </a:rPr>
              <a:t>6</a:t>
            </a:r>
            <a:r>
              <a:rPr lang="en-US" altLang="sr-Latn-RS" sz="2400" dirty="0">
                <a:cs typeface="Arial" charset="0"/>
              </a:rPr>
              <a:t>)</a:t>
            </a:r>
            <a:r>
              <a:rPr lang="sr-Latn-RS" altLang="sr-Latn-RS" sz="2400" dirty="0">
                <a:cs typeface="Arial" charset="0"/>
              </a:rPr>
              <a:t> itd</a:t>
            </a:r>
            <a:r>
              <a:rPr lang="en-US" altLang="sr-Latn-RS" sz="2400" dirty="0">
                <a:cs typeface="Arial" charset="0"/>
              </a:rPr>
              <a:t>.</a:t>
            </a:r>
          </a:p>
        </p:txBody>
      </p:sp>
      <p:graphicFrame>
        <p:nvGraphicFramePr>
          <p:cNvPr id="54275" name="Object 3"/>
          <p:cNvGraphicFramePr>
            <a:graphicFrameLocks noChangeAspect="1"/>
          </p:cNvGraphicFramePr>
          <p:nvPr/>
        </p:nvGraphicFramePr>
        <p:xfrm>
          <a:off x="2514600" y="3429000"/>
          <a:ext cx="4108450" cy="1095375"/>
        </p:xfrm>
        <a:graphic>
          <a:graphicData uri="http://schemas.openxmlformats.org/presentationml/2006/ole">
            <mc:AlternateContent xmlns:mc="http://schemas.openxmlformats.org/markup-compatibility/2006">
              <mc:Choice xmlns:v="urn:schemas-microsoft-com:vml" Requires="v">
                <p:oleObj name="Equation" r:id="rId3" imgW="1612900" imgH="431800" progId="Equation.3">
                  <p:embed/>
                </p:oleObj>
              </mc:Choice>
              <mc:Fallback>
                <p:oleObj name="Equation" r:id="rId3" imgW="16129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3429000"/>
                        <a:ext cx="4108450" cy="1095375"/>
                      </a:xfrm>
                      <a:prstGeom prst="rect">
                        <a:avLst/>
                      </a:prstGeom>
                      <a:solidFill>
                        <a:srgbClr val="A7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6" name="Text Box 4"/>
          <p:cNvSpPr txBox="1">
            <a:spLocks noChangeArrowheads="1"/>
          </p:cNvSpPr>
          <p:nvPr/>
        </p:nvSpPr>
        <p:spPr bwMode="auto">
          <a:xfrm>
            <a:off x="1905000" y="228600"/>
            <a:ext cx="6149975" cy="155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spcBef>
                <a:spcPct val="50000"/>
              </a:spcBef>
            </a:pPr>
            <a:r>
              <a:rPr lang="en-US" altLang="sr-Latn-RS" sz="4800">
                <a:cs typeface="Arial" charset="0"/>
              </a:rPr>
              <a:t>Rombergov metod</a:t>
            </a:r>
            <a:br>
              <a:rPr lang="en-US" altLang="sr-Latn-RS" sz="4800">
                <a:cs typeface="Arial" charset="0"/>
              </a:rPr>
            </a:br>
            <a:endParaRPr lang="en-US" altLang="sr-Latn-RS" sz="4800">
              <a:cs typeface="Arial" charset="0"/>
            </a:endParaRPr>
          </a:p>
        </p:txBody>
      </p:sp>
      <p:graphicFrame>
        <p:nvGraphicFramePr>
          <p:cNvPr id="54277" name="Object 5"/>
          <p:cNvGraphicFramePr>
            <a:graphicFrameLocks noChangeAspect="1"/>
          </p:cNvGraphicFramePr>
          <p:nvPr/>
        </p:nvGraphicFramePr>
        <p:xfrm>
          <a:off x="3352800" y="1828800"/>
          <a:ext cx="2057400" cy="879475"/>
        </p:xfrm>
        <a:graphic>
          <a:graphicData uri="http://schemas.openxmlformats.org/presentationml/2006/ole">
            <mc:AlternateContent xmlns:mc="http://schemas.openxmlformats.org/markup-compatibility/2006">
              <mc:Choice xmlns:v="urn:schemas-microsoft-com:vml" Requires="v">
                <p:oleObj name="Equation" r:id="rId5" imgW="952087" imgH="406224" progId="Equation.3">
                  <p:embed/>
                </p:oleObj>
              </mc:Choice>
              <mc:Fallback>
                <p:oleObj name="Equation" r:id="rId5" imgW="952087" imgH="406224"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2800" y="1828800"/>
                        <a:ext cx="2057400" cy="87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6141466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676400" y="304800"/>
            <a:ext cx="7239000" cy="1143000"/>
          </a:xfrm>
        </p:spPr>
        <p:txBody>
          <a:bodyPr/>
          <a:lstStyle/>
          <a:p>
            <a:r>
              <a:rPr lang="sr-Latn-RS" altLang="sr-Latn-RS"/>
              <a:t>Uopštenje formule komentar</a:t>
            </a:r>
          </a:p>
        </p:txBody>
      </p:sp>
      <p:sp>
        <p:nvSpPr>
          <p:cNvPr id="55299" name="Rectangle 3"/>
          <p:cNvSpPr>
            <a:spLocks noGrp="1" noChangeArrowheads="1"/>
          </p:cNvSpPr>
          <p:nvPr>
            <p:ph type="body" idx="1"/>
          </p:nvPr>
        </p:nvSpPr>
        <p:spPr/>
        <p:txBody>
          <a:bodyPr/>
          <a:lstStyle/>
          <a:p>
            <a:r>
              <a:rPr lang="sr-Latn-RS" altLang="sr-Latn-RS" dirty="0"/>
              <a:t>Uopštenje formule</a:t>
            </a:r>
          </a:p>
          <a:p>
            <a:endParaRPr lang="sr-Latn-RS" altLang="sr-Latn-RS" dirty="0"/>
          </a:p>
          <a:p>
            <a:r>
              <a:rPr lang="sr-Latn-RS" altLang="sr-Latn-RS" dirty="0"/>
              <a:t>dobija se ako se Ričardsonova ekstrapolacija primeni na rezultate prethodne ekstrapolacije.</a:t>
            </a:r>
          </a:p>
          <a:p>
            <a:endParaRPr lang="sr-Latn-RS" altLang="sr-Latn-RS" dirty="0"/>
          </a:p>
          <a:p>
            <a:r>
              <a:rPr lang="sr-Latn-RS" altLang="sr-Latn-RS" dirty="0"/>
              <a:t>Time se kombinovanjem dva rezultata greške reda h</a:t>
            </a:r>
            <a:r>
              <a:rPr lang="sr-Latn-RS" altLang="sr-Latn-RS" baseline="30000" dirty="0"/>
              <a:t>4</a:t>
            </a:r>
            <a:r>
              <a:rPr lang="sr-Latn-RS" altLang="sr-Latn-RS" dirty="0"/>
              <a:t>, greška smanjuje na red greške h</a:t>
            </a:r>
            <a:r>
              <a:rPr lang="sr-Latn-RS" altLang="sr-Latn-RS" baseline="30000" dirty="0"/>
              <a:t>6</a:t>
            </a:r>
            <a:r>
              <a:rPr lang="sr-Latn-RS" altLang="sr-Latn-RS" dirty="0"/>
              <a:t> itd.</a:t>
            </a:r>
          </a:p>
        </p:txBody>
      </p:sp>
      <p:graphicFrame>
        <p:nvGraphicFramePr>
          <p:cNvPr id="55300" name="Object 4"/>
          <p:cNvGraphicFramePr>
            <a:graphicFrameLocks noChangeAspect="1"/>
          </p:cNvGraphicFramePr>
          <p:nvPr/>
        </p:nvGraphicFramePr>
        <p:xfrm>
          <a:off x="4572000" y="1524000"/>
          <a:ext cx="2057400" cy="879475"/>
        </p:xfrm>
        <a:graphic>
          <a:graphicData uri="http://schemas.openxmlformats.org/presentationml/2006/ole">
            <mc:AlternateContent xmlns:mc="http://schemas.openxmlformats.org/markup-compatibility/2006">
              <mc:Choice xmlns:v="urn:schemas-microsoft-com:vml" Requires="v">
                <p:oleObj name="Equation" r:id="rId2" imgW="952087" imgH="406224" progId="Equation.3">
                  <p:embed/>
                </p:oleObj>
              </mc:Choice>
              <mc:Fallback>
                <p:oleObj name="Equation" r:id="rId2" imgW="952087" imgH="406224"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524000"/>
                        <a:ext cx="2057400" cy="87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24292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5299">
                                            <p:txEl>
                                              <p:pRg st="4" end="4"/>
                                            </p:txEl>
                                          </p:spTgt>
                                        </p:tgtEl>
                                        <p:attrNameLst>
                                          <p:attrName>style.visibility</p:attrName>
                                        </p:attrNameLst>
                                      </p:cBhvr>
                                      <p:to>
                                        <p:strVal val="visible"/>
                                      </p:to>
                                    </p:set>
                                    <p:animEffect transition="in" filter="fade">
                                      <p:cBhvr>
                                        <p:cTn id="7" dur="500"/>
                                        <p:tgtEl>
                                          <p:spTgt spid="5529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76200" y="533400"/>
            <a:ext cx="8610600" cy="990600"/>
          </a:xfrm>
          <a:solidFill>
            <a:schemeClr val="bg1"/>
          </a:solidFill>
        </p:spPr>
        <p:txBody>
          <a:bodyPr>
            <a:normAutofit fontScale="90000"/>
          </a:bodyPr>
          <a:lstStyle/>
          <a:p>
            <a:r>
              <a:rPr lang="en-US" altLang="sr-Latn-RS" sz="4000" dirty="0" err="1">
                <a:solidFill>
                  <a:schemeClr val="tx1"/>
                </a:solidFill>
              </a:rPr>
              <a:t>Rombergov</a:t>
            </a:r>
            <a:r>
              <a:rPr lang="en-US" altLang="sr-Latn-RS" sz="4000" dirty="0">
                <a:solidFill>
                  <a:schemeClr val="tx1"/>
                </a:solidFill>
              </a:rPr>
              <a:t> </a:t>
            </a:r>
            <a:r>
              <a:rPr lang="en-US" altLang="sr-Latn-RS" sz="4000" dirty="0" err="1">
                <a:solidFill>
                  <a:schemeClr val="tx1"/>
                </a:solidFill>
              </a:rPr>
              <a:t>metod</a:t>
            </a:r>
            <a:r>
              <a:rPr lang="en-US" altLang="sr-Latn-RS" dirty="0">
                <a:solidFill>
                  <a:schemeClr val="tx1"/>
                </a:solidFill>
              </a:rPr>
              <a:t> </a:t>
            </a:r>
            <a:r>
              <a:rPr lang="sr-Latn-RS" altLang="sr-Latn-RS" sz="4000" dirty="0">
                <a:solidFill>
                  <a:schemeClr val="tx1"/>
                </a:solidFill>
              </a:rPr>
              <a:t>korišćenje opšte formule</a:t>
            </a:r>
          </a:p>
        </p:txBody>
      </p:sp>
      <p:sp>
        <p:nvSpPr>
          <p:cNvPr id="56323" name="Rectangle 3"/>
          <p:cNvSpPr>
            <a:spLocks noGrp="1" noChangeArrowheads="1"/>
          </p:cNvSpPr>
          <p:nvPr>
            <p:ph type="body" idx="1"/>
          </p:nvPr>
        </p:nvSpPr>
        <p:spPr>
          <a:xfrm>
            <a:off x="457200" y="1600200"/>
            <a:ext cx="8458200" cy="4876800"/>
          </a:xfrm>
        </p:spPr>
        <p:txBody>
          <a:bodyPr>
            <a:normAutofit lnSpcReduction="10000"/>
          </a:bodyPr>
          <a:lstStyle/>
          <a:p>
            <a:pPr>
              <a:lnSpc>
                <a:spcPct val="90000"/>
              </a:lnSpc>
            </a:pPr>
            <a:r>
              <a:rPr lang="sr-Latn-RS" altLang="sr-Latn-RS" sz="2800" dirty="0"/>
              <a:t>Opšta formula koristi se na sledeći način: </a:t>
            </a:r>
          </a:p>
          <a:p>
            <a:pPr marL="731520" lvl="1" indent="-457200">
              <a:lnSpc>
                <a:spcPct val="90000"/>
              </a:lnSpc>
              <a:buFont typeface="+mj-lt"/>
              <a:buAutoNum type="arabicPeriod"/>
            </a:pPr>
            <a:r>
              <a:rPr lang="sr-Latn-RS" altLang="sr-Latn-RS" sz="2200" dirty="0"/>
              <a:t>za R</a:t>
            </a:r>
            <a:r>
              <a:rPr lang="sr-Latn-RS" altLang="sr-Latn-RS" sz="2200" baseline="-25000" dirty="0"/>
              <a:t>0,i</a:t>
            </a:r>
            <a:r>
              <a:rPr lang="sr-Latn-RS" altLang="sr-Latn-RS" sz="2200" dirty="0"/>
              <a:t> uzimamo rezultate metode trapeza za </a:t>
            </a:r>
            <a:r>
              <a:rPr lang="en-US" altLang="sr-Latn-RS" sz="2200" dirty="0"/>
              <a:t>n</a:t>
            </a:r>
            <a:r>
              <a:rPr lang="sr-Latn-RS" altLang="sr-Latn-RS" sz="2200" baseline="30000" dirty="0"/>
              <a:t>1</a:t>
            </a:r>
            <a:r>
              <a:rPr lang="sr-Latn-RS" altLang="sr-Latn-RS" sz="2200" dirty="0"/>
              <a:t>=1=2</a:t>
            </a:r>
            <a:r>
              <a:rPr lang="sr-Latn-RS" altLang="sr-Latn-RS" sz="2200" baseline="30000" dirty="0"/>
              <a:t>0</a:t>
            </a:r>
            <a:r>
              <a:rPr lang="sr-Latn-RS" altLang="sr-Latn-RS" sz="2200" dirty="0"/>
              <a:t>, </a:t>
            </a:r>
            <a:r>
              <a:rPr lang="en-US" altLang="sr-Latn-RS" sz="2200" dirty="0"/>
              <a:t>n</a:t>
            </a:r>
            <a:r>
              <a:rPr lang="sr-Latn-RS" altLang="sr-Latn-RS" sz="2200" baseline="30000" dirty="0"/>
              <a:t>2</a:t>
            </a:r>
            <a:r>
              <a:rPr lang="sr-Latn-RS" altLang="sr-Latn-RS" sz="2200" dirty="0"/>
              <a:t>=2</a:t>
            </a:r>
            <a:r>
              <a:rPr lang="sr-Latn-RS" altLang="sr-Latn-RS" sz="2200" baseline="30000" dirty="0"/>
              <a:t>1</a:t>
            </a:r>
            <a:r>
              <a:rPr lang="sr-Latn-RS" altLang="sr-Latn-RS" sz="2200" dirty="0"/>
              <a:t>, </a:t>
            </a:r>
            <a:r>
              <a:rPr lang="en-US" altLang="sr-Latn-RS" sz="2200" dirty="0"/>
              <a:t>n</a:t>
            </a:r>
            <a:r>
              <a:rPr lang="sr-Latn-RS" altLang="sr-Latn-RS" sz="2200" baseline="30000" dirty="0"/>
              <a:t>3</a:t>
            </a:r>
            <a:r>
              <a:rPr lang="sr-Latn-RS" altLang="sr-Latn-RS" sz="2200" dirty="0"/>
              <a:t>=2</a:t>
            </a:r>
            <a:r>
              <a:rPr lang="sr-Latn-RS" altLang="sr-Latn-RS" sz="2200" baseline="30000" dirty="0"/>
              <a:t>2</a:t>
            </a:r>
            <a:r>
              <a:rPr lang="sr-Latn-RS" altLang="sr-Latn-RS" sz="2200" dirty="0"/>
              <a:t> itd., </a:t>
            </a:r>
          </a:p>
          <a:p>
            <a:pPr marL="731520" lvl="1" indent="-457200">
              <a:lnSpc>
                <a:spcPct val="90000"/>
              </a:lnSpc>
              <a:buFont typeface="+mj-lt"/>
              <a:buAutoNum type="arabicPeriod"/>
            </a:pPr>
            <a:r>
              <a:rPr lang="en-US" altLang="sr-Latn-RS" sz="2200" dirty="0" err="1"/>
              <a:t>Primeni</a:t>
            </a:r>
            <a:r>
              <a:rPr lang="sr-Latn-RS" altLang="sr-Latn-RS" sz="2200" dirty="0"/>
              <a:t>ćemo </a:t>
            </a:r>
            <a:r>
              <a:rPr lang="sr-Latn-RS" altLang="sr-Latn-RS" sz="2200" dirty="0" err="1"/>
              <a:t>Ričardsonovu</a:t>
            </a:r>
            <a:r>
              <a:rPr lang="sr-Latn-RS" altLang="sr-Latn-RS" sz="2200" dirty="0"/>
              <a:t> ekstrapolaciju da smanjimo grešku na red h</a:t>
            </a:r>
            <a:r>
              <a:rPr lang="sr-Latn-RS" altLang="sr-Latn-RS" sz="2200" baseline="30000" dirty="0"/>
              <a:t>4</a:t>
            </a:r>
            <a:r>
              <a:rPr lang="sr-Latn-RS" altLang="sr-Latn-RS" sz="2200" dirty="0"/>
              <a:t> </a:t>
            </a:r>
            <a:endParaRPr lang="en-US" altLang="sr-Latn-RS" sz="2200" dirty="0"/>
          </a:p>
          <a:p>
            <a:pPr marL="731520" lvl="1" indent="-457200">
              <a:lnSpc>
                <a:spcPct val="90000"/>
              </a:lnSpc>
              <a:buFont typeface="+mj-lt"/>
              <a:buAutoNum type="arabicPeriod"/>
            </a:pPr>
            <a:r>
              <a:rPr lang="sr-Latn-RS" altLang="sr-Latn-RS" sz="2200" dirty="0"/>
              <a:t>Na rezultat primene Ričardsonove ekstrapolacije opet primenimo Ričardsonovu ekstrapolaciju i tako još smanjimo grešku (sada na red h</a:t>
            </a:r>
            <a:r>
              <a:rPr lang="sr-Latn-RS" altLang="sr-Latn-RS" sz="2200" baseline="30000" dirty="0"/>
              <a:t>6</a:t>
            </a:r>
            <a:r>
              <a:rPr lang="sr-Latn-RS" altLang="sr-Latn-RS" sz="2200" dirty="0"/>
              <a:t>), </a:t>
            </a:r>
          </a:p>
          <a:p>
            <a:pPr marL="731520" lvl="1" indent="-457200">
              <a:lnSpc>
                <a:spcPct val="90000"/>
              </a:lnSpc>
              <a:buFont typeface="+mj-lt"/>
              <a:buAutoNum type="arabicPeriod"/>
            </a:pPr>
            <a:r>
              <a:rPr lang="sr-Latn-RS" altLang="sr-Latn-RS" sz="2200" dirty="0"/>
              <a:t>Nastavljamo postupak i smanjimo grešku na h</a:t>
            </a:r>
            <a:r>
              <a:rPr lang="sr-Latn-RS" altLang="sr-Latn-RS" sz="2200" baseline="30000" dirty="0"/>
              <a:t>8</a:t>
            </a:r>
          </a:p>
          <a:p>
            <a:pPr marL="731520" lvl="1" indent="-457200">
              <a:lnSpc>
                <a:spcPct val="90000"/>
              </a:lnSpc>
              <a:buFont typeface="+mj-lt"/>
              <a:buAutoNum type="arabicPeriod"/>
            </a:pPr>
            <a:r>
              <a:rPr lang="sr-Latn-RS" altLang="sr-Latn-RS" sz="2200" dirty="0"/>
              <a:t>...</a:t>
            </a:r>
          </a:p>
          <a:p>
            <a:pPr>
              <a:lnSpc>
                <a:spcPct val="90000"/>
              </a:lnSpc>
            </a:pPr>
            <a:endParaRPr lang="sr-Latn-RS" altLang="sr-Latn-RS" sz="2800" dirty="0"/>
          </a:p>
          <a:p>
            <a:pPr>
              <a:lnSpc>
                <a:spcPct val="90000"/>
              </a:lnSpc>
            </a:pPr>
            <a:r>
              <a:rPr lang="sr-Latn-RS" altLang="sr-Latn-RS" sz="2800" dirty="0"/>
              <a:t>Postupak možemo zaustaviti: </a:t>
            </a:r>
          </a:p>
          <a:p>
            <a:pPr lvl="1">
              <a:lnSpc>
                <a:spcPct val="90000"/>
              </a:lnSpc>
            </a:pPr>
            <a:r>
              <a:rPr lang="sr-Latn-RS" altLang="sr-Latn-RS" dirty="0"/>
              <a:t>tako što zadamo broj primena ekstrapolacije ili</a:t>
            </a:r>
          </a:p>
          <a:p>
            <a:pPr lvl="1">
              <a:lnSpc>
                <a:spcPct val="90000"/>
              </a:lnSpc>
            </a:pPr>
            <a:r>
              <a:rPr lang="sr-Latn-RS" altLang="sr-Latn-RS" dirty="0"/>
              <a:t>ako približna greška padne ispod zadate tolerancije</a:t>
            </a:r>
          </a:p>
          <a:p>
            <a:pPr>
              <a:lnSpc>
                <a:spcPct val="90000"/>
              </a:lnSpc>
            </a:pPr>
            <a:endParaRPr lang="sr-Latn-RS" altLang="sr-Latn-RS" sz="2800" dirty="0"/>
          </a:p>
        </p:txBody>
      </p:sp>
    </p:spTree>
    <p:extLst>
      <p:ext uri="{BB962C8B-B14F-4D97-AF65-F5344CB8AC3E}">
        <p14:creationId xmlns:p14="http://schemas.microsoft.com/office/powerpoint/2010/main" val="677153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Effect transition="in" filter="fade">
                                      <p:cBhvr>
                                        <p:cTn id="7" dur="500"/>
                                        <p:tgtEl>
                                          <p:spTgt spid="5632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6323">
                                            <p:txEl>
                                              <p:pRg st="1" end="1"/>
                                            </p:txEl>
                                          </p:spTgt>
                                        </p:tgtEl>
                                        <p:attrNameLst>
                                          <p:attrName>style.visibility</p:attrName>
                                        </p:attrNameLst>
                                      </p:cBhvr>
                                      <p:to>
                                        <p:strVal val="visible"/>
                                      </p:to>
                                    </p:set>
                                    <p:animEffect transition="in" filter="fade">
                                      <p:cBhvr>
                                        <p:cTn id="12" dur="500"/>
                                        <p:tgtEl>
                                          <p:spTgt spid="5632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6323">
                                            <p:txEl>
                                              <p:pRg st="2" end="2"/>
                                            </p:txEl>
                                          </p:spTgt>
                                        </p:tgtEl>
                                        <p:attrNameLst>
                                          <p:attrName>style.visibility</p:attrName>
                                        </p:attrNameLst>
                                      </p:cBhvr>
                                      <p:to>
                                        <p:strVal val="visible"/>
                                      </p:to>
                                    </p:set>
                                    <p:animEffect transition="in" filter="fade">
                                      <p:cBhvr>
                                        <p:cTn id="17" dur="500"/>
                                        <p:tgtEl>
                                          <p:spTgt spid="5632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6323">
                                            <p:txEl>
                                              <p:pRg st="3" end="3"/>
                                            </p:txEl>
                                          </p:spTgt>
                                        </p:tgtEl>
                                        <p:attrNameLst>
                                          <p:attrName>style.visibility</p:attrName>
                                        </p:attrNameLst>
                                      </p:cBhvr>
                                      <p:to>
                                        <p:strVal val="visible"/>
                                      </p:to>
                                    </p:set>
                                    <p:animEffect transition="in" filter="fade">
                                      <p:cBhvr>
                                        <p:cTn id="22" dur="500"/>
                                        <p:tgtEl>
                                          <p:spTgt spid="5632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6323">
                                            <p:txEl>
                                              <p:pRg st="4" end="4"/>
                                            </p:txEl>
                                          </p:spTgt>
                                        </p:tgtEl>
                                        <p:attrNameLst>
                                          <p:attrName>style.visibility</p:attrName>
                                        </p:attrNameLst>
                                      </p:cBhvr>
                                      <p:to>
                                        <p:strVal val="visible"/>
                                      </p:to>
                                    </p:set>
                                    <p:animEffect transition="in" filter="fade">
                                      <p:cBhvr>
                                        <p:cTn id="27" dur="500"/>
                                        <p:tgtEl>
                                          <p:spTgt spid="5632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6323">
                                            <p:txEl>
                                              <p:pRg st="5" end="5"/>
                                            </p:txEl>
                                          </p:spTgt>
                                        </p:tgtEl>
                                        <p:attrNameLst>
                                          <p:attrName>style.visibility</p:attrName>
                                        </p:attrNameLst>
                                      </p:cBhvr>
                                      <p:to>
                                        <p:strVal val="visible"/>
                                      </p:to>
                                    </p:set>
                                    <p:animEffect transition="in" filter="fade">
                                      <p:cBhvr>
                                        <p:cTn id="32" dur="500"/>
                                        <p:tgtEl>
                                          <p:spTgt spid="5632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6323">
                                            <p:txEl>
                                              <p:pRg st="7" end="7"/>
                                            </p:txEl>
                                          </p:spTgt>
                                        </p:tgtEl>
                                        <p:attrNameLst>
                                          <p:attrName>style.visibility</p:attrName>
                                        </p:attrNameLst>
                                      </p:cBhvr>
                                      <p:to>
                                        <p:strVal val="visible"/>
                                      </p:to>
                                    </p:set>
                                    <p:animEffect transition="in" filter="fade">
                                      <p:cBhvr>
                                        <p:cTn id="37" dur="500"/>
                                        <p:tgtEl>
                                          <p:spTgt spid="5632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56323">
                                            <p:txEl>
                                              <p:pRg st="8" end="8"/>
                                            </p:txEl>
                                          </p:spTgt>
                                        </p:tgtEl>
                                        <p:attrNameLst>
                                          <p:attrName>style.visibility</p:attrName>
                                        </p:attrNameLst>
                                      </p:cBhvr>
                                      <p:to>
                                        <p:strVal val="visible"/>
                                      </p:to>
                                    </p:set>
                                    <p:animEffect transition="in" filter="fade">
                                      <p:cBhvr>
                                        <p:cTn id="42" dur="500"/>
                                        <p:tgtEl>
                                          <p:spTgt spid="5632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6323">
                                            <p:txEl>
                                              <p:pRg st="9" end="9"/>
                                            </p:txEl>
                                          </p:spTgt>
                                        </p:tgtEl>
                                        <p:attrNameLst>
                                          <p:attrName>style.visibility</p:attrName>
                                        </p:attrNameLst>
                                      </p:cBhvr>
                                      <p:to>
                                        <p:strVal val="visible"/>
                                      </p:to>
                                    </p:set>
                                    <p:animEffect transition="in" filter="fade">
                                      <p:cBhvr>
                                        <p:cTn id="47" dur="500"/>
                                        <p:tgtEl>
                                          <p:spTgt spid="5632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7346" name="Object 51"/>
          <p:cNvGraphicFramePr>
            <a:graphicFrameLocks noChangeAspect="1"/>
          </p:cNvGraphicFramePr>
          <p:nvPr/>
        </p:nvGraphicFramePr>
        <p:xfrm>
          <a:off x="685800" y="2667000"/>
          <a:ext cx="8004175" cy="3732213"/>
        </p:xfrm>
        <a:graphic>
          <a:graphicData uri="http://schemas.openxmlformats.org/presentationml/2006/ole">
            <mc:AlternateContent xmlns:mc="http://schemas.openxmlformats.org/markup-compatibility/2006">
              <mc:Choice xmlns:v="urn:schemas-microsoft-com:vml" Requires="v">
                <p:oleObj name="Equation" r:id="rId2" imgW="4737100" imgH="2209800" progId="Equation.3">
                  <p:embed/>
                </p:oleObj>
              </mc:Choice>
              <mc:Fallback>
                <p:oleObj name="Equation" r:id="rId2" imgW="4737100" imgH="2209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667000"/>
                        <a:ext cx="8004175" cy="37322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7" name="Line 52"/>
          <p:cNvSpPr>
            <a:spLocks noChangeShapeType="1"/>
          </p:cNvSpPr>
          <p:nvPr/>
        </p:nvSpPr>
        <p:spPr bwMode="auto">
          <a:xfrm>
            <a:off x="152400" y="3810000"/>
            <a:ext cx="8786813"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48" name="Line 53"/>
          <p:cNvSpPr>
            <a:spLocks noChangeShapeType="1"/>
          </p:cNvSpPr>
          <p:nvPr/>
        </p:nvSpPr>
        <p:spPr bwMode="auto">
          <a:xfrm>
            <a:off x="152400" y="5715000"/>
            <a:ext cx="88392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49" name="Line 54"/>
          <p:cNvSpPr>
            <a:spLocks noChangeShapeType="1"/>
          </p:cNvSpPr>
          <p:nvPr/>
        </p:nvSpPr>
        <p:spPr bwMode="auto">
          <a:xfrm>
            <a:off x="2057400" y="4038600"/>
            <a:ext cx="838200" cy="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0" name="Line 55"/>
          <p:cNvSpPr>
            <a:spLocks noChangeShapeType="1"/>
          </p:cNvSpPr>
          <p:nvPr/>
        </p:nvSpPr>
        <p:spPr bwMode="auto">
          <a:xfrm>
            <a:off x="3429000" y="4038600"/>
            <a:ext cx="914400" cy="0"/>
          </a:xfrm>
          <a:prstGeom prst="line">
            <a:avLst/>
          </a:prstGeom>
          <a:noFill/>
          <a:ln w="9525">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1" name="Line 56"/>
          <p:cNvSpPr>
            <a:spLocks noChangeShapeType="1"/>
          </p:cNvSpPr>
          <p:nvPr/>
        </p:nvSpPr>
        <p:spPr bwMode="auto">
          <a:xfrm>
            <a:off x="4953000" y="4038600"/>
            <a:ext cx="914400"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2" name="Line 57"/>
          <p:cNvSpPr>
            <a:spLocks noChangeShapeType="1"/>
          </p:cNvSpPr>
          <p:nvPr/>
        </p:nvSpPr>
        <p:spPr bwMode="auto">
          <a:xfrm>
            <a:off x="6629400" y="4038600"/>
            <a:ext cx="914400" cy="0"/>
          </a:xfrm>
          <a:prstGeom prst="line">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3" name="Line 58"/>
          <p:cNvSpPr>
            <a:spLocks noChangeShapeType="1"/>
          </p:cNvSpPr>
          <p:nvPr/>
        </p:nvSpPr>
        <p:spPr bwMode="auto">
          <a:xfrm flipV="1">
            <a:off x="2057400" y="4114800"/>
            <a:ext cx="838200" cy="2286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4" name="Line 59"/>
          <p:cNvSpPr>
            <a:spLocks noChangeShapeType="1"/>
          </p:cNvSpPr>
          <p:nvPr/>
        </p:nvSpPr>
        <p:spPr bwMode="auto">
          <a:xfrm>
            <a:off x="2133600" y="4419600"/>
            <a:ext cx="762000" cy="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5" name="Line 60"/>
          <p:cNvSpPr>
            <a:spLocks noChangeShapeType="1"/>
          </p:cNvSpPr>
          <p:nvPr/>
        </p:nvSpPr>
        <p:spPr bwMode="auto">
          <a:xfrm flipV="1">
            <a:off x="2057400" y="4495800"/>
            <a:ext cx="838200" cy="2286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6" name="Line 61"/>
          <p:cNvSpPr>
            <a:spLocks noChangeShapeType="1"/>
          </p:cNvSpPr>
          <p:nvPr/>
        </p:nvSpPr>
        <p:spPr bwMode="auto">
          <a:xfrm flipV="1">
            <a:off x="2057400" y="4800600"/>
            <a:ext cx="838200" cy="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7" name="Line 62"/>
          <p:cNvSpPr>
            <a:spLocks noChangeShapeType="1"/>
          </p:cNvSpPr>
          <p:nvPr/>
        </p:nvSpPr>
        <p:spPr bwMode="auto">
          <a:xfrm flipV="1">
            <a:off x="2057400" y="4876800"/>
            <a:ext cx="838200" cy="2286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8" name="Line 63"/>
          <p:cNvSpPr>
            <a:spLocks noChangeShapeType="1"/>
          </p:cNvSpPr>
          <p:nvPr/>
        </p:nvSpPr>
        <p:spPr bwMode="auto">
          <a:xfrm flipV="1">
            <a:off x="2057400" y="5257800"/>
            <a:ext cx="838200" cy="22860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59" name="Line 64"/>
          <p:cNvSpPr>
            <a:spLocks noChangeShapeType="1"/>
          </p:cNvSpPr>
          <p:nvPr/>
        </p:nvSpPr>
        <p:spPr bwMode="auto">
          <a:xfrm flipV="1">
            <a:off x="2057400" y="5181600"/>
            <a:ext cx="838200" cy="0"/>
          </a:xfrm>
          <a:prstGeom prst="line">
            <a:avLst/>
          </a:prstGeom>
          <a:noFill/>
          <a:ln w="9525">
            <a:solidFill>
              <a:srgbClr val="0066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0" name="Line 65"/>
          <p:cNvSpPr>
            <a:spLocks noChangeShapeType="1"/>
          </p:cNvSpPr>
          <p:nvPr/>
        </p:nvSpPr>
        <p:spPr bwMode="auto">
          <a:xfrm>
            <a:off x="3429000" y="4419600"/>
            <a:ext cx="914400" cy="0"/>
          </a:xfrm>
          <a:prstGeom prst="line">
            <a:avLst/>
          </a:prstGeom>
          <a:noFill/>
          <a:ln w="9525">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1" name="Line 66"/>
          <p:cNvSpPr>
            <a:spLocks noChangeShapeType="1"/>
          </p:cNvSpPr>
          <p:nvPr/>
        </p:nvSpPr>
        <p:spPr bwMode="auto">
          <a:xfrm>
            <a:off x="3429000" y="4800600"/>
            <a:ext cx="914400" cy="0"/>
          </a:xfrm>
          <a:prstGeom prst="line">
            <a:avLst/>
          </a:prstGeom>
          <a:noFill/>
          <a:ln w="9525">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2" name="Line 67"/>
          <p:cNvSpPr>
            <a:spLocks noChangeShapeType="1"/>
          </p:cNvSpPr>
          <p:nvPr/>
        </p:nvSpPr>
        <p:spPr bwMode="auto">
          <a:xfrm>
            <a:off x="5029200" y="4419600"/>
            <a:ext cx="914400" cy="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3" name="Line 68"/>
          <p:cNvSpPr>
            <a:spLocks noChangeShapeType="1"/>
          </p:cNvSpPr>
          <p:nvPr/>
        </p:nvSpPr>
        <p:spPr bwMode="auto">
          <a:xfrm flipV="1">
            <a:off x="3429000" y="4114800"/>
            <a:ext cx="838200" cy="228600"/>
          </a:xfrm>
          <a:prstGeom prst="line">
            <a:avLst/>
          </a:prstGeom>
          <a:noFill/>
          <a:ln w="9525">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4" name="Line 69"/>
          <p:cNvSpPr>
            <a:spLocks noChangeShapeType="1"/>
          </p:cNvSpPr>
          <p:nvPr/>
        </p:nvSpPr>
        <p:spPr bwMode="auto">
          <a:xfrm flipV="1">
            <a:off x="5029200" y="4114800"/>
            <a:ext cx="838200" cy="22860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5" name="Line 70"/>
          <p:cNvSpPr>
            <a:spLocks noChangeShapeType="1"/>
          </p:cNvSpPr>
          <p:nvPr/>
        </p:nvSpPr>
        <p:spPr bwMode="auto">
          <a:xfrm flipV="1">
            <a:off x="6629400" y="4114800"/>
            <a:ext cx="838200" cy="228600"/>
          </a:xfrm>
          <a:prstGeom prst="line">
            <a:avLst/>
          </a:prstGeom>
          <a:noFill/>
          <a:ln w="9525">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6" name="Line 71"/>
          <p:cNvSpPr>
            <a:spLocks noChangeShapeType="1"/>
          </p:cNvSpPr>
          <p:nvPr/>
        </p:nvSpPr>
        <p:spPr bwMode="auto">
          <a:xfrm flipV="1">
            <a:off x="3429000" y="4495800"/>
            <a:ext cx="838200" cy="228600"/>
          </a:xfrm>
          <a:prstGeom prst="line">
            <a:avLst/>
          </a:prstGeom>
          <a:noFill/>
          <a:ln w="9525">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7" name="Line 72"/>
          <p:cNvSpPr>
            <a:spLocks noChangeShapeType="1"/>
          </p:cNvSpPr>
          <p:nvPr/>
        </p:nvSpPr>
        <p:spPr bwMode="auto">
          <a:xfrm flipV="1">
            <a:off x="3429000" y="4953000"/>
            <a:ext cx="838200" cy="228600"/>
          </a:xfrm>
          <a:prstGeom prst="line">
            <a:avLst/>
          </a:prstGeom>
          <a:noFill/>
          <a:ln w="9525">
            <a:solidFill>
              <a:srgbClr val="CC00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7368" name="Line 73"/>
          <p:cNvSpPr>
            <a:spLocks noChangeShapeType="1"/>
          </p:cNvSpPr>
          <p:nvPr/>
        </p:nvSpPr>
        <p:spPr bwMode="auto">
          <a:xfrm flipV="1">
            <a:off x="5029200" y="4572000"/>
            <a:ext cx="838200" cy="228600"/>
          </a:xfrm>
          <a:prstGeom prst="line">
            <a:avLst/>
          </a:prstGeom>
          <a:noFill/>
          <a:ln w="9525">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graphicFrame>
        <p:nvGraphicFramePr>
          <p:cNvPr id="57369" name="Object 3"/>
          <p:cNvGraphicFramePr>
            <a:graphicFrameLocks noChangeAspect="1"/>
          </p:cNvGraphicFramePr>
          <p:nvPr/>
        </p:nvGraphicFramePr>
        <p:xfrm>
          <a:off x="2209800" y="1676400"/>
          <a:ext cx="4783138" cy="846138"/>
        </p:xfrm>
        <a:graphic>
          <a:graphicData uri="http://schemas.openxmlformats.org/presentationml/2006/ole">
            <mc:AlternateContent xmlns:mc="http://schemas.openxmlformats.org/markup-compatibility/2006">
              <mc:Choice xmlns:v="urn:schemas-microsoft-com:vml" Requires="v">
                <p:oleObj name="Equation" r:id="rId4" imgW="2425700" imgH="431800" progId="Equation.3">
                  <p:embed/>
                </p:oleObj>
              </mc:Choice>
              <mc:Fallback>
                <p:oleObj name="Equation" r:id="rId4" imgW="2425700" imgH="431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1676400"/>
                        <a:ext cx="4783138" cy="846138"/>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70" name="Rectangle 75"/>
          <p:cNvSpPr>
            <a:spLocks noGrp="1" noChangeArrowheads="1"/>
          </p:cNvSpPr>
          <p:nvPr>
            <p:ph type="title"/>
          </p:nvPr>
        </p:nvSpPr>
        <p:spPr/>
        <p:txBody>
          <a:bodyPr/>
          <a:lstStyle/>
          <a:p>
            <a:r>
              <a:rPr lang="en-US" altLang="sr-Latn-RS">
                <a:solidFill>
                  <a:schemeClr val="tx1"/>
                </a:solidFill>
              </a:rPr>
              <a:t>Rombergov metod</a:t>
            </a:r>
            <a:endParaRPr lang="sr-Latn-RS" altLang="sr-Latn-RS">
              <a:solidFill>
                <a:schemeClr val="tx1"/>
              </a:solidFill>
            </a:endParaRPr>
          </a:p>
        </p:txBody>
      </p:sp>
    </p:spTree>
    <p:extLst>
      <p:ext uri="{BB962C8B-B14F-4D97-AF65-F5344CB8AC3E}">
        <p14:creationId xmlns:p14="http://schemas.microsoft.com/office/powerpoint/2010/main" val="7941124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219200" y="228600"/>
            <a:ext cx="7239000" cy="685800"/>
          </a:xfrm>
        </p:spPr>
        <p:txBody>
          <a:bodyPr>
            <a:normAutofit fontScale="90000"/>
          </a:bodyPr>
          <a:lstStyle/>
          <a:p>
            <a:r>
              <a:rPr lang="sr-Latn-RS" altLang="sr-Latn-RS">
                <a:solidFill>
                  <a:schemeClr val="tx1"/>
                </a:solidFill>
              </a:rPr>
              <a:t>Primer</a:t>
            </a:r>
            <a:endParaRPr lang="en-US" altLang="sr-Latn-RS">
              <a:solidFill>
                <a:schemeClr val="tx1"/>
              </a:solidFill>
            </a:endParaRPr>
          </a:p>
        </p:txBody>
      </p:sp>
      <p:graphicFrame>
        <p:nvGraphicFramePr>
          <p:cNvPr id="58371" name="Object 3"/>
          <p:cNvGraphicFramePr>
            <a:graphicFrameLocks noChangeAspect="1"/>
          </p:cNvGraphicFramePr>
          <p:nvPr/>
        </p:nvGraphicFramePr>
        <p:xfrm>
          <a:off x="2209800" y="1676400"/>
          <a:ext cx="5072063" cy="885825"/>
        </p:xfrm>
        <a:graphic>
          <a:graphicData uri="http://schemas.openxmlformats.org/presentationml/2006/ole">
            <mc:AlternateContent xmlns:mc="http://schemas.openxmlformats.org/markup-compatibility/2006">
              <mc:Choice xmlns:v="urn:schemas-microsoft-com:vml" Requires="v">
                <p:oleObj name="Equation" r:id="rId3" imgW="1892300" imgH="330200" progId="Equation.3">
                  <p:embed/>
                </p:oleObj>
              </mc:Choice>
              <mc:Fallback>
                <p:oleObj name="Equation" r:id="rId3" imgW="1892300" imgH="330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9800" y="1676400"/>
                        <a:ext cx="5072063" cy="885825"/>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2" name="Line 4"/>
          <p:cNvSpPr>
            <a:spLocks noChangeShapeType="1"/>
          </p:cNvSpPr>
          <p:nvPr/>
        </p:nvSpPr>
        <p:spPr bwMode="auto">
          <a:xfrm>
            <a:off x="152400" y="5715000"/>
            <a:ext cx="88392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8373" name="Oval 5"/>
          <p:cNvSpPr>
            <a:spLocks noChangeArrowheads="1"/>
          </p:cNvSpPr>
          <p:nvPr/>
        </p:nvSpPr>
        <p:spPr bwMode="auto">
          <a:xfrm>
            <a:off x="2174875" y="5286375"/>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4" name="Oval 6"/>
          <p:cNvSpPr>
            <a:spLocks noChangeArrowheads="1"/>
          </p:cNvSpPr>
          <p:nvPr/>
        </p:nvSpPr>
        <p:spPr bwMode="auto">
          <a:xfrm>
            <a:off x="3427413" y="4919663"/>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5" name="Oval 7"/>
          <p:cNvSpPr>
            <a:spLocks noChangeArrowheads="1"/>
          </p:cNvSpPr>
          <p:nvPr/>
        </p:nvSpPr>
        <p:spPr bwMode="auto">
          <a:xfrm>
            <a:off x="4800600" y="4578350"/>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6" name="Oval 8"/>
          <p:cNvSpPr>
            <a:spLocks noChangeArrowheads="1"/>
          </p:cNvSpPr>
          <p:nvPr/>
        </p:nvSpPr>
        <p:spPr bwMode="auto">
          <a:xfrm>
            <a:off x="7588250" y="3824288"/>
            <a:ext cx="1066800" cy="381000"/>
          </a:xfrm>
          <a:prstGeom prst="ellipse">
            <a:avLst/>
          </a:prstGeom>
          <a:solidFill>
            <a:srgbClr val="A7FFFF"/>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7" name="Oval 9"/>
          <p:cNvSpPr>
            <a:spLocks noChangeArrowheads="1"/>
          </p:cNvSpPr>
          <p:nvPr/>
        </p:nvSpPr>
        <p:spPr bwMode="auto">
          <a:xfrm>
            <a:off x="6178550" y="4205288"/>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graphicFrame>
        <p:nvGraphicFramePr>
          <p:cNvPr id="58378" name="Object 11"/>
          <p:cNvGraphicFramePr>
            <a:graphicFrameLocks noChangeAspect="1"/>
          </p:cNvGraphicFramePr>
          <p:nvPr>
            <p:extLst>
              <p:ext uri="{D42A27DB-BD31-4B8C-83A1-F6EECF244321}">
                <p14:modId xmlns:p14="http://schemas.microsoft.com/office/powerpoint/2010/main" val="2960117535"/>
              </p:ext>
            </p:extLst>
          </p:nvPr>
        </p:nvGraphicFramePr>
        <p:xfrm>
          <a:off x="1282700" y="2743200"/>
          <a:ext cx="7350125" cy="3294063"/>
        </p:xfrm>
        <a:graphic>
          <a:graphicData uri="http://schemas.openxmlformats.org/presentationml/2006/ole">
            <mc:AlternateContent xmlns:mc="http://schemas.openxmlformats.org/markup-compatibility/2006">
              <mc:Choice xmlns:v="urn:schemas-microsoft-com:vml" Requires="v">
                <p:oleObj name="Equation" r:id="rId5" imgW="4533840" imgH="2031840" progId="Equation.3">
                  <p:embed/>
                </p:oleObj>
              </mc:Choice>
              <mc:Fallback>
                <p:oleObj name="Equation" r:id="rId5" imgW="4533840" imgH="2031840" progId="Equation.3">
                  <p:embed/>
                  <p:pic>
                    <p:nvPicPr>
                      <p:cNvPr id="0" name=""/>
                      <p:cNvPicPr>
                        <a:picLocks noChangeAspect="1" noChangeArrowheads="1"/>
                      </p:cNvPicPr>
                      <p:nvPr/>
                    </p:nvPicPr>
                    <p:blipFill>
                      <a:blip r:embed="rId6"/>
                      <a:srcRect/>
                      <a:stretch>
                        <a:fillRect/>
                      </a:stretch>
                    </p:blipFill>
                    <p:spPr bwMode="auto">
                      <a:xfrm>
                        <a:off x="1282700" y="2743200"/>
                        <a:ext cx="7350125" cy="32940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9" name="Line 12"/>
          <p:cNvSpPr>
            <a:spLocks noChangeShapeType="1"/>
          </p:cNvSpPr>
          <p:nvPr/>
        </p:nvSpPr>
        <p:spPr bwMode="auto">
          <a:xfrm>
            <a:off x="152400" y="3810000"/>
            <a:ext cx="86868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3" name="Speech Bubble: Rectangle with Corners Rounded 2">
            <a:extLst>
              <a:ext uri="{FF2B5EF4-FFF2-40B4-BE49-F238E27FC236}">
                <a16:creationId xmlns:a16="http://schemas.microsoft.com/office/drawing/2014/main" id="{39D0A6C9-FC06-4BB0-A74F-83E13A764FF4}"/>
              </a:ext>
            </a:extLst>
          </p:cNvPr>
          <p:cNvSpPr/>
          <p:nvPr/>
        </p:nvSpPr>
        <p:spPr>
          <a:xfrm>
            <a:off x="5715000" y="5006975"/>
            <a:ext cx="3301314" cy="630178"/>
          </a:xfrm>
          <a:prstGeom prst="wedgeRoundRectCallout">
            <a:avLst>
              <a:gd name="adj1" fmla="val -49654"/>
              <a:gd name="adj2" fmla="val -82602"/>
              <a:gd name="adj3" fmla="val 16667"/>
            </a:avLst>
          </a:prstGeom>
          <a:solidFill>
            <a:srgbClr val="66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r-Latn-RS" dirty="0">
                <a:solidFill>
                  <a:schemeClr val="tx1"/>
                </a:solidFill>
              </a:rPr>
              <a:t>Najbolje rešenje za red tačnosti koji odgovara koloni</a:t>
            </a:r>
            <a:endParaRPr lang="en-US" dirty="0"/>
          </a:p>
        </p:txBody>
      </p:sp>
      <mc:AlternateContent xmlns:mc="http://schemas.openxmlformats.org/markup-compatibility/2006" xmlns:a14="http://schemas.microsoft.com/office/drawing/2010/main">
        <mc:Choice Requires="a14">
          <p:sp>
            <p:nvSpPr>
              <p:cNvPr id="15" name="Speech Bubble: Rectangle with Corners Rounded 14">
                <a:extLst>
                  <a:ext uri="{FF2B5EF4-FFF2-40B4-BE49-F238E27FC236}">
                    <a16:creationId xmlns:a16="http://schemas.microsoft.com/office/drawing/2014/main" id="{FE8A872E-9482-4CB0-883B-2774E66E8AF8}"/>
                  </a:ext>
                </a:extLst>
              </p:cNvPr>
              <p:cNvSpPr/>
              <p:nvPr/>
            </p:nvSpPr>
            <p:spPr>
              <a:xfrm>
                <a:off x="126098" y="383247"/>
                <a:ext cx="4141101" cy="1129640"/>
              </a:xfrm>
              <a:prstGeom prst="wedgeRoundRectCallout">
                <a:avLst>
                  <a:gd name="adj1" fmla="val 34791"/>
                  <a:gd name="adj2" fmla="val 258685"/>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i="1" smtClean="0">
                              <a:solidFill>
                                <a:schemeClr val="tx1"/>
                              </a:solidFill>
                              <a:latin typeface="Cambria Math" panose="02040503050406030204" pitchFamily="18" charset="0"/>
                            </a:rPr>
                          </m:ctrlPr>
                        </m:sSubPr>
                        <m:e>
                          <m:r>
                            <a:rPr lang="sr-Latn-CS" i="1">
                              <a:solidFill>
                                <a:schemeClr val="tx1"/>
                              </a:solidFill>
                              <a:latin typeface="Cambria Math"/>
                            </a:rPr>
                            <m:t>𝑅</m:t>
                          </m:r>
                        </m:e>
                        <m:sub>
                          <m:r>
                            <a:rPr lang="sr-Latn-CS" i="1">
                              <a:solidFill>
                                <a:schemeClr val="tx1"/>
                              </a:solidFill>
                              <a:latin typeface="Cambria Math"/>
                            </a:rPr>
                            <m:t>0,1</m:t>
                          </m:r>
                        </m:sub>
                      </m:sSub>
                      <m:r>
                        <a:rPr lang="sr-Latn-CS" i="1">
                          <a:solidFill>
                            <a:schemeClr val="tx1"/>
                          </a:solidFill>
                          <a:latin typeface="Cambria Math"/>
                        </a:rPr>
                        <m:t>=</m:t>
                      </m:r>
                      <m:f>
                        <m:fPr>
                          <m:ctrlPr>
                            <a:rPr lang="en-US" i="1">
                              <a:solidFill>
                                <a:schemeClr val="tx1"/>
                              </a:solidFill>
                              <a:latin typeface="Cambria Math" panose="02040503050406030204" pitchFamily="18" charset="0"/>
                            </a:rPr>
                          </m:ctrlPr>
                        </m:fPr>
                        <m:num>
                          <m:sSub>
                            <m:sSubPr>
                              <m:ctrlPr>
                                <a:rPr lang="en-US" i="1">
                                  <a:solidFill>
                                    <a:schemeClr val="tx1"/>
                                  </a:solidFill>
                                  <a:latin typeface="Cambria Math" panose="02040503050406030204" pitchFamily="18" charset="0"/>
                                </a:rPr>
                              </m:ctrlPr>
                            </m:sSubPr>
                            <m:e>
                              <m:r>
                                <a:rPr lang="sr-Latn-CS" i="1">
                                  <a:solidFill>
                                    <a:schemeClr val="tx1"/>
                                  </a:solidFill>
                                  <a:latin typeface="Cambria Math"/>
                                </a:rPr>
                                <m:t>4</m:t>
                              </m:r>
                              <m:r>
                                <a:rPr lang="sr-Latn-CS" i="1">
                                  <a:solidFill>
                                    <a:schemeClr val="tx1"/>
                                  </a:solidFill>
                                  <a:latin typeface="Cambria Math"/>
                                </a:rPr>
                                <m:t>𝑅</m:t>
                              </m:r>
                            </m:e>
                            <m:sub>
                              <m:r>
                                <a:rPr lang="sr-Latn-CS" i="1">
                                  <a:solidFill>
                                    <a:schemeClr val="tx1"/>
                                  </a:solidFill>
                                  <a:latin typeface="Cambria Math"/>
                                </a:rPr>
                                <m:t>1,0</m:t>
                              </m:r>
                            </m:sub>
                          </m:sSub>
                          <m:r>
                            <a:rPr lang="sr-Latn-CS" i="1">
                              <a:solidFill>
                                <a:schemeClr val="tx1"/>
                              </a:solidFill>
                              <a:latin typeface="Cambria Math"/>
                            </a:rPr>
                            <m:t>−</m:t>
                          </m:r>
                          <m:sSub>
                            <m:sSubPr>
                              <m:ctrlPr>
                                <a:rPr lang="en-US" i="1">
                                  <a:solidFill>
                                    <a:schemeClr val="tx1"/>
                                  </a:solidFill>
                                  <a:latin typeface="Cambria Math" panose="02040503050406030204" pitchFamily="18" charset="0"/>
                                </a:rPr>
                              </m:ctrlPr>
                            </m:sSubPr>
                            <m:e>
                              <m:r>
                                <a:rPr lang="sr-Latn-CS" i="1">
                                  <a:solidFill>
                                    <a:schemeClr val="tx1"/>
                                  </a:solidFill>
                                  <a:latin typeface="Cambria Math"/>
                                </a:rPr>
                                <m:t>𝑅</m:t>
                              </m:r>
                            </m:e>
                            <m:sub>
                              <m:r>
                                <a:rPr lang="sr-Latn-CS" i="1">
                                  <a:solidFill>
                                    <a:schemeClr val="tx1"/>
                                  </a:solidFill>
                                  <a:latin typeface="Cambria Math"/>
                                </a:rPr>
                                <m:t>0,0</m:t>
                              </m:r>
                            </m:sub>
                          </m:sSub>
                        </m:num>
                        <m:den>
                          <m:r>
                            <a:rPr lang="sr-Latn-CS" i="1">
                              <a:solidFill>
                                <a:schemeClr val="tx1"/>
                              </a:solidFill>
                              <a:latin typeface="Cambria Math"/>
                            </a:rPr>
                            <m:t>3</m:t>
                          </m:r>
                        </m:den>
                      </m:f>
                      <m:r>
                        <a:rPr lang="en-US" b="0" i="0" smtClean="0">
                          <a:solidFill>
                            <a:schemeClr val="tx1"/>
                          </a:solidFill>
                          <a:latin typeface="Cambria Math" panose="02040503050406030204" pitchFamily="18" charset="0"/>
                        </a:rPr>
                        <m:t>=</m:t>
                      </m:r>
                      <m:r>
                        <m:rPr>
                          <m:nor/>
                        </m:rPr>
                        <a:rPr lang="en-US" altLang="sr-Latn-RS" dirty="0">
                          <a:solidFill>
                            <a:schemeClr val="tx1"/>
                          </a:solidFill>
                        </a:rPr>
                        <m:t>(4∗12142.2</m:t>
                      </m:r>
                      <m:r>
                        <m:rPr>
                          <m:nor/>
                        </m:rPr>
                        <a:rPr lang="en-US" altLang="sr-Latn-RS" b="0" i="0" dirty="0" smtClean="0">
                          <a:solidFill>
                            <a:schemeClr val="tx1"/>
                          </a:solidFill>
                        </a:rPr>
                        <m:t> </m:t>
                      </m:r>
                      <m:r>
                        <m:rPr>
                          <m:nor/>
                        </m:rPr>
                        <a:rPr lang="en-US" altLang="sr-Latn-RS" dirty="0">
                          <a:solidFill>
                            <a:schemeClr val="tx1"/>
                          </a:solidFill>
                        </a:rPr>
                        <m:t>−</m:t>
                      </m:r>
                      <m:r>
                        <m:rPr>
                          <m:nor/>
                        </m:rPr>
                        <a:rPr lang="en-US" altLang="sr-Latn-RS" b="0" i="0" dirty="0" smtClean="0">
                          <a:solidFill>
                            <a:schemeClr val="tx1"/>
                          </a:solidFill>
                        </a:rPr>
                        <m:t> </m:t>
                      </m:r>
                      <m:r>
                        <m:rPr>
                          <m:nor/>
                        </m:rPr>
                        <a:rPr lang="en-US" altLang="sr-Latn-RS" dirty="0">
                          <a:solidFill>
                            <a:schemeClr val="tx1"/>
                          </a:solidFill>
                        </a:rPr>
                        <m:t>23847.7)</m:t>
                      </m:r>
                      <m:r>
                        <m:rPr>
                          <m:nor/>
                        </m:rPr>
                        <a:rPr lang="en-US" altLang="sr-Latn-RS" b="0" i="0" dirty="0" smtClean="0">
                          <a:solidFill>
                            <a:schemeClr val="tx1"/>
                          </a:solidFill>
                        </a:rPr>
                        <m:t> / 3 </m:t>
                      </m:r>
                      <m:r>
                        <m:rPr>
                          <m:nor/>
                        </m:rPr>
                        <a:rPr lang="en-US" altLang="sr-Latn-RS" dirty="0">
                          <a:solidFill>
                            <a:schemeClr val="tx1"/>
                          </a:solidFill>
                        </a:rPr>
                        <m:t>=</m:t>
                      </m:r>
                      <m:r>
                        <m:rPr>
                          <m:nor/>
                        </m:rPr>
                        <a:rPr lang="en-US" altLang="sr-Latn-RS" b="0" i="0" dirty="0" smtClean="0">
                          <a:solidFill>
                            <a:schemeClr val="tx1"/>
                          </a:solidFill>
                        </a:rPr>
                        <m:t> </m:t>
                      </m:r>
                      <m:r>
                        <m:rPr>
                          <m:nor/>
                        </m:rPr>
                        <a:rPr lang="en-US" altLang="sr-Latn-RS" dirty="0">
                          <a:solidFill>
                            <a:schemeClr val="tx1"/>
                          </a:solidFill>
                        </a:rPr>
                        <m:t>8240.41</m:t>
                      </m:r>
                    </m:oMath>
                  </m:oMathPara>
                </a14:m>
                <a:endParaRPr lang="en-US" dirty="0">
                  <a:solidFill>
                    <a:schemeClr val="tx1"/>
                  </a:solidFill>
                </a:endParaRPr>
              </a:p>
            </p:txBody>
          </p:sp>
        </mc:Choice>
        <mc:Fallback xmlns="">
          <p:sp>
            <p:nvSpPr>
              <p:cNvPr id="15" name="Speech Bubble: Rectangle with Corners Rounded 14">
                <a:extLst>
                  <a:ext uri="{FF2B5EF4-FFF2-40B4-BE49-F238E27FC236}">
                    <a16:creationId xmlns:a16="http://schemas.microsoft.com/office/drawing/2014/main" id="{FE8A872E-9482-4CB0-883B-2774E66E8AF8}"/>
                  </a:ext>
                </a:extLst>
              </p:cNvPr>
              <p:cNvSpPr>
                <a:spLocks noRot="1" noChangeAspect="1" noMove="1" noResize="1" noEditPoints="1" noAdjustHandles="1" noChangeArrowheads="1" noChangeShapeType="1" noTextEdit="1"/>
              </p:cNvSpPr>
              <p:nvPr/>
            </p:nvSpPr>
            <p:spPr>
              <a:xfrm>
                <a:off x="126098" y="383247"/>
                <a:ext cx="4141101" cy="1129640"/>
              </a:xfrm>
              <a:prstGeom prst="wedgeRoundRectCallout">
                <a:avLst>
                  <a:gd name="adj1" fmla="val 34791"/>
                  <a:gd name="adj2" fmla="val 258685"/>
                  <a:gd name="adj3" fmla="val 16667"/>
                </a:avLst>
              </a:prstGeom>
              <a:blipFill>
                <a:blip r:embed="rId8"/>
                <a:stretch>
                  <a:fillRect/>
                </a:stretch>
              </a:blipFill>
            </p:spPr>
            <p:txBody>
              <a:bodyPr/>
              <a:lstStyle/>
              <a:p>
                <a:r>
                  <a:rPr lang="en-US">
                    <a:noFill/>
                  </a:rPr>
                  <a:t> </a:t>
                </a:r>
              </a:p>
            </p:txBody>
          </p:sp>
        </mc:Fallback>
      </mc:AlternateContent>
      <p:sp>
        <p:nvSpPr>
          <p:cNvPr id="18" name="Speech Bubble: Rectangle with Corners Rounded 17">
            <a:extLst>
              <a:ext uri="{FF2B5EF4-FFF2-40B4-BE49-F238E27FC236}">
                <a16:creationId xmlns:a16="http://schemas.microsoft.com/office/drawing/2014/main" id="{1DE25429-9D45-4749-BA9B-C86966C2ABDD}"/>
              </a:ext>
            </a:extLst>
          </p:cNvPr>
          <p:cNvSpPr/>
          <p:nvPr/>
        </p:nvSpPr>
        <p:spPr>
          <a:xfrm>
            <a:off x="126098" y="2534443"/>
            <a:ext cx="2003425" cy="1179511"/>
          </a:xfrm>
          <a:prstGeom prst="wedgeRoundRectCallout">
            <a:avLst>
              <a:gd name="adj1" fmla="val 24848"/>
              <a:gd name="adj2" fmla="val 22208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a:t>
            </a:r>
            <a:r>
              <a:rPr lang="sr-Latn-RS" dirty="0" err="1">
                <a:solidFill>
                  <a:schemeClr val="tx1"/>
                </a:solidFill>
              </a:rPr>
              <a:t>elativn</a:t>
            </a:r>
            <a:r>
              <a:rPr lang="en-US" dirty="0">
                <a:solidFill>
                  <a:schemeClr val="tx1"/>
                </a:solidFill>
              </a:rPr>
              <a:t>a</a:t>
            </a:r>
            <a:r>
              <a:rPr lang="sr-Latn-RS" dirty="0">
                <a:solidFill>
                  <a:schemeClr val="tx1"/>
                </a:solidFill>
              </a:rPr>
              <a:t> </a:t>
            </a:r>
            <a:r>
              <a:rPr lang="sr-Latn-RS" dirty="0" err="1">
                <a:solidFill>
                  <a:schemeClr val="tx1"/>
                </a:solidFill>
              </a:rPr>
              <a:t>grešk</a:t>
            </a:r>
            <a:r>
              <a:rPr lang="en-US" dirty="0">
                <a:solidFill>
                  <a:schemeClr val="tx1"/>
                </a:solidFill>
              </a:rPr>
              <a:t>a</a:t>
            </a:r>
            <a:r>
              <a:rPr lang="sr-Latn-RS" dirty="0">
                <a:solidFill>
                  <a:schemeClr val="tx1"/>
                </a:solidFill>
              </a:rPr>
              <a:t> </a:t>
            </a:r>
            <a:r>
              <a:rPr lang="en-US" dirty="0">
                <a:solidFill>
                  <a:schemeClr val="tx1"/>
                </a:solidFill>
              </a:rPr>
              <a:t>(za </a:t>
            </a:r>
            <a:r>
              <a:rPr lang="sr-Latn-RS" dirty="0" err="1">
                <a:solidFill>
                  <a:schemeClr val="tx1"/>
                </a:solidFill>
              </a:rPr>
              <a:t>poslednj</a:t>
            </a:r>
            <a:r>
              <a:rPr lang="en-US" dirty="0" err="1">
                <a:solidFill>
                  <a:schemeClr val="tx1"/>
                </a:solidFill>
              </a:rPr>
              <a:t>i</a:t>
            </a:r>
            <a:r>
              <a:rPr lang="sr-Latn-RS" dirty="0">
                <a:solidFill>
                  <a:schemeClr val="tx1"/>
                </a:solidFill>
              </a:rPr>
              <a:t> element</a:t>
            </a:r>
            <a:r>
              <a:rPr lang="en-US" dirty="0">
                <a:solidFill>
                  <a:schemeClr val="tx1"/>
                </a:solidFill>
              </a:rPr>
              <a:t> </a:t>
            </a:r>
            <a:r>
              <a:rPr lang="en-US" dirty="0" err="1">
                <a:solidFill>
                  <a:schemeClr val="tx1"/>
                </a:solidFill>
              </a:rPr>
              <a:t>kolone</a:t>
            </a:r>
            <a:r>
              <a:rPr lang="en-US" dirty="0">
                <a:solidFill>
                  <a:schemeClr val="tx1"/>
                </a:solidFill>
              </a:rPr>
              <a:t>)</a:t>
            </a:r>
          </a:p>
        </p:txBody>
      </p:sp>
    </p:spTree>
    <p:extLst>
      <p:ext uri="{BB962C8B-B14F-4D97-AF65-F5344CB8AC3E}">
        <p14:creationId xmlns:p14="http://schemas.microsoft.com/office/powerpoint/2010/main" val="1690392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down)">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Line 4"/>
          <p:cNvSpPr>
            <a:spLocks noChangeShapeType="1"/>
          </p:cNvSpPr>
          <p:nvPr/>
        </p:nvSpPr>
        <p:spPr bwMode="auto">
          <a:xfrm>
            <a:off x="152400" y="5715000"/>
            <a:ext cx="88392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58373" name="Oval 5"/>
          <p:cNvSpPr>
            <a:spLocks noChangeArrowheads="1"/>
          </p:cNvSpPr>
          <p:nvPr/>
        </p:nvSpPr>
        <p:spPr bwMode="auto">
          <a:xfrm>
            <a:off x="2174875" y="5286375"/>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4" name="Oval 6"/>
          <p:cNvSpPr>
            <a:spLocks noChangeArrowheads="1"/>
          </p:cNvSpPr>
          <p:nvPr/>
        </p:nvSpPr>
        <p:spPr bwMode="auto">
          <a:xfrm>
            <a:off x="3427413" y="4919663"/>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5" name="Oval 7"/>
          <p:cNvSpPr>
            <a:spLocks noChangeArrowheads="1"/>
          </p:cNvSpPr>
          <p:nvPr/>
        </p:nvSpPr>
        <p:spPr bwMode="auto">
          <a:xfrm>
            <a:off x="4800600" y="4578350"/>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6" name="Oval 8"/>
          <p:cNvSpPr>
            <a:spLocks noChangeArrowheads="1"/>
          </p:cNvSpPr>
          <p:nvPr/>
        </p:nvSpPr>
        <p:spPr bwMode="auto">
          <a:xfrm>
            <a:off x="7588250" y="3824288"/>
            <a:ext cx="1066800" cy="381000"/>
          </a:xfrm>
          <a:prstGeom prst="ellipse">
            <a:avLst/>
          </a:prstGeom>
          <a:solidFill>
            <a:srgbClr val="A7FFFF"/>
          </a:solidFill>
          <a:ln>
            <a:noFill/>
          </a:ln>
          <a:effectLst/>
          <a:extLst>
            <a:ext uri="{91240B29-F687-4F45-9708-019B960494DF}">
              <a14:hiddenLine xmlns:a14="http://schemas.microsoft.com/office/drawing/2010/main" w="9525">
                <a:solidFill>
                  <a:srgbClr val="FF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sp>
        <p:nvSpPr>
          <p:cNvPr id="58377" name="Oval 9"/>
          <p:cNvSpPr>
            <a:spLocks noChangeArrowheads="1"/>
          </p:cNvSpPr>
          <p:nvPr/>
        </p:nvSpPr>
        <p:spPr bwMode="auto">
          <a:xfrm>
            <a:off x="6178550" y="4205288"/>
            <a:ext cx="1066800" cy="381000"/>
          </a:xfrm>
          <a:prstGeom prst="ellipse">
            <a:avLst/>
          </a:prstGeom>
          <a:solidFill>
            <a:srgbClr val="A7FFF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sr-Latn-RS" altLang="sr-Latn-RS"/>
          </a:p>
        </p:txBody>
      </p:sp>
      <p:graphicFrame>
        <p:nvGraphicFramePr>
          <p:cNvPr id="58378" name="Object 11"/>
          <p:cNvGraphicFramePr>
            <a:graphicFrameLocks noChangeAspect="1"/>
          </p:cNvGraphicFramePr>
          <p:nvPr/>
        </p:nvGraphicFramePr>
        <p:xfrm>
          <a:off x="1282700" y="2743200"/>
          <a:ext cx="7350125" cy="3294063"/>
        </p:xfrm>
        <a:graphic>
          <a:graphicData uri="http://schemas.openxmlformats.org/presentationml/2006/ole">
            <mc:AlternateContent xmlns:mc="http://schemas.openxmlformats.org/markup-compatibility/2006">
              <mc:Choice xmlns:v="urn:schemas-microsoft-com:vml" Requires="v">
                <p:oleObj name="Equation" r:id="rId3" imgW="4533840" imgH="2031840" progId="Equation.3">
                  <p:embed/>
                </p:oleObj>
              </mc:Choice>
              <mc:Fallback>
                <p:oleObj name="Equation" r:id="rId3" imgW="4533840" imgH="2031840" progId="Equation.3">
                  <p:embed/>
                  <p:pic>
                    <p:nvPicPr>
                      <p:cNvPr id="58378" name="Object 11"/>
                      <p:cNvPicPr>
                        <a:picLocks noChangeAspect="1" noChangeArrowheads="1"/>
                      </p:cNvPicPr>
                      <p:nvPr/>
                    </p:nvPicPr>
                    <p:blipFill>
                      <a:blip r:embed="rId4"/>
                      <a:srcRect/>
                      <a:stretch>
                        <a:fillRect/>
                      </a:stretch>
                    </p:blipFill>
                    <p:spPr bwMode="auto">
                      <a:xfrm>
                        <a:off x="1282700" y="2743200"/>
                        <a:ext cx="7350125" cy="32940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379" name="Line 12"/>
          <p:cNvSpPr>
            <a:spLocks noChangeShapeType="1"/>
          </p:cNvSpPr>
          <p:nvPr/>
        </p:nvSpPr>
        <p:spPr bwMode="auto">
          <a:xfrm>
            <a:off x="152400" y="3810000"/>
            <a:ext cx="8686800" cy="0"/>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sr-Latn-RS"/>
          </a:p>
        </p:txBody>
      </p:sp>
      <p:sp>
        <p:nvSpPr>
          <p:cNvPr id="15" name="Speech Bubble: Rectangle with Corners Rounded 14">
            <a:extLst>
              <a:ext uri="{FF2B5EF4-FFF2-40B4-BE49-F238E27FC236}">
                <a16:creationId xmlns:a16="http://schemas.microsoft.com/office/drawing/2014/main" id="{FE8A872E-9482-4CB0-883B-2774E66E8AF8}"/>
              </a:ext>
            </a:extLst>
          </p:cNvPr>
          <p:cNvSpPr/>
          <p:nvPr/>
        </p:nvSpPr>
        <p:spPr>
          <a:xfrm>
            <a:off x="3657601" y="1828799"/>
            <a:ext cx="5124900" cy="790169"/>
          </a:xfrm>
          <a:prstGeom prst="wedgeRoundRectCallout">
            <a:avLst>
              <a:gd name="adj1" fmla="val 32862"/>
              <a:gd name="adj2" fmla="val 158601"/>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a:t>
            </a:r>
            <a:r>
              <a:rPr lang="sr-Latn-RS" dirty="0" err="1">
                <a:solidFill>
                  <a:schemeClr val="tx1"/>
                </a:solidFill>
              </a:rPr>
              <a:t>ostigli</a:t>
            </a:r>
            <a:r>
              <a:rPr lang="sr-Latn-RS" dirty="0">
                <a:solidFill>
                  <a:schemeClr val="tx1"/>
                </a:solidFill>
              </a:rPr>
              <a:t> smo rezultat koji bi vratio metod reda tačnosti </a:t>
            </a:r>
            <a:r>
              <a:rPr lang="sr-Latn-RS" i="1" dirty="0">
                <a:solidFill>
                  <a:schemeClr val="tx1"/>
                </a:solidFill>
              </a:rPr>
              <a:t>O</a:t>
            </a:r>
            <a:r>
              <a:rPr lang="sr-Latn-RS" dirty="0">
                <a:solidFill>
                  <a:schemeClr val="tx1"/>
                </a:solidFill>
              </a:rPr>
              <a:t>(</a:t>
            </a:r>
            <a:r>
              <a:rPr lang="sr-Latn-RS" i="1" dirty="0">
                <a:solidFill>
                  <a:schemeClr val="tx1"/>
                </a:solidFill>
              </a:rPr>
              <a:t>h</a:t>
            </a:r>
            <a:r>
              <a:rPr lang="sr-Latn-RS" i="1" baseline="30000" dirty="0">
                <a:solidFill>
                  <a:schemeClr val="tx1"/>
                </a:solidFill>
              </a:rPr>
              <a:t>10</a:t>
            </a:r>
            <a:r>
              <a:rPr lang="sr-Latn-RS" dirty="0">
                <a:solidFill>
                  <a:schemeClr val="tx1"/>
                </a:solidFill>
              </a:rPr>
              <a:t>) iako nismo primenili taj metod</a:t>
            </a:r>
            <a:endParaRPr lang="en-US" dirty="0">
              <a:solidFill>
                <a:schemeClr val="tx1"/>
              </a:solidFill>
            </a:endParaRPr>
          </a:p>
        </p:txBody>
      </p:sp>
      <mc:AlternateContent xmlns:mc="http://schemas.openxmlformats.org/markup-compatibility/2006" xmlns:a14="http://schemas.microsoft.com/office/drawing/2010/main">
        <mc:Choice Requires="a14">
          <p:sp>
            <p:nvSpPr>
              <p:cNvPr id="18" name="Speech Bubble: Rectangle with Corners Rounded 17">
                <a:extLst>
                  <a:ext uri="{FF2B5EF4-FFF2-40B4-BE49-F238E27FC236}">
                    <a16:creationId xmlns:a16="http://schemas.microsoft.com/office/drawing/2014/main" id="{1DE25429-9D45-4749-BA9B-C86966C2ABDD}"/>
                  </a:ext>
                </a:extLst>
              </p:cNvPr>
              <p:cNvSpPr/>
              <p:nvPr/>
            </p:nvSpPr>
            <p:spPr>
              <a:xfrm>
                <a:off x="3886200" y="4798846"/>
                <a:ext cx="4953000" cy="774609"/>
              </a:xfrm>
              <a:prstGeom prst="wedgeRoundRectCallout">
                <a:avLst>
                  <a:gd name="adj1" fmla="val -85672"/>
                  <a:gd name="adj2" fmla="val 35445"/>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sr-Latn-RS" dirty="0">
                    <a:solidFill>
                      <a:schemeClr val="tx1"/>
                    </a:solidFill>
                  </a:rPr>
                  <a:t>Takođe</a:t>
                </a:r>
                <a:r>
                  <a:rPr lang="en-US" dirty="0">
                    <a:solidFill>
                      <a:schemeClr val="tx1"/>
                    </a:solidFill>
                  </a:rPr>
                  <a:t>,</a:t>
                </a:r>
                <a:r>
                  <a:rPr lang="sr-Latn-RS" dirty="0">
                    <a:solidFill>
                      <a:schemeClr val="tx1"/>
                    </a:solidFill>
                  </a:rPr>
                  <a:t> postigli smo tačnost reda </a:t>
                </a:r>
                <a14:m>
                  <m:oMath xmlns:m="http://schemas.openxmlformats.org/officeDocument/2006/math">
                    <m:r>
                      <a:rPr lang="sr-Latn-RS" i="1">
                        <a:solidFill>
                          <a:schemeClr val="tx1"/>
                        </a:solidFill>
                        <a:latin typeface="Cambria Math"/>
                      </a:rPr>
                      <m:t>𝑂</m:t>
                    </m:r>
                    <m:d>
                      <m:dPr>
                        <m:ctrlPr>
                          <a:rPr lang="en-US" i="1">
                            <a:solidFill>
                              <a:schemeClr val="tx1"/>
                            </a:solidFill>
                            <a:latin typeface="Cambria Math" panose="02040503050406030204" pitchFamily="18" charset="0"/>
                          </a:rPr>
                        </m:ctrlPr>
                      </m:dPr>
                      <m:e>
                        <m:sSup>
                          <m:sSupPr>
                            <m:ctrlPr>
                              <a:rPr lang="en-US" i="1">
                                <a:solidFill>
                                  <a:schemeClr val="tx1"/>
                                </a:solidFill>
                                <a:latin typeface="Cambria Math" panose="02040503050406030204" pitchFamily="18" charset="0"/>
                              </a:rPr>
                            </m:ctrlPr>
                          </m:sSupPr>
                          <m:e>
                            <m:r>
                              <a:rPr lang="sr-Latn-RS" i="1">
                                <a:solidFill>
                                  <a:schemeClr val="tx1"/>
                                </a:solidFill>
                                <a:latin typeface="Cambria Math"/>
                              </a:rPr>
                              <m:t>h</m:t>
                            </m:r>
                          </m:e>
                          <m:sup>
                            <m:r>
                              <a:rPr lang="sr-Latn-RS" i="1">
                                <a:solidFill>
                                  <a:schemeClr val="tx1"/>
                                </a:solidFill>
                                <a:latin typeface="Cambria Math"/>
                              </a:rPr>
                              <m:t>10</m:t>
                            </m:r>
                          </m:sup>
                        </m:sSup>
                      </m:e>
                    </m:d>
                  </m:oMath>
                </a14:m>
                <a:r>
                  <a:rPr lang="sr-Latn-RS" dirty="0">
                    <a:solidFill>
                      <a:schemeClr val="tx1"/>
                    </a:solidFill>
                  </a:rPr>
                  <a:t> deleći interval </a:t>
                </a:r>
                <a14:m>
                  <m:oMath xmlns:m="http://schemas.openxmlformats.org/officeDocument/2006/math">
                    <m:d>
                      <m:dPr>
                        <m:begChr m:val="["/>
                        <m:endChr m:val="]"/>
                        <m:ctrlPr>
                          <a:rPr lang="en-US" i="1">
                            <a:solidFill>
                              <a:schemeClr val="tx1"/>
                            </a:solidFill>
                            <a:latin typeface="Cambria Math" panose="02040503050406030204" pitchFamily="18" charset="0"/>
                          </a:rPr>
                        </m:ctrlPr>
                      </m:dPr>
                      <m:e>
                        <m:r>
                          <a:rPr lang="sr-Latn-RS" i="1">
                            <a:solidFill>
                              <a:schemeClr val="tx1"/>
                            </a:solidFill>
                            <a:latin typeface="Cambria Math"/>
                          </a:rPr>
                          <m:t>2,6</m:t>
                        </m:r>
                      </m:e>
                    </m:d>
                  </m:oMath>
                </a14:m>
                <a:r>
                  <a:rPr lang="en-US" dirty="0">
                    <a:solidFill>
                      <a:schemeClr val="tx1"/>
                    </a:solidFill>
                  </a:rPr>
                  <a:t> </a:t>
                </a:r>
                <a:r>
                  <a:rPr lang="en-US" dirty="0" err="1">
                    <a:solidFill>
                      <a:schemeClr val="tx1"/>
                    </a:solidFill>
                  </a:rPr>
                  <a:t>na</a:t>
                </a:r>
                <a:r>
                  <a:rPr lang="en-US" dirty="0">
                    <a:solidFill>
                      <a:schemeClr val="tx1"/>
                    </a:solidFill>
                  </a:rPr>
                  <a:t> </a:t>
                </a:r>
                <a:r>
                  <a:rPr lang="en-US" dirty="0" err="1">
                    <a:solidFill>
                      <a:schemeClr val="tx1"/>
                    </a:solidFill>
                  </a:rPr>
                  <a:t>najvi</a:t>
                </a:r>
                <a:r>
                  <a:rPr lang="sr-Latn-RS" dirty="0">
                    <a:solidFill>
                      <a:schemeClr val="tx1"/>
                    </a:solidFill>
                  </a:rPr>
                  <a:t>še 16 podintervala</a:t>
                </a:r>
                <a:endParaRPr lang="sr-Latn-RS" altLang="sr-Latn-RS" dirty="0"/>
              </a:p>
            </p:txBody>
          </p:sp>
        </mc:Choice>
        <mc:Fallback xmlns="">
          <p:sp>
            <p:nvSpPr>
              <p:cNvPr id="18" name="Speech Bubble: Rectangle with Corners Rounded 17">
                <a:extLst>
                  <a:ext uri="{FF2B5EF4-FFF2-40B4-BE49-F238E27FC236}">
                    <a16:creationId xmlns:a16="http://schemas.microsoft.com/office/drawing/2014/main" id="{1DE25429-9D45-4749-BA9B-C86966C2ABDD}"/>
                  </a:ext>
                </a:extLst>
              </p:cNvPr>
              <p:cNvSpPr>
                <a:spLocks noRot="1" noChangeAspect="1" noMove="1" noResize="1" noEditPoints="1" noAdjustHandles="1" noChangeArrowheads="1" noChangeShapeType="1" noTextEdit="1"/>
              </p:cNvSpPr>
              <p:nvPr/>
            </p:nvSpPr>
            <p:spPr>
              <a:xfrm>
                <a:off x="3886200" y="4798846"/>
                <a:ext cx="4953000" cy="774609"/>
              </a:xfrm>
              <a:prstGeom prst="wedgeRoundRectCallout">
                <a:avLst>
                  <a:gd name="adj1" fmla="val -85672"/>
                  <a:gd name="adj2" fmla="val 35445"/>
                  <a:gd name="adj3" fmla="val 16667"/>
                </a:avLst>
              </a:prstGeom>
              <a:blipFill>
                <a:blip r:embed="rId6"/>
                <a:stretch>
                  <a:fillRect b="-2290"/>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65DF03CC-6551-4FC8-8E66-9543F75FD009}"/>
              </a:ext>
            </a:extLst>
          </p:cNvPr>
          <p:cNvSpPr/>
          <p:nvPr/>
        </p:nvSpPr>
        <p:spPr>
          <a:xfrm>
            <a:off x="144633" y="585092"/>
            <a:ext cx="8686800" cy="923330"/>
          </a:xfrm>
          <a:prstGeom prst="rect">
            <a:avLst/>
          </a:prstGeom>
        </p:spPr>
        <p:txBody>
          <a:bodyPr wrap="square">
            <a:spAutoFit/>
          </a:bodyPr>
          <a:lstStyle/>
          <a:p>
            <a:r>
              <a:rPr lang="sr-Latn-RS" dirty="0"/>
              <a:t>Jedino </a:t>
            </a:r>
            <a:r>
              <a:rPr lang="en-US" dirty="0"/>
              <a:t>je </a:t>
            </a:r>
            <a:r>
              <a:rPr lang="en-US" dirty="0" err="1"/>
              <a:t>primenjena</a:t>
            </a:r>
            <a:r>
              <a:rPr lang="en-US" dirty="0"/>
              <a:t> </a:t>
            </a:r>
            <a:r>
              <a:rPr lang="sr-Latn-RS" dirty="0"/>
              <a:t>metoda trapeza</a:t>
            </a:r>
            <a:endParaRPr lang="en-US" dirty="0"/>
          </a:p>
          <a:p>
            <a:endParaRPr lang="en-US" dirty="0"/>
          </a:p>
          <a:p>
            <a:r>
              <a:rPr lang="en-US" dirty="0"/>
              <a:t>S</a:t>
            </a:r>
            <a:r>
              <a:rPr lang="sr-Latn-RS" dirty="0" err="1"/>
              <a:t>ve</a:t>
            </a:r>
            <a:r>
              <a:rPr lang="sr-Latn-RS" dirty="0"/>
              <a:t> ostale vrednosti dobijene su pomoću </a:t>
            </a:r>
            <a:r>
              <a:rPr lang="sr-Latn-RS" dirty="0" err="1"/>
              <a:t>Ričardsonove</a:t>
            </a:r>
            <a:r>
              <a:rPr lang="sr-Latn-RS" dirty="0"/>
              <a:t> ekstrapolacije</a:t>
            </a:r>
            <a:endParaRPr lang="en-US" dirty="0"/>
          </a:p>
        </p:txBody>
      </p:sp>
    </p:spTree>
    <p:extLst>
      <p:ext uri="{BB962C8B-B14F-4D97-AF65-F5344CB8AC3E}">
        <p14:creationId xmlns:p14="http://schemas.microsoft.com/office/powerpoint/2010/main" val="20856785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2773-539D-4FDF-B397-1A0DE26869DC}"/>
              </a:ext>
            </a:extLst>
          </p:cNvPr>
          <p:cNvSpPr>
            <a:spLocks noGrp="1"/>
          </p:cNvSpPr>
          <p:nvPr>
            <p:ph type="title"/>
          </p:nvPr>
        </p:nvSpPr>
        <p:spPr/>
        <p:txBody>
          <a:bodyPr/>
          <a:lstStyle/>
          <a:p>
            <a:r>
              <a:rPr lang="en-US" dirty="0"/>
              <a:t>Python </a:t>
            </a:r>
            <a:r>
              <a:rPr lang="en-US" dirty="0" err="1"/>
              <a:t>kod</a:t>
            </a:r>
            <a:endParaRPr lang="en-US" dirty="0"/>
          </a:p>
        </p:txBody>
      </p:sp>
      <p:sp>
        <p:nvSpPr>
          <p:cNvPr id="3" name="Content Placeholder 2">
            <a:extLst>
              <a:ext uri="{FF2B5EF4-FFF2-40B4-BE49-F238E27FC236}">
                <a16:creationId xmlns:a16="http://schemas.microsoft.com/office/drawing/2014/main" id="{76479FB5-CC89-461E-8C7F-61F2E01BFB72}"/>
              </a:ext>
            </a:extLst>
          </p:cNvPr>
          <p:cNvSpPr>
            <a:spLocks noGrp="1"/>
          </p:cNvSpPr>
          <p:nvPr>
            <p:ph idx="1"/>
          </p:nvPr>
        </p:nvSpPr>
        <p:spPr/>
        <p:txBody>
          <a:bodyPr>
            <a:normAutofit/>
          </a:bodyPr>
          <a:lstStyle/>
          <a:p>
            <a:pPr marL="0" indent="0">
              <a:buNone/>
            </a:pPr>
            <a:r>
              <a:rPr lang="en-US" sz="2000" b="0" dirty="0">
                <a:solidFill>
                  <a:srgbClr val="0000FF"/>
                </a:solidFill>
                <a:effectLst/>
                <a:latin typeface="Courier New" panose="02070309020205020404" pitchFamily="49" charset="0"/>
              </a:rPr>
              <a:t>def</a:t>
            </a:r>
            <a:r>
              <a:rPr lang="en-US" sz="2000" b="0" dirty="0">
                <a:solidFill>
                  <a:srgbClr val="000000"/>
                </a:solidFill>
                <a:effectLst/>
                <a:latin typeface="Courier New" panose="02070309020205020404" pitchFamily="49" charset="0"/>
              </a:rPr>
              <a:t> </a:t>
            </a:r>
            <a:r>
              <a:rPr lang="en-US" sz="2000" b="0" dirty="0" err="1">
                <a:solidFill>
                  <a:srgbClr val="795E26"/>
                </a:solidFill>
                <a:effectLst/>
                <a:latin typeface="Courier New" panose="02070309020205020404" pitchFamily="49" charset="0"/>
              </a:rPr>
              <a:t>romberg</a:t>
            </a:r>
            <a:r>
              <a:rPr lang="en-US" sz="2000" b="0" dirty="0">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a</a:t>
            </a:r>
            <a:r>
              <a:rPr lang="en-US" sz="2000" b="0" dirty="0" err="1">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b</a:t>
            </a:r>
            <a:r>
              <a:rPr lang="en-US" sz="2000" b="0" dirty="0" err="1">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fun</a:t>
            </a:r>
            <a:r>
              <a:rPr lang="en-US" sz="2000" b="0" dirty="0" err="1">
                <a:solidFill>
                  <a:srgbClr val="000000"/>
                </a:solidFill>
                <a:effectLst/>
                <a:latin typeface="Courier New" panose="02070309020205020404" pitchFamily="49" charset="0"/>
              </a:rPr>
              <a:t>,</a:t>
            </a:r>
            <a:r>
              <a:rPr lang="en-US" sz="2000" b="0" dirty="0" err="1">
                <a:solidFill>
                  <a:srgbClr val="001080"/>
                </a:solidFill>
                <a:effectLst/>
                <a:latin typeface="Courier New" panose="02070309020205020404" pitchFamily="49" charset="0"/>
              </a:rPr>
              <a:t>n</a:t>
            </a:r>
            <a:r>
              <a:rPr lang="en-US" sz="2000" b="0" dirty="0">
                <a:solidFill>
                  <a:srgbClr val="000000"/>
                </a:solidFill>
                <a:effectLst/>
                <a:latin typeface="Courier New" panose="02070309020205020404" pitchFamily="49" charset="0"/>
              </a:rPr>
              <a:t>):</a:t>
            </a:r>
          </a:p>
          <a:p>
            <a:pPr marL="0" indent="0">
              <a:buNone/>
            </a:pPr>
            <a:r>
              <a:rPr lang="en-US" sz="2000" b="0" dirty="0">
                <a:solidFill>
                  <a:srgbClr val="000000"/>
                </a:solidFill>
                <a:effectLst/>
                <a:latin typeface="Courier New" panose="02070309020205020404" pitchFamily="49" charset="0"/>
              </a:rPr>
              <a:t>    A=</a:t>
            </a:r>
            <a:r>
              <a:rPr lang="en-US" sz="2000" b="0" dirty="0" err="1">
                <a:solidFill>
                  <a:srgbClr val="000000"/>
                </a:solidFill>
                <a:effectLst/>
                <a:latin typeface="Courier New" panose="02070309020205020404" pitchFamily="49" charset="0"/>
              </a:rPr>
              <a:t>np.zeros</a:t>
            </a:r>
            <a:r>
              <a:rPr lang="en-US" sz="2000" b="0" dirty="0">
                <a:solidFill>
                  <a:srgbClr val="000000"/>
                </a:solidFill>
                <a:effectLst/>
                <a:latin typeface="Courier New" panose="02070309020205020404" pitchFamily="49" charset="0"/>
              </a:rPr>
              <a:t>([</a:t>
            </a:r>
            <a:r>
              <a:rPr lang="en-US" sz="2000" b="0" dirty="0" err="1">
                <a:solidFill>
                  <a:srgbClr val="000000"/>
                </a:solidFill>
                <a:effectLst/>
                <a:latin typeface="Courier New" panose="02070309020205020404" pitchFamily="49" charset="0"/>
              </a:rPr>
              <a:t>n,n</a:t>
            </a:r>
            <a:r>
              <a:rPr lang="en-US" sz="2000" b="0" dirty="0">
                <a:solidFill>
                  <a:srgbClr val="000000"/>
                </a:solidFill>
                <a:effectLst/>
                <a:latin typeface="Courier New" panose="02070309020205020404" pitchFamily="49" charset="0"/>
              </a:rPr>
              <a:t>])</a:t>
            </a:r>
          </a:p>
          <a:p>
            <a:pPr marL="0" indent="0">
              <a:buNone/>
            </a:pPr>
            <a:r>
              <a:rPr lang="en-US" sz="2000" b="0" dirty="0">
                <a:solidFill>
                  <a:srgbClr val="000000"/>
                </a:solidFill>
                <a:effectLst/>
                <a:latin typeface="Courier New" panose="02070309020205020404" pitchFamily="49" charset="0"/>
              </a:rPr>
              <a:t>    </a:t>
            </a:r>
            <a:r>
              <a:rPr lang="en-US" sz="2000" b="0" dirty="0">
                <a:solidFill>
                  <a:srgbClr val="AF00DB"/>
                </a:solidFill>
                <a:effectLst/>
                <a:latin typeface="Courier New" panose="02070309020205020404" pitchFamily="49" charset="0"/>
              </a:rPr>
              <a:t>for</a:t>
            </a:r>
            <a:r>
              <a:rPr lang="en-US" sz="2000" b="0" dirty="0">
                <a:solidFill>
                  <a:srgbClr val="000000"/>
                </a:solidFill>
                <a:effectLst/>
                <a:latin typeface="Courier New" panose="02070309020205020404" pitchFamily="49" charset="0"/>
              </a:rPr>
              <a:t> </a:t>
            </a:r>
            <a:r>
              <a:rPr lang="en-US" sz="2000" b="0" dirty="0" err="1">
                <a:solidFill>
                  <a:srgbClr val="000000"/>
                </a:solidFill>
                <a:effectLst/>
                <a:latin typeface="Courier New" panose="02070309020205020404" pitchFamily="49" charset="0"/>
              </a:rPr>
              <a:t>i</a:t>
            </a:r>
            <a:r>
              <a:rPr lang="en-US" sz="2000" b="0" dirty="0">
                <a:solidFill>
                  <a:srgbClr val="000000"/>
                </a:solidFill>
                <a:effectLst/>
                <a:latin typeface="Courier New" panose="02070309020205020404" pitchFamily="49" charset="0"/>
              </a:rPr>
              <a:t> </a:t>
            </a:r>
            <a:r>
              <a:rPr lang="en-US" sz="2000" b="0" dirty="0">
                <a:solidFill>
                  <a:srgbClr val="0000FF"/>
                </a:solidFill>
                <a:effectLst/>
                <a:latin typeface="Courier New" panose="02070309020205020404" pitchFamily="49" charset="0"/>
              </a:rPr>
              <a:t>in</a:t>
            </a:r>
            <a:r>
              <a:rPr lang="en-US" sz="2000" b="0" dirty="0">
                <a:solidFill>
                  <a:srgbClr val="000000"/>
                </a:solidFill>
                <a:effectLst/>
                <a:latin typeface="Courier New" panose="02070309020205020404" pitchFamily="49" charset="0"/>
              </a:rPr>
              <a:t> </a:t>
            </a:r>
            <a:r>
              <a:rPr lang="en-US" sz="2000" b="0" dirty="0">
                <a:solidFill>
                  <a:srgbClr val="795E26"/>
                </a:solidFill>
                <a:effectLst/>
                <a:latin typeface="Courier New" panose="02070309020205020404" pitchFamily="49" charset="0"/>
              </a:rPr>
              <a:t>range</a:t>
            </a:r>
            <a:r>
              <a:rPr lang="en-US" sz="2000" b="0" dirty="0">
                <a:solidFill>
                  <a:srgbClr val="000000"/>
                </a:solidFill>
                <a:effectLst/>
                <a:latin typeface="Courier New" panose="02070309020205020404" pitchFamily="49" charset="0"/>
              </a:rPr>
              <a:t>(n):</a:t>
            </a:r>
          </a:p>
          <a:p>
            <a:pPr marL="0" indent="0">
              <a:buNone/>
            </a:pPr>
            <a:r>
              <a:rPr lang="en-US" sz="2000" b="0" dirty="0">
                <a:solidFill>
                  <a:srgbClr val="000000"/>
                </a:solidFill>
                <a:effectLst/>
                <a:latin typeface="Courier New" panose="02070309020205020404" pitchFamily="49" charset="0"/>
              </a:rPr>
              <a:t>        A[i,</a:t>
            </a:r>
            <a:r>
              <a:rPr lang="en-US" sz="2000" b="0" dirty="0">
                <a:solidFill>
                  <a:srgbClr val="09885A"/>
                </a:solidFill>
                <a:effectLst/>
                <a:latin typeface="Courier New" panose="02070309020205020404" pitchFamily="49" charset="0"/>
              </a:rPr>
              <a:t>0</a:t>
            </a:r>
            <a:r>
              <a:rPr lang="en-US" sz="2000" b="0" dirty="0">
                <a:solidFill>
                  <a:srgbClr val="000000"/>
                </a:solidFill>
                <a:effectLst/>
                <a:latin typeface="Courier New" panose="02070309020205020404" pitchFamily="49" charset="0"/>
              </a:rPr>
              <a:t>]=</a:t>
            </a:r>
            <a:r>
              <a:rPr lang="en-US" sz="2000" b="0" dirty="0" err="1">
                <a:solidFill>
                  <a:srgbClr val="000000"/>
                </a:solidFill>
                <a:effectLst/>
                <a:latin typeface="Courier New" panose="02070309020205020404" pitchFamily="49" charset="0"/>
              </a:rPr>
              <a:t>trapez_kompozitno</a:t>
            </a:r>
            <a:r>
              <a:rPr lang="en-US" sz="2000" b="0" dirty="0">
                <a:solidFill>
                  <a:srgbClr val="000000"/>
                </a:solidFill>
                <a:effectLst/>
                <a:latin typeface="Courier New" panose="02070309020205020404" pitchFamily="49" charset="0"/>
              </a:rPr>
              <a:t>(a,b,fun,</a:t>
            </a:r>
            <a:r>
              <a:rPr lang="en-US" sz="2000" b="0" dirty="0">
                <a:solidFill>
                  <a:srgbClr val="09885A"/>
                </a:solidFill>
                <a:effectLst/>
                <a:latin typeface="Courier New" panose="02070309020205020404" pitchFamily="49" charset="0"/>
              </a:rPr>
              <a:t>2</a:t>
            </a:r>
            <a:r>
              <a:rPr lang="en-US" sz="2000" b="0" dirty="0">
                <a:solidFill>
                  <a:srgbClr val="000000"/>
                </a:solidFill>
                <a:effectLst/>
                <a:latin typeface="Courier New" panose="02070309020205020404" pitchFamily="49" charset="0"/>
              </a:rPr>
              <a:t>**</a:t>
            </a:r>
            <a:r>
              <a:rPr lang="en-US" sz="2000" b="0" dirty="0" err="1">
                <a:solidFill>
                  <a:srgbClr val="000000"/>
                </a:solidFill>
                <a:effectLst/>
                <a:latin typeface="Courier New" panose="02070309020205020404" pitchFamily="49" charset="0"/>
              </a:rPr>
              <a:t>i</a:t>
            </a:r>
            <a:r>
              <a:rPr lang="en-US" sz="2000" b="0" dirty="0">
                <a:solidFill>
                  <a:srgbClr val="000000"/>
                </a:solidFill>
                <a:effectLst/>
                <a:latin typeface="Courier New" panose="02070309020205020404" pitchFamily="49" charset="0"/>
              </a:rPr>
              <a:t>)</a:t>
            </a:r>
          </a:p>
          <a:p>
            <a:pPr marL="0" indent="0">
              <a:buNone/>
            </a:pPr>
            <a:r>
              <a:rPr lang="en-US" sz="2000" b="0" dirty="0">
                <a:solidFill>
                  <a:srgbClr val="000000"/>
                </a:solidFill>
                <a:effectLst/>
                <a:latin typeface="Courier New" panose="02070309020205020404" pitchFamily="49" charset="0"/>
              </a:rPr>
              <a:t>    </a:t>
            </a:r>
          </a:p>
          <a:p>
            <a:pPr marL="0" indent="0">
              <a:buNone/>
            </a:pPr>
            <a:r>
              <a:rPr lang="en-US" sz="2000" b="0" dirty="0">
                <a:solidFill>
                  <a:srgbClr val="000000"/>
                </a:solidFill>
                <a:effectLst/>
                <a:latin typeface="Courier New" panose="02070309020205020404" pitchFamily="49" charset="0"/>
              </a:rPr>
              <a:t>    </a:t>
            </a:r>
            <a:r>
              <a:rPr lang="en-US" sz="2000" b="0" dirty="0">
                <a:solidFill>
                  <a:srgbClr val="795E26"/>
                </a:solidFill>
                <a:effectLst/>
                <a:latin typeface="Courier New" panose="02070309020205020404" pitchFamily="49" charset="0"/>
              </a:rPr>
              <a:t>print</a:t>
            </a:r>
            <a:r>
              <a:rPr lang="en-US" sz="2000" b="0" dirty="0">
                <a:solidFill>
                  <a:srgbClr val="000000"/>
                </a:solidFill>
                <a:effectLst/>
                <a:latin typeface="Courier New" panose="02070309020205020404" pitchFamily="49" charset="0"/>
              </a:rPr>
              <a:t>(A)</a:t>
            </a:r>
          </a:p>
          <a:p>
            <a:r>
              <a:rPr lang="en-US" sz="2000" b="0" dirty="0">
                <a:solidFill>
                  <a:srgbClr val="000000"/>
                </a:solidFill>
                <a:effectLst/>
                <a:latin typeface="Courier New" panose="02070309020205020404" pitchFamily="49" charset="0"/>
              </a:rPr>
              <a:t>    </a:t>
            </a:r>
          </a:p>
          <a:p>
            <a:pPr marL="0" indent="0">
              <a:buNone/>
            </a:pPr>
            <a:r>
              <a:rPr lang="en-US" sz="2000" b="0" dirty="0">
                <a:solidFill>
                  <a:srgbClr val="000000"/>
                </a:solidFill>
                <a:effectLst/>
                <a:latin typeface="Courier New" panose="02070309020205020404" pitchFamily="49" charset="0"/>
              </a:rPr>
              <a:t>    </a:t>
            </a:r>
            <a:r>
              <a:rPr lang="en-US" sz="2000" b="0" dirty="0">
                <a:solidFill>
                  <a:srgbClr val="AF00DB"/>
                </a:solidFill>
                <a:effectLst/>
                <a:latin typeface="Courier New" panose="02070309020205020404" pitchFamily="49" charset="0"/>
              </a:rPr>
              <a:t>for</a:t>
            </a:r>
            <a:r>
              <a:rPr lang="en-US" sz="2000" b="0" dirty="0">
                <a:solidFill>
                  <a:srgbClr val="000000"/>
                </a:solidFill>
                <a:effectLst/>
                <a:latin typeface="Courier New" panose="02070309020205020404" pitchFamily="49" charset="0"/>
              </a:rPr>
              <a:t> j </a:t>
            </a:r>
            <a:r>
              <a:rPr lang="en-US" sz="2000" b="0" dirty="0">
                <a:solidFill>
                  <a:srgbClr val="0000FF"/>
                </a:solidFill>
                <a:effectLst/>
                <a:latin typeface="Courier New" panose="02070309020205020404" pitchFamily="49" charset="0"/>
              </a:rPr>
              <a:t>in</a:t>
            </a:r>
            <a:r>
              <a:rPr lang="en-US" sz="2000" b="0" dirty="0">
                <a:solidFill>
                  <a:srgbClr val="000000"/>
                </a:solidFill>
                <a:effectLst/>
                <a:latin typeface="Courier New" panose="02070309020205020404" pitchFamily="49" charset="0"/>
              </a:rPr>
              <a:t> </a:t>
            </a:r>
            <a:r>
              <a:rPr lang="en-US" sz="2000" b="0" dirty="0">
                <a:solidFill>
                  <a:srgbClr val="795E26"/>
                </a:solidFill>
                <a:effectLst/>
                <a:latin typeface="Courier New" panose="02070309020205020404" pitchFamily="49" charset="0"/>
              </a:rPr>
              <a:t>range</a:t>
            </a:r>
            <a:r>
              <a:rPr lang="en-US" sz="2000" b="0" dirty="0">
                <a:solidFill>
                  <a:srgbClr val="000000"/>
                </a:solidFill>
                <a:effectLst/>
                <a:latin typeface="Courier New" panose="02070309020205020404" pitchFamily="49" charset="0"/>
              </a:rPr>
              <a:t>(</a:t>
            </a:r>
            <a:r>
              <a:rPr lang="en-US" sz="2000" b="0" dirty="0">
                <a:solidFill>
                  <a:srgbClr val="09885A"/>
                </a:solidFill>
                <a:effectLst/>
                <a:latin typeface="Courier New" panose="02070309020205020404" pitchFamily="49" charset="0"/>
              </a:rPr>
              <a:t>1</a:t>
            </a:r>
            <a:r>
              <a:rPr lang="en-US" sz="2000" b="0" dirty="0">
                <a:solidFill>
                  <a:srgbClr val="000000"/>
                </a:solidFill>
                <a:effectLst/>
                <a:latin typeface="Courier New" panose="02070309020205020404" pitchFamily="49" charset="0"/>
              </a:rPr>
              <a:t>,n):</a:t>
            </a:r>
          </a:p>
          <a:p>
            <a:pPr marL="0" indent="0">
              <a:buNone/>
            </a:pPr>
            <a:r>
              <a:rPr lang="en-US" sz="2000" b="0" dirty="0">
                <a:solidFill>
                  <a:srgbClr val="000000"/>
                </a:solidFill>
                <a:effectLst/>
                <a:latin typeface="Courier New" panose="02070309020205020404" pitchFamily="49" charset="0"/>
              </a:rPr>
              <a:t>        </a:t>
            </a:r>
            <a:r>
              <a:rPr lang="en-US" sz="2000" b="0" dirty="0">
                <a:solidFill>
                  <a:srgbClr val="AF00DB"/>
                </a:solidFill>
                <a:effectLst/>
                <a:latin typeface="Courier New" panose="02070309020205020404" pitchFamily="49" charset="0"/>
              </a:rPr>
              <a:t>for</a:t>
            </a:r>
            <a:r>
              <a:rPr lang="en-US" sz="2000" b="0" dirty="0">
                <a:solidFill>
                  <a:srgbClr val="000000"/>
                </a:solidFill>
                <a:effectLst/>
                <a:latin typeface="Courier New" panose="02070309020205020404" pitchFamily="49" charset="0"/>
              </a:rPr>
              <a:t> </a:t>
            </a:r>
            <a:r>
              <a:rPr lang="en-US" sz="2000" b="0" dirty="0" err="1">
                <a:solidFill>
                  <a:srgbClr val="000000"/>
                </a:solidFill>
                <a:effectLst/>
                <a:latin typeface="Courier New" panose="02070309020205020404" pitchFamily="49" charset="0"/>
              </a:rPr>
              <a:t>i</a:t>
            </a:r>
            <a:r>
              <a:rPr lang="en-US" sz="2000" b="0" dirty="0">
                <a:solidFill>
                  <a:srgbClr val="000000"/>
                </a:solidFill>
                <a:effectLst/>
                <a:latin typeface="Courier New" panose="02070309020205020404" pitchFamily="49" charset="0"/>
              </a:rPr>
              <a:t> </a:t>
            </a:r>
            <a:r>
              <a:rPr lang="en-US" sz="2000" b="0" dirty="0">
                <a:solidFill>
                  <a:srgbClr val="0000FF"/>
                </a:solidFill>
                <a:effectLst/>
                <a:latin typeface="Courier New" panose="02070309020205020404" pitchFamily="49" charset="0"/>
              </a:rPr>
              <a:t>in</a:t>
            </a:r>
            <a:r>
              <a:rPr lang="en-US" sz="2000" b="0" dirty="0">
                <a:solidFill>
                  <a:srgbClr val="000000"/>
                </a:solidFill>
                <a:effectLst/>
                <a:latin typeface="Courier New" panose="02070309020205020404" pitchFamily="49" charset="0"/>
              </a:rPr>
              <a:t> </a:t>
            </a:r>
            <a:r>
              <a:rPr lang="en-US" sz="2000" b="0" dirty="0">
                <a:solidFill>
                  <a:srgbClr val="795E26"/>
                </a:solidFill>
                <a:effectLst/>
                <a:latin typeface="Courier New" panose="02070309020205020404" pitchFamily="49" charset="0"/>
              </a:rPr>
              <a:t>range</a:t>
            </a:r>
            <a:r>
              <a:rPr lang="en-US" sz="2000" b="0" dirty="0">
                <a:solidFill>
                  <a:srgbClr val="000000"/>
                </a:solidFill>
                <a:effectLst/>
                <a:latin typeface="Courier New" panose="02070309020205020404" pitchFamily="49" charset="0"/>
              </a:rPr>
              <a:t>(n-j):</a:t>
            </a:r>
          </a:p>
          <a:p>
            <a:pPr marL="0" indent="0">
              <a:buNone/>
            </a:pPr>
            <a:r>
              <a:rPr lang="en-US" sz="2000" b="0" dirty="0">
                <a:solidFill>
                  <a:srgbClr val="000000"/>
                </a:solidFill>
                <a:effectLst/>
                <a:latin typeface="Courier New" panose="02070309020205020404" pitchFamily="49" charset="0"/>
              </a:rPr>
              <a:t>            A[</a:t>
            </a:r>
            <a:r>
              <a:rPr lang="en-US" sz="2000" b="0" dirty="0" err="1">
                <a:solidFill>
                  <a:srgbClr val="000000"/>
                </a:solidFill>
                <a:effectLst/>
                <a:latin typeface="Courier New" panose="02070309020205020404" pitchFamily="49" charset="0"/>
              </a:rPr>
              <a:t>i,j</a:t>
            </a:r>
            <a:r>
              <a:rPr lang="en-US" sz="2000" b="0" dirty="0">
                <a:solidFill>
                  <a:srgbClr val="000000"/>
                </a:solidFill>
                <a:effectLst/>
                <a:latin typeface="Courier New" panose="02070309020205020404" pitchFamily="49" charset="0"/>
              </a:rPr>
              <a:t>]=(</a:t>
            </a:r>
            <a:r>
              <a:rPr lang="en-US" sz="2000" b="0" dirty="0">
                <a:solidFill>
                  <a:srgbClr val="09885A"/>
                </a:solidFill>
                <a:effectLst/>
                <a:latin typeface="Courier New" panose="02070309020205020404" pitchFamily="49" charset="0"/>
              </a:rPr>
              <a:t>4</a:t>
            </a:r>
            <a:r>
              <a:rPr lang="en-US" sz="2000" b="0" dirty="0">
                <a:solidFill>
                  <a:srgbClr val="000000"/>
                </a:solidFill>
                <a:effectLst/>
                <a:latin typeface="Courier New" panose="02070309020205020404" pitchFamily="49" charset="0"/>
              </a:rPr>
              <a:t> * A[i+</a:t>
            </a:r>
            <a:r>
              <a:rPr lang="en-US" sz="2000" b="0" dirty="0">
                <a:solidFill>
                  <a:srgbClr val="09885A"/>
                </a:solidFill>
                <a:effectLst/>
                <a:latin typeface="Courier New" panose="02070309020205020404" pitchFamily="49" charset="0"/>
              </a:rPr>
              <a:t>1</a:t>
            </a:r>
            <a:r>
              <a:rPr lang="en-US" sz="2000" b="0" dirty="0">
                <a:solidFill>
                  <a:srgbClr val="000000"/>
                </a:solidFill>
                <a:effectLst/>
                <a:latin typeface="Courier New" panose="02070309020205020404" pitchFamily="49" charset="0"/>
              </a:rPr>
              <a:t>,j</a:t>
            </a:r>
            <a:r>
              <a:rPr lang="en-US" sz="2000" b="0" dirty="0">
                <a:solidFill>
                  <a:srgbClr val="09885A"/>
                </a:solidFill>
                <a:effectLst/>
                <a:latin typeface="Courier New" panose="02070309020205020404" pitchFamily="49" charset="0"/>
              </a:rPr>
              <a:t>-1</a:t>
            </a:r>
            <a:r>
              <a:rPr lang="en-US" sz="2000" b="0" dirty="0">
                <a:solidFill>
                  <a:srgbClr val="000000"/>
                </a:solidFill>
                <a:effectLst/>
                <a:latin typeface="Courier New" panose="02070309020205020404" pitchFamily="49" charset="0"/>
              </a:rPr>
              <a:t>] - A[i,j</a:t>
            </a:r>
            <a:r>
              <a:rPr lang="en-US" sz="2000" b="0" dirty="0">
                <a:solidFill>
                  <a:srgbClr val="09885A"/>
                </a:solidFill>
                <a:effectLst/>
                <a:latin typeface="Courier New" panose="02070309020205020404" pitchFamily="49" charset="0"/>
              </a:rPr>
              <a:t>-1</a:t>
            </a:r>
            <a:r>
              <a:rPr lang="en-US" sz="2000" b="0" dirty="0">
                <a:solidFill>
                  <a:srgbClr val="000000"/>
                </a:solidFill>
                <a:effectLst/>
                <a:latin typeface="Courier New" panose="02070309020205020404" pitchFamily="49" charset="0"/>
              </a:rPr>
              <a:t>]) / </a:t>
            </a:r>
            <a:r>
              <a:rPr lang="en-US" sz="2000" b="0" dirty="0">
                <a:solidFill>
                  <a:srgbClr val="09885A"/>
                </a:solidFill>
                <a:effectLst/>
                <a:latin typeface="Courier New" panose="02070309020205020404" pitchFamily="49" charset="0"/>
              </a:rPr>
              <a:t>3</a:t>
            </a:r>
            <a:endParaRPr lang="en-US" sz="2000" b="0" dirty="0">
              <a:solidFill>
                <a:srgbClr val="000000"/>
              </a:solidFill>
              <a:effectLst/>
              <a:latin typeface="Courier New" panose="02070309020205020404" pitchFamily="49" charset="0"/>
            </a:endParaRPr>
          </a:p>
          <a:p>
            <a:pPr marL="0" indent="0">
              <a:buNone/>
            </a:pPr>
            <a:r>
              <a:rPr lang="en-US" sz="2000" b="0" dirty="0">
                <a:solidFill>
                  <a:srgbClr val="000000"/>
                </a:solidFill>
                <a:effectLst/>
                <a:latin typeface="Courier New" panose="02070309020205020404" pitchFamily="49" charset="0"/>
              </a:rPr>
              <a:t>            </a:t>
            </a:r>
          </a:p>
          <a:p>
            <a:pPr marL="0" indent="0">
              <a:buNone/>
            </a:pPr>
            <a:r>
              <a:rPr lang="en-US" sz="2000" b="0" dirty="0">
                <a:solidFill>
                  <a:srgbClr val="000000"/>
                </a:solidFill>
                <a:effectLst/>
                <a:latin typeface="Courier New" panose="02070309020205020404" pitchFamily="49" charset="0"/>
              </a:rPr>
              <a:t>    </a:t>
            </a:r>
            <a:r>
              <a:rPr lang="en-US" sz="2000" b="0" dirty="0">
                <a:solidFill>
                  <a:srgbClr val="795E26"/>
                </a:solidFill>
                <a:effectLst/>
                <a:latin typeface="Courier New" panose="02070309020205020404" pitchFamily="49" charset="0"/>
              </a:rPr>
              <a:t>print</a:t>
            </a:r>
            <a:r>
              <a:rPr lang="en-US" sz="2000" b="0" dirty="0">
                <a:solidFill>
                  <a:srgbClr val="000000"/>
                </a:solidFill>
                <a:effectLst/>
                <a:latin typeface="Courier New" panose="02070309020205020404" pitchFamily="49" charset="0"/>
              </a:rPr>
              <a:t>(A)</a:t>
            </a:r>
          </a:p>
          <a:p>
            <a:pPr marL="0" indent="0">
              <a:buNone/>
            </a:pPr>
            <a:endParaRPr lang="en-US" sz="2000" dirty="0"/>
          </a:p>
        </p:txBody>
      </p:sp>
      <p:sp>
        <p:nvSpPr>
          <p:cNvPr id="4" name="Speech Bubble: Rectangle with Corners Rounded 3">
            <a:extLst>
              <a:ext uri="{FF2B5EF4-FFF2-40B4-BE49-F238E27FC236}">
                <a16:creationId xmlns:a16="http://schemas.microsoft.com/office/drawing/2014/main" id="{B716494F-F773-40DF-824C-F2D924F5871D}"/>
              </a:ext>
            </a:extLst>
          </p:cNvPr>
          <p:cNvSpPr/>
          <p:nvPr/>
        </p:nvSpPr>
        <p:spPr>
          <a:xfrm>
            <a:off x="3886200" y="521043"/>
            <a:ext cx="5124900" cy="790169"/>
          </a:xfrm>
          <a:prstGeom prst="wedgeRoundRectCallout">
            <a:avLst>
              <a:gd name="adj1" fmla="val -49598"/>
              <a:gd name="adj2" fmla="val 94485"/>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Dimenzija</a:t>
            </a:r>
            <a:r>
              <a:rPr lang="en-US" dirty="0">
                <a:solidFill>
                  <a:schemeClr val="tx1"/>
                </a:solidFill>
              </a:rPr>
              <a:t> </a:t>
            </a:r>
            <a:r>
              <a:rPr lang="en-US" dirty="0" err="1">
                <a:solidFill>
                  <a:schemeClr val="tx1"/>
                </a:solidFill>
              </a:rPr>
              <a:t>matrice</a:t>
            </a:r>
            <a:r>
              <a:rPr lang="en-US" dirty="0">
                <a:solidFill>
                  <a:schemeClr val="tx1"/>
                </a:solidFill>
              </a:rPr>
              <a:t> (</a:t>
            </a:r>
            <a:r>
              <a:rPr lang="en-US" dirty="0" err="1">
                <a:solidFill>
                  <a:schemeClr val="tx1"/>
                </a:solidFill>
              </a:rPr>
              <a:t>tabele</a:t>
            </a:r>
            <a:r>
              <a:rPr lang="en-US" dirty="0">
                <a:solidFill>
                  <a:schemeClr val="tx1"/>
                </a:solidFill>
              </a:rPr>
              <a:t>) </a:t>
            </a:r>
            <a:r>
              <a:rPr lang="en-US" dirty="0" err="1">
                <a:solidFill>
                  <a:schemeClr val="tx1"/>
                </a:solidFill>
              </a:rPr>
              <a:t>koja</a:t>
            </a:r>
            <a:r>
              <a:rPr lang="en-US" dirty="0">
                <a:solidFill>
                  <a:schemeClr val="tx1"/>
                </a:solidFill>
              </a:rPr>
              <a:t> </a:t>
            </a:r>
            <a:r>
              <a:rPr lang="sr-Latn-RS" dirty="0">
                <a:solidFill>
                  <a:schemeClr val="tx1"/>
                </a:solidFill>
              </a:rPr>
              <a:t>se popunjava pomoću </a:t>
            </a:r>
            <a:r>
              <a:rPr lang="sr-Latn-RS" dirty="0" err="1">
                <a:solidFill>
                  <a:schemeClr val="tx1"/>
                </a:solidFill>
              </a:rPr>
              <a:t>Rombergove</a:t>
            </a:r>
            <a:r>
              <a:rPr lang="sr-Latn-RS" dirty="0">
                <a:solidFill>
                  <a:schemeClr val="tx1"/>
                </a:solidFill>
              </a:rPr>
              <a:t> metode</a:t>
            </a:r>
            <a:endParaRPr lang="en-US" dirty="0">
              <a:solidFill>
                <a:schemeClr val="tx1"/>
              </a:solidFill>
            </a:endParaRPr>
          </a:p>
        </p:txBody>
      </p:sp>
      <p:graphicFrame>
        <p:nvGraphicFramePr>
          <p:cNvPr id="5" name="Object 4">
            <a:extLst>
              <a:ext uri="{FF2B5EF4-FFF2-40B4-BE49-F238E27FC236}">
                <a16:creationId xmlns:a16="http://schemas.microsoft.com/office/drawing/2014/main" id="{37A7A9CC-1F79-4EC0-B180-4EB03F7F1D31}"/>
              </a:ext>
            </a:extLst>
          </p:cNvPr>
          <p:cNvGraphicFramePr>
            <a:graphicFrameLocks noChangeAspect="1"/>
          </p:cNvGraphicFramePr>
          <p:nvPr>
            <p:extLst>
              <p:ext uri="{D42A27DB-BD31-4B8C-83A1-F6EECF244321}">
                <p14:modId xmlns:p14="http://schemas.microsoft.com/office/powerpoint/2010/main" val="1189107560"/>
              </p:ext>
            </p:extLst>
          </p:nvPr>
        </p:nvGraphicFramePr>
        <p:xfrm>
          <a:off x="4057081" y="3257776"/>
          <a:ext cx="4783138" cy="846138"/>
        </p:xfrm>
        <a:graphic>
          <a:graphicData uri="http://schemas.openxmlformats.org/presentationml/2006/ole">
            <mc:AlternateContent xmlns:mc="http://schemas.openxmlformats.org/markup-compatibility/2006">
              <mc:Choice xmlns:v="urn:schemas-microsoft-com:vml" Requires="v">
                <p:oleObj name="Equation" r:id="rId2" imgW="2425700" imgH="431800" progId="Equation.3">
                  <p:embed/>
                </p:oleObj>
              </mc:Choice>
              <mc:Fallback>
                <p:oleObj name="Equation" r:id="rId2" imgW="2425700" imgH="431800" progId="Equation.3">
                  <p:embed/>
                  <p:pic>
                    <p:nvPicPr>
                      <p:cNvPr id="5939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7081" y="3257776"/>
                        <a:ext cx="4783138" cy="846138"/>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9" name="Picture 28">
            <a:extLst>
              <a:ext uri="{FF2B5EF4-FFF2-40B4-BE49-F238E27FC236}">
                <a16:creationId xmlns:a16="http://schemas.microsoft.com/office/drawing/2014/main" id="{807F98A3-5BD2-4925-B602-7AE7D35A5ABB}"/>
              </a:ext>
            </a:extLst>
          </p:cNvPr>
          <p:cNvPicPr>
            <a:picLocks noChangeAspect="1"/>
          </p:cNvPicPr>
          <p:nvPr/>
        </p:nvPicPr>
        <p:blipFill rotWithShape="1">
          <a:blip r:embed="rId4"/>
          <a:srcRect t="31693" b="20434"/>
          <a:stretch/>
        </p:blipFill>
        <p:spPr>
          <a:xfrm>
            <a:off x="3190872" y="5450290"/>
            <a:ext cx="5953128" cy="1200376"/>
          </a:xfrm>
          <a:prstGeom prst="rect">
            <a:avLst/>
          </a:prstGeom>
          <a:solidFill>
            <a:schemeClr val="bg1"/>
          </a:solidFill>
        </p:spPr>
      </p:pic>
    </p:spTree>
    <p:extLst>
      <p:ext uri="{BB962C8B-B14F-4D97-AF65-F5344CB8AC3E}">
        <p14:creationId xmlns:p14="http://schemas.microsoft.com/office/powerpoint/2010/main" val="158962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sr-Latn-RS" altLang="sr-Latn-RS"/>
              <a:t>Primer</a:t>
            </a:r>
          </a:p>
        </p:txBody>
      </p:sp>
      <p:sp>
        <p:nvSpPr>
          <p:cNvPr id="60419" name="Rectangle 3"/>
          <p:cNvSpPr>
            <a:spLocks noGrp="1" noChangeArrowheads="1"/>
          </p:cNvSpPr>
          <p:nvPr>
            <p:ph type="body" idx="1"/>
          </p:nvPr>
        </p:nvSpPr>
        <p:spPr/>
        <p:txBody>
          <a:bodyPr>
            <a:normAutofit/>
          </a:bodyPr>
          <a:lstStyle/>
          <a:p>
            <a:pPr>
              <a:lnSpc>
                <a:spcPct val="80000"/>
              </a:lnSpc>
              <a:buNone/>
            </a:pPr>
            <a:endParaRPr lang="en-US" sz="1200" b="0" dirty="0">
              <a:solidFill>
                <a:srgbClr val="000000"/>
              </a:solidFill>
              <a:effectLst/>
              <a:latin typeface="Courier New" panose="02070309020205020404" pitchFamily="49" charset="0"/>
            </a:endParaRPr>
          </a:p>
          <a:p>
            <a:pPr>
              <a:lnSpc>
                <a:spcPct val="80000"/>
              </a:lnSpc>
              <a:buNone/>
            </a:pPr>
            <a:endParaRPr lang="en-US" sz="1200" dirty="0">
              <a:solidFill>
                <a:srgbClr val="000000"/>
              </a:solidFill>
              <a:latin typeface="Courier New" panose="02070309020205020404" pitchFamily="49" charset="0"/>
            </a:endParaRPr>
          </a:p>
          <a:p>
            <a:pPr>
              <a:lnSpc>
                <a:spcPct val="80000"/>
              </a:lnSpc>
              <a:buNone/>
            </a:pPr>
            <a:endParaRPr lang="en-US" sz="1200" b="0" dirty="0">
              <a:solidFill>
                <a:srgbClr val="000000"/>
              </a:solidFill>
              <a:effectLst/>
              <a:latin typeface="Courier New" panose="02070309020205020404" pitchFamily="49" charset="0"/>
            </a:endParaRPr>
          </a:p>
          <a:p>
            <a:pPr>
              <a:lnSpc>
                <a:spcPct val="80000"/>
              </a:lnSpc>
              <a:buNone/>
            </a:pPr>
            <a:r>
              <a:rPr lang="en-US" sz="2000" b="0" dirty="0" err="1">
                <a:solidFill>
                  <a:srgbClr val="000000"/>
                </a:solidFill>
                <a:effectLst/>
                <a:latin typeface="Courier New" panose="02070309020205020404" pitchFamily="49" charset="0"/>
              </a:rPr>
              <a:t>romberg</a:t>
            </a:r>
            <a:r>
              <a:rPr lang="en-US" sz="2000" b="0" dirty="0">
                <a:solidFill>
                  <a:srgbClr val="000000"/>
                </a:solidFill>
                <a:effectLst/>
                <a:latin typeface="Courier New" panose="02070309020205020404" pitchFamily="49" charset="0"/>
              </a:rPr>
              <a:t>(</a:t>
            </a:r>
            <a:r>
              <a:rPr lang="en-US" sz="2000" b="0" dirty="0">
                <a:solidFill>
                  <a:srgbClr val="09885A"/>
                </a:solidFill>
                <a:effectLst/>
                <a:latin typeface="Courier New" panose="02070309020205020404" pitchFamily="49" charset="0"/>
              </a:rPr>
              <a:t>0</a:t>
            </a:r>
            <a:r>
              <a:rPr lang="en-US" sz="2000" b="0" dirty="0">
                <a:solidFill>
                  <a:srgbClr val="000000"/>
                </a:solidFill>
                <a:effectLst/>
                <a:latin typeface="Courier New" panose="02070309020205020404" pitchFamily="49" charset="0"/>
              </a:rPr>
              <a:t>,</a:t>
            </a:r>
            <a:r>
              <a:rPr lang="en-US" sz="2000" b="0" dirty="0">
                <a:solidFill>
                  <a:srgbClr val="09885A"/>
                </a:solidFill>
                <a:effectLst/>
                <a:latin typeface="Courier New" panose="02070309020205020404" pitchFamily="49" charset="0"/>
              </a:rPr>
              <a:t>4</a:t>
            </a:r>
            <a:r>
              <a:rPr lang="en-US" sz="2000" b="0" dirty="0">
                <a:solidFill>
                  <a:srgbClr val="000000"/>
                </a:solidFill>
                <a:effectLst/>
                <a:latin typeface="Courier New" panose="02070309020205020404" pitchFamily="49" charset="0"/>
              </a:rPr>
              <a:t>,</a:t>
            </a:r>
            <a:r>
              <a:rPr lang="en-US" sz="2000" b="0" dirty="0">
                <a:solidFill>
                  <a:srgbClr val="0000FF"/>
                </a:solidFill>
                <a:effectLst/>
                <a:latin typeface="Courier New" panose="02070309020205020404" pitchFamily="49" charset="0"/>
              </a:rPr>
              <a:t>lambda</a:t>
            </a:r>
            <a:r>
              <a:rPr lang="en-US" sz="2000" b="0" dirty="0">
                <a:solidFill>
                  <a:srgbClr val="000000"/>
                </a:solidFill>
                <a:effectLst/>
                <a:latin typeface="Courier New" panose="02070309020205020404" pitchFamily="49" charset="0"/>
              </a:rPr>
              <a:t> x: x*</a:t>
            </a:r>
            <a:r>
              <a:rPr lang="en-US" sz="2000" b="0" dirty="0" err="1">
                <a:solidFill>
                  <a:srgbClr val="000000"/>
                </a:solidFill>
                <a:effectLst/>
                <a:latin typeface="Courier New" panose="02070309020205020404" pitchFamily="49" charset="0"/>
              </a:rPr>
              <a:t>np.exp</a:t>
            </a:r>
            <a:r>
              <a:rPr lang="en-US" sz="2000" b="0" dirty="0">
                <a:solidFill>
                  <a:srgbClr val="000000"/>
                </a:solidFill>
                <a:effectLst/>
                <a:latin typeface="Courier New" panose="02070309020205020404" pitchFamily="49" charset="0"/>
              </a:rPr>
              <a:t>(</a:t>
            </a:r>
            <a:r>
              <a:rPr lang="en-US" sz="2000" b="0" dirty="0">
                <a:solidFill>
                  <a:srgbClr val="09885A"/>
                </a:solidFill>
                <a:effectLst/>
                <a:latin typeface="Courier New" panose="02070309020205020404" pitchFamily="49" charset="0"/>
              </a:rPr>
              <a:t>2</a:t>
            </a:r>
            <a:r>
              <a:rPr lang="en-US" sz="2000" b="0" dirty="0">
                <a:solidFill>
                  <a:srgbClr val="000000"/>
                </a:solidFill>
                <a:effectLst/>
                <a:latin typeface="Courier New" panose="02070309020205020404" pitchFamily="49" charset="0"/>
              </a:rPr>
              <a:t>*x),</a:t>
            </a:r>
            <a:r>
              <a:rPr lang="en-US" sz="2000" b="0">
                <a:solidFill>
                  <a:srgbClr val="09885A"/>
                </a:solidFill>
                <a:effectLst/>
                <a:latin typeface="Courier New" panose="02070309020205020404" pitchFamily="49" charset="0"/>
              </a:rPr>
              <a:t>5</a:t>
            </a:r>
            <a:r>
              <a:rPr lang="en-US" sz="2000" b="0">
                <a:solidFill>
                  <a:srgbClr val="000000"/>
                </a:solidFill>
                <a:effectLst/>
                <a:latin typeface="Courier New" panose="02070309020205020404" pitchFamily="49" charset="0"/>
              </a:rPr>
              <a:t>)</a:t>
            </a:r>
          </a:p>
          <a:p>
            <a:pPr>
              <a:lnSpc>
                <a:spcPct val="80000"/>
              </a:lnSpc>
              <a:buNone/>
            </a:pPr>
            <a:endParaRPr lang="en-US" sz="2000" b="0" dirty="0">
              <a:solidFill>
                <a:srgbClr val="000000"/>
              </a:solidFill>
              <a:effectLst/>
              <a:latin typeface="Courier New" panose="02070309020205020404" pitchFamily="49" charset="0"/>
            </a:endParaRPr>
          </a:p>
          <a:p>
            <a:pPr>
              <a:lnSpc>
                <a:spcPct val="80000"/>
              </a:lnSpc>
              <a:buFontTx/>
              <a:buNone/>
            </a:pPr>
            <a:endParaRPr lang="en-US" altLang="sr-Latn-RS" sz="1600" dirty="0"/>
          </a:p>
          <a:p>
            <a:pPr>
              <a:lnSpc>
                <a:spcPct val="80000"/>
              </a:lnSpc>
              <a:buFontTx/>
              <a:buNone/>
            </a:pPr>
            <a:r>
              <a:rPr lang="en-US" altLang="sr-Latn-RS" sz="1600" dirty="0"/>
              <a:t>[[23847.66389633  8240.41143229  5499.67969815  5224.84440591   5216.98343761]</a:t>
            </a:r>
          </a:p>
          <a:p>
            <a:pPr>
              <a:lnSpc>
                <a:spcPct val="80000"/>
              </a:lnSpc>
              <a:buFontTx/>
              <a:buNone/>
            </a:pPr>
            <a:r>
              <a:rPr lang="en-US" altLang="sr-Latn-RS" sz="1600" dirty="0"/>
              <a:t> [12142.2245483   5670.97543154  5229.13870735  5217.01414452      0.        ]</a:t>
            </a:r>
          </a:p>
          <a:p>
            <a:pPr>
              <a:lnSpc>
                <a:spcPct val="80000"/>
              </a:lnSpc>
              <a:buFontTx/>
              <a:buNone/>
            </a:pPr>
            <a:r>
              <a:rPr lang="en-US" altLang="sr-Latn-RS" sz="1600" dirty="0"/>
              <a:t> [ 7288.78771073  5256.75350261  5217.20359081     0.       0.        ]</a:t>
            </a:r>
          </a:p>
          <a:p>
            <a:pPr>
              <a:lnSpc>
                <a:spcPct val="80000"/>
              </a:lnSpc>
              <a:buFontTx/>
              <a:buNone/>
            </a:pPr>
            <a:r>
              <a:rPr lang="en-US" altLang="sr-Latn-RS" sz="1600" dirty="0"/>
              <a:t> [ 5764.76205464  5219.6754603      0.             0.       0.        ]</a:t>
            </a:r>
          </a:p>
          <a:p>
            <a:pPr>
              <a:lnSpc>
                <a:spcPct val="80000"/>
              </a:lnSpc>
              <a:buFontTx/>
              <a:buNone/>
            </a:pPr>
            <a:r>
              <a:rPr lang="en-US" altLang="sr-Latn-RS" sz="1600" dirty="0"/>
              <a:t> [ 5355.94710888     0.             0.             0.      0.        ]]</a:t>
            </a:r>
          </a:p>
          <a:p>
            <a:pPr>
              <a:lnSpc>
                <a:spcPct val="80000"/>
              </a:lnSpc>
              <a:buFontTx/>
              <a:buNone/>
            </a:pPr>
            <a:endParaRPr lang="en-US" altLang="sr-Latn-RS" sz="1600" dirty="0"/>
          </a:p>
          <a:p>
            <a:pPr>
              <a:lnSpc>
                <a:spcPct val="80000"/>
              </a:lnSpc>
              <a:buFontTx/>
              <a:buNone/>
            </a:pPr>
            <a:r>
              <a:rPr lang="en-US" altLang="sr-Latn-RS" sz="1600" dirty="0"/>
              <a:t>5216.983437609815</a:t>
            </a:r>
          </a:p>
        </p:txBody>
      </p:sp>
      <p:graphicFrame>
        <p:nvGraphicFramePr>
          <p:cNvPr id="60420" name="Object 4"/>
          <p:cNvGraphicFramePr>
            <a:graphicFrameLocks noChangeAspect="1"/>
          </p:cNvGraphicFramePr>
          <p:nvPr/>
        </p:nvGraphicFramePr>
        <p:xfrm>
          <a:off x="4071938" y="1303338"/>
          <a:ext cx="4157662" cy="725487"/>
        </p:xfrm>
        <a:graphic>
          <a:graphicData uri="http://schemas.openxmlformats.org/presentationml/2006/ole">
            <mc:AlternateContent xmlns:mc="http://schemas.openxmlformats.org/markup-compatibility/2006">
              <mc:Choice xmlns:v="urn:schemas-microsoft-com:vml" Requires="v">
                <p:oleObj name="Equation" r:id="rId2" imgW="1892300" imgH="330200" progId="Equation.3">
                  <p:embed/>
                </p:oleObj>
              </mc:Choice>
              <mc:Fallback>
                <p:oleObj name="Equation" r:id="rId2" imgW="18923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1938" y="1303338"/>
                        <a:ext cx="4157662" cy="725487"/>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637285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sr-Latn-RS" altLang="sr-Latn-RS" dirty="0" err="1"/>
              <a:t>Gausova</a:t>
            </a:r>
            <a:r>
              <a:rPr lang="sr-Latn-RS" altLang="sr-Latn-RS" dirty="0"/>
              <a:t> kvadratura</a:t>
            </a:r>
          </a:p>
        </p:txBody>
      </p:sp>
      <p:sp>
        <p:nvSpPr>
          <p:cNvPr id="62467" name="Rectangle 3"/>
          <p:cNvSpPr>
            <a:spLocks noGrp="1" noChangeArrowheads="1"/>
          </p:cNvSpPr>
          <p:nvPr>
            <p:ph type="body" idx="1"/>
          </p:nvPr>
        </p:nvSpPr>
        <p:spPr/>
        <p:txBody>
          <a:bodyPr/>
          <a:lstStyle/>
          <a:p>
            <a:pPr>
              <a:lnSpc>
                <a:spcPct val="90000"/>
              </a:lnSpc>
            </a:pPr>
            <a:r>
              <a:rPr lang="sr-Latn-RS" altLang="sr-Latn-RS" dirty="0"/>
              <a:t>Karakteristika Njut-Kotesovih metoda je da koriste krajnje tačke intervala tj. a i b.</a:t>
            </a:r>
            <a:endParaRPr lang="en-US" altLang="sr-Latn-RS" dirty="0"/>
          </a:p>
          <a:p>
            <a:pPr>
              <a:lnSpc>
                <a:spcPct val="90000"/>
              </a:lnSpc>
            </a:pPr>
            <a:endParaRPr lang="sr-Latn-RS" altLang="sr-Latn-RS" dirty="0"/>
          </a:p>
          <a:p>
            <a:pPr>
              <a:lnSpc>
                <a:spcPct val="90000"/>
              </a:lnSpc>
            </a:pPr>
            <a:r>
              <a:rPr lang="sr-Latn-RS" altLang="sr-Latn-RS" dirty="0"/>
              <a:t>Na primer kod metode trapeza funkciju aproksimiramo pravom na [a,b].</a:t>
            </a:r>
          </a:p>
          <a:p>
            <a:pPr>
              <a:lnSpc>
                <a:spcPct val="90000"/>
              </a:lnSpc>
            </a:pPr>
            <a:endParaRPr lang="en-US" altLang="sr-Latn-RS" dirty="0"/>
          </a:p>
          <a:p>
            <a:pPr>
              <a:lnSpc>
                <a:spcPct val="90000"/>
              </a:lnSpc>
            </a:pPr>
            <a:r>
              <a:rPr lang="sr-Latn-RS" altLang="sr-Latn-RS" dirty="0"/>
              <a:t>Ideja iza Gausove kvadrature je da je za metodu moguće odabrati druge tačke intervala.</a:t>
            </a:r>
          </a:p>
          <a:p>
            <a:pPr>
              <a:lnSpc>
                <a:spcPct val="90000"/>
              </a:lnSpc>
            </a:pPr>
            <a:endParaRPr lang="en-US" altLang="sr-Latn-RS" dirty="0"/>
          </a:p>
          <a:p>
            <a:pPr>
              <a:lnSpc>
                <a:spcPct val="90000"/>
              </a:lnSpc>
            </a:pPr>
            <a:r>
              <a:rPr lang="sr-Latn-RS" altLang="sr-Latn-RS" dirty="0"/>
              <a:t>Cilj je da se tačke odberu tako da se poveća tačnost metode.</a:t>
            </a:r>
          </a:p>
        </p:txBody>
      </p:sp>
    </p:spTree>
    <p:extLst>
      <p:ext uri="{BB962C8B-B14F-4D97-AF65-F5344CB8AC3E}">
        <p14:creationId xmlns:p14="http://schemas.microsoft.com/office/powerpoint/2010/main" val="419849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animEffect transition="in" filter="fade">
                                      <p:cBhvr>
                                        <p:cTn id="7" dur="500"/>
                                        <p:tgtEl>
                                          <p:spTgt spid="624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2467">
                                            <p:txEl>
                                              <p:pRg st="2" end="2"/>
                                            </p:txEl>
                                          </p:spTgt>
                                        </p:tgtEl>
                                        <p:attrNameLst>
                                          <p:attrName>style.visibility</p:attrName>
                                        </p:attrNameLst>
                                      </p:cBhvr>
                                      <p:to>
                                        <p:strVal val="visible"/>
                                      </p:to>
                                    </p:set>
                                    <p:animEffect transition="in" filter="fade">
                                      <p:cBhvr>
                                        <p:cTn id="12" dur="500"/>
                                        <p:tgtEl>
                                          <p:spTgt spid="6246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2467">
                                            <p:txEl>
                                              <p:pRg st="4" end="4"/>
                                            </p:txEl>
                                          </p:spTgt>
                                        </p:tgtEl>
                                        <p:attrNameLst>
                                          <p:attrName>style.visibility</p:attrName>
                                        </p:attrNameLst>
                                      </p:cBhvr>
                                      <p:to>
                                        <p:strVal val="visible"/>
                                      </p:to>
                                    </p:set>
                                    <p:animEffect transition="in" filter="fade">
                                      <p:cBhvr>
                                        <p:cTn id="17" dur="500"/>
                                        <p:tgtEl>
                                          <p:spTgt spid="6246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2467">
                                            <p:txEl>
                                              <p:pRg st="6" end="6"/>
                                            </p:txEl>
                                          </p:spTgt>
                                        </p:tgtEl>
                                        <p:attrNameLst>
                                          <p:attrName>style.visibility</p:attrName>
                                        </p:attrNameLst>
                                      </p:cBhvr>
                                      <p:to>
                                        <p:strVal val="visible"/>
                                      </p:to>
                                    </p:set>
                                    <p:animEffect transition="in" filter="fade">
                                      <p:cBhvr>
                                        <p:cTn id="22" dur="500"/>
                                        <p:tgtEl>
                                          <p:spTgt spid="624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normAutofit/>
          </a:bodyPr>
          <a:lstStyle/>
          <a:p>
            <a:r>
              <a:rPr lang="sr-Latn-RS" altLang="sr-Latn-RS" sz="4000" dirty="0"/>
              <a:t>Gausova kvadratura za dve tačke</a:t>
            </a:r>
          </a:p>
        </p:txBody>
      </p:sp>
      <p:sp>
        <p:nvSpPr>
          <p:cNvPr id="64515" name="Rectangle 3"/>
          <p:cNvSpPr>
            <a:spLocks noGrp="1" noChangeArrowheads="1"/>
          </p:cNvSpPr>
          <p:nvPr>
            <p:ph type="body" idx="1"/>
          </p:nvPr>
        </p:nvSpPr>
        <p:spPr/>
        <p:txBody>
          <a:bodyPr/>
          <a:lstStyle/>
          <a:p>
            <a:r>
              <a:rPr lang="sr-Latn-RS" altLang="sr-Latn-RS" sz="2400"/>
              <a:t>Logično pitanje je da li smo mogli da odabremo neke druge dve tačke, osim a i b </a:t>
            </a:r>
            <a:r>
              <a:rPr lang="en-US" altLang="sr-Latn-RS" sz="2400"/>
              <a:t>i </a:t>
            </a:r>
            <a:r>
              <a:rPr lang="sr-Latn-RS" altLang="sr-Latn-RS" sz="2400"/>
              <a:t>tako da dobijemo bolju procenu integrala.</a:t>
            </a:r>
          </a:p>
        </p:txBody>
      </p:sp>
      <p:pic>
        <p:nvPicPr>
          <p:cNvPr id="64516" name="Picture 5" descr="\includegraphics[width=\textwidth]{int_gauss.ep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2743200"/>
            <a:ext cx="4876800" cy="39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88206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sr-Latn-RS" altLang="sr-Latn-RS"/>
              <a:t>Gausova kvadratura</a:t>
            </a:r>
          </a:p>
        </p:txBody>
      </p:sp>
      <p:sp>
        <p:nvSpPr>
          <p:cNvPr id="63491" name="Rectangle 3"/>
          <p:cNvSpPr>
            <a:spLocks noGrp="1" noChangeArrowheads="1"/>
          </p:cNvSpPr>
          <p:nvPr>
            <p:ph type="body" idx="1"/>
          </p:nvPr>
        </p:nvSpPr>
        <p:spPr>
          <a:xfrm>
            <a:off x="304800" y="1600200"/>
            <a:ext cx="8534400" cy="4525963"/>
          </a:xfrm>
        </p:spPr>
        <p:txBody>
          <a:bodyPr/>
          <a:lstStyle/>
          <a:p>
            <a:r>
              <a:rPr lang="sr-Latn-RS" altLang="sr-Latn-RS" dirty="0"/>
              <a:t>Metodu trapeza možemo predstaviti kao problem određivanja koeficijenata c u:</a:t>
            </a:r>
          </a:p>
          <a:p>
            <a:endParaRPr lang="sr-Latn-RS" altLang="sr-Latn-RS" dirty="0"/>
          </a:p>
          <a:p>
            <a:endParaRPr lang="sr-Latn-RS" altLang="sr-Latn-RS" dirty="0"/>
          </a:p>
          <a:p>
            <a:endParaRPr lang="sr-Latn-RS" altLang="sr-Latn-RS" dirty="0"/>
          </a:p>
          <a:p>
            <a:r>
              <a:rPr lang="sr-Latn-RS" altLang="sr-Latn-RS" dirty="0"/>
              <a:t>Koeficijenti su određeni tako da imamo pravu kroz tačke (a,f(a)) i (b,f(b)).</a:t>
            </a:r>
          </a:p>
        </p:txBody>
      </p:sp>
      <p:graphicFrame>
        <p:nvGraphicFramePr>
          <p:cNvPr id="63492" name="Object 16"/>
          <p:cNvGraphicFramePr>
            <a:graphicFrameLocks noChangeAspect="1"/>
          </p:cNvGraphicFramePr>
          <p:nvPr>
            <p:extLst>
              <p:ext uri="{D42A27DB-BD31-4B8C-83A1-F6EECF244321}">
                <p14:modId xmlns:p14="http://schemas.microsoft.com/office/powerpoint/2010/main" val="4190747284"/>
              </p:ext>
            </p:extLst>
          </p:nvPr>
        </p:nvGraphicFramePr>
        <p:xfrm>
          <a:off x="2171700" y="2582862"/>
          <a:ext cx="4800600" cy="1074738"/>
        </p:xfrm>
        <a:graphic>
          <a:graphicData uri="http://schemas.openxmlformats.org/presentationml/2006/ole">
            <mc:AlternateContent xmlns:mc="http://schemas.openxmlformats.org/markup-compatibility/2006">
              <mc:Choice xmlns:v="urn:schemas-microsoft-com:vml" Requires="v">
                <p:oleObj name="Equation" r:id="rId3" imgW="3530600" imgH="787400" progId="Equation.3">
                  <p:embed/>
                </p:oleObj>
              </mc:Choice>
              <mc:Fallback>
                <p:oleObj name="Equation" r:id="rId3" imgW="3530600" imgH="787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1700" y="2582862"/>
                        <a:ext cx="4800600" cy="1074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3493" name="Object 18"/>
          <p:cNvGraphicFramePr>
            <a:graphicFrameLocks noChangeAspect="1"/>
          </p:cNvGraphicFramePr>
          <p:nvPr>
            <p:extLst>
              <p:ext uri="{D42A27DB-BD31-4B8C-83A1-F6EECF244321}">
                <p14:modId xmlns:p14="http://schemas.microsoft.com/office/powerpoint/2010/main" val="1251742456"/>
              </p:ext>
            </p:extLst>
          </p:nvPr>
        </p:nvGraphicFramePr>
        <p:xfrm>
          <a:off x="2427288" y="4724400"/>
          <a:ext cx="4289425" cy="1219200"/>
        </p:xfrm>
        <a:graphic>
          <a:graphicData uri="http://schemas.openxmlformats.org/presentationml/2006/ole">
            <mc:AlternateContent xmlns:mc="http://schemas.openxmlformats.org/markup-compatibility/2006">
              <mc:Choice xmlns:v="urn:schemas-microsoft-com:vml" Requires="v">
                <p:oleObj name="Equation" r:id="rId5" imgW="1384300" imgH="393700" progId="Equation.3">
                  <p:embed/>
                </p:oleObj>
              </mc:Choice>
              <mc:Fallback>
                <p:oleObj name="Equation" r:id="rId5" imgW="1384300" imgH="3937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7288" y="4724400"/>
                        <a:ext cx="42894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Picture 5">
            <a:extLst>
              <a:ext uri="{FF2B5EF4-FFF2-40B4-BE49-F238E27FC236}">
                <a16:creationId xmlns:a16="http://schemas.microsoft.com/office/drawing/2014/main" id="{74D78475-4899-4483-9AE7-039390C0F88C}"/>
              </a:ext>
            </a:extLst>
          </p:cNvPr>
          <p:cNvPicPr>
            <a:picLocks noChangeAspect="1"/>
          </p:cNvPicPr>
          <p:nvPr/>
        </p:nvPicPr>
        <p:blipFill>
          <a:blip r:embed="rId7"/>
          <a:stretch>
            <a:fillRect/>
          </a:stretch>
        </p:blipFill>
        <p:spPr>
          <a:xfrm>
            <a:off x="5571293" y="0"/>
            <a:ext cx="3572707" cy="1752600"/>
          </a:xfrm>
          <a:prstGeom prst="rect">
            <a:avLst/>
          </a:prstGeom>
        </p:spPr>
      </p:pic>
    </p:spTree>
    <p:extLst>
      <p:ext uri="{BB962C8B-B14F-4D97-AF65-F5344CB8AC3E}">
        <p14:creationId xmlns:p14="http://schemas.microsoft.com/office/powerpoint/2010/main" val="3444182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normAutofit/>
          </a:bodyPr>
          <a:lstStyle/>
          <a:p>
            <a:r>
              <a:rPr lang="sr-Latn-RS" altLang="sr-Latn-RS" sz="4000" dirty="0"/>
              <a:t>Gausova kvadratura za dve tačke</a:t>
            </a:r>
          </a:p>
        </p:txBody>
      </p:sp>
      <p:sp>
        <p:nvSpPr>
          <p:cNvPr id="65539" name="Rectangle 3"/>
          <p:cNvSpPr>
            <a:spLocks noGrp="1" noChangeArrowheads="1"/>
          </p:cNvSpPr>
          <p:nvPr>
            <p:ph type="body" idx="1"/>
          </p:nvPr>
        </p:nvSpPr>
        <p:spPr/>
        <p:txBody>
          <a:bodyPr/>
          <a:lstStyle/>
          <a:p>
            <a:r>
              <a:rPr lang="sr-Latn-RS" altLang="sr-Latn-RS" dirty="0"/>
              <a:t>Formalnije, cilj nam je da odredimo koeficijente c</a:t>
            </a:r>
            <a:r>
              <a:rPr lang="sr-Latn-RS" altLang="sr-Latn-RS" baseline="-25000" dirty="0"/>
              <a:t>1</a:t>
            </a:r>
            <a:r>
              <a:rPr lang="sr-Latn-RS" altLang="sr-Latn-RS" dirty="0"/>
              <a:t> i c</a:t>
            </a:r>
            <a:r>
              <a:rPr lang="sr-Latn-RS" altLang="sr-Latn-RS" baseline="-25000" dirty="0"/>
              <a:t>2</a:t>
            </a:r>
            <a:r>
              <a:rPr lang="sr-Latn-RS" altLang="sr-Latn-RS" dirty="0"/>
              <a:t>, kao i tačke x</a:t>
            </a:r>
            <a:r>
              <a:rPr lang="sr-Latn-RS" altLang="sr-Latn-RS" baseline="-25000" dirty="0"/>
              <a:t>1</a:t>
            </a:r>
            <a:r>
              <a:rPr lang="sr-Latn-RS" altLang="sr-Latn-RS" dirty="0"/>
              <a:t> i x</a:t>
            </a:r>
            <a:r>
              <a:rPr lang="sr-Latn-RS" altLang="sr-Latn-RS" baseline="-25000" dirty="0"/>
              <a:t>2</a:t>
            </a:r>
            <a:r>
              <a:rPr lang="sr-Latn-RS" altLang="sr-Latn-RS" dirty="0"/>
              <a:t> u:</a:t>
            </a:r>
            <a:endParaRPr lang="en-US" altLang="sr-Latn-RS" dirty="0"/>
          </a:p>
          <a:p>
            <a:endParaRPr lang="sr-Latn-RS" altLang="sr-Latn-RS" dirty="0"/>
          </a:p>
          <a:p>
            <a:endParaRPr lang="sr-Latn-RS" altLang="sr-Latn-RS" dirty="0"/>
          </a:p>
          <a:p>
            <a:endParaRPr lang="sr-Latn-RS" altLang="sr-Latn-RS" dirty="0"/>
          </a:p>
          <a:p>
            <a:r>
              <a:rPr lang="sr-Latn-RS" altLang="sr-Latn-RS" dirty="0"/>
              <a:t>tako da dobijemo bolju tačnost od metode trapeza.</a:t>
            </a:r>
          </a:p>
        </p:txBody>
      </p:sp>
      <p:grpSp>
        <p:nvGrpSpPr>
          <p:cNvPr id="65540" name="Group 33"/>
          <p:cNvGrpSpPr>
            <a:grpSpLocks/>
          </p:cNvGrpSpPr>
          <p:nvPr/>
        </p:nvGrpSpPr>
        <p:grpSpPr bwMode="auto">
          <a:xfrm>
            <a:off x="1638300" y="2562225"/>
            <a:ext cx="5867400" cy="1171575"/>
            <a:chOff x="960" y="2832"/>
            <a:chExt cx="2742" cy="498"/>
          </a:xfrm>
        </p:grpSpPr>
        <p:graphicFrame>
          <p:nvGraphicFramePr>
            <p:cNvPr id="65541" name="Object 29"/>
            <p:cNvGraphicFramePr>
              <a:graphicFrameLocks noChangeAspect="1"/>
            </p:cNvGraphicFramePr>
            <p:nvPr/>
          </p:nvGraphicFramePr>
          <p:xfrm>
            <a:off x="960" y="2832"/>
            <a:ext cx="1008" cy="498"/>
          </p:xfrm>
          <a:graphic>
            <a:graphicData uri="http://schemas.openxmlformats.org/presentationml/2006/ole">
              <mc:AlternateContent xmlns:mc="http://schemas.openxmlformats.org/markup-compatibility/2006">
                <mc:Choice xmlns:v="urn:schemas-microsoft-com:vml" Requires="v">
                  <p:oleObj name="Equation" r:id="rId2" imgW="1600200" imgH="787400" progId="Equation.3">
                    <p:embed/>
                  </p:oleObj>
                </mc:Choice>
                <mc:Fallback>
                  <p:oleObj name="Equation" r:id="rId2" imgW="1600200" imgH="787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 y="2832"/>
                          <a:ext cx="1008"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5542" name="Object 31"/>
            <p:cNvGraphicFramePr>
              <a:graphicFrameLocks noChangeAspect="1"/>
            </p:cNvGraphicFramePr>
            <p:nvPr/>
          </p:nvGraphicFramePr>
          <p:xfrm>
            <a:off x="2064" y="2928"/>
            <a:ext cx="1638" cy="234"/>
          </p:xfrm>
          <a:graphic>
            <a:graphicData uri="http://schemas.openxmlformats.org/presentationml/2006/ole">
              <mc:AlternateContent xmlns:mc="http://schemas.openxmlformats.org/markup-compatibility/2006">
                <mc:Choice xmlns:v="urn:schemas-microsoft-com:vml" Requires="v">
                  <p:oleObj name="Equation" r:id="rId4" imgW="2603500" imgH="368300" progId="Equation.3">
                    <p:embed/>
                  </p:oleObj>
                </mc:Choice>
                <mc:Fallback>
                  <p:oleObj name="Equation" r:id="rId4" imgW="2603500" imgH="3683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4" y="2928"/>
                          <a:ext cx="163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352022038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normAutofit/>
          </a:bodyPr>
          <a:lstStyle/>
          <a:p>
            <a:r>
              <a:rPr lang="sr-Latn-RS" altLang="sr-Latn-RS" sz="4000" dirty="0"/>
              <a:t>Gausova kvadratura za dve tačke</a:t>
            </a:r>
          </a:p>
        </p:txBody>
      </p:sp>
      <p:sp>
        <p:nvSpPr>
          <p:cNvPr id="66563" name="Rectangle 3"/>
          <p:cNvSpPr>
            <a:spLocks noGrp="1" noChangeArrowheads="1"/>
          </p:cNvSpPr>
          <p:nvPr>
            <p:ph type="body" idx="1"/>
          </p:nvPr>
        </p:nvSpPr>
        <p:spPr/>
        <p:txBody>
          <a:bodyPr/>
          <a:lstStyle/>
          <a:p>
            <a:r>
              <a:rPr lang="sr-Latn-RS" altLang="sr-Latn-RS" dirty="0"/>
              <a:t>Koeficijent</a:t>
            </a:r>
            <a:r>
              <a:rPr lang="en-US" altLang="sr-Latn-RS" dirty="0" err="1"/>
              <a:t>i</a:t>
            </a:r>
            <a:r>
              <a:rPr lang="en-US" altLang="sr-Latn-RS" dirty="0"/>
              <a:t> k</a:t>
            </a:r>
            <a:r>
              <a:rPr lang="sr-Latn-RS" altLang="sr-Latn-RS" sz="2400" dirty="0"/>
              <a:t>od Gausove kvadrature za dve tačke se određuju tako da njihovom upotrebom dobijamo tačan rezultat za integral bilo ko</a:t>
            </a:r>
            <a:r>
              <a:rPr lang="en-US" altLang="sr-Latn-RS" sz="2400" dirty="0"/>
              <a:t>g</a:t>
            </a:r>
            <a:r>
              <a:rPr lang="sr-Latn-RS" altLang="sr-Latn-RS" sz="2400" dirty="0"/>
              <a:t> polinom</a:t>
            </a:r>
            <a:r>
              <a:rPr lang="en-US" altLang="sr-Latn-RS" sz="2400" dirty="0"/>
              <a:t>a</a:t>
            </a:r>
            <a:r>
              <a:rPr lang="sr-Latn-RS" altLang="sr-Latn-RS" sz="2400" dirty="0"/>
              <a:t> trećeg reda:</a:t>
            </a:r>
          </a:p>
          <a:p>
            <a:endParaRPr lang="sr-Latn-RS" altLang="sr-Latn-RS" sz="2400" dirty="0"/>
          </a:p>
        </p:txBody>
      </p:sp>
      <p:graphicFrame>
        <p:nvGraphicFramePr>
          <p:cNvPr id="66564" name="Object 5"/>
          <p:cNvGraphicFramePr>
            <a:graphicFrameLocks noChangeAspect="1"/>
          </p:cNvGraphicFramePr>
          <p:nvPr>
            <p:extLst>
              <p:ext uri="{D42A27DB-BD31-4B8C-83A1-F6EECF244321}">
                <p14:modId xmlns:p14="http://schemas.microsoft.com/office/powerpoint/2010/main" val="1042869436"/>
              </p:ext>
            </p:extLst>
          </p:nvPr>
        </p:nvGraphicFramePr>
        <p:xfrm>
          <a:off x="2667000" y="2979737"/>
          <a:ext cx="3810000" cy="449263"/>
        </p:xfrm>
        <a:graphic>
          <a:graphicData uri="http://schemas.openxmlformats.org/presentationml/2006/ole">
            <mc:AlternateContent xmlns:mc="http://schemas.openxmlformats.org/markup-compatibility/2006">
              <mc:Choice xmlns:v="urn:schemas-microsoft-com:vml" Requires="v">
                <p:oleObj name="Equation" r:id="rId3" imgW="3632200" imgH="431800" progId="Equation.3">
                  <p:embed/>
                </p:oleObj>
              </mc:Choice>
              <mc:Fallback>
                <p:oleObj name="Equation" r:id="rId3" imgW="3632200" imgH="4318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2979737"/>
                        <a:ext cx="3810000"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5" name="Object 10"/>
          <p:cNvGraphicFramePr>
            <a:graphicFrameLocks noChangeAspect="1"/>
          </p:cNvGraphicFramePr>
          <p:nvPr/>
        </p:nvGraphicFramePr>
        <p:xfrm>
          <a:off x="533400" y="3733800"/>
          <a:ext cx="4791075" cy="790575"/>
        </p:xfrm>
        <a:graphic>
          <a:graphicData uri="http://schemas.openxmlformats.org/presentationml/2006/ole">
            <mc:AlternateContent xmlns:mc="http://schemas.openxmlformats.org/markup-compatibility/2006">
              <mc:Choice xmlns:v="urn:schemas-microsoft-com:vml" Requires="v">
                <p:oleObj name="Equation" r:id="rId5" imgW="4787900" imgH="787400" progId="Equation.3">
                  <p:embed/>
                </p:oleObj>
              </mc:Choice>
              <mc:Fallback>
                <p:oleObj name="Equation" r:id="rId5" imgW="4787900" imgH="787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3733800"/>
                        <a:ext cx="47910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6" name="Object 9"/>
          <p:cNvGraphicFramePr>
            <a:graphicFrameLocks noChangeAspect="1"/>
          </p:cNvGraphicFramePr>
          <p:nvPr/>
        </p:nvGraphicFramePr>
        <p:xfrm>
          <a:off x="1752600" y="4572000"/>
          <a:ext cx="3648075" cy="954088"/>
        </p:xfrm>
        <a:graphic>
          <a:graphicData uri="http://schemas.openxmlformats.org/presentationml/2006/ole">
            <mc:AlternateContent xmlns:mc="http://schemas.openxmlformats.org/markup-compatibility/2006">
              <mc:Choice xmlns:v="urn:schemas-microsoft-com:vml" Requires="v">
                <p:oleObj name="Equation" r:id="rId7" imgW="1930400" imgH="508000" progId="Equation.3">
                  <p:embed/>
                </p:oleObj>
              </mc:Choice>
              <mc:Fallback>
                <p:oleObj name="Equation" r:id="rId7" imgW="1930400" imgH="5080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52600" y="4572000"/>
                        <a:ext cx="36480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6567" name="Object 8"/>
          <p:cNvGraphicFramePr>
            <a:graphicFrameLocks noChangeAspect="1"/>
          </p:cNvGraphicFramePr>
          <p:nvPr/>
        </p:nvGraphicFramePr>
        <p:xfrm>
          <a:off x="1752600" y="5562600"/>
          <a:ext cx="6734175" cy="885825"/>
        </p:xfrm>
        <a:graphic>
          <a:graphicData uri="http://schemas.openxmlformats.org/presentationml/2006/ole">
            <mc:AlternateContent xmlns:mc="http://schemas.openxmlformats.org/markup-compatibility/2006">
              <mc:Choice xmlns:v="urn:schemas-microsoft-com:vml" Requires="v">
                <p:oleObj name="Equation" r:id="rId9" imgW="6731000" imgH="889000" progId="Equation.3">
                  <p:embed/>
                </p:oleObj>
              </mc:Choice>
              <mc:Fallback>
                <p:oleObj name="Equation" r:id="rId9" imgW="6731000" imgH="8890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52600" y="5562600"/>
                        <a:ext cx="673417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Rectangle 1">
            <a:extLst>
              <a:ext uri="{FF2B5EF4-FFF2-40B4-BE49-F238E27FC236}">
                <a16:creationId xmlns:a16="http://schemas.microsoft.com/office/drawing/2014/main" id="{185DF760-F7A9-4FC9-9D05-ADE8C8C1571A}"/>
              </a:ext>
            </a:extLst>
          </p:cNvPr>
          <p:cNvSpPr/>
          <p:nvPr/>
        </p:nvSpPr>
        <p:spPr>
          <a:xfrm>
            <a:off x="1905000" y="5526088"/>
            <a:ext cx="6734175" cy="1027112"/>
          </a:xfrm>
          <a:prstGeom prst="rect">
            <a:avLst/>
          </a:prstGeom>
          <a:solidFill>
            <a:srgbClr val="92D050">
              <a:alpha val="37000"/>
            </a:srgb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6300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normAutofit/>
          </a:bodyPr>
          <a:lstStyle/>
          <a:p>
            <a:r>
              <a:rPr lang="sr-Latn-RS" altLang="sr-Latn-RS" sz="4000" dirty="0"/>
              <a:t>Gausova kvadratura za dve tačke</a:t>
            </a:r>
          </a:p>
        </p:txBody>
      </p:sp>
      <p:sp>
        <p:nvSpPr>
          <p:cNvPr id="67587" name="Rectangle 3"/>
          <p:cNvSpPr>
            <a:spLocks noGrp="1" noChangeArrowheads="1"/>
          </p:cNvSpPr>
          <p:nvPr>
            <p:ph type="body" idx="1"/>
          </p:nvPr>
        </p:nvSpPr>
        <p:spPr/>
        <p:txBody>
          <a:bodyPr/>
          <a:lstStyle/>
          <a:p>
            <a:r>
              <a:rPr lang="en-US" altLang="sr-Latn-RS"/>
              <a:t> Iz                                             </a:t>
            </a:r>
            <a:r>
              <a:rPr lang="sr-Latn-RS" altLang="sr-Latn-RS"/>
              <a:t>sledi:</a:t>
            </a:r>
          </a:p>
        </p:txBody>
      </p:sp>
      <p:graphicFrame>
        <p:nvGraphicFramePr>
          <p:cNvPr id="67588" name="Object 90"/>
          <p:cNvGraphicFramePr>
            <a:graphicFrameLocks noChangeAspect="1"/>
          </p:cNvGraphicFramePr>
          <p:nvPr/>
        </p:nvGraphicFramePr>
        <p:xfrm>
          <a:off x="152400" y="2427288"/>
          <a:ext cx="8839200" cy="811212"/>
        </p:xfrm>
        <a:graphic>
          <a:graphicData uri="http://schemas.openxmlformats.org/presentationml/2006/ole">
            <mc:AlternateContent xmlns:mc="http://schemas.openxmlformats.org/markup-compatibility/2006">
              <mc:Choice xmlns:v="urn:schemas-microsoft-com:vml" Requires="v">
                <p:oleObj name="Equation" r:id="rId2" imgW="8623300" imgH="787400" progId="Equation.3">
                  <p:embed/>
                </p:oleObj>
              </mc:Choice>
              <mc:Fallback>
                <p:oleObj name="Equation" r:id="rId2" imgW="8623300" imgH="787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427288"/>
                        <a:ext cx="8839200"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89" name="Object 95"/>
          <p:cNvGraphicFramePr>
            <a:graphicFrameLocks noChangeAspect="1"/>
          </p:cNvGraphicFramePr>
          <p:nvPr/>
        </p:nvGraphicFramePr>
        <p:xfrm>
          <a:off x="609600" y="4800600"/>
          <a:ext cx="6486525" cy="885825"/>
        </p:xfrm>
        <a:graphic>
          <a:graphicData uri="http://schemas.openxmlformats.org/presentationml/2006/ole">
            <mc:AlternateContent xmlns:mc="http://schemas.openxmlformats.org/markup-compatibility/2006">
              <mc:Choice xmlns:v="urn:schemas-microsoft-com:vml" Requires="v">
                <p:oleObj name="Equation" r:id="rId4" imgW="6489700" imgH="889000" progId="Equation.3">
                  <p:embed/>
                </p:oleObj>
              </mc:Choice>
              <mc:Fallback>
                <p:oleObj name="Equation" r:id="rId4" imgW="6489700" imgH="889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4800600"/>
                        <a:ext cx="6486525"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0" name="Object 93"/>
          <p:cNvGraphicFramePr>
            <a:graphicFrameLocks noChangeAspect="1"/>
          </p:cNvGraphicFramePr>
          <p:nvPr/>
        </p:nvGraphicFramePr>
        <p:xfrm>
          <a:off x="609600" y="3198813"/>
          <a:ext cx="8443913" cy="458787"/>
        </p:xfrm>
        <a:graphic>
          <a:graphicData uri="http://schemas.openxmlformats.org/presentationml/2006/ole">
            <mc:AlternateContent xmlns:mc="http://schemas.openxmlformats.org/markup-compatibility/2006">
              <mc:Choice xmlns:v="urn:schemas-microsoft-com:vml" Requires="v">
                <p:oleObj name="Equation" r:id="rId6" imgW="8242300" imgH="444500" progId="Equation.3">
                  <p:embed/>
                </p:oleObj>
              </mc:Choice>
              <mc:Fallback>
                <p:oleObj name="Equation" r:id="rId6" imgW="8242300" imgH="444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3198813"/>
                        <a:ext cx="8443913"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1" name="Object 93"/>
          <p:cNvGraphicFramePr>
            <a:graphicFrameLocks noChangeAspect="1"/>
          </p:cNvGraphicFramePr>
          <p:nvPr/>
        </p:nvGraphicFramePr>
        <p:xfrm>
          <a:off x="533400" y="5791200"/>
          <a:ext cx="8239125" cy="447675"/>
        </p:xfrm>
        <a:graphic>
          <a:graphicData uri="http://schemas.openxmlformats.org/presentationml/2006/ole">
            <mc:AlternateContent xmlns:mc="http://schemas.openxmlformats.org/markup-compatibility/2006">
              <mc:Choice xmlns:v="urn:schemas-microsoft-com:vml" Requires="v">
                <p:oleObj name="Equation" r:id="rId8" imgW="8242300" imgH="444500" progId="Equation.3">
                  <p:embed/>
                </p:oleObj>
              </mc:Choice>
              <mc:Fallback>
                <p:oleObj name="Equation" r:id="rId8" imgW="8242300" imgH="4445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5791200"/>
                        <a:ext cx="823912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7592" name="Rectangle 92"/>
          <p:cNvSpPr>
            <a:spLocks noChangeArrowheads="1"/>
          </p:cNvSpPr>
          <p:nvPr/>
        </p:nvSpPr>
        <p:spPr bwMode="auto">
          <a:xfrm>
            <a:off x="228600" y="4120684"/>
            <a:ext cx="8915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pPr>
            <a:r>
              <a:rPr lang="sr-Latn-RS" altLang="sr-Latn-RS" sz="2800" dirty="0"/>
              <a:t>  Ako izjednačimo </a:t>
            </a:r>
            <a:r>
              <a:rPr lang="en-US" altLang="sr-Latn-RS" sz="2800" dirty="0" err="1"/>
              <a:t>ovu</a:t>
            </a:r>
            <a:r>
              <a:rPr lang="en-US" altLang="sr-Latn-RS" sz="2800" dirty="0"/>
              <a:t> </a:t>
            </a:r>
            <a:r>
              <a:rPr lang="en-US" altLang="sr-Latn-RS" sz="2800" dirty="0" err="1"/>
              <a:t>i</a:t>
            </a:r>
            <a:r>
              <a:rPr lang="en-US" altLang="sr-Latn-RS" sz="2800" dirty="0"/>
              <a:t> </a:t>
            </a:r>
            <a:r>
              <a:rPr lang="sr-Latn-RS" altLang="sr-Latn-RS" sz="2800" dirty="0"/>
              <a:t>formul</a:t>
            </a:r>
            <a:r>
              <a:rPr lang="en-US" altLang="sr-Latn-RS" sz="2800" dirty="0"/>
              <a:t>u </a:t>
            </a:r>
            <a:r>
              <a:rPr lang="en-US" altLang="sr-Latn-RS" sz="2800" dirty="0" err="1"/>
              <a:t>sa</a:t>
            </a:r>
            <a:r>
              <a:rPr lang="en-US" altLang="sr-Latn-RS" sz="2800" dirty="0"/>
              <a:t> </a:t>
            </a:r>
            <a:r>
              <a:rPr lang="en-US" altLang="sr-Latn-RS" sz="2800" dirty="0" err="1"/>
              <a:t>prethodnog</a:t>
            </a:r>
            <a:r>
              <a:rPr lang="en-US" altLang="sr-Latn-RS" sz="2800" dirty="0"/>
              <a:t> </a:t>
            </a:r>
            <a:r>
              <a:rPr lang="en-US" altLang="sr-Latn-RS" sz="2800" dirty="0" err="1"/>
              <a:t>slajda</a:t>
            </a:r>
            <a:r>
              <a:rPr lang="sr-Latn-RS" altLang="sr-Latn-RS" sz="2800" dirty="0"/>
              <a:t>:</a:t>
            </a:r>
            <a:endParaRPr lang="en-US" altLang="sr-Latn-RS" sz="2800" dirty="0"/>
          </a:p>
        </p:txBody>
      </p:sp>
      <p:grpSp>
        <p:nvGrpSpPr>
          <p:cNvPr id="67593" name="Group 33"/>
          <p:cNvGrpSpPr>
            <a:grpSpLocks/>
          </p:cNvGrpSpPr>
          <p:nvPr/>
        </p:nvGrpSpPr>
        <p:grpSpPr bwMode="auto">
          <a:xfrm>
            <a:off x="1066800" y="1524000"/>
            <a:ext cx="3733800" cy="762000"/>
            <a:chOff x="960" y="2832"/>
            <a:chExt cx="2742" cy="498"/>
          </a:xfrm>
        </p:grpSpPr>
        <p:graphicFrame>
          <p:nvGraphicFramePr>
            <p:cNvPr id="67594" name="Object 29"/>
            <p:cNvGraphicFramePr>
              <a:graphicFrameLocks noChangeAspect="1"/>
            </p:cNvGraphicFramePr>
            <p:nvPr/>
          </p:nvGraphicFramePr>
          <p:xfrm>
            <a:off x="960" y="2832"/>
            <a:ext cx="1008" cy="498"/>
          </p:xfrm>
          <a:graphic>
            <a:graphicData uri="http://schemas.openxmlformats.org/presentationml/2006/ole">
              <mc:AlternateContent xmlns:mc="http://schemas.openxmlformats.org/markup-compatibility/2006">
                <mc:Choice xmlns:v="urn:schemas-microsoft-com:vml" Requires="v">
                  <p:oleObj name="Equation" r:id="rId9" imgW="1600200" imgH="787400" progId="Equation.3">
                    <p:embed/>
                  </p:oleObj>
                </mc:Choice>
                <mc:Fallback>
                  <p:oleObj name="Equation" r:id="rId9" imgW="1600200" imgH="7874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0" y="2832"/>
                          <a:ext cx="1008" cy="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7595" name="Object 31"/>
            <p:cNvGraphicFramePr>
              <a:graphicFrameLocks noChangeAspect="1"/>
            </p:cNvGraphicFramePr>
            <p:nvPr/>
          </p:nvGraphicFramePr>
          <p:xfrm>
            <a:off x="2064" y="2928"/>
            <a:ext cx="1638" cy="234"/>
          </p:xfrm>
          <a:graphic>
            <a:graphicData uri="http://schemas.openxmlformats.org/presentationml/2006/ole">
              <mc:AlternateContent xmlns:mc="http://schemas.openxmlformats.org/markup-compatibility/2006">
                <mc:Choice xmlns:v="urn:schemas-microsoft-com:vml" Requires="v">
                  <p:oleObj name="Equation" r:id="rId11" imgW="2603500" imgH="368300" progId="Equation.3">
                    <p:embed/>
                  </p:oleObj>
                </mc:Choice>
                <mc:Fallback>
                  <p:oleObj name="Equation" r:id="rId11" imgW="2603500" imgH="368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64" y="2928"/>
                          <a:ext cx="1638"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 name="Rectangle 11">
            <a:extLst>
              <a:ext uri="{FF2B5EF4-FFF2-40B4-BE49-F238E27FC236}">
                <a16:creationId xmlns:a16="http://schemas.microsoft.com/office/drawing/2014/main" id="{179CF1B8-0221-40F9-9A0B-E5474865A727}"/>
              </a:ext>
            </a:extLst>
          </p:cNvPr>
          <p:cNvSpPr/>
          <p:nvPr/>
        </p:nvSpPr>
        <p:spPr>
          <a:xfrm>
            <a:off x="485774" y="4679908"/>
            <a:ext cx="6734175" cy="1027112"/>
          </a:xfrm>
          <a:prstGeom prst="rect">
            <a:avLst/>
          </a:prstGeom>
          <a:solidFill>
            <a:srgbClr val="92D050">
              <a:alpha val="37000"/>
            </a:srgbClr>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422599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normAutofit/>
          </a:bodyPr>
          <a:lstStyle/>
          <a:p>
            <a:r>
              <a:rPr lang="sr-Latn-RS" altLang="sr-Latn-RS" sz="4000" dirty="0"/>
              <a:t>Gausova kvadratura za dve tačke</a:t>
            </a:r>
          </a:p>
        </p:txBody>
      </p:sp>
      <p:sp>
        <p:nvSpPr>
          <p:cNvPr id="68611" name="Rectangle 16"/>
          <p:cNvSpPr>
            <a:spLocks noChangeArrowheads="1"/>
          </p:cNvSpPr>
          <p:nvPr/>
        </p:nvSpPr>
        <p:spPr bwMode="auto">
          <a:xfrm>
            <a:off x="457200" y="1552575"/>
            <a:ext cx="80772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pPr>
            <a:r>
              <a:rPr lang="sr-Latn-RS" altLang="sr-Latn-RS" sz="2800"/>
              <a:t>  Sa obzirom na to da</a:t>
            </a:r>
            <a:r>
              <a:rPr lang="en-US" altLang="sr-Latn-RS" sz="2800">
                <a:latin typeface="Tahoma" pitchFamily="34" charset="0"/>
              </a:rPr>
              <a:t> vrednosti a</a:t>
            </a:r>
            <a:r>
              <a:rPr lang="en-US" altLang="sr-Latn-RS" sz="2800" baseline="-25000">
                <a:latin typeface="Tahoma" pitchFamily="34" charset="0"/>
              </a:rPr>
              <a:t>0</a:t>
            </a:r>
            <a:r>
              <a:rPr lang="en-US" altLang="sr-Latn-RS" sz="2800">
                <a:latin typeface="Tahoma" pitchFamily="34" charset="0"/>
              </a:rPr>
              <a:t>, a</a:t>
            </a:r>
            <a:r>
              <a:rPr lang="en-US" altLang="sr-Latn-RS" sz="2800" baseline="-25000">
                <a:latin typeface="Tahoma" pitchFamily="34" charset="0"/>
              </a:rPr>
              <a:t>1</a:t>
            </a:r>
            <a:r>
              <a:rPr lang="en-US" altLang="sr-Latn-RS" sz="2800">
                <a:latin typeface="Tahoma" pitchFamily="34" charset="0"/>
              </a:rPr>
              <a:t>, a</a:t>
            </a:r>
            <a:r>
              <a:rPr lang="en-US" altLang="sr-Latn-RS" sz="2800" baseline="-25000">
                <a:latin typeface="Tahoma" pitchFamily="34" charset="0"/>
              </a:rPr>
              <a:t>2</a:t>
            </a:r>
            <a:r>
              <a:rPr lang="en-US" altLang="sr-Latn-RS" sz="2800">
                <a:latin typeface="Tahoma" pitchFamily="34" charset="0"/>
              </a:rPr>
              <a:t>, a</a:t>
            </a:r>
            <a:r>
              <a:rPr lang="en-US" altLang="sr-Latn-RS" sz="2800" baseline="-25000">
                <a:latin typeface="Tahoma" pitchFamily="34" charset="0"/>
              </a:rPr>
              <a:t>3</a:t>
            </a:r>
            <a:r>
              <a:rPr lang="en-US" altLang="sr-Latn-RS" sz="2800">
                <a:latin typeface="Tahoma" pitchFamily="34" charset="0"/>
              </a:rPr>
              <a:t> </a:t>
            </a:r>
            <a:r>
              <a:rPr lang="sr-Latn-RS" altLang="sr-Latn-RS" sz="2800"/>
              <a:t>moraju da budu proizvoljne (jer želimo tačno rešenje za svaki polinom trećeg </a:t>
            </a:r>
            <a:r>
              <a:rPr lang="en-US" altLang="sr-Latn-RS" sz="2800"/>
              <a:t>stepena</a:t>
            </a:r>
            <a:r>
              <a:rPr lang="sr-Latn-RS" altLang="sr-Latn-RS" sz="2800"/>
              <a:t>), mora da važi:</a:t>
            </a:r>
            <a:r>
              <a:rPr lang="en-US" altLang="sr-Latn-RS" sz="2800">
                <a:latin typeface="Tahoma" pitchFamily="34" charset="0"/>
              </a:rPr>
              <a:t>  </a:t>
            </a:r>
          </a:p>
        </p:txBody>
      </p:sp>
      <p:graphicFrame>
        <p:nvGraphicFramePr>
          <p:cNvPr id="68612" name="Object 20"/>
          <p:cNvGraphicFramePr>
            <a:graphicFrameLocks noChangeAspect="1"/>
          </p:cNvGraphicFramePr>
          <p:nvPr/>
        </p:nvGraphicFramePr>
        <p:xfrm>
          <a:off x="838200" y="3309938"/>
          <a:ext cx="2362200" cy="514350"/>
        </p:xfrm>
        <a:graphic>
          <a:graphicData uri="http://schemas.openxmlformats.org/presentationml/2006/ole">
            <mc:AlternateContent xmlns:mc="http://schemas.openxmlformats.org/markup-compatibility/2006">
              <mc:Choice xmlns:v="urn:schemas-microsoft-com:vml" Requires="v">
                <p:oleObj name="Equation" r:id="rId2" imgW="1701800" imgH="368300" progId="Equation.3">
                  <p:embed/>
                </p:oleObj>
              </mc:Choice>
              <mc:Fallback>
                <p:oleObj name="Equation" r:id="rId2" imgW="1701800" imgH="3683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3309938"/>
                        <a:ext cx="2362200"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3" name="Object 19"/>
          <p:cNvGraphicFramePr>
            <a:graphicFrameLocks noChangeAspect="1"/>
          </p:cNvGraphicFramePr>
          <p:nvPr/>
        </p:nvGraphicFramePr>
        <p:xfrm>
          <a:off x="4343400" y="3124200"/>
          <a:ext cx="3048000" cy="923925"/>
        </p:xfrm>
        <a:graphic>
          <a:graphicData uri="http://schemas.openxmlformats.org/presentationml/2006/ole">
            <mc:AlternateContent xmlns:mc="http://schemas.openxmlformats.org/markup-compatibility/2006">
              <mc:Choice xmlns:v="urn:schemas-microsoft-com:vml" Requires="v">
                <p:oleObj name="Equation" r:id="rId4" imgW="2540000" imgH="774700" progId="Equation.3">
                  <p:embed/>
                </p:oleObj>
              </mc:Choice>
              <mc:Fallback>
                <p:oleObj name="Equation" r:id="rId4" imgW="2540000" imgH="774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3124200"/>
                        <a:ext cx="3048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4" name="Object 18"/>
          <p:cNvGraphicFramePr>
            <a:graphicFrameLocks noChangeAspect="1"/>
          </p:cNvGraphicFramePr>
          <p:nvPr/>
        </p:nvGraphicFramePr>
        <p:xfrm>
          <a:off x="609600" y="4267200"/>
          <a:ext cx="3352800" cy="963613"/>
        </p:xfrm>
        <a:graphic>
          <a:graphicData uri="http://schemas.openxmlformats.org/presentationml/2006/ole">
            <mc:AlternateContent xmlns:mc="http://schemas.openxmlformats.org/markup-compatibility/2006">
              <mc:Choice xmlns:v="urn:schemas-microsoft-com:vml" Requires="v">
                <p:oleObj name="Equation" r:id="rId6" imgW="2755900" imgH="787400" progId="Equation.3">
                  <p:embed/>
                </p:oleObj>
              </mc:Choice>
              <mc:Fallback>
                <p:oleObj name="Equation" r:id="rId6" imgW="2755900" imgH="7874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267200"/>
                        <a:ext cx="3352800" cy="963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15" name="Object 17"/>
          <p:cNvGraphicFramePr>
            <a:graphicFrameLocks noChangeAspect="1"/>
          </p:cNvGraphicFramePr>
          <p:nvPr/>
        </p:nvGraphicFramePr>
        <p:xfrm>
          <a:off x="4267200" y="4191000"/>
          <a:ext cx="3581400" cy="990600"/>
        </p:xfrm>
        <a:graphic>
          <a:graphicData uri="http://schemas.openxmlformats.org/presentationml/2006/ole">
            <mc:AlternateContent xmlns:mc="http://schemas.openxmlformats.org/markup-compatibility/2006">
              <mc:Choice xmlns:v="urn:schemas-microsoft-com:vml" Requires="v">
                <p:oleObj name="Equation" r:id="rId8" imgW="2794000" imgH="774700" progId="Equation.3">
                  <p:embed/>
                </p:oleObj>
              </mc:Choice>
              <mc:Fallback>
                <p:oleObj name="Equation" r:id="rId8" imgW="2794000" imgH="7747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67200" y="4191000"/>
                        <a:ext cx="3581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362902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normAutofit/>
          </a:bodyPr>
          <a:lstStyle/>
          <a:p>
            <a:r>
              <a:rPr lang="sr-Latn-RS" altLang="sr-Latn-RS" sz="4000" dirty="0"/>
              <a:t>Gausova kvadratura za dve tačke</a:t>
            </a:r>
          </a:p>
        </p:txBody>
      </p:sp>
      <p:sp>
        <p:nvSpPr>
          <p:cNvPr id="69635" name="Rectangle 3"/>
          <p:cNvSpPr>
            <a:spLocks noGrp="1" noChangeArrowheads="1"/>
          </p:cNvSpPr>
          <p:nvPr>
            <p:ph type="body" idx="1"/>
          </p:nvPr>
        </p:nvSpPr>
        <p:spPr>
          <a:xfrm>
            <a:off x="304800" y="1600200"/>
            <a:ext cx="8534400" cy="4525963"/>
          </a:xfrm>
        </p:spPr>
        <p:txBody>
          <a:bodyPr/>
          <a:lstStyle/>
          <a:p>
            <a:r>
              <a:rPr lang="sr-Latn-RS" altLang="sr-Latn-RS" sz="2800"/>
              <a:t>Prethodni sistem nelinearnih jednačina ima za rešenje:</a:t>
            </a:r>
          </a:p>
        </p:txBody>
      </p:sp>
      <p:graphicFrame>
        <p:nvGraphicFramePr>
          <p:cNvPr id="69636" name="Object 5"/>
          <p:cNvGraphicFramePr>
            <a:graphicFrameLocks noChangeAspect="1"/>
          </p:cNvGraphicFramePr>
          <p:nvPr/>
        </p:nvGraphicFramePr>
        <p:xfrm>
          <a:off x="4514850" y="2819400"/>
          <a:ext cx="150813" cy="284163"/>
        </p:xfrm>
        <a:graphic>
          <a:graphicData uri="http://schemas.openxmlformats.org/presentationml/2006/ole">
            <mc:AlternateContent xmlns:mc="http://schemas.openxmlformats.org/markup-compatibility/2006">
              <mc:Choice xmlns:v="urn:schemas-microsoft-com:vml" Requires="v">
                <p:oleObj name="Equation" r:id="rId3" imgW="114151" imgH="215619" progId="Equation.3">
                  <p:embed/>
                </p:oleObj>
              </mc:Choice>
              <mc:Fallback>
                <p:oleObj name="Equation" r:id="rId3" imgW="114151" imgH="215619"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4850" y="2819400"/>
                        <a:ext cx="150813" cy="284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9637" name="Rectangle 51"/>
          <p:cNvSpPr>
            <a:spLocks noChangeArrowheads="1"/>
          </p:cNvSpPr>
          <p:nvPr/>
        </p:nvSpPr>
        <p:spPr bwMode="auto">
          <a:xfrm>
            <a:off x="3138488" y="327977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400">
                <a:latin typeface="Times New Roman" pitchFamily="18" charset="0"/>
              </a:rPr>
              <a:t> </a:t>
            </a:r>
            <a:endParaRPr lang="en-US" altLang="sr-Latn-RS" sz="2400">
              <a:latin typeface="Times New Roman" pitchFamily="18" charset="0"/>
            </a:endParaRPr>
          </a:p>
        </p:txBody>
      </p:sp>
      <p:sp>
        <p:nvSpPr>
          <p:cNvPr id="69638" name="Rectangle 65"/>
          <p:cNvSpPr>
            <a:spLocks noChangeArrowheads="1"/>
          </p:cNvSpPr>
          <p:nvPr/>
        </p:nvSpPr>
        <p:spPr bwMode="auto">
          <a:xfrm>
            <a:off x="0" y="2100263"/>
            <a:ext cx="1098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200">
                <a:latin typeface="Times New Roman" pitchFamily="18" charset="0"/>
                <a:cs typeface="Times New Roman" pitchFamily="18" charset="0"/>
              </a:rPr>
              <a:t>	</a:t>
            </a:r>
            <a:endParaRPr lang="en-US" altLang="sr-Latn-RS" sz="2400">
              <a:latin typeface="Times New Roman" pitchFamily="18" charset="0"/>
            </a:endParaRPr>
          </a:p>
        </p:txBody>
      </p:sp>
      <p:sp>
        <p:nvSpPr>
          <p:cNvPr id="69639" name="Rectangle 69"/>
          <p:cNvSpPr>
            <a:spLocks noChangeArrowheads="1"/>
          </p:cNvSpPr>
          <p:nvPr/>
        </p:nvSpPr>
        <p:spPr bwMode="auto">
          <a:xfrm>
            <a:off x="0" y="4854575"/>
            <a:ext cx="1098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200">
                <a:latin typeface="Times New Roman" pitchFamily="18" charset="0"/>
                <a:cs typeface="Times New Roman" pitchFamily="18" charset="0"/>
              </a:rPr>
              <a:t>	</a:t>
            </a:r>
            <a:endParaRPr lang="en-US" altLang="sr-Latn-RS" sz="2400">
              <a:latin typeface="Times New Roman" pitchFamily="18" charset="0"/>
            </a:endParaRPr>
          </a:p>
        </p:txBody>
      </p:sp>
      <p:graphicFrame>
        <p:nvGraphicFramePr>
          <p:cNvPr id="69640" name="Object 82"/>
          <p:cNvGraphicFramePr>
            <a:graphicFrameLocks noChangeAspect="1"/>
          </p:cNvGraphicFramePr>
          <p:nvPr/>
        </p:nvGraphicFramePr>
        <p:xfrm>
          <a:off x="1828800" y="4441825"/>
          <a:ext cx="1568450" cy="954088"/>
        </p:xfrm>
        <a:graphic>
          <a:graphicData uri="http://schemas.openxmlformats.org/presentationml/2006/ole">
            <mc:AlternateContent xmlns:mc="http://schemas.openxmlformats.org/markup-compatibility/2006">
              <mc:Choice xmlns:v="urn:schemas-microsoft-com:vml" Requires="v">
                <p:oleObj name="Equation" r:id="rId5" imgW="1193800" imgH="723900" progId="Equation.3">
                  <p:embed/>
                </p:oleObj>
              </mc:Choice>
              <mc:Fallback>
                <p:oleObj name="Equation" r:id="rId5" imgW="1193800" imgH="723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4441825"/>
                        <a:ext cx="15684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1" name="Rectangle 84"/>
          <p:cNvSpPr>
            <a:spLocks noChangeArrowheads="1"/>
          </p:cNvSpPr>
          <p:nvPr/>
        </p:nvSpPr>
        <p:spPr bwMode="auto">
          <a:xfrm>
            <a:off x="0" y="2074863"/>
            <a:ext cx="1098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200">
                <a:latin typeface="Times New Roman" pitchFamily="18" charset="0"/>
                <a:cs typeface="Times New Roman" pitchFamily="18" charset="0"/>
              </a:rPr>
              <a:t>	</a:t>
            </a:r>
            <a:endParaRPr lang="en-US" altLang="sr-Latn-RS" sz="2400">
              <a:latin typeface="Times New Roman" pitchFamily="18" charset="0"/>
            </a:endParaRPr>
          </a:p>
        </p:txBody>
      </p:sp>
      <p:graphicFrame>
        <p:nvGraphicFramePr>
          <p:cNvPr id="69642" name="Object 81"/>
          <p:cNvGraphicFramePr>
            <a:graphicFrameLocks noChangeAspect="1"/>
          </p:cNvGraphicFramePr>
          <p:nvPr/>
        </p:nvGraphicFramePr>
        <p:xfrm>
          <a:off x="5562600" y="4365625"/>
          <a:ext cx="1619250" cy="954088"/>
        </p:xfrm>
        <a:graphic>
          <a:graphicData uri="http://schemas.openxmlformats.org/presentationml/2006/ole">
            <mc:AlternateContent xmlns:mc="http://schemas.openxmlformats.org/markup-compatibility/2006">
              <mc:Choice xmlns:v="urn:schemas-microsoft-com:vml" Requires="v">
                <p:oleObj name="Equation" r:id="rId7" imgW="1231366" imgH="723586" progId="Equation.3">
                  <p:embed/>
                </p:oleObj>
              </mc:Choice>
              <mc:Fallback>
                <p:oleObj name="Equation" r:id="rId7" imgW="1231366" imgH="72358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62600" y="4365625"/>
                        <a:ext cx="16192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3" name="Object 80"/>
          <p:cNvGraphicFramePr>
            <a:graphicFrameLocks noChangeAspect="1"/>
          </p:cNvGraphicFramePr>
          <p:nvPr/>
        </p:nvGraphicFramePr>
        <p:xfrm>
          <a:off x="228600" y="2895600"/>
          <a:ext cx="4365625" cy="1041400"/>
        </p:xfrm>
        <a:graphic>
          <a:graphicData uri="http://schemas.openxmlformats.org/presentationml/2006/ole">
            <mc:AlternateContent xmlns:mc="http://schemas.openxmlformats.org/markup-compatibility/2006">
              <mc:Choice xmlns:v="urn:schemas-microsoft-com:vml" Requires="v">
                <p:oleObj name="Equation" r:id="rId9" imgW="3314700" imgH="787400" progId="Equation.3">
                  <p:embed/>
                </p:oleObj>
              </mc:Choice>
              <mc:Fallback>
                <p:oleObj name="Equation" r:id="rId9" imgW="3314700" imgH="7874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 y="2895600"/>
                        <a:ext cx="4365625"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9644" name="Object 79"/>
          <p:cNvGraphicFramePr>
            <a:graphicFrameLocks noChangeAspect="1"/>
          </p:cNvGraphicFramePr>
          <p:nvPr/>
        </p:nvGraphicFramePr>
        <p:xfrm>
          <a:off x="4800600" y="2819400"/>
          <a:ext cx="4114800" cy="1041400"/>
        </p:xfrm>
        <a:graphic>
          <a:graphicData uri="http://schemas.openxmlformats.org/presentationml/2006/ole">
            <mc:AlternateContent xmlns:mc="http://schemas.openxmlformats.org/markup-compatibility/2006">
              <mc:Choice xmlns:v="urn:schemas-microsoft-com:vml" Requires="v">
                <p:oleObj name="Equation" r:id="rId11" imgW="3124200" imgH="787400" progId="Equation.3">
                  <p:embed/>
                </p:oleObj>
              </mc:Choice>
              <mc:Fallback>
                <p:oleObj name="Equation" r:id="rId11" imgW="3124200" imgH="7874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00600" y="2819400"/>
                        <a:ext cx="4114800" cy="104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9645" name="Rectangle 87"/>
          <p:cNvSpPr>
            <a:spLocks noChangeArrowheads="1"/>
          </p:cNvSpPr>
          <p:nvPr/>
        </p:nvSpPr>
        <p:spPr bwMode="auto">
          <a:xfrm>
            <a:off x="0" y="4721225"/>
            <a:ext cx="2286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400">
                <a:latin typeface="Times New Roman" pitchFamily="18" charset="0"/>
              </a:rPr>
              <a:t> </a:t>
            </a:r>
            <a:endParaRPr lang="en-US" altLang="sr-Latn-RS" sz="2400">
              <a:latin typeface="Times New Roman" pitchFamily="18" charset="0"/>
            </a:endParaRPr>
          </a:p>
        </p:txBody>
      </p:sp>
    </p:spTree>
    <p:extLst>
      <p:ext uri="{BB962C8B-B14F-4D97-AF65-F5344CB8AC3E}">
        <p14:creationId xmlns:p14="http://schemas.microsoft.com/office/powerpoint/2010/main" val="35153349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normAutofit/>
          </a:bodyPr>
          <a:lstStyle/>
          <a:p>
            <a:r>
              <a:rPr lang="sr-Latn-RS" altLang="sr-Latn-RS" sz="4000" dirty="0"/>
              <a:t>Gausova kvadratura za dve tačke</a:t>
            </a:r>
          </a:p>
        </p:txBody>
      </p:sp>
      <p:sp>
        <p:nvSpPr>
          <p:cNvPr id="70659" name="Rectangle 3"/>
          <p:cNvSpPr>
            <a:spLocks noGrp="1" noChangeArrowheads="1"/>
          </p:cNvSpPr>
          <p:nvPr>
            <p:ph type="body" idx="1"/>
          </p:nvPr>
        </p:nvSpPr>
        <p:spPr/>
        <p:txBody>
          <a:bodyPr/>
          <a:lstStyle/>
          <a:p>
            <a:r>
              <a:rPr lang="sr-Latn-RS" altLang="sr-Latn-RS"/>
              <a:t>Na taj način dobijamo Gausovu kvadraturu za dve tačke:</a:t>
            </a:r>
          </a:p>
        </p:txBody>
      </p:sp>
      <p:graphicFrame>
        <p:nvGraphicFramePr>
          <p:cNvPr id="70660" name="Object 26"/>
          <p:cNvGraphicFramePr>
            <a:graphicFrameLocks noChangeAspect="1"/>
          </p:cNvGraphicFramePr>
          <p:nvPr>
            <p:extLst>
              <p:ext uri="{D42A27DB-BD31-4B8C-83A1-F6EECF244321}">
                <p14:modId xmlns:p14="http://schemas.microsoft.com/office/powerpoint/2010/main" val="4137749753"/>
              </p:ext>
            </p:extLst>
          </p:nvPr>
        </p:nvGraphicFramePr>
        <p:xfrm>
          <a:off x="228600" y="2286000"/>
          <a:ext cx="8864600" cy="2133600"/>
        </p:xfrm>
        <a:graphic>
          <a:graphicData uri="http://schemas.openxmlformats.org/presentationml/2006/ole">
            <mc:AlternateContent xmlns:mc="http://schemas.openxmlformats.org/markup-compatibility/2006">
              <mc:Choice xmlns:v="urn:schemas-microsoft-com:vml" Requires="v">
                <p:oleObj name="Equation" r:id="rId2" imgW="4902200" imgH="965200" progId="Equation.3">
                  <p:embed/>
                </p:oleObj>
              </mc:Choice>
              <mc:Fallback>
                <p:oleObj name="Equation" r:id="rId2" imgW="4902200" imgH="965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286000"/>
                        <a:ext cx="88646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40967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685800" y="152400"/>
            <a:ext cx="8229600" cy="1143000"/>
          </a:xfrm>
        </p:spPr>
        <p:txBody>
          <a:bodyPr>
            <a:normAutofit fontScale="90000"/>
          </a:bodyPr>
          <a:lstStyle/>
          <a:p>
            <a:r>
              <a:rPr lang="sr-Latn-RS" altLang="sr-Latn-RS" sz="4000" dirty="0"/>
              <a:t>Gausova kvadratura za veći broj tačaka</a:t>
            </a:r>
          </a:p>
        </p:txBody>
      </p:sp>
      <mc:AlternateContent xmlns:mc="http://schemas.openxmlformats.org/markup-compatibility/2006" xmlns:a14="http://schemas.microsoft.com/office/drawing/2010/main">
        <mc:Choice Requires="a14">
          <p:sp>
            <p:nvSpPr>
              <p:cNvPr id="71683" name="Rectangle 3"/>
              <p:cNvSpPr>
                <a:spLocks noGrp="1" noChangeArrowheads="1"/>
              </p:cNvSpPr>
              <p:nvPr>
                <p:ph type="body" idx="1"/>
              </p:nvPr>
            </p:nvSpPr>
            <p:spPr>
              <a:xfrm>
                <a:off x="304800" y="1600200"/>
                <a:ext cx="8686800" cy="5105400"/>
              </a:xfrm>
            </p:spPr>
            <p:txBody>
              <a:bodyPr>
                <a:normAutofit fontScale="92500" lnSpcReduction="20000"/>
              </a:bodyPr>
              <a:lstStyle/>
              <a:p>
                <a:r>
                  <a:rPr lang="sr-Latn-RS" altLang="sr-Latn-RS" sz="2800" dirty="0"/>
                  <a:t>Gaussova kvadratura za tri tačke:</a:t>
                </a:r>
              </a:p>
              <a:p>
                <a:endParaRPr lang="sr-Latn-RS" altLang="sr-Latn-RS" sz="2800" dirty="0"/>
              </a:p>
              <a:p>
                <a:endParaRPr lang="sr-Latn-RS" altLang="sr-Latn-RS" sz="2800" dirty="0"/>
              </a:p>
              <a:p>
                <a:r>
                  <a:rPr lang="sr-Latn-RS" altLang="sr-Latn-RS" sz="2800" dirty="0"/>
                  <a:t>Zahtev je tačno rešenje za svaki polinom stepena 5.</a:t>
                </a:r>
              </a:p>
              <a:p>
                <a:endParaRPr lang="sr-Latn-RS" altLang="sr-Latn-RS" sz="2800" dirty="0"/>
              </a:p>
              <a:p>
                <a:endParaRPr lang="sr-Latn-RS" altLang="sr-Latn-RS" sz="2800" dirty="0"/>
              </a:p>
              <a:p>
                <a:r>
                  <a:rPr lang="sr-Latn-RS" altLang="sr-Latn-RS" sz="2800" dirty="0"/>
                  <a:t>Za proizvoljni broj tačaka imamo:</a:t>
                </a:r>
                <a:endParaRPr lang="en-US" altLang="sr-Latn-RS" sz="2800" dirty="0"/>
              </a:p>
              <a:p>
                <a:endParaRPr lang="en-US" altLang="sr-Latn-RS" sz="2800" dirty="0"/>
              </a:p>
              <a:p>
                <a:endParaRPr lang="en-US" altLang="sr-Latn-RS" sz="2800" dirty="0"/>
              </a:p>
              <a:p>
                <a:endParaRPr lang="en-US" altLang="sr-Latn-RS" sz="2800" dirty="0"/>
              </a:p>
              <a:p>
                <a:r>
                  <a:rPr lang="sr-Latn-RS" sz="2800" dirty="0"/>
                  <a:t>U opštem slučaju, ako želimo da koristimo </a:t>
                </a:r>
                <a14:m>
                  <m:oMath xmlns:m="http://schemas.openxmlformats.org/officeDocument/2006/math">
                    <m:r>
                      <a:rPr lang="sr-Latn-RS" sz="2800" i="1">
                        <a:latin typeface="Cambria Math"/>
                      </a:rPr>
                      <m:t>𝑛</m:t>
                    </m:r>
                  </m:oMath>
                </a14:m>
                <a:r>
                  <a:rPr lang="sr-Latn-RS" sz="2800" dirty="0"/>
                  <a:t> tačaka i pri tome </a:t>
                </a:r>
                <a14:m>
                  <m:oMath xmlns:m="http://schemas.openxmlformats.org/officeDocument/2006/math">
                    <m:r>
                      <a:rPr lang="sr-Latn-RS" sz="2800" i="1">
                        <a:latin typeface="Cambria Math"/>
                      </a:rPr>
                      <m:t>𝑛</m:t>
                    </m:r>
                  </m:oMath>
                </a14:m>
                <a:r>
                  <a:rPr lang="sr-Latn-RS" sz="2800" dirty="0"/>
                  <a:t> koeficijenata, onda zahtevamo tačnost za polinome stepena </a:t>
                </a:r>
                <a14:m>
                  <m:oMath xmlns:m="http://schemas.openxmlformats.org/officeDocument/2006/math">
                    <m:r>
                      <a:rPr lang="sr-Latn-RS" sz="2800" i="1">
                        <a:latin typeface="Cambria Math"/>
                      </a:rPr>
                      <m:t>2</m:t>
                    </m:r>
                    <m:r>
                      <a:rPr lang="sr-Latn-RS" sz="2800" i="1">
                        <a:latin typeface="Cambria Math"/>
                      </a:rPr>
                      <m:t>𝑛</m:t>
                    </m:r>
                    <m:r>
                      <a:rPr lang="sr-Latn-RS" sz="2800" i="1">
                        <a:latin typeface="Cambria Math"/>
                      </a:rPr>
                      <m:t>−1</m:t>
                    </m:r>
                  </m:oMath>
                </a14:m>
                <a:endParaRPr lang="sr-Latn-RS" altLang="sr-Latn-RS" sz="2800" dirty="0"/>
              </a:p>
            </p:txBody>
          </p:sp>
        </mc:Choice>
        <mc:Fallback xmlns="">
          <p:sp>
            <p:nvSpPr>
              <p:cNvPr id="71683" name="Rectangle 3"/>
              <p:cNvSpPr>
                <a:spLocks noGrp="1" noRot="1" noChangeAspect="1" noMove="1" noResize="1" noEditPoints="1" noAdjustHandles="1" noChangeArrowheads="1" noChangeShapeType="1" noTextEdit="1"/>
              </p:cNvSpPr>
              <p:nvPr>
                <p:ph type="body" idx="1"/>
              </p:nvPr>
            </p:nvSpPr>
            <p:spPr>
              <a:xfrm>
                <a:off x="304800" y="1600200"/>
                <a:ext cx="8686800" cy="5105400"/>
              </a:xfrm>
              <a:blipFill rotWithShape="1">
                <a:blip r:embed="rId4"/>
                <a:stretch>
                  <a:fillRect l="-772" t="-2628" r="-351" b="-956"/>
                </a:stretch>
              </a:blipFill>
            </p:spPr>
            <p:txBody>
              <a:bodyPr/>
              <a:lstStyle/>
              <a:p>
                <a:r>
                  <a:rPr lang="en-US">
                    <a:noFill/>
                  </a:rPr>
                  <a:t> </a:t>
                </a:r>
              </a:p>
            </p:txBody>
          </p:sp>
        </mc:Fallback>
      </mc:AlternateContent>
      <p:graphicFrame>
        <p:nvGraphicFramePr>
          <p:cNvPr id="71684" name="Object 14"/>
          <p:cNvGraphicFramePr>
            <a:graphicFrameLocks noChangeAspect="1"/>
          </p:cNvGraphicFramePr>
          <p:nvPr>
            <p:extLst>
              <p:ext uri="{D42A27DB-BD31-4B8C-83A1-F6EECF244321}">
                <p14:modId xmlns:p14="http://schemas.microsoft.com/office/powerpoint/2010/main" val="2918257315"/>
              </p:ext>
            </p:extLst>
          </p:nvPr>
        </p:nvGraphicFramePr>
        <p:xfrm>
          <a:off x="2133600" y="1987932"/>
          <a:ext cx="4876800" cy="755268"/>
        </p:xfrm>
        <a:graphic>
          <a:graphicData uri="http://schemas.openxmlformats.org/presentationml/2006/ole">
            <mc:AlternateContent xmlns:mc="http://schemas.openxmlformats.org/markup-compatibility/2006">
              <mc:Choice xmlns:v="urn:schemas-microsoft-com:vml" Requires="v">
                <p:oleObj name="Equation" r:id="rId5" imgW="5105400" imgH="787400" progId="Equation.3">
                  <p:embed/>
                </p:oleObj>
              </mc:Choice>
              <mc:Fallback>
                <p:oleObj name="Equation" r:id="rId5" imgW="5105400" imgH="7874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33600" y="1987932"/>
                        <a:ext cx="4876800" cy="755268"/>
                      </a:xfrm>
                      <a:prstGeom prst="rect">
                        <a:avLst/>
                      </a:prstGeom>
                      <a:noFill/>
                      <a:ln>
                        <a:noFill/>
                      </a:ln>
                    </p:spPr>
                  </p:pic>
                </p:oleObj>
              </mc:Fallback>
            </mc:AlternateContent>
          </a:graphicData>
        </a:graphic>
      </p:graphicFrame>
      <p:graphicFrame>
        <p:nvGraphicFramePr>
          <p:cNvPr id="71685" name="Object 32"/>
          <p:cNvGraphicFramePr>
            <a:graphicFrameLocks noChangeAspect="1"/>
          </p:cNvGraphicFramePr>
          <p:nvPr>
            <p:extLst>
              <p:ext uri="{D42A27DB-BD31-4B8C-83A1-F6EECF244321}">
                <p14:modId xmlns:p14="http://schemas.microsoft.com/office/powerpoint/2010/main" val="2500469068"/>
              </p:ext>
            </p:extLst>
          </p:nvPr>
        </p:nvGraphicFramePr>
        <p:xfrm>
          <a:off x="1905000" y="3200399"/>
          <a:ext cx="5334000" cy="821304"/>
        </p:xfrm>
        <a:graphic>
          <a:graphicData uri="http://schemas.openxmlformats.org/presentationml/2006/ole">
            <mc:AlternateContent xmlns:mc="http://schemas.openxmlformats.org/markup-compatibility/2006">
              <mc:Choice xmlns:v="urn:schemas-microsoft-com:vml" Requires="v">
                <p:oleObj name="Equation" r:id="rId7" imgW="5130800" imgH="787400" progId="Equation.3">
                  <p:embed/>
                </p:oleObj>
              </mc:Choice>
              <mc:Fallback>
                <p:oleObj name="Equation" r:id="rId7" imgW="5130800" imgH="787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3200399"/>
                        <a:ext cx="5334000" cy="821304"/>
                      </a:xfrm>
                      <a:prstGeom prst="rect">
                        <a:avLst/>
                      </a:prstGeom>
                      <a:noFill/>
                      <a:ln>
                        <a:noFill/>
                      </a:ln>
                    </p:spPr>
                  </p:pic>
                </p:oleObj>
              </mc:Fallback>
            </mc:AlternateContent>
          </a:graphicData>
        </a:graphic>
      </p:graphicFrame>
      <p:graphicFrame>
        <p:nvGraphicFramePr>
          <p:cNvPr id="71686" name="Object 35"/>
          <p:cNvGraphicFramePr>
            <a:graphicFrameLocks noChangeAspect="1"/>
          </p:cNvGraphicFramePr>
          <p:nvPr>
            <p:extLst>
              <p:ext uri="{D42A27DB-BD31-4B8C-83A1-F6EECF244321}">
                <p14:modId xmlns:p14="http://schemas.microsoft.com/office/powerpoint/2010/main" val="2442605456"/>
              </p:ext>
            </p:extLst>
          </p:nvPr>
        </p:nvGraphicFramePr>
        <p:xfrm>
          <a:off x="990600" y="4495800"/>
          <a:ext cx="7162800" cy="885402"/>
        </p:xfrm>
        <a:graphic>
          <a:graphicData uri="http://schemas.openxmlformats.org/presentationml/2006/ole">
            <mc:AlternateContent xmlns:mc="http://schemas.openxmlformats.org/markup-compatibility/2006">
              <mc:Choice xmlns:v="urn:schemas-microsoft-com:vml" Requires="v">
                <p:oleObj name="Equation" r:id="rId9" imgW="6400800" imgH="787400" progId="Equation.3">
                  <p:embed/>
                </p:oleObj>
              </mc:Choice>
              <mc:Fallback>
                <p:oleObj name="Equation" r:id="rId9" imgW="6400800" imgH="7874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0600" y="4495800"/>
                        <a:ext cx="7162800" cy="88540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18394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683">
                                            <p:txEl>
                                              <p:pRg st="0" end="0"/>
                                            </p:txEl>
                                          </p:spTgt>
                                        </p:tgtEl>
                                        <p:attrNameLst>
                                          <p:attrName>style.visibility</p:attrName>
                                        </p:attrNameLst>
                                      </p:cBhvr>
                                      <p:to>
                                        <p:strVal val="visible"/>
                                      </p:to>
                                    </p:set>
                                    <p:animEffect transition="in" filter="fade">
                                      <p:cBhvr>
                                        <p:cTn id="7" dur="500"/>
                                        <p:tgtEl>
                                          <p:spTgt spid="7168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1683">
                                            <p:txEl>
                                              <p:pRg st="3" end="3"/>
                                            </p:txEl>
                                          </p:spTgt>
                                        </p:tgtEl>
                                        <p:attrNameLst>
                                          <p:attrName>style.visibility</p:attrName>
                                        </p:attrNameLst>
                                      </p:cBhvr>
                                      <p:to>
                                        <p:strVal val="visible"/>
                                      </p:to>
                                    </p:set>
                                    <p:animEffect transition="in" filter="fade">
                                      <p:cBhvr>
                                        <p:cTn id="10" dur="500"/>
                                        <p:tgtEl>
                                          <p:spTgt spid="7168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1684"/>
                                        </p:tgtEl>
                                        <p:attrNameLst>
                                          <p:attrName>style.visibility</p:attrName>
                                        </p:attrNameLst>
                                      </p:cBhvr>
                                      <p:to>
                                        <p:strVal val="visible"/>
                                      </p:to>
                                    </p:set>
                                    <p:animEffect transition="in" filter="fade">
                                      <p:cBhvr>
                                        <p:cTn id="13" dur="500"/>
                                        <p:tgtEl>
                                          <p:spTgt spid="71684"/>
                                        </p:tgtEl>
                                      </p:cBhvr>
                                    </p:animEffect>
                                  </p:childTnLst>
                                </p:cTn>
                              </p:par>
                              <p:par>
                                <p:cTn id="14" presetID="10" presetClass="entr" presetSubtype="0" fill="hold" nodeType="withEffect">
                                  <p:stCondLst>
                                    <p:cond delay="0"/>
                                  </p:stCondLst>
                                  <p:childTnLst>
                                    <p:set>
                                      <p:cBhvr>
                                        <p:cTn id="15" dur="1" fill="hold">
                                          <p:stCondLst>
                                            <p:cond delay="0"/>
                                          </p:stCondLst>
                                        </p:cTn>
                                        <p:tgtEl>
                                          <p:spTgt spid="71685"/>
                                        </p:tgtEl>
                                        <p:attrNameLst>
                                          <p:attrName>style.visibility</p:attrName>
                                        </p:attrNameLst>
                                      </p:cBhvr>
                                      <p:to>
                                        <p:strVal val="visible"/>
                                      </p:to>
                                    </p:set>
                                    <p:animEffect transition="in" filter="fade">
                                      <p:cBhvr>
                                        <p:cTn id="16" dur="500"/>
                                        <p:tgtEl>
                                          <p:spTgt spid="7168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1683">
                                            <p:txEl>
                                              <p:pRg st="6" end="6"/>
                                            </p:txEl>
                                          </p:spTgt>
                                        </p:tgtEl>
                                        <p:attrNameLst>
                                          <p:attrName>style.visibility</p:attrName>
                                        </p:attrNameLst>
                                      </p:cBhvr>
                                      <p:to>
                                        <p:strVal val="visible"/>
                                      </p:to>
                                    </p:set>
                                    <p:animEffect transition="in" filter="fade">
                                      <p:cBhvr>
                                        <p:cTn id="21" dur="500"/>
                                        <p:tgtEl>
                                          <p:spTgt spid="71683">
                                            <p:txEl>
                                              <p:pRg st="6" end="6"/>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71683">
                                            <p:txEl>
                                              <p:pRg st="10" end="10"/>
                                            </p:txEl>
                                          </p:spTgt>
                                        </p:tgtEl>
                                        <p:attrNameLst>
                                          <p:attrName>style.visibility</p:attrName>
                                        </p:attrNameLst>
                                      </p:cBhvr>
                                      <p:to>
                                        <p:strVal val="visible"/>
                                      </p:to>
                                    </p:set>
                                    <p:animEffect transition="in" filter="fade">
                                      <p:cBhvr>
                                        <p:cTn id="24" dur="500"/>
                                        <p:tgtEl>
                                          <p:spTgt spid="71683">
                                            <p:txEl>
                                              <p:pRg st="10" end="1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71686"/>
                                        </p:tgtEl>
                                        <p:attrNameLst>
                                          <p:attrName>style.visibility</p:attrName>
                                        </p:attrNameLst>
                                      </p:cBhvr>
                                      <p:to>
                                        <p:strVal val="visible"/>
                                      </p:to>
                                    </p:set>
                                    <p:animEffect transition="in" filter="fade">
                                      <p:cBhvr>
                                        <p:cTn id="27" dur="500"/>
                                        <p:tgtEl>
                                          <p:spTgt spid="71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normAutofit/>
          </a:bodyPr>
          <a:lstStyle/>
          <a:p>
            <a:r>
              <a:rPr lang="sr-Latn-RS" altLang="sr-Latn-RS" sz="4000" dirty="0"/>
              <a:t>Gausova kvadratura primena</a:t>
            </a:r>
          </a:p>
        </p:txBody>
      </p:sp>
      <p:sp>
        <p:nvSpPr>
          <p:cNvPr id="72707" name="Rectangle 3"/>
          <p:cNvSpPr>
            <a:spLocks noGrp="1" noChangeArrowheads="1"/>
          </p:cNvSpPr>
          <p:nvPr>
            <p:ph type="body" idx="1"/>
          </p:nvPr>
        </p:nvSpPr>
        <p:spPr>
          <a:xfrm>
            <a:off x="457200" y="1447800"/>
            <a:ext cx="8229600" cy="4678363"/>
          </a:xfrm>
          <a:solidFill>
            <a:schemeClr val="bg1"/>
          </a:solidFill>
        </p:spPr>
        <p:txBody>
          <a:bodyPr/>
          <a:lstStyle/>
          <a:p>
            <a:r>
              <a:rPr lang="sr-Latn-RS" altLang="sr-Latn-RS" sz="2400"/>
              <a:t>Vrednosti koeficijenata i tačaka obično su izračunati unapred i dati u tabeli:</a:t>
            </a:r>
          </a:p>
        </p:txBody>
      </p:sp>
      <p:graphicFrame>
        <p:nvGraphicFramePr>
          <p:cNvPr id="872513" name="Group 65"/>
          <p:cNvGraphicFramePr>
            <a:graphicFrameLocks noGrp="1"/>
          </p:cNvGraphicFramePr>
          <p:nvPr/>
        </p:nvGraphicFramePr>
        <p:xfrm>
          <a:off x="4191000" y="2133600"/>
          <a:ext cx="4800600" cy="4146800"/>
        </p:xfrm>
        <a:graphic>
          <a:graphicData uri="http://schemas.openxmlformats.org/drawingml/2006/table">
            <a:tbl>
              <a:tblPr/>
              <a:tblGrid>
                <a:gridCol w="842963">
                  <a:extLst>
                    <a:ext uri="{9D8B030D-6E8A-4147-A177-3AD203B41FA5}">
                      <a16:colId xmlns:a16="http://schemas.microsoft.com/office/drawing/2014/main" val="20000"/>
                    </a:ext>
                  </a:extLst>
                </a:gridCol>
                <a:gridCol w="1843087">
                  <a:extLst>
                    <a:ext uri="{9D8B030D-6E8A-4147-A177-3AD203B41FA5}">
                      <a16:colId xmlns:a16="http://schemas.microsoft.com/office/drawing/2014/main" val="20001"/>
                    </a:ext>
                  </a:extLst>
                </a:gridCol>
                <a:gridCol w="2114550">
                  <a:extLst>
                    <a:ext uri="{9D8B030D-6E8A-4147-A177-3AD203B41FA5}">
                      <a16:colId xmlns:a16="http://schemas.microsoft.com/office/drawing/2014/main" val="20002"/>
                    </a:ext>
                  </a:extLst>
                </a:gridCol>
              </a:tblGrid>
              <a:tr h="579031">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r-Latn-RS" altLang="sr-Latn-RS" sz="1600" b="1" i="0" u="none" strike="noStrike" cap="none" normalizeH="0" baseline="0" dirty="0">
                          <a:ln>
                            <a:noFill/>
                          </a:ln>
                          <a:solidFill>
                            <a:schemeClr val="tx1"/>
                          </a:solidFill>
                          <a:effectLst/>
                          <a:latin typeface="Arial" charset="0"/>
                          <a:cs typeface="Arial" charset="0"/>
                        </a:rPr>
                        <a:t>Br.</a:t>
                      </a:r>
                    </a:p>
                    <a:p>
                      <a:pPr marL="0" marR="0" lvl="0" indent="0" algn="ctr" defTabSz="914400" rtl="0" eaLnBrk="0" fontAlgn="base" latinLnBrk="0" hangingPunct="0">
                        <a:lnSpc>
                          <a:spcPct val="100000"/>
                        </a:lnSpc>
                        <a:spcBef>
                          <a:spcPct val="0"/>
                        </a:spcBef>
                        <a:spcAft>
                          <a:spcPct val="0"/>
                        </a:spcAft>
                        <a:buClrTx/>
                        <a:buSzTx/>
                        <a:buFontTx/>
                        <a:buNone/>
                        <a:tabLst/>
                      </a:pPr>
                      <a:r>
                        <a:rPr kumimoji="0" lang="sr-Latn-RS" altLang="sr-Latn-RS" sz="1600" b="1" i="0" u="none" strike="noStrike" cap="none" normalizeH="0" baseline="0" dirty="0">
                          <a:ln>
                            <a:noFill/>
                          </a:ln>
                          <a:solidFill>
                            <a:schemeClr val="tx1"/>
                          </a:solidFill>
                          <a:effectLst/>
                          <a:latin typeface="Arial" charset="0"/>
                          <a:cs typeface="Arial" charset="0"/>
                        </a:rPr>
                        <a:t>tačaka</a:t>
                      </a:r>
                      <a:endParaRPr kumimoji="0" lang="en-US" altLang="sr-Latn-RS" sz="1600" b="1" i="0" u="none" strike="noStrike" cap="none" normalizeH="0" baseline="0" dirty="0">
                        <a:ln>
                          <a:noFill/>
                        </a:ln>
                        <a:solidFill>
                          <a:schemeClr val="tx1"/>
                        </a:solidFill>
                        <a:effectLst/>
                        <a:latin typeface="Arial" charset="0"/>
                        <a:cs typeface="Arial"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r-Latn-RS" altLang="sr-Latn-RS" sz="1600" b="1" i="0" u="none" strike="noStrike" cap="none" normalizeH="0" baseline="0">
                          <a:ln>
                            <a:noFill/>
                          </a:ln>
                          <a:solidFill>
                            <a:schemeClr val="tx1"/>
                          </a:solidFill>
                          <a:effectLst/>
                          <a:latin typeface="Arial" charset="0"/>
                          <a:cs typeface="Arial" charset="0"/>
                        </a:rPr>
                        <a:t>Koeficijenti</a:t>
                      </a:r>
                      <a:endParaRPr kumimoji="0" lang="en-US" altLang="sr-Latn-RS" sz="1600" b="1" i="0" u="none" strike="noStrike" cap="none" normalizeH="0" baseline="0">
                        <a:ln>
                          <a:noFill/>
                        </a:ln>
                        <a:solidFill>
                          <a:schemeClr val="tx1"/>
                        </a:solidFill>
                        <a:effectLst/>
                        <a:latin typeface="Arial" charset="0"/>
                        <a:cs typeface="Arial"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sr-Latn-RS" altLang="sr-Latn-RS" sz="1600" b="1" i="0" u="none" strike="noStrike" cap="none" normalizeH="0" baseline="0">
                          <a:ln>
                            <a:noFill/>
                          </a:ln>
                          <a:solidFill>
                            <a:schemeClr val="tx1"/>
                          </a:solidFill>
                          <a:effectLst/>
                          <a:latin typeface="Arial" charset="0"/>
                          <a:cs typeface="Arial" charset="0"/>
                        </a:rPr>
                        <a:t>Tačke</a:t>
                      </a:r>
                      <a:endParaRPr kumimoji="0" lang="en-US" altLang="sr-Latn-RS" sz="1600" b="1" i="0" u="none" strike="noStrike" cap="none" normalizeH="0" baseline="0">
                        <a:ln>
                          <a:noFill/>
                        </a:ln>
                        <a:solidFill>
                          <a:schemeClr val="tx1"/>
                        </a:solidFill>
                        <a:effectLst/>
                        <a:latin typeface="Arial" charset="0"/>
                        <a:cs typeface="Arial"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49191">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2</a:t>
                      </a:r>
                      <a:endParaRPr kumimoji="0" lang="en-US" altLang="sr-Latn-RS" sz="24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1.000000000</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1.000000000</a:t>
                      </a:r>
                      <a:endParaRPr kumimoji="0" lang="en-US" altLang="sr-Latn-RS" sz="24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-0.577350269</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0.577350269</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77756">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3</a:t>
                      </a:r>
                      <a:endParaRPr kumimoji="0" lang="en-US" altLang="sr-Latn-RS" sz="24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dirty="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 = 0.555555556</a:t>
                      </a:r>
                      <a:endParaRPr kumimoji="0" lang="en-US" altLang="sr-Latn-RS" sz="1000" b="0" i="0" u="none" strike="noStrike" cap="none" normalizeH="0" baseline="0" dirty="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dirty="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 = 0.888888889</a:t>
                      </a:r>
                      <a:endParaRPr kumimoji="0" lang="en-US" altLang="sr-Latn-RS" sz="1000" b="0" i="0" u="none" strike="noStrike" cap="none" normalizeH="0" baseline="0" dirty="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dirty="0">
                          <a:ln>
                            <a:noFill/>
                          </a:ln>
                          <a:solidFill>
                            <a:schemeClr val="tx1"/>
                          </a:solidFill>
                          <a:effectLst/>
                          <a:latin typeface="Arial" charset="0"/>
                          <a:ea typeface="Times New Roman" charset="0"/>
                          <a:cs typeface="Tahoma" pitchFamily="34" charset="0"/>
                        </a:rPr>
                        <a:t>3</a:t>
                      </a: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 = 0.555555556</a:t>
                      </a:r>
                      <a:endParaRPr kumimoji="0" lang="en-US" altLang="sr-Latn-RS" sz="1000" b="0" i="0" u="none" strike="noStrike" cap="none" normalizeH="0" baseline="0" dirty="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dirty="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 = -0.774596669</a:t>
                      </a:r>
                      <a:endParaRPr kumimoji="0" lang="en-US" altLang="sr-Latn-RS" sz="1000" b="0" i="0" u="none" strike="noStrike" cap="none" normalizeH="0" baseline="0" dirty="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dirty="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 =  0.000000000</a:t>
                      </a:r>
                      <a:endParaRPr kumimoji="0" lang="en-US" altLang="sr-Latn-RS" sz="1000" b="0" i="0" u="none" strike="noStrike" cap="none" normalizeH="0" baseline="0" dirty="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dirty="0">
                          <a:ln>
                            <a:noFill/>
                          </a:ln>
                          <a:solidFill>
                            <a:schemeClr val="tx1"/>
                          </a:solidFill>
                          <a:effectLst/>
                          <a:latin typeface="Arial" charset="0"/>
                          <a:ea typeface="Times New Roman" charset="0"/>
                          <a:cs typeface="Tahoma" pitchFamily="34" charset="0"/>
                        </a:rPr>
                        <a:t>3</a:t>
                      </a:r>
                      <a:r>
                        <a:rPr kumimoji="0" lang="en-US" altLang="sr-Latn-RS" sz="1500" b="0" i="0" u="none" strike="noStrike" cap="none" normalizeH="0" baseline="0" dirty="0">
                          <a:ln>
                            <a:noFill/>
                          </a:ln>
                          <a:solidFill>
                            <a:schemeClr val="tx1"/>
                          </a:solidFill>
                          <a:effectLst/>
                          <a:latin typeface="Arial" charset="0"/>
                          <a:ea typeface="Times New Roman" charset="0"/>
                          <a:cs typeface="Tahoma" pitchFamily="34" charset="0"/>
                        </a:rPr>
                        <a:t> =  0.774596669</a:t>
                      </a:r>
                      <a:endParaRPr kumimoji="0" lang="en-US" altLang="sr-Latn-RS" sz="2400" b="0" i="0" u="none" strike="noStrike" cap="none" normalizeH="0" baseline="0" dirty="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9525"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06321">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4</a:t>
                      </a:r>
                      <a:endParaRPr kumimoji="0" lang="en-US" altLang="sr-Latn-RS" sz="24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0.347854845</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0.652145155</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3</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0.652145155</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4</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0.347854845</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-0.861136312</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-0.339981044</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3</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0.339981044</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4</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0.861136312</a:t>
                      </a: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miter lim="800000"/>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234251">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5</a:t>
                      </a:r>
                      <a:endParaRPr kumimoji="0" lang="en-US" altLang="sr-Latn-RS" sz="24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0.236926885</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0.478628670</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3</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0.568888889</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4</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0.478628670</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5</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0.236926885</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marL="742950" indent="-285750" eaLnBrk="0" hangingPunct="0">
                        <a:spcBef>
                          <a:spcPct val="20000"/>
                        </a:spcBef>
                        <a:defRPr sz="2400">
                          <a:solidFill>
                            <a:schemeClr val="tx1"/>
                          </a:solidFill>
                          <a:latin typeface="Arial" charset="0"/>
                        </a:defRPr>
                      </a:lvl2pPr>
                      <a:lvl3pPr marL="1143000" indent="-228600" eaLnBrk="0" hangingPunct="0">
                        <a:spcBef>
                          <a:spcPct val="20000"/>
                        </a:spcBef>
                        <a:defRPr sz="2000">
                          <a:solidFill>
                            <a:schemeClr val="tx1"/>
                          </a:solidFill>
                          <a:latin typeface="Arial" charset="0"/>
                        </a:defRPr>
                      </a:lvl3pPr>
                      <a:lvl4pPr marL="1600200" indent="-228600" eaLnBrk="0" hangingPunct="0">
                        <a:spcBef>
                          <a:spcPct val="20000"/>
                        </a:spcBef>
                        <a:defRPr>
                          <a:solidFill>
                            <a:schemeClr val="tx1"/>
                          </a:solidFill>
                          <a:latin typeface="Arial" charset="0"/>
                        </a:defRPr>
                      </a:lvl4pPr>
                      <a:lvl5pPr marL="2057400" indent="-228600" eaLnBrk="0" hangingPunct="0">
                        <a:spcBef>
                          <a:spcPct val="20000"/>
                        </a:spcBef>
                        <a:defRPr>
                          <a:solidFill>
                            <a:schemeClr val="tx1"/>
                          </a:solidFill>
                          <a:latin typeface="Arial" charset="0"/>
                        </a:defRPr>
                      </a:lvl5pPr>
                      <a:lvl6pPr marL="2514600" indent="-228600" eaLnBrk="0" fontAlgn="base" hangingPunct="0">
                        <a:spcBef>
                          <a:spcPct val="20000"/>
                        </a:spcBef>
                        <a:spcAft>
                          <a:spcPct val="0"/>
                        </a:spcAft>
                        <a:defRPr>
                          <a:solidFill>
                            <a:schemeClr val="tx1"/>
                          </a:solidFill>
                          <a:latin typeface="Arial" charset="0"/>
                        </a:defRPr>
                      </a:lvl6pPr>
                      <a:lvl7pPr marL="2971800" indent="-228600" eaLnBrk="0" fontAlgn="base" hangingPunct="0">
                        <a:spcBef>
                          <a:spcPct val="20000"/>
                        </a:spcBef>
                        <a:spcAft>
                          <a:spcPct val="0"/>
                        </a:spcAft>
                        <a:defRPr>
                          <a:solidFill>
                            <a:schemeClr val="tx1"/>
                          </a:solidFill>
                          <a:latin typeface="Arial" charset="0"/>
                        </a:defRPr>
                      </a:lvl7pPr>
                      <a:lvl8pPr marL="3429000" indent="-228600" eaLnBrk="0" fontAlgn="base" hangingPunct="0">
                        <a:spcBef>
                          <a:spcPct val="20000"/>
                        </a:spcBef>
                        <a:spcAft>
                          <a:spcPct val="0"/>
                        </a:spcAft>
                        <a:defRPr>
                          <a:solidFill>
                            <a:schemeClr val="tx1"/>
                          </a:solidFill>
                          <a:latin typeface="Arial" charset="0"/>
                        </a:defRPr>
                      </a:lvl8pPr>
                      <a:lvl9pPr marL="3886200" indent="-228600"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1</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-0.906179846</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2</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-0.538469310</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3</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0.000000000</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4</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0.538469310</a:t>
                      </a:r>
                      <a:endParaRPr kumimoji="0" lang="en-US" altLang="sr-Latn-RS" sz="10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x</a:t>
                      </a:r>
                      <a:r>
                        <a:rPr kumimoji="0" lang="en-US" altLang="sr-Latn-RS" sz="1500" b="0" i="0" u="none" strike="noStrike" cap="none" normalizeH="0" baseline="-30000">
                          <a:ln>
                            <a:noFill/>
                          </a:ln>
                          <a:solidFill>
                            <a:schemeClr val="tx1"/>
                          </a:solidFill>
                          <a:effectLst/>
                          <a:latin typeface="Arial" charset="0"/>
                          <a:ea typeface="Times New Roman" charset="0"/>
                          <a:cs typeface="Tahoma" pitchFamily="34" charset="0"/>
                        </a:rPr>
                        <a:t>5</a:t>
                      </a:r>
                      <a:r>
                        <a:rPr kumimoji="0" lang="en-US" altLang="sr-Latn-RS" sz="1500" b="0" i="0" u="none" strike="noStrike" cap="none" normalizeH="0" baseline="0">
                          <a:ln>
                            <a:noFill/>
                          </a:ln>
                          <a:solidFill>
                            <a:schemeClr val="tx1"/>
                          </a:solidFill>
                          <a:effectLst/>
                          <a:latin typeface="Arial" charset="0"/>
                          <a:ea typeface="Times New Roman" charset="0"/>
                          <a:cs typeface="Tahoma" pitchFamily="34" charset="0"/>
                        </a:rPr>
                        <a:t> =  0.906179846</a:t>
                      </a:r>
                      <a:endParaRPr kumimoji="0" lang="en-US" altLang="sr-Latn-RS" sz="2400" b="0" i="0" u="none" strike="noStrike" cap="none" normalizeH="0" baseline="0">
                        <a:ln>
                          <a:noFill/>
                        </a:ln>
                        <a:solidFill>
                          <a:schemeClr val="tx1"/>
                        </a:solidFill>
                        <a:effectLst/>
                        <a:latin typeface="Times New Roman" charset="0"/>
                        <a:ea typeface="Times New Roman" charset="0"/>
                        <a:cs typeface="Tahoma" pitchFamily="34" charset="0"/>
                      </a:endParaRPr>
                    </a:p>
                  </a:txBody>
                  <a:tcPr marT="45713" marB="45713"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2737" name="Text Box 66"/>
          <p:cNvSpPr txBox="1">
            <a:spLocks noChangeArrowheads="1"/>
          </p:cNvSpPr>
          <p:nvPr/>
        </p:nvSpPr>
        <p:spPr bwMode="auto">
          <a:xfrm>
            <a:off x="304800" y="2384425"/>
            <a:ext cx="381000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50000"/>
              </a:spcBef>
            </a:pPr>
            <a:r>
              <a:rPr lang="sr-Latn-RS" altLang="sr-Latn-RS" sz="2400" dirty="0"/>
              <a:t>Dati koeficijenti i tačke određene su tako da se pomoću njih rešava integral:</a:t>
            </a:r>
          </a:p>
          <a:p>
            <a:pPr eaLnBrk="1" hangingPunct="1">
              <a:spcBef>
                <a:spcPct val="50000"/>
              </a:spcBef>
            </a:pPr>
            <a:endParaRPr lang="sr-Latn-RS" altLang="sr-Latn-RS" sz="2400" dirty="0"/>
          </a:p>
          <a:p>
            <a:pPr eaLnBrk="1" hangingPunct="1">
              <a:spcBef>
                <a:spcPct val="50000"/>
              </a:spcBef>
            </a:pPr>
            <a:endParaRPr lang="sr-Latn-RS" altLang="sr-Latn-RS" sz="2400" dirty="0"/>
          </a:p>
          <a:p>
            <a:pPr eaLnBrk="1" hangingPunct="1">
              <a:spcBef>
                <a:spcPct val="50000"/>
              </a:spcBef>
            </a:pPr>
            <a:r>
              <a:rPr lang="sr-Latn-RS" altLang="sr-Latn-RS" sz="2400" dirty="0"/>
              <a:t>Za proizvoljno a i b, mora se izvršiti transformacija granica integrala.</a:t>
            </a:r>
          </a:p>
        </p:txBody>
      </p:sp>
      <p:graphicFrame>
        <p:nvGraphicFramePr>
          <p:cNvPr id="72738" name="Object 21"/>
          <p:cNvGraphicFramePr>
            <a:graphicFrameLocks noChangeAspect="1"/>
          </p:cNvGraphicFramePr>
          <p:nvPr/>
        </p:nvGraphicFramePr>
        <p:xfrm>
          <a:off x="381000" y="3886200"/>
          <a:ext cx="3505200" cy="1003300"/>
        </p:xfrm>
        <a:graphic>
          <a:graphicData uri="http://schemas.openxmlformats.org/presentationml/2006/ole">
            <mc:AlternateContent xmlns:mc="http://schemas.openxmlformats.org/markup-compatibility/2006">
              <mc:Choice xmlns:v="urn:schemas-microsoft-com:vml" Requires="v">
                <p:oleObj name="Equation" r:id="rId3" imgW="2692400" imgH="774700" progId="Equation.3">
                  <p:embed/>
                </p:oleObj>
              </mc:Choice>
              <mc:Fallback>
                <p:oleObj name="Equation" r:id="rId3" imgW="2692400" imgH="774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3886200"/>
                        <a:ext cx="35052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3132135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normAutofit/>
          </a:bodyPr>
          <a:lstStyle/>
          <a:p>
            <a:r>
              <a:rPr lang="sr-Latn-RS" altLang="sr-Latn-RS" sz="4000" dirty="0"/>
              <a:t>Gausova kvadratura primena</a:t>
            </a:r>
          </a:p>
        </p:txBody>
      </p:sp>
      <p:sp>
        <p:nvSpPr>
          <p:cNvPr id="73731" name="Rectangle 73"/>
          <p:cNvSpPr>
            <a:spLocks noChangeArrowheads="1"/>
          </p:cNvSpPr>
          <p:nvPr/>
        </p:nvSpPr>
        <p:spPr bwMode="auto">
          <a:xfrm>
            <a:off x="4014788" y="2620963"/>
            <a:ext cx="1098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200">
                <a:latin typeface="Times New Roman" pitchFamily="18" charset="0"/>
                <a:cs typeface="Times New Roman" pitchFamily="18" charset="0"/>
              </a:rPr>
              <a:t>	</a:t>
            </a:r>
            <a:endParaRPr lang="en-US" altLang="sr-Latn-RS" sz="2400">
              <a:latin typeface="Times New Roman" pitchFamily="18" charset="0"/>
            </a:endParaRPr>
          </a:p>
        </p:txBody>
      </p:sp>
      <p:sp>
        <p:nvSpPr>
          <p:cNvPr id="73732" name="Rectangle 78"/>
          <p:cNvSpPr>
            <a:spLocks noChangeArrowheads="1"/>
          </p:cNvSpPr>
          <p:nvPr/>
        </p:nvSpPr>
        <p:spPr bwMode="auto">
          <a:xfrm>
            <a:off x="995363" y="2544763"/>
            <a:ext cx="2984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200">
                <a:latin typeface="Times New Roman" pitchFamily="18" charset="0"/>
                <a:cs typeface="Times New Roman" pitchFamily="18" charset="0"/>
              </a:rPr>
              <a:t>   </a:t>
            </a:r>
            <a:endParaRPr lang="en-US" altLang="sr-Latn-RS" sz="2400">
              <a:latin typeface="Times New Roman" pitchFamily="18" charset="0"/>
            </a:endParaRPr>
          </a:p>
        </p:txBody>
      </p:sp>
      <p:sp>
        <p:nvSpPr>
          <p:cNvPr id="73733" name="Rectangle 140"/>
          <p:cNvSpPr>
            <a:spLocks noChangeArrowheads="1"/>
          </p:cNvSpPr>
          <p:nvPr/>
        </p:nvSpPr>
        <p:spPr bwMode="auto">
          <a:xfrm>
            <a:off x="0" y="27384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34" name="Rectangle 142"/>
          <p:cNvSpPr>
            <a:spLocks noChangeArrowheads="1"/>
          </p:cNvSpPr>
          <p:nvPr/>
        </p:nvSpPr>
        <p:spPr bwMode="auto">
          <a:xfrm>
            <a:off x="0" y="27384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35" name="Rectangle 144"/>
          <p:cNvSpPr>
            <a:spLocks noChangeArrowheads="1"/>
          </p:cNvSpPr>
          <p:nvPr/>
        </p:nvSpPr>
        <p:spPr bwMode="auto">
          <a:xfrm>
            <a:off x="0" y="27384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36" name="Text Box 171"/>
          <p:cNvSpPr txBox="1">
            <a:spLocks noChangeArrowheads="1"/>
          </p:cNvSpPr>
          <p:nvPr/>
        </p:nvSpPr>
        <p:spPr bwMode="auto">
          <a:xfrm>
            <a:off x="5273675" y="5067300"/>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sr-Latn-RS" altLang="sr-Latn-RS" sz="1900">
              <a:latin typeface="Tahoma" pitchFamily="34" charset="0"/>
            </a:endParaRPr>
          </a:p>
        </p:txBody>
      </p:sp>
      <p:sp>
        <p:nvSpPr>
          <p:cNvPr id="73737" name="Text Box 172"/>
          <p:cNvSpPr txBox="1">
            <a:spLocks noChangeArrowheads="1"/>
          </p:cNvSpPr>
          <p:nvPr/>
        </p:nvSpPr>
        <p:spPr bwMode="auto">
          <a:xfrm>
            <a:off x="6057900" y="5033963"/>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sr-Latn-RS" altLang="sr-Latn-RS" sz="1900">
              <a:latin typeface="Tahoma" pitchFamily="34" charset="0"/>
            </a:endParaRPr>
          </a:p>
        </p:txBody>
      </p:sp>
      <p:sp>
        <p:nvSpPr>
          <p:cNvPr id="73738" name="Text Box 173"/>
          <p:cNvSpPr txBox="1">
            <a:spLocks noChangeArrowheads="1"/>
          </p:cNvSpPr>
          <p:nvPr/>
        </p:nvSpPr>
        <p:spPr bwMode="auto">
          <a:xfrm>
            <a:off x="6821488" y="5059363"/>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endParaRPr lang="sr-Latn-RS" altLang="sr-Latn-RS" sz="1900">
              <a:latin typeface="Tahoma" pitchFamily="34" charset="0"/>
            </a:endParaRPr>
          </a:p>
        </p:txBody>
      </p:sp>
      <p:sp>
        <p:nvSpPr>
          <p:cNvPr id="73739" name="Rectangle 177"/>
          <p:cNvSpPr>
            <a:spLocks noChangeArrowheads="1"/>
          </p:cNvSpPr>
          <p:nvPr/>
        </p:nvSpPr>
        <p:spPr bwMode="auto">
          <a:xfrm>
            <a:off x="0" y="27384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40" name="Rectangle 179"/>
          <p:cNvSpPr>
            <a:spLocks noChangeArrowheads="1"/>
          </p:cNvSpPr>
          <p:nvPr/>
        </p:nvSpPr>
        <p:spPr bwMode="auto">
          <a:xfrm>
            <a:off x="0" y="27384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41" name="Rectangle 181"/>
          <p:cNvSpPr>
            <a:spLocks noChangeArrowheads="1"/>
          </p:cNvSpPr>
          <p:nvPr/>
        </p:nvSpPr>
        <p:spPr bwMode="auto">
          <a:xfrm>
            <a:off x="0" y="27384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42" name="Rectangle 185"/>
          <p:cNvSpPr>
            <a:spLocks noChangeArrowheads="1"/>
          </p:cNvSpPr>
          <p:nvPr/>
        </p:nvSpPr>
        <p:spPr bwMode="auto">
          <a:xfrm>
            <a:off x="0" y="1752600"/>
            <a:ext cx="375443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sr-Latn-RS" altLang="sr-Latn-RS" sz="1900">
                <a:latin typeface="Tahoma" pitchFamily="34" charset="0"/>
              </a:rPr>
              <a:t>Ako su vrednosti u tabeli date za</a:t>
            </a:r>
            <a:r>
              <a:rPr lang="en-US" altLang="sr-Latn-RS" sz="1900">
                <a:latin typeface="Tahoma" pitchFamily="34" charset="0"/>
              </a:rPr>
              <a:t> </a:t>
            </a:r>
          </a:p>
        </p:txBody>
      </p:sp>
      <p:sp>
        <p:nvSpPr>
          <p:cNvPr id="73743" name="Rectangle 187"/>
          <p:cNvSpPr>
            <a:spLocks noChangeArrowheads="1"/>
          </p:cNvSpPr>
          <p:nvPr/>
        </p:nvSpPr>
        <p:spPr bwMode="auto">
          <a:xfrm>
            <a:off x="0" y="25479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graphicFrame>
        <p:nvGraphicFramePr>
          <p:cNvPr id="73744" name="Object 186"/>
          <p:cNvGraphicFramePr>
            <a:graphicFrameLocks noChangeAspect="1"/>
          </p:cNvGraphicFramePr>
          <p:nvPr/>
        </p:nvGraphicFramePr>
        <p:xfrm>
          <a:off x="3657600" y="1600200"/>
          <a:ext cx="1143000" cy="771525"/>
        </p:xfrm>
        <a:graphic>
          <a:graphicData uri="http://schemas.openxmlformats.org/presentationml/2006/ole">
            <mc:AlternateContent xmlns:mc="http://schemas.openxmlformats.org/markup-compatibility/2006">
              <mc:Choice xmlns:v="urn:schemas-microsoft-com:vml" Requires="v">
                <p:oleObj name="Equation" r:id="rId2" imgW="1143000" imgH="774700" progId="Equation.3">
                  <p:embed/>
                </p:oleObj>
              </mc:Choice>
              <mc:Fallback>
                <p:oleObj name="Equation" r:id="rId2" imgW="1143000" imgH="7747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600200"/>
                        <a:ext cx="114300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45" name="Rectangle 188"/>
          <p:cNvSpPr>
            <a:spLocks noChangeArrowheads="1"/>
          </p:cNvSpPr>
          <p:nvPr/>
        </p:nvSpPr>
        <p:spPr bwMode="auto">
          <a:xfrm>
            <a:off x="4876800" y="1752600"/>
            <a:ext cx="18684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sr-Latn-RS" altLang="sr-Latn-RS" sz="1900">
                <a:latin typeface="Tahoma" pitchFamily="34" charset="0"/>
              </a:rPr>
              <a:t>kako rešavamo</a:t>
            </a:r>
            <a:r>
              <a:rPr lang="en-US" altLang="sr-Latn-RS" sz="1900">
                <a:latin typeface="Tahoma" pitchFamily="34" charset="0"/>
              </a:rPr>
              <a:t> </a:t>
            </a:r>
          </a:p>
        </p:txBody>
      </p:sp>
      <p:sp>
        <p:nvSpPr>
          <p:cNvPr id="73746" name="Rectangle 190"/>
          <p:cNvSpPr>
            <a:spLocks noChangeArrowheads="1"/>
          </p:cNvSpPr>
          <p:nvPr/>
        </p:nvSpPr>
        <p:spPr bwMode="auto">
          <a:xfrm>
            <a:off x="0" y="2538413"/>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graphicFrame>
        <p:nvGraphicFramePr>
          <p:cNvPr id="73747" name="Object 189"/>
          <p:cNvGraphicFramePr>
            <a:graphicFrameLocks noChangeAspect="1"/>
          </p:cNvGraphicFramePr>
          <p:nvPr/>
        </p:nvGraphicFramePr>
        <p:xfrm>
          <a:off x="6629400" y="1524000"/>
          <a:ext cx="1133475" cy="790575"/>
        </p:xfrm>
        <a:graphic>
          <a:graphicData uri="http://schemas.openxmlformats.org/presentationml/2006/ole">
            <mc:AlternateContent xmlns:mc="http://schemas.openxmlformats.org/markup-compatibility/2006">
              <mc:Choice xmlns:v="urn:schemas-microsoft-com:vml" Requires="v">
                <p:oleObj name="Equation" r:id="rId4" imgW="1130300" imgH="787400" progId="Equation.3">
                  <p:embed/>
                </p:oleObj>
              </mc:Choice>
              <mc:Fallback>
                <p:oleObj name="Equation" r:id="rId4" imgW="1130300" imgH="787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400" y="1524000"/>
                        <a:ext cx="1133475"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48" name="Rectangle 191"/>
          <p:cNvSpPr>
            <a:spLocks noChangeArrowheads="1"/>
          </p:cNvSpPr>
          <p:nvPr/>
        </p:nvSpPr>
        <p:spPr bwMode="auto">
          <a:xfrm>
            <a:off x="7772400" y="1752600"/>
            <a:ext cx="3746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en-US" altLang="sr-Latn-RS" sz="1900">
                <a:latin typeface="Tahoma" pitchFamily="34" charset="0"/>
              </a:rPr>
              <a:t>? </a:t>
            </a:r>
          </a:p>
        </p:txBody>
      </p:sp>
      <p:sp>
        <p:nvSpPr>
          <p:cNvPr id="73749" name="Rectangle 192"/>
          <p:cNvSpPr>
            <a:spLocks noChangeArrowheads="1"/>
          </p:cNvSpPr>
          <p:nvPr/>
        </p:nvSpPr>
        <p:spPr bwMode="auto">
          <a:xfrm>
            <a:off x="152400" y="2438400"/>
            <a:ext cx="5551488"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sr-Latn-RS" altLang="sr-Latn-RS" sz="1900">
                <a:latin typeface="Tahoma" pitchFamily="34" charset="0"/>
              </a:rPr>
              <a:t>Problem rešavamo konverzijom granica intervala</a:t>
            </a:r>
            <a:r>
              <a:rPr lang="en-US" altLang="sr-Latn-RS" sz="1900">
                <a:latin typeface="Tahoma" pitchFamily="34" charset="0"/>
              </a:rPr>
              <a:t> </a:t>
            </a:r>
          </a:p>
        </p:txBody>
      </p:sp>
      <p:sp>
        <p:nvSpPr>
          <p:cNvPr id="73750" name="Rectangle 194"/>
          <p:cNvSpPr>
            <a:spLocks noChangeArrowheads="1"/>
          </p:cNvSpPr>
          <p:nvPr/>
        </p:nvSpPr>
        <p:spPr bwMode="auto">
          <a:xfrm>
            <a:off x="0" y="2747963"/>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graphicFrame>
        <p:nvGraphicFramePr>
          <p:cNvPr id="73751" name="Object 193"/>
          <p:cNvGraphicFramePr>
            <a:graphicFrameLocks noChangeAspect="1"/>
          </p:cNvGraphicFramePr>
          <p:nvPr/>
        </p:nvGraphicFramePr>
        <p:xfrm>
          <a:off x="5562600" y="2438400"/>
          <a:ext cx="647700" cy="371475"/>
        </p:xfrm>
        <a:graphic>
          <a:graphicData uri="http://schemas.openxmlformats.org/presentationml/2006/ole">
            <mc:AlternateContent xmlns:mc="http://schemas.openxmlformats.org/markup-compatibility/2006">
              <mc:Choice xmlns:v="urn:schemas-microsoft-com:vml" Requires="v">
                <p:oleObj name="Equation" r:id="rId6" imgW="647700" imgH="368300" progId="Equation.3">
                  <p:embed/>
                </p:oleObj>
              </mc:Choice>
              <mc:Fallback>
                <p:oleObj name="Equation" r:id="rId6" imgW="647700" imgH="3683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62600" y="2438400"/>
                        <a:ext cx="647700"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52" name="Rectangle 195"/>
          <p:cNvSpPr>
            <a:spLocks noChangeArrowheads="1"/>
          </p:cNvSpPr>
          <p:nvPr/>
        </p:nvSpPr>
        <p:spPr bwMode="auto">
          <a:xfrm>
            <a:off x="6324600" y="2438400"/>
            <a:ext cx="12477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buFontTx/>
              <a:buNone/>
            </a:pPr>
            <a:r>
              <a:rPr lang="sr-Latn-RS" altLang="sr-Latn-RS" sz="1900">
                <a:latin typeface="Tahoma" pitchFamily="34" charset="0"/>
              </a:rPr>
              <a:t>u granice</a:t>
            </a:r>
            <a:r>
              <a:rPr lang="en-US" altLang="sr-Latn-RS" sz="1900">
                <a:latin typeface="Tahoma" pitchFamily="34" charset="0"/>
              </a:rPr>
              <a:t> </a:t>
            </a:r>
          </a:p>
        </p:txBody>
      </p:sp>
      <p:sp>
        <p:nvSpPr>
          <p:cNvPr id="73753" name="Rectangle 197"/>
          <p:cNvSpPr>
            <a:spLocks noChangeArrowheads="1"/>
          </p:cNvSpPr>
          <p:nvPr/>
        </p:nvSpPr>
        <p:spPr bwMode="auto">
          <a:xfrm>
            <a:off x="0" y="2747963"/>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graphicFrame>
        <p:nvGraphicFramePr>
          <p:cNvPr id="73754" name="Object 196"/>
          <p:cNvGraphicFramePr>
            <a:graphicFrameLocks noChangeAspect="1"/>
          </p:cNvGraphicFramePr>
          <p:nvPr/>
        </p:nvGraphicFramePr>
        <p:xfrm>
          <a:off x="7620000" y="2438400"/>
          <a:ext cx="752475" cy="371475"/>
        </p:xfrm>
        <a:graphic>
          <a:graphicData uri="http://schemas.openxmlformats.org/presentationml/2006/ole">
            <mc:AlternateContent xmlns:mc="http://schemas.openxmlformats.org/markup-compatibility/2006">
              <mc:Choice xmlns:v="urn:schemas-microsoft-com:vml" Requires="v">
                <p:oleObj name="Equation" r:id="rId8" imgW="749300" imgH="368300" progId="Equation.3">
                  <p:embed/>
                </p:oleObj>
              </mc:Choice>
              <mc:Fallback>
                <p:oleObj name="Equation" r:id="rId8" imgW="749300" imgH="3683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00" y="2438400"/>
                        <a:ext cx="7524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55" name="Rectangle 200"/>
          <p:cNvSpPr>
            <a:spLocks noChangeArrowheads="1"/>
          </p:cNvSpPr>
          <p:nvPr/>
        </p:nvSpPr>
        <p:spPr bwMode="auto">
          <a:xfrm>
            <a:off x="0" y="281463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graphicFrame>
        <p:nvGraphicFramePr>
          <p:cNvPr id="73756" name="Object 199"/>
          <p:cNvGraphicFramePr>
            <a:graphicFrameLocks noChangeAspect="1"/>
          </p:cNvGraphicFramePr>
          <p:nvPr/>
        </p:nvGraphicFramePr>
        <p:xfrm>
          <a:off x="3276600" y="3048000"/>
          <a:ext cx="1257300" cy="238125"/>
        </p:xfrm>
        <a:graphic>
          <a:graphicData uri="http://schemas.openxmlformats.org/presentationml/2006/ole">
            <mc:AlternateContent xmlns:mc="http://schemas.openxmlformats.org/markup-compatibility/2006">
              <mc:Choice xmlns:v="urn:schemas-microsoft-com:vml" Requires="v">
                <p:oleObj name="Equation" r:id="rId10" imgW="1257300" imgH="241300" progId="Equation.3">
                  <p:embed/>
                </p:oleObj>
              </mc:Choice>
              <mc:Fallback>
                <p:oleObj name="Equation" r:id="rId10" imgW="1257300" imgH="2413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76600" y="3048000"/>
                        <a:ext cx="12573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57" name="Rectangle 203"/>
          <p:cNvSpPr>
            <a:spLocks noChangeArrowheads="1"/>
          </p:cNvSpPr>
          <p:nvPr/>
        </p:nvSpPr>
        <p:spPr bwMode="auto">
          <a:xfrm>
            <a:off x="0" y="2819400"/>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58" name="Rectangle 205"/>
          <p:cNvSpPr>
            <a:spLocks noChangeArrowheads="1"/>
          </p:cNvSpPr>
          <p:nvPr/>
        </p:nvSpPr>
        <p:spPr bwMode="auto">
          <a:xfrm>
            <a:off x="0" y="2795588"/>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59" name="Rectangle 207"/>
          <p:cNvSpPr>
            <a:spLocks noChangeArrowheads="1"/>
          </p:cNvSpPr>
          <p:nvPr/>
        </p:nvSpPr>
        <p:spPr bwMode="auto">
          <a:xfrm>
            <a:off x="0" y="2781300"/>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sp>
        <p:nvSpPr>
          <p:cNvPr id="73760" name="Rectangle 210"/>
          <p:cNvSpPr>
            <a:spLocks noChangeArrowheads="1"/>
          </p:cNvSpPr>
          <p:nvPr/>
        </p:nvSpPr>
        <p:spPr bwMode="auto">
          <a:xfrm>
            <a:off x="0" y="2762250"/>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grpSp>
        <p:nvGrpSpPr>
          <p:cNvPr id="73761" name="Group 216"/>
          <p:cNvGrpSpPr>
            <a:grpSpLocks/>
          </p:cNvGrpSpPr>
          <p:nvPr/>
        </p:nvGrpSpPr>
        <p:grpSpPr bwMode="auto">
          <a:xfrm>
            <a:off x="2362200" y="3352800"/>
            <a:ext cx="3038475" cy="914400"/>
            <a:chOff x="528" y="2784"/>
            <a:chExt cx="1914" cy="576"/>
          </a:xfrm>
        </p:grpSpPr>
        <p:grpSp>
          <p:nvGrpSpPr>
            <p:cNvPr id="73766" name="Group 215"/>
            <p:cNvGrpSpPr>
              <a:grpSpLocks/>
            </p:cNvGrpSpPr>
            <p:nvPr/>
          </p:nvGrpSpPr>
          <p:grpSpPr bwMode="auto">
            <a:xfrm>
              <a:off x="528" y="2784"/>
              <a:ext cx="1902" cy="576"/>
              <a:chOff x="528" y="2784"/>
              <a:chExt cx="1902" cy="576"/>
            </a:xfrm>
          </p:grpSpPr>
          <p:sp>
            <p:nvSpPr>
              <p:cNvPr id="73768" name="Text Box 201"/>
              <p:cNvSpPr txBox="1">
                <a:spLocks noChangeArrowheads="1"/>
              </p:cNvSpPr>
              <p:nvPr/>
            </p:nvSpPr>
            <p:spPr bwMode="auto">
              <a:xfrm>
                <a:off x="528" y="2784"/>
                <a:ext cx="13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sr-Latn-RS" altLang="sr-Latn-RS" sz="1900">
                    <a:latin typeface="Tahoma" pitchFamily="34" charset="0"/>
                  </a:rPr>
                  <a:t>Ako </a:t>
                </a:r>
                <a:r>
                  <a:rPr lang="en-US" altLang="sr-Latn-RS" sz="1900">
                    <a:latin typeface="Tahoma" pitchFamily="34" charset="0"/>
                  </a:rPr>
                  <a:t>            </a:t>
                </a:r>
                <a:r>
                  <a:rPr lang="sr-Latn-RS" altLang="sr-Latn-RS" sz="1900">
                    <a:latin typeface="Tahoma" pitchFamily="34" charset="0"/>
                  </a:rPr>
                  <a:t>onda</a:t>
                </a:r>
                <a:endParaRPr lang="en-US" altLang="sr-Latn-RS" sz="1900">
                  <a:latin typeface="Tahoma" pitchFamily="34" charset="0"/>
                </a:endParaRPr>
              </a:p>
            </p:txBody>
          </p:sp>
          <p:graphicFrame>
            <p:nvGraphicFramePr>
              <p:cNvPr id="73769" name="Object 202"/>
              <p:cNvGraphicFramePr>
                <a:graphicFrameLocks noChangeAspect="1"/>
              </p:cNvGraphicFramePr>
              <p:nvPr/>
            </p:nvGraphicFramePr>
            <p:xfrm>
              <a:off x="864" y="2880"/>
              <a:ext cx="456" cy="144"/>
            </p:xfrm>
            <a:graphic>
              <a:graphicData uri="http://schemas.openxmlformats.org/presentationml/2006/ole">
                <mc:AlternateContent xmlns:mc="http://schemas.openxmlformats.org/markup-compatibility/2006">
                  <mc:Choice xmlns:v="urn:schemas-microsoft-com:vml" Requires="v">
                    <p:oleObj name="Equation" r:id="rId12" imgW="723586" imgH="228501" progId="Equation.3">
                      <p:embed/>
                    </p:oleObj>
                  </mc:Choice>
                  <mc:Fallback>
                    <p:oleObj name="Equation" r:id="rId12" imgW="723586" imgH="228501"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4" y="2880"/>
                            <a:ext cx="45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70" name="Object 204"/>
              <p:cNvGraphicFramePr>
                <a:graphicFrameLocks noChangeAspect="1"/>
              </p:cNvGraphicFramePr>
              <p:nvPr/>
            </p:nvGraphicFramePr>
            <p:xfrm>
              <a:off x="1968" y="2832"/>
              <a:ext cx="462" cy="174"/>
            </p:xfrm>
            <a:graphic>
              <a:graphicData uri="http://schemas.openxmlformats.org/presentationml/2006/ole">
                <mc:AlternateContent xmlns:mc="http://schemas.openxmlformats.org/markup-compatibility/2006">
                  <mc:Choice xmlns:v="urn:schemas-microsoft-com:vml" Requires="v">
                    <p:oleObj name="Equation" r:id="rId14" imgW="736600" imgH="279400" progId="Equation.3">
                      <p:embed/>
                    </p:oleObj>
                  </mc:Choice>
                  <mc:Fallback>
                    <p:oleObj name="Equation" r:id="rId14" imgW="736600" imgH="2794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68" y="2832"/>
                            <a:ext cx="462"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3771" name="Group 214"/>
              <p:cNvGrpSpPr>
                <a:grpSpLocks/>
              </p:cNvGrpSpPr>
              <p:nvPr/>
            </p:nvGrpSpPr>
            <p:grpSpPr bwMode="auto">
              <a:xfrm>
                <a:off x="528" y="3120"/>
                <a:ext cx="1392" cy="240"/>
                <a:chOff x="528" y="3120"/>
                <a:chExt cx="1392" cy="240"/>
              </a:xfrm>
            </p:grpSpPr>
            <p:graphicFrame>
              <p:nvGraphicFramePr>
                <p:cNvPr id="73772" name="Object 206"/>
                <p:cNvGraphicFramePr>
                  <a:graphicFrameLocks noChangeAspect="1"/>
                </p:cNvGraphicFramePr>
                <p:nvPr/>
              </p:nvGraphicFramePr>
              <p:xfrm>
                <a:off x="864" y="3168"/>
                <a:ext cx="450" cy="192"/>
              </p:xfrm>
              <a:graphic>
                <a:graphicData uri="http://schemas.openxmlformats.org/presentationml/2006/ole">
                  <mc:AlternateContent xmlns:mc="http://schemas.openxmlformats.org/markup-compatibility/2006">
                    <mc:Choice xmlns:v="urn:schemas-microsoft-com:vml" Requires="v">
                      <p:oleObj name="Equation" r:id="rId16" imgW="710891" imgH="304668" progId="Equation.3">
                        <p:embed/>
                      </p:oleObj>
                    </mc:Choice>
                    <mc:Fallback>
                      <p:oleObj name="Equation" r:id="rId16" imgW="710891" imgH="304668"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64" y="3168"/>
                              <a:ext cx="45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3773" name="Text Box 208"/>
                <p:cNvSpPr txBox="1">
                  <a:spLocks noChangeArrowheads="1"/>
                </p:cNvSpPr>
                <p:nvPr/>
              </p:nvSpPr>
              <p:spPr bwMode="auto">
                <a:xfrm>
                  <a:off x="528" y="3120"/>
                  <a:ext cx="139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sr-Latn-RS" altLang="sr-Latn-RS" sz="1900">
                      <a:latin typeface="Tahoma" pitchFamily="34" charset="0"/>
                    </a:rPr>
                    <a:t>Ako</a:t>
                  </a:r>
                  <a:r>
                    <a:rPr lang="en-US" altLang="sr-Latn-RS" sz="1900">
                      <a:latin typeface="Tahoma" pitchFamily="34" charset="0"/>
                    </a:rPr>
                    <a:t>             </a:t>
                  </a:r>
                  <a:r>
                    <a:rPr lang="sr-Latn-RS" altLang="sr-Latn-RS" sz="1900">
                      <a:latin typeface="Tahoma" pitchFamily="34" charset="0"/>
                    </a:rPr>
                    <a:t>onda</a:t>
                  </a:r>
                  <a:endParaRPr lang="en-US" altLang="sr-Latn-RS" sz="1900">
                    <a:latin typeface="Tahoma" pitchFamily="34" charset="0"/>
                  </a:endParaRPr>
                </a:p>
              </p:txBody>
            </p:sp>
          </p:grpSp>
        </p:grpSp>
        <p:graphicFrame>
          <p:nvGraphicFramePr>
            <p:cNvPr id="73767" name="Object 209"/>
            <p:cNvGraphicFramePr>
              <a:graphicFrameLocks noChangeAspect="1"/>
            </p:cNvGraphicFramePr>
            <p:nvPr/>
          </p:nvGraphicFramePr>
          <p:xfrm>
            <a:off x="1968" y="3120"/>
            <a:ext cx="474" cy="216"/>
          </p:xfrm>
          <a:graphic>
            <a:graphicData uri="http://schemas.openxmlformats.org/presentationml/2006/ole">
              <mc:AlternateContent xmlns:mc="http://schemas.openxmlformats.org/markup-compatibility/2006">
                <mc:Choice xmlns:v="urn:schemas-microsoft-com:vml" Requires="v">
                  <p:oleObj name="Equation" r:id="rId18" imgW="748975" imgH="342751" progId="Equation.3">
                    <p:embed/>
                  </p:oleObj>
                </mc:Choice>
                <mc:Fallback>
                  <p:oleObj name="Equation" r:id="rId18" imgW="748975" imgH="342751"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68" y="3120"/>
                          <a:ext cx="474"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73762" name="Text Box 211"/>
          <p:cNvSpPr txBox="1">
            <a:spLocks noChangeArrowheads="1"/>
          </p:cNvSpPr>
          <p:nvPr/>
        </p:nvSpPr>
        <p:spPr bwMode="auto">
          <a:xfrm>
            <a:off x="3276600" y="4343400"/>
            <a:ext cx="2057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50000"/>
              </a:spcBef>
              <a:buFontTx/>
              <a:buNone/>
            </a:pPr>
            <a:r>
              <a:rPr lang="sr-Latn-RS" altLang="sr-Latn-RS" sz="1900">
                <a:latin typeface="Tahoma" pitchFamily="34" charset="0"/>
              </a:rPr>
              <a:t>m=?, c=?</a:t>
            </a:r>
            <a:endParaRPr lang="en-US" altLang="sr-Latn-RS" sz="1900">
              <a:latin typeface="Tahoma" pitchFamily="34" charset="0"/>
            </a:endParaRPr>
          </a:p>
        </p:txBody>
      </p:sp>
      <p:sp>
        <p:nvSpPr>
          <p:cNvPr id="73763" name="Rectangle 213"/>
          <p:cNvSpPr>
            <a:spLocks noChangeArrowheads="1"/>
          </p:cNvSpPr>
          <p:nvPr/>
        </p:nvSpPr>
        <p:spPr bwMode="auto">
          <a:xfrm>
            <a:off x="0" y="2571750"/>
            <a:ext cx="184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spcBef>
                <a:spcPct val="20000"/>
              </a:spcBef>
              <a:buChar char="•"/>
              <a:defRPr sz="3200">
                <a:solidFill>
                  <a:schemeClr val="tx1"/>
                </a:solidFill>
                <a:latin typeface="Arial" charset="0"/>
              </a:defRPr>
            </a:lvl1pPr>
            <a:lvl2pPr marL="742950" indent="-285750" eaLnBrk="0" hangingPunct="0">
              <a:spcBef>
                <a:spcPct val="20000"/>
              </a:spcBef>
              <a:buChar char="–"/>
              <a:defRPr sz="2800">
                <a:solidFill>
                  <a:schemeClr val="tx1"/>
                </a:solidFill>
                <a:latin typeface="Arial" charset="0"/>
              </a:defRPr>
            </a:lvl2pPr>
            <a:lvl3pPr marL="1143000" indent="-228600" eaLnBrk="0" hangingPunct="0">
              <a:spcBef>
                <a:spcPct val="20000"/>
              </a:spcBef>
              <a:buChar char="•"/>
              <a:defRPr sz="2400">
                <a:solidFill>
                  <a:schemeClr val="tx1"/>
                </a:solidFill>
                <a:latin typeface="Arial" charset="0"/>
              </a:defRPr>
            </a:lvl3pPr>
            <a:lvl4pPr marL="1600200" indent="-228600" eaLnBrk="0" hangingPunct="0">
              <a:spcBef>
                <a:spcPct val="20000"/>
              </a:spcBef>
              <a:buChar char="–"/>
              <a:defRPr sz="2000">
                <a:solidFill>
                  <a:schemeClr val="tx1"/>
                </a:solidFill>
                <a:latin typeface="Arial" charset="0"/>
              </a:defRPr>
            </a:lvl4pPr>
            <a:lvl5pPr marL="2057400" indent="-228600" eaLnBrk="0" hangingPunct="0">
              <a:spcBef>
                <a:spcPct val="20000"/>
              </a:spcBef>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sr-Latn-RS" altLang="sr-Latn-RS" sz="1900">
              <a:latin typeface="Tahoma" pitchFamily="34" charset="0"/>
            </a:endParaRPr>
          </a:p>
        </p:txBody>
      </p:sp>
      <p:graphicFrame>
        <p:nvGraphicFramePr>
          <p:cNvPr id="73764" name="Object 212"/>
          <p:cNvGraphicFramePr>
            <a:graphicFrameLocks noChangeAspect="1"/>
          </p:cNvGraphicFramePr>
          <p:nvPr/>
        </p:nvGraphicFramePr>
        <p:xfrm>
          <a:off x="2362200" y="5029200"/>
          <a:ext cx="1181100" cy="723900"/>
        </p:xfrm>
        <a:graphic>
          <a:graphicData uri="http://schemas.openxmlformats.org/presentationml/2006/ole">
            <mc:AlternateContent xmlns:mc="http://schemas.openxmlformats.org/markup-compatibility/2006">
              <mc:Choice xmlns:v="urn:schemas-microsoft-com:vml" Requires="v">
                <p:oleObj name="Equation" r:id="rId20" imgW="1180588" imgH="723586" progId="Equation.3">
                  <p:embed/>
                </p:oleObj>
              </mc:Choice>
              <mc:Fallback>
                <p:oleObj name="Equation" r:id="rId20" imgW="1180588" imgH="723586"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362200" y="5029200"/>
                        <a:ext cx="11811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3765" name="Object 11"/>
          <p:cNvGraphicFramePr>
            <a:graphicFrameLocks noChangeAspect="1"/>
          </p:cNvGraphicFramePr>
          <p:nvPr/>
        </p:nvGraphicFramePr>
        <p:xfrm>
          <a:off x="4343400" y="5029200"/>
          <a:ext cx="1095375" cy="723900"/>
        </p:xfrm>
        <a:graphic>
          <a:graphicData uri="http://schemas.openxmlformats.org/presentationml/2006/ole">
            <mc:AlternateContent xmlns:mc="http://schemas.openxmlformats.org/markup-compatibility/2006">
              <mc:Choice xmlns:v="urn:schemas-microsoft-com:vml" Requires="v">
                <p:oleObj name="Equation" r:id="rId22" imgW="1091726" imgH="723586" progId="Equation.3">
                  <p:embed/>
                </p:oleObj>
              </mc:Choice>
              <mc:Fallback>
                <p:oleObj name="Equation" r:id="rId22" imgW="1091726" imgH="723586"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343400" y="5029200"/>
                        <a:ext cx="1095375"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3951624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normAutofit/>
          </a:bodyPr>
          <a:lstStyle/>
          <a:p>
            <a:r>
              <a:rPr lang="sr-Latn-RS" altLang="sr-Latn-RS" sz="4000" dirty="0"/>
              <a:t>Gausova kvadratura primena</a:t>
            </a:r>
          </a:p>
        </p:txBody>
      </p:sp>
      <p:sp>
        <p:nvSpPr>
          <p:cNvPr id="74755" name="Rectangle 3"/>
          <p:cNvSpPr>
            <a:spLocks noGrp="1" noChangeArrowheads="1"/>
          </p:cNvSpPr>
          <p:nvPr>
            <p:ph type="body" idx="1"/>
          </p:nvPr>
        </p:nvSpPr>
        <p:spPr/>
        <p:txBody>
          <a:bodyPr/>
          <a:lstStyle/>
          <a:p>
            <a:r>
              <a:rPr lang="sr-Latn-RS" altLang="sr-Latn-RS"/>
              <a:t>Tako dobijamo:</a:t>
            </a:r>
          </a:p>
          <a:p>
            <a:endParaRPr lang="sr-Latn-RS" altLang="sr-Latn-RS"/>
          </a:p>
          <a:p>
            <a:endParaRPr lang="sr-Latn-RS" altLang="sr-Latn-RS"/>
          </a:p>
          <a:p>
            <a:r>
              <a:rPr lang="sr-Latn-RS" altLang="sr-Latn-RS"/>
              <a:t>Ako zamenimo vrednosti za x i dx u integral imamo:</a:t>
            </a:r>
          </a:p>
        </p:txBody>
      </p:sp>
      <p:graphicFrame>
        <p:nvGraphicFramePr>
          <p:cNvPr id="74756" name="Object 15"/>
          <p:cNvGraphicFramePr>
            <a:graphicFrameLocks noChangeAspect="1"/>
          </p:cNvGraphicFramePr>
          <p:nvPr>
            <p:extLst>
              <p:ext uri="{D42A27DB-BD31-4B8C-83A1-F6EECF244321}">
                <p14:modId xmlns:p14="http://schemas.microsoft.com/office/powerpoint/2010/main" val="3285307899"/>
              </p:ext>
            </p:extLst>
          </p:nvPr>
        </p:nvGraphicFramePr>
        <p:xfrm>
          <a:off x="4876800" y="1981200"/>
          <a:ext cx="2057400" cy="958850"/>
        </p:xfrm>
        <a:graphic>
          <a:graphicData uri="http://schemas.openxmlformats.org/presentationml/2006/ole">
            <mc:AlternateContent xmlns:mc="http://schemas.openxmlformats.org/markup-compatibility/2006">
              <mc:Choice xmlns:v="urn:schemas-microsoft-com:vml" Requires="v">
                <p:oleObj name="Equation" r:id="rId2" imgW="1548728" imgH="723586" progId="Equation.3">
                  <p:embed/>
                </p:oleObj>
              </mc:Choice>
              <mc:Fallback>
                <p:oleObj name="Equation" r:id="rId2" imgW="1548728" imgH="723586"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1981200"/>
                        <a:ext cx="2057400"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57" name="Object 16"/>
          <p:cNvGraphicFramePr>
            <a:graphicFrameLocks noChangeAspect="1"/>
          </p:cNvGraphicFramePr>
          <p:nvPr>
            <p:extLst>
              <p:ext uri="{D42A27DB-BD31-4B8C-83A1-F6EECF244321}">
                <p14:modId xmlns:p14="http://schemas.microsoft.com/office/powerpoint/2010/main" val="988518150"/>
              </p:ext>
            </p:extLst>
          </p:nvPr>
        </p:nvGraphicFramePr>
        <p:xfrm>
          <a:off x="1752600" y="1981200"/>
          <a:ext cx="2865438" cy="958850"/>
        </p:xfrm>
        <a:graphic>
          <a:graphicData uri="http://schemas.openxmlformats.org/presentationml/2006/ole">
            <mc:AlternateContent xmlns:mc="http://schemas.openxmlformats.org/markup-compatibility/2006">
              <mc:Choice xmlns:v="urn:schemas-microsoft-com:vml" Requires="v">
                <p:oleObj name="Equation" r:id="rId4" imgW="2159000" imgH="723900" progId="Equation.3">
                  <p:embed/>
                </p:oleObj>
              </mc:Choice>
              <mc:Fallback>
                <p:oleObj name="Equation" r:id="rId4" imgW="2159000" imgH="723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1981200"/>
                        <a:ext cx="2865438"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58" name="Object 20"/>
          <p:cNvGraphicFramePr>
            <a:graphicFrameLocks noChangeAspect="1"/>
          </p:cNvGraphicFramePr>
          <p:nvPr>
            <p:extLst>
              <p:ext uri="{D42A27DB-BD31-4B8C-83A1-F6EECF244321}">
                <p14:modId xmlns:p14="http://schemas.microsoft.com/office/powerpoint/2010/main" val="589355684"/>
              </p:ext>
            </p:extLst>
          </p:nvPr>
        </p:nvGraphicFramePr>
        <p:xfrm>
          <a:off x="1524000" y="3581400"/>
          <a:ext cx="5427662" cy="1098550"/>
        </p:xfrm>
        <a:graphic>
          <a:graphicData uri="http://schemas.openxmlformats.org/presentationml/2006/ole">
            <mc:AlternateContent xmlns:mc="http://schemas.openxmlformats.org/markup-compatibility/2006">
              <mc:Choice xmlns:v="urn:schemas-microsoft-com:vml" Requires="v">
                <p:oleObj name="Equation" r:id="rId6" imgW="2387600" imgH="482600" progId="Equation.3">
                  <p:embed/>
                </p:oleObj>
              </mc:Choice>
              <mc:Fallback>
                <p:oleObj name="Equation" r:id="rId6" imgW="2387600" imgH="4826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3581400"/>
                        <a:ext cx="5427662"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746330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228600" y="304800"/>
            <a:ext cx="8229600" cy="563562"/>
          </a:xfrm>
        </p:spPr>
        <p:txBody>
          <a:bodyPr>
            <a:normAutofit fontScale="90000"/>
          </a:bodyPr>
          <a:lstStyle/>
          <a:p>
            <a:r>
              <a:rPr lang="sr-Latn-RS" altLang="sr-Latn-RS" sz="4000"/>
              <a:t>Primer</a:t>
            </a:r>
          </a:p>
        </p:txBody>
      </p:sp>
      <p:sp>
        <p:nvSpPr>
          <p:cNvPr id="75779" name="Rectangle 3"/>
          <p:cNvSpPr>
            <a:spLocks noGrp="1" noChangeArrowheads="1"/>
          </p:cNvSpPr>
          <p:nvPr>
            <p:ph type="body" idx="1"/>
          </p:nvPr>
        </p:nvSpPr>
        <p:spPr/>
        <p:txBody>
          <a:bodyPr/>
          <a:lstStyle/>
          <a:p>
            <a:r>
              <a:rPr lang="sr-Latn-RS" altLang="sr-Latn-RS" sz="2400"/>
              <a:t>Imamo a=0, b=4. Radimo transformaciju:</a:t>
            </a:r>
          </a:p>
          <a:p>
            <a:endParaRPr lang="sr-Latn-RS" altLang="sr-Latn-RS" sz="2400"/>
          </a:p>
          <a:p>
            <a:endParaRPr lang="sr-Latn-RS" altLang="sr-Latn-RS" sz="2400"/>
          </a:p>
          <a:p>
            <a:endParaRPr lang="sr-Latn-RS" altLang="sr-Latn-RS" sz="2400"/>
          </a:p>
          <a:p>
            <a:endParaRPr lang="sr-Latn-RS" altLang="sr-Latn-RS" sz="2400"/>
          </a:p>
          <a:p>
            <a:endParaRPr lang="sr-Latn-RS" altLang="sr-Latn-RS" sz="2400"/>
          </a:p>
          <a:p>
            <a:endParaRPr lang="sr-Latn-RS" altLang="sr-Latn-RS" sz="2400"/>
          </a:p>
          <a:p>
            <a:r>
              <a:rPr lang="sr-Latn-RS" altLang="sr-Latn-RS" sz="2400"/>
              <a:t>Odabraćemo 2 tačke. Iz tabele od ranije imamo </a:t>
            </a:r>
          </a:p>
        </p:txBody>
      </p:sp>
      <p:graphicFrame>
        <p:nvGraphicFramePr>
          <p:cNvPr id="75780" name="Object 4"/>
          <p:cNvGraphicFramePr>
            <a:graphicFrameLocks noChangeAspect="1"/>
          </p:cNvGraphicFramePr>
          <p:nvPr/>
        </p:nvGraphicFramePr>
        <p:xfrm>
          <a:off x="2286000" y="685800"/>
          <a:ext cx="5072063" cy="885825"/>
        </p:xfrm>
        <a:graphic>
          <a:graphicData uri="http://schemas.openxmlformats.org/presentationml/2006/ole">
            <mc:AlternateContent xmlns:mc="http://schemas.openxmlformats.org/markup-compatibility/2006">
              <mc:Choice xmlns:v="urn:schemas-microsoft-com:vml" Requires="v">
                <p:oleObj name="Equation" r:id="rId2" imgW="1892300" imgH="330200" progId="Equation.3">
                  <p:embed/>
                </p:oleObj>
              </mc:Choice>
              <mc:Fallback>
                <p:oleObj name="Equation" r:id="rId2" imgW="1892300" imgH="330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685800"/>
                        <a:ext cx="5072063" cy="885825"/>
                      </a:xfrm>
                      <a:prstGeom prst="rect">
                        <a:avLst/>
                      </a:prstGeom>
                      <a:solidFill>
                        <a:srgbClr val="66FFFF"/>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5781" name="Object 20"/>
          <p:cNvGraphicFramePr>
            <a:graphicFrameLocks noChangeAspect="1"/>
          </p:cNvGraphicFramePr>
          <p:nvPr/>
        </p:nvGraphicFramePr>
        <p:xfrm>
          <a:off x="1470025" y="2057400"/>
          <a:ext cx="5489575" cy="2717800"/>
        </p:xfrm>
        <a:graphic>
          <a:graphicData uri="http://schemas.openxmlformats.org/presentationml/2006/ole">
            <mc:AlternateContent xmlns:mc="http://schemas.openxmlformats.org/markup-compatibility/2006">
              <mc:Choice xmlns:v="urn:schemas-microsoft-com:vml" Requires="v">
                <p:oleObj name="Equation" r:id="rId4" imgW="3009900" imgH="1485900" progId="Equation.3">
                  <p:embed/>
                </p:oleObj>
              </mc:Choice>
              <mc:Fallback>
                <p:oleObj name="Equation" r:id="rId4" imgW="3009900" imgH="14859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0025" y="2057400"/>
                        <a:ext cx="5489575" cy="271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6562" name="Group 18"/>
          <p:cNvGraphicFramePr>
            <a:graphicFrameLocks noGrp="1"/>
          </p:cNvGraphicFramePr>
          <p:nvPr/>
        </p:nvGraphicFramePr>
        <p:xfrm>
          <a:off x="1600200" y="5257800"/>
          <a:ext cx="5181600" cy="928688"/>
        </p:xfrm>
        <a:graphic>
          <a:graphicData uri="http://schemas.openxmlformats.org/drawingml/2006/table">
            <a:tbl>
              <a:tblPr/>
              <a:tblGrid>
                <a:gridCol w="2413000">
                  <a:extLst>
                    <a:ext uri="{9D8B030D-6E8A-4147-A177-3AD203B41FA5}">
                      <a16:colId xmlns:a16="http://schemas.microsoft.com/office/drawing/2014/main" val="20000"/>
                    </a:ext>
                  </a:extLst>
                </a:gridCol>
                <a:gridCol w="2768600">
                  <a:extLst>
                    <a:ext uri="{9D8B030D-6E8A-4147-A177-3AD203B41FA5}">
                      <a16:colId xmlns:a16="http://schemas.microsoft.com/office/drawing/2014/main" val="20001"/>
                    </a:ext>
                  </a:extLst>
                </a:gridCol>
              </a:tblGrid>
              <a:tr h="928688">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c</a:t>
                      </a:r>
                      <a:r>
                        <a:rPr kumimoji="0" lang="en-US" altLang="sr-Latn-RS" sz="1800" b="0" i="0" u="none" strike="noStrike" cap="none" normalizeH="0" baseline="-30000" dirty="0">
                          <a:ln>
                            <a:noFill/>
                          </a:ln>
                          <a:solidFill>
                            <a:schemeClr val="tx1"/>
                          </a:solidFill>
                          <a:effectLst/>
                          <a:latin typeface="Arial" charset="0"/>
                          <a:ea typeface="Times New Roman" charset="0"/>
                          <a:cs typeface="Tahoma" pitchFamily="34" charset="0"/>
                        </a:rPr>
                        <a:t>1</a:t>
                      </a: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 = 1.000000000</a:t>
                      </a:r>
                      <a:endParaRPr kumimoji="0" lang="en-US" altLang="sr-Latn-RS" sz="1800" b="0" i="0" u="none" strike="noStrike" cap="none" normalizeH="0" baseline="0" dirty="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c</a:t>
                      </a:r>
                      <a:r>
                        <a:rPr kumimoji="0" lang="en-US" altLang="sr-Latn-RS" sz="1800" b="0" i="0" u="none" strike="noStrike" cap="none" normalizeH="0" baseline="-30000" dirty="0">
                          <a:ln>
                            <a:noFill/>
                          </a:ln>
                          <a:solidFill>
                            <a:schemeClr val="tx1"/>
                          </a:solidFill>
                          <a:effectLst/>
                          <a:latin typeface="Arial" charset="0"/>
                          <a:ea typeface="Times New Roman" charset="0"/>
                          <a:cs typeface="Tahoma" pitchFamily="34" charset="0"/>
                        </a:rPr>
                        <a:t>2</a:t>
                      </a: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 = 1.000000000</a:t>
                      </a:r>
                      <a:endParaRPr kumimoji="0" lang="en-US" altLang="sr-Latn-RS" sz="1800" b="0" i="0" u="none" strike="noStrike" cap="none" normalizeH="0" baseline="0" dirty="0">
                        <a:ln>
                          <a:noFill/>
                        </a:ln>
                        <a:solidFill>
                          <a:schemeClr val="tx1"/>
                        </a:solidFill>
                        <a:effectLst/>
                        <a:latin typeface="Times New Roman" charset="0"/>
                        <a:ea typeface="Times New Roman" charset="0"/>
                        <a:cs typeface="Tahoma"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x</a:t>
                      </a:r>
                      <a:r>
                        <a:rPr kumimoji="0" lang="en-US" altLang="sr-Latn-RS" sz="1800" b="0" i="0" u="none" strike="noStrike" cap="none" normalizeH="0" baseline="-30000" dirty="0">
                          <a:ln>
                            <a:noFill/>
                          </a:ln>
                          <a:solidFill>
                            <a:schemeClr val="tx1"/>
                          </a:solidFill>
                          <a:effectLst/>
                          <a:latin typeface="Arial" charset="0"/>
                          <a:ea typeface="Times New Roman" charset="0"/>
                          <a:cs typeface="Tahoma" pitchFamily="34" charset="0"/>
                        </a:rPr>
                        <a:t>1</a:t>
                      </a: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 = -0.577350269</a:t>
                      </a:r>
                      <a:endParaRPr kumimoji="0" lang="en-US" altLang="sr-Latn-RS" sz="1800" b="0" i="0" u="none" strike="noStrike" cap="none" normalizeH="0" baseline="0" dirty="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x</a:t>
                      </a:r>
                      <a:r>
                        <a:rPr kumimoji="0" lang="en-US" altLang="sr-Latn-RS" sz="1800" b="0" i="0" u="none" strike="noStrike" cap="none" normalizeH="0" baseline="-30000" dirty="0">
                          <a:ln>
                            <a:noFill/>
                          </a:ln>
                          <a:solidFill>
                            <a:schemeClr val="tx1"/>
                          </a:solidFill>
                          <a:effectLst/>
                          <a:latin typeface="Arial" charset="0"/>
                          <a:ea typeface="Times New Roman" charset="0"/>
                          <a:cs typeface="Tahoma" pitchFamily="34" charset="0"/>
                        </a:rPr>
                        <a:t>2</a:t>
                      </a: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 =  0.577350269</a:t>
                      </a:r>
                      <a:endParaRPr kumimoji="0" lang="en-US" altLang="sr-Latn-RS" sz="1800" b="0" i="0" u="none" strike="noStrike" cap="none" normalizeH="0" baseline="0" dirty="0">
                        <a:ln>
                          <a:noFill/>
                        </a:ln>
                        <a:solidFill>
                          <a:schemeClr val="tx1"/>
                        </a:solidFill>
                        <a:effectLst/>
                        <a:latin typeface="Times New Roman" charset="0"/>
                        <a:ea typeface="Times New Roman" charset="0"/>
                        <a:cs typeface="Tahoma"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6310643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457200" y="274638"/>
            <a:ext cx="8229600" cy="487362"/>
          </a:xfrm>
        </p:spPr>
        <p:txBody>
          <a:bodyPr>
            <a:normAutofit fontScale="90000"/>
          </a:bodyPr>
          <a:lstStyle/>
          <a:p>
            <a:r>
              <a:rPr lang="sr-Latn-RS" altLang="sr-Latn-RS" sz="4000"/>
              <a:t>Primer nastavak</a:t>
            </a:r>
          </a:p>
        </p:txBody>
      </p:sp>
      <p:graphicFrame>
        <p:nvGraphicFramePr>
          <p:cNvPr id="76803" name="Object 20"/>
          <p:cNvGraphicFramePr>
            <a:graphicFrameLocks noChangeAspect="1"/>
          </p:cNvGraphicFramePr>
          <p:nvPr/>
        </p:nvGraphicFramePr>
        <p:xfrm>
          <a:off x="685800" y="1676400"/>
          <a:ext cx="7772400" cy="3938588"/>
        </p:xfrm>
        <a:graphic>
          <a:graphicData uri="http://schemas.openxmlformats.org/presentationml/2006/ole">
            <mc:AlternateContent xmlns:mc="http://schemas.openxmlformats.org/markup-compatibility/2006">
              <mc:Choice xmlns:v="urn:schemas-microsoft-com:vml" Requires="v">
                <p:oleObj name="Equation" r:id="rId2" imgW="2819400" imgH="1460500" progId="Equation.3">
                  <p:embed/>
                </p:oleObj>
              </mc:Choice>
              <mc:Fallback>
                <p:oleObj name="Equation" r:id="rId2" imgW="2819400" imgH="14605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76400"/>
                        <a:ext cx="7772400" cy="39385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Group 18"/>
          <p:cNvGraphicFramePr>
            <a:graphicFrameLocks noGrp="1"/>
          </p:cNvGraphicFramePr>
          <p:nvPr>
            <p:extLst>
              <p:ext uri="{D42A27DB-BD31-4B8C-83A1-F6EECF244321}">
                <p14:modId xmlns:p14="http://schemas.microsoft.com/office/powerpoint/2010/main" val="83392533"/>
              </p:ext>
            </p:extLst>
          </p:nvPr>
        </p:nvGraphicFramePr>
        <p:xfrm>
          <a:off x="3810000" y="685800"/>
          <a:ext cx="5181600" cy="928688"/>
        </p:xfrm>
        <a:graphic>
          <a:graphicData uri="http://schemas.openxmlformats.org/drawingml/2006/table">
            <a:tbl>
              <a:tblPr/>
              <a:tblGrid>
                <a:gridCol w="2413000">
                  <a:extLst>
                    <a:ext uri="{9D8B030D-6E8A-4147-A177-3AD203B41FA5}">
                      <a16:colId xmlns:a16="http://schemas.microsoft.com/office/drawing/2014/main" val="20000"/>
                    </a:ext>
                  </a:extLst>
                </a:gridCol>
                <a:gridCol w="2768600">
                  <a:extLst>
                    <a:ext uri="{9D8B030D-6E8A-4147-A177-3AD203B41FA5}">
                      <a16:colId xmlns:a16="http://schemas.microsoft.com/office/drawing/2014/main" val="20001"/>
                    </a:ext>
                  </a:extLst>
                </a:gridCol>
              </a:tblGrid>
              <a:tr h="928688">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800" b="0" i="0" u="none" strike="noStrike" cap="none" normalizeH="0" baseline="-30000">
                          <a:ln>
                            <a:noFill/>
                          </a:ln>
                          <a:solidFill>
                            <a:schemeClr val="tx1"/>
                          </a:solidFill>
                          <a:effectLst/>
                          <a:latin typeface="Arial" charset="0"/>
                          <a:ea typeface="Times New Roman" charset="0"/>
                          <a:cs typeface="Tahoma" pitchFamily="34" charset="0"/>
                        </a:rPr>
                        <a:t>1</a:t>
                      </a:r>
                      <a:r>
                        <a:rPr kumimoji="0" lang="en-US" altLang="sr-Latn-RS" sz="1800" b="0" i="0" u="none" strike="noStrike" cap="none" normalizeH="0" baseline="0">
                          <a:ln>
                            <a:noFill/>
                          </a:ln>
                          <a:solidFill>
                            <a:schemeClr val="tx1"/>
                          </a:solidFill>
                          <a:effectLst/>
                          <a:latin typeface="Arial" charset="0"/>
                          <a:ea typeface="Times New Roman" charset="0"/>
                          <a:cs typeface="Tahoma" pitchFamily="34" charset="0"/>
                        </a:rPr>
                        <a:t> = 1.000000000</a:t>
                      </a:r>
                      <a:endParaRPr kumimoji="0" lang="en-US" altLang="sr-Latn-RS" sz="1800" b="0" i="0" u="none" strike="noStrike" cap="none" normalizeH="0" baseline="0">
                        <a:ln>
                          <a:noFill/>
                        </a:ln>
                        <a:solidFill>
                          <a:schemeClr val="tx1"/>
                        </a:solidFill>
                        <a:effectLst/>
                        <a:latin typeface="Times New Roman" charset="0"/>
                        <a:ea typeface="Times New Roman" charset="0"/>
                        <a:cs typeface="Tahoma"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a:ln>
                            <a:noFill/>
                          </a:ln>
                          <a:solidFill>
                            <a:schemeClr val="tx1"/>
                          </a:solidFill>
                          <a:effectLst/>
                          <a:latin typeface="Arial" charset="0"/>
                          <a:ea typeface="Times New Roman" charset="0"/>
                          <a:cs typeface="Tahoma" pitchFamily="34" charset="0"/>
                        </a:rPr>
                        <a:t>c</a:t>
                      </a:r>
                      <a:r>
                        <a:rPr kumimoji="0" lang="en-US" altLang="sr-Latn-RS" sz="1800" b="0" i="0" u="none" strike="noStrike" cap="none" normalizeH="0" baseline="-30000">
                          <a:ln>
                            <a:noFill/>
                          </a:ln>
                          <a:solidFill>
                            <a:schemeClr val="tx1"/>
                          </a:solidFill>
                          <a:effectLst/>
                          <a:latin typeface="Arial" charset="0"/>
                          <a:ea typeface="Times New Roman" charset="0"/>
                          <a:cs typeface="Tahoma" pitchFamily="34" charset="0"/>
                        </a:rPr>
                        <a:t>2</a:t>
                      </a:r>
                      <a:r>
                        <a:rPr kumimoji="0" lang="en-US" altLang="sr-Latn-RS" sz="1800" b="0" i="0" u="none" strike="noStrike" cap="none" normalizeH="0" baseline="0">
                          <a:ln>
                            <a:noFill/>
                          </a:ln>
                          <a:solidFill>
                            <a:schemeClr val="tx1"/>
                          </a:solidFill>
                          <a:effectLst/>
                          <a:latin typeface="Arial" charset="0"/>
                          <a:ea typeface="Times New Roman" charset="0"/>
                          <a:cs typeface="Tahoma" pitchFamily="34" charset="0"/>
                        </a:rPr>
                        <a:t> = 1.000000000</a:t>
                      </a:r>
                      <a:endParaRPr kumimoji="0" lang="en-US" altLang="sr-Latn-RS" sz="1800" b="0" i="0" u="none" strike="noStrike" cap="none" normalizeH="0" baseline="0">
                        <a:ln>
                          <a:noFill/>
                        </a:ln>
                        <a:solidFill>
                          <a:schemeClr val="tx1"/>
                        </a:solidFill>
                        <a:effectLst/>
                        <a:latin typeface="Times New Roman" charset="0"/>
                        <a:ea typeface="Times New Roman" charset="0"/>
                        <a:cs typeface="Tahoma"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Bef>
                          <a:spcPct val="20000"/>
                        </a:spcBef>
                        <a:defRPr sz="2800">
                          <a:solidFill>
                            <a:schemeClr val="tx1"/>
                          </a:solidFill>
                          <a:latin typeface="Arial" charset="0"/>
                        </a:defRPr>
                      </a:lvl1pPr>
                      <a:lvl2pPr eaLnBrk="0" hangingPunct="0">
                        <a:spcBef>
                          <a:spcPct val="20000"/>
                        </a:spcBef>
                        <a:defRPr sz="2400">
                          <a:solidFill>
                            <a:schemeClr val="tx1"/>
                          </a:solidFill>
                          <a:latin typeface="Arial" charset="0"/>
                        </a:defRPr>
                      </a:lvl2pPr>
                      <a:lvl3pPr eaLnBrk="0" hangingPunct="0">
                        <a:spcBef>
                          <a:spcPct val="20000"/>
                        </a:spcBef>
                        <a:defRPr sz="2000">
                          <a:solidFill>
                            <a:schemeClr val="tx1"/>
                          </a:solidFill>
                          <a:latin typeface="Arial" charset="0"/>
                        </a:defRPr>
                      </a:lvl3pPr>
                      <a:lvl4pPr eaLnBrk="0" hangingPunct="0">
                        <a:spcBef>
                          <a:spcPct val="20000"/>
                        </a:spcBef>
                        <a:defRPr>
                          <a:solidFill>
                            <a:schemeClr val="tx1"/>
                          </a:solidFill>
                          <a:latin typeface="Arial" charset="0"/>
                        </a:defRPr>
                      </a:lvl4pPr>
                      <a:lvl5pPr eaLnBrk="0" hangingPunct="0">
                        <a:spcBef>
                          <a:spcPct val="20000"/>
                        </a:spcBef>
                        <a:defRPr>
                          <a:solidFill>
                            <a:schemeClr val="tx1"/>
                          </a:solidFill>
                          <a:latin typeface="Arial" charset="0"/>
                        </a:defRPr>
                      </a:lvl5pPr>
                      <a:lvl6pPr eaLnBrk="0" fontAlgn="base" hangingPunct="0">
                        <a:spcBef>
                          <a:spcPct val="20000"/>
                        </a:spcBef>
                        <a:spcAft>
                          <a:spcPct val="0"/>
                        </a:spcAft>
                        <a:defRPr>
                          <a:solidFill>
                            <a:schemeClr val="tx1"/>
                          </a:solidFill>
                          <a:latin typeface="Arial" charset="0"/>
                        </a:defRPr>
                      </a:lvl6pPr>
                      <a:lvl7pPr eaLnBrk="0" fontAlgn="base" hangingPunct="0">
                        <a:spcBef>
                          <a:spcPct val="20000"/>
                        </a:spcBef>
                        <a:spcAft>
                          <a:spcPct val="0"/>
                        </a:spcAft>
                        <a:defRPr>
                          <a:solidFill>
                            <a:schemeClr val="tx1"/>
                          </a:solidFill>
                          <a:latin typeface="Arial" charset="0"/>
                        </a:defRPr>
                      </a:lvl7pPr>
                      <a:lvl8pPr eaLnBrk="0" fontAlgn="base" hangingPunct="0">
                        <a:spcBef>
                          <a:spcPct val="20000"/>
                        </a:spcBef>
                        <a:spcAft>
                          <a:spcPct val="0"/>
                        </a:spcAft>
                        <a:defRPr>
                          <a:solidFill>
                            <a:schemeClr val="tx1"/>
                          </a:solidFill>
                          <a:latin typeface="Arial" charset="0"/>
                        </a:defRPr>
                      </a:lvl8pPr>
                      <a:lvl9pPr eaLnBrk="0" fontAlgn="base" hangingPunct="0">
                        <a:spcBef>
                          <a:spcPct val="20000"/>
                        </a:spcBef>
                        <a:spcAft>
                          <a:spcPct val="0"/>
                        </a:spcAft>
                        <a:defRPr>
                          <a:solidFill>
                            <a:schemeClr val="tx1"/>
                          </a:solidFill>
                          <a:latin typeface="Arial"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x</a:t>
                      </a:r>
                      <a:r>
                        <a:rPr kumimoji="0" lang="en-US" altLang="sr-Latn-RS" sz="1800" b="0" i="0" u="none" strike="noStrike" cap="none" normalizeH="0" baseline="-30000" dirty="0">
                          <a:ln>
                            <a:noFill/>
                          </a:ln>
                          <a:solidFill>
                            <a:schemeClr val="tx1"/>
                          </a:solidFill>
                          <a:effectLst/>
                          <a:latin typeface="Arial" charset="0"/>
                          <a:ea typeface="Times New Roman" charset="0"/>
                          <a:cs typeface="Tahoma" pitchFamily="34" charset="0"/>
                        </a:rPr>
                        <a:t>1</a:t>
                      </a: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 = -0.577350269</a:t>
                      </a:r>
                      <a:endParaRPr kumimoji="0" lang="en-US" altLang="sr-Latn-RS" sz="1800" b="0" i="0" u="none" strike="noStrike" cap="none" normalizeH="0" baseline="0" dirty="0">
                        <a:ln>
                          <a:noFill/>
                        </a:ln>
                        <a:solidFill>
                          <a:schemeClr val="tx1"/>
                        </a:solidFill>
                        <a:effectLst/>
                        <a:latin typeface="Times New Roman" charset="0"/>
                        <a:ea typeface="Times New Roman" charset="0"/>
                        <a:cs typeface="Tahoma"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x</a:t>
                      </a:r>
                      <a:r>
                        <a:rPr kumimoji="0" lang="en-US" altLang="sr-Latn-RS" sz="1800" b="0" i="0" u="none" strike="noStrike" cap="none" normalizeH="0" baseline="-30000" dirty="0">
                          <a:ln>
                            <a:noFill/>
                          </a:ln>
                          <a:solidFill>
                            <a:schemeClr val="tx1"/>
                          </a:solidFill>
                          <a:effectLst/>
                          <a:latin typeface="Arial" charset="0"/>
                          <a:ea typeface="Times New Roman" charset="0"/>
                          <a:cs typeface="Tahoma" pitchFamily="34" charset="0"/>
                        </a:rPr>
                        <a:t>2</a:t>
                      </a:r>
                      <a:r>
                        <a:rPr kumimoji="0" lang="en-US" altLang="sr-Latn-RS" sz="1800" b="0" i="0" u="none" strike="noStrike" cap="none" normalizeH="0" baseline="0" dirty="0">
                          <a:ln>
                            <a:noFill/>
                          </a:ln>
                          <a:solidFill>
                            <a:schemeClr val="tx1"/>
                          </a:solidFill>
                          <a:effectLst/>
                          <a:latin typeface="Arial" charset="0"/>
                          <a:ea typeface="Times New Roman" charset="0"/>
                          <a:cs typeface="Tahoma" pitchFamily="34" charset="0"/>
                        </a:rPr>
                        <a:t> =  0.577350269</a:t>
                      </a:r>
                      <a:endParaRPr kumimoji="0" lang="en-US" altLang="sr-Latn-RS" sz="1800" b="0" i="0" u="none" strike="noStrike" cap="none" normalizeH="0" baseline="0" dirty="0">
                        <a:ln>
                          <a:noFill/>
                        </a:ln>
                        <a:solidFill>
                          <a:schemeClr val="tx1"/>
                        </a:solidFill>
                        <a:effectLst/>
                        <a:latin typeface="Times New Roman" charset="0"/>
                        <a:ea typeface="Times New Roman" charset="0"/>
                        <a:cs typeface="Tahoma"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276959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sr-Latn-RS" altLang="sr-Latn-RS"/>
              <a:t>Primer nastavak</a:t>
            </a:r>
          </a:p>
        </p:txBody>
      </p:sp>
      <p:sp>
        <p:nvSpPr>
          <p:cNvPr id="77827" name="Rectangle 3"/>
          <p:cNvSpPr>
            <a:spLocks noGrp="1" noChangeArrowheads="1"/>
          </p:cNvSpPr>
          <p:nvPr>
            <p:ph type="body" idx="1"/>
          </p:nvPr>
        </p:nvSpPr>
        <p:spPr>
          <a:xfrm>
            <a:off x="457200" y="1295400"/>
            <a:ext cx="8229600" cy="5181600"/>
          </a:xfrm>
          <a:solidFill>
            <a:schemeClr val="bg1"/>
          </a:solidFill>
        </p:spPr>
        <p:txBody>
          <a:bodyPr/>
          <a:lstStyle/>
          <a:p>
            <a:r>
              <a:rPr lang="sr-Latn-RS" altLang="sr-Latn-RS" sz="2400" dirty="0"/>
              <a:t>Iako naše rešenje od 6955.1 deluje loše, podsetimo se da smo za jednu primenu metode trapeza u tačkama 0 i 4 imali:</a:t>
            </a:r>
          </a:p>
          <a:p>
            <a:endParaRPr lang="sr-Latn-RS" altLang="sr-Latn-RS" sz="2400" dirty="0"/>
          </a:p>
          <a:p>
            <a:endParaRPr lang="sr-Latn-RS" altLang="sr-Latn-RS" sz="2400" dirty="0"/>
          </a:p>
          <a:p>
            <a:endParaRPr lang="sr-Latn-RS" altLang="sr-Latn-RS" sz="2400" dirty="0"/>
          </a:p>
          <a:p>
            <a:endParaRPr lang="sr-Latn-RS" altLang="sr-Latn-RS" sz="2400" dirty="0"/>
          </a:p>
          <a:p>
            <a:endParaRPr lang="sr-Latn-RS" altLang="sr-Latn-RS" sz="2400" dirty="0"/>
          </a:p>
          <a:p>
            <a:endParaRPr lang="sr-Latn-RS" altLang="sr-Latn-RS" sz="2400" dirty="0"/>
          </a:p>
          <a:p>
            <a:endParaRPr lang="sr-Latn-RS" altLang="sr-Latn-RS" sz="2400" dirty="0"/>
          </a:p>
          <a:p>
            <a:r>
              <a:rPr lang="sr-Latn-RS" altLang="sr-Latn-RS" sz="2400" dirty="0"/>
              <a:t>Dakle greška je približno 10 puta manja u odnosu na metodu trapeza.</a:t>
            </a:r>
          </a:p>
        </p:txBody>
      </p:sp>
      <p:graphicFrame>
        <p:nvGraphicFramePr>
          <p:cNvPr id="77828" name="Object 4"/>
          <p:cNvGraphicFramePr>
            <a:graphicFrameLocks noChangeAspect="1"/>
          </p:cNvGraphicFramePr>
          <p:nvPr/>
        </p:nvGraphicFramePr>
        <p:xfrm>
          <a:off x="609600" y="2362200"/>
          <a:ext cx="7699375" cy="3135313"/>
        </p:xfrm>
        <a:graphic>
          <a:graphicData uri="http://schemas.openxmlformats.org/presentationml/2006/ole">
            <mc:AlternateContent xmlns:mc="http://schemas.openxmlformats.org/markup-compatibility/2006">
              <mc:Choice xmlns:v="urn:schemas-microsoft-com:vml" Requires="v">
                <p:oleObj name="Equation" r:id="rId2" imgW="3556000" imgH="1447800" progId="Equation.3">
                  <p:embed/>
                </p:oleObj>
              </mc:Choice>
              <mc:Fallback>
                <p:oleObj name="Equation" r:id="rId2" imgW="3556000" imgH="14478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362200"/>
                        <a:ext cx="7699375" cy="3135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8542227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emplate>
  <TotalTime>2384</TotalTime>
  <Words>4328</Words>
  <Application>Microsoft Office PowerPoint</Application>
  <PresentationFormat>On-screen Show (4:3)</PresentationFormat>
  <Paragraphs>594</Paragraphs>
  <Slides>76</Slides>
  <Notes>33</Notes>
  <HiddenSlides>12</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76</vt:i4>
      </vt:variant>
    </vt:vector>
  </HeadingPairs>
  <TitlesOfParts>
    <vt:vector size="87" baseType="lpstr">
      <vt:lpstr>Arial</vt:lpstr>
      <vt:lpstr>Calibri</vt:lpstr>
      <vt:lpstr>Cambria Math</vt:lpstr>
      <vt:lpstr>Courier New</vt:lpstr>
      <vt:lpstr>Roboto</vt:lpstr>
      <vt:lpstr>Tahoma</vt:lpstr>
      <vt:lpstr>Times New Roman</vt:lpstr>
      <vt:lpstr>Verdana</vt:lpstr>
      <vt:lpstr>Wingdings</vt:lpstr>
      <vt:lpstr>Clarity</vt:lpstr>
      <vt:lpstr>Equation</vt:lpstr>
      <vt:lpstr>Numerička integracija</vt:lpstr>
      <vt:lpstr>Numerička integracija</vt:lpstr>
      <vt:lpstr>Numerička integracija</vt:lpstr>
      <vt:lpstr>Donja i gornja suma</vt:lpstr>
      <vt:lpstr>Donja i gornja suma</vt:lpstr>
      <vt:lpstr>Primer</vt:lpstr>
      <vt:lpstr>Primer</vt:lpstr>
      <vt:lpstr>Donja i gornja suma</vt:lpstr>
      <vt:lpstr>Njutn-Kotesove metode</vt:lpstr>
      <vt:lpstr>Njutn-Kotesove metode</vt:lpstr>
      <vt:lpstr>Metoda Trapeza</vt:lpstr>
      <vt:lpstr>Metoda trapeza Izvođenje za jedan interval</vt:lpstr>
      <vt:lpstr>Metoda trapeza Geometrijska interpretacija</vt:lpstr>
      <vt:lpstr>Primer</vt:lpstr>
      <vt:lpstr>Kompozitne metode</vt:lpstr>
      <vt:lpstr>Kompozitna metoda trapeza</vt:lpstr>
      <vt:lpstr>Kompozitna metoda trapeza</vt:lpstr>
      <vt:lpstr>PowerPoint Presentation</vt:lpstr>
      <vt:lpstr>Python kod</vt:lpstr>
      <vt:lpstr>Python kod</vt:lpstr>
      <vt:lpstr>Metoda trapeza - Greška</vt:lpstr>
      <vt:lpstr>Metoda trapeza - Greška</vt:lpstr>
      <vt:lpstr>Simpsonova 1/3 metoda</vt:lpstr>
      <vt:lpstr>Izvođenje formule - Simpsonova 1/3 metoda</vt:lpstr>
      <vt:lpstr>Izvođenje formule - Simpsonova 1/3 metoda</vt:lpstr>
      <vt:lpstr>Izvođenje formule - Simpsonova 1/3 metoda</vt:lpstr>
      <vt:lpstr>Izvođenje formule - Simpsonova 1/3 metoda</vt:lpstr>
      <vt:lpstr>Izvođenje formule - Simpsonova 1/3 metoda</vt:lpstr>
      <vt:lpstr>Izvođenje formule - Simpsonova 1/3 metoda</vt:lpstr>
      <vt:lpstr>Komopzitna Simpsonova 1/3 metoda </vt:lpstr>
      <vt:lpstr>Komopzitna Simpsonova 1/3 metoda</vt:lpstr>
      <vt:lpstr>Komopzitna Simpsonova 1/3 metoda</vt:lpstr>
      <vt:lpstr>Komopzitna Simpsonova 1/3 metoda</vt:lpstr>
      <vt:lpstr>Python kod</vt:lpstr>
      <vt:lpstr>Python kod (Simpson 1/3)</vt:lpstr>
      <vt:lpstr>Simpsonova 1/3 metoda - Greška</vt:lpstr>
      <vt:lpstr>Simpsonova 3/8 metoda</vt:lpstr>
      <vt:lpstr>Simpsonova 3/8 metoda</vt:lpstr>
      <vt:lpstr>Simpsonova 3/8 metoda - Greška</vt:lpstr>
      <vt:lpstr>Simpsonova 1/3 ili 3/8 metoda?</vt:lpstr>
      <vt:lpstr>Primer</vt:lpstr>
      <vt:lpstr>Njutn-Kotesovi metode za integraciju</vt:lpstr>
      <vt:lpstr>Rombergov metod</vt:lpstr>
      <vt:lpstr>Rombergov metod</vt:lpstr>
      <vt:lpstr>Rombergov metod</vt:lpstr>
      <vt:lpstr>Rombergov metod </vt:lpstr>
      <vt:lpstr>Ričardsonova ekstrapolacija</vt:lpstr>
      <vt:lpstr>Primer</vt:lpstr>
      <vt:lpstr>Ričardsonova ekstrapolacija</vt:lpstr>
      <vt:lpstr>Ričardsonova ekstrapolacija</vt:lpstr>
      <vt:lpstr>Ričardsonova ekstrapolacija za Rombergov metod - izvođenje</vt:lpstr>
      <vt:lpstr>Ričardsonova ekstrapolacija za Rombergov metod</vt:lpstr>
      <vt:lpstr>PowerPoint Presentation</vt:lpstr>
      <vt:lpstr>Uopštenje formule komentar</vt:lpstr>
      <vt:lpstr>Rombergov metod korišćenje opšte formule</vt:lpstr>
      <vt:lpstr>Rombergov metod</vt:lpstr>
      <vt:lpstr>Primer</vt:lpstr>
      <vt:lpstr>PowerPoint Presentation</vt:lpstr>
      <vt:lpstr>Python kod</vt:lpstr>
      <vt:lpstr>Primer</vt:lpstr>
      <vt:lpstr>Gausova kvadratura</vt:lpstr>
      <vt:lpstr>Gausova kvadratura za dve tačke</vt:lpstr>
      <vt:lpstr>Gausova kvadratura</vt:lpstr>
      <vt:lpstr>Gausova kvadratura za dve tačke</vt:lpstr>
      <vt:lpstr>Gausova kvadratura za dve tačke</vt:lpstr>
      <vt:lpstr>Gausova kvadratura za dve tačke</vt:lpstr>
      <vt:lpstr>Gausova kvadratura za dve tačke</vt:lpstr>
      <vt:lpstr>Gausova kvadratura za dve tačke</vt:lpstr>
      <vt:lpstr>Gausova kvadratura za dve tačke</vt:lpstr>
      <vt:lpstr>Gausova kvadratura za veći broj tačaka</vt:lpstr>
      <vt:lpstr>Gausova kvadratura primena</vt:lpstr>
      <vt:lpstr>Gausova kvadratura primena</vt:lpstr>
      <vt:lpstr>Gausova kvadratura primena</vt:lpstr>
      <vt:lpstr>Primer</vt:lpstr>
      <vt:lpstr>Primer nastavak</vt:lpstr>
      <vt:lpstr>Primer nastavak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Numerički algoritmi i numerički softver</dc:title>
  <dc:creator>kocha</dc:creator>
  <cp:lastModifiedBy>Jelena Slivka</cp:lastModifiedBy>
  <cp:revision>192</cp:revision>
  <dcterms:created xsi:type="dcterms:W3CDTF">2006-08-16T00:00:00Z</dcterms:created>
  <dcterms:modified xsi:type="dcterms:W3CDTF">2023-12-25T11:12:31Z</dcterms:modified>
</cp:coreProperties>
</file>